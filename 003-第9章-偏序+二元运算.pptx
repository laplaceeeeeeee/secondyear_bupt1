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 id="2147483662" r:id="rId2"/>
  </p:sldMasterIdLst>
  <p:notesMasterIdLst>
    <p:notesMasterId r:id="rId98"/>
  </p:notesMasterIdLst>
  <p:handoutMasterIdLst>
    <p:handoutMasterId r:id="rId99"/>
  </p:handoutMasterIdLst>
  <p:sldIdLst>
    <p:sldId id="266" r:id="rId3"/>
    <p:sldId id="676" r:id="rId4"/>
    <p:sldId id="582" r:id="rId5"/>
    <p:sldId id="677" r:id="rId6"/>
    <p:sldId id="678" r:id="rId7"/>
    <p:sldId id="583" r:id="rId8"/>
    <p:sldId id="368" r:id="rId9"/>
    <p:sldId id="442" r:id="rId10"/>
    <p:sldId id="569" r:id="rId11"/>
    <p:sldId id="443" r:id="rId12"/>
    <p:sldId id="444" r:id="rId13"/>
    <p:sldId id="584" r:id="rId14"/>
    <p:sldId id="679" r:id="rId15"/>
    <p:sldId id="570" r:id="rId16"/>
    <p:sldId id="571" r:id="rId17"/>
    <p:sldId id="681" r:id="rId18"/>
    <p:sldId id="683" r:id="rId19"/>
    <p:sldId id="684" r:id="rId20"/>
    <p:sldId id="685" r:id="rId21"/>
    <p:sldId id="589" r:id="rId22"/>
    <p:sldId id="573" r:id="rId23"/>
    <p:sldId id="687" r:id="rId24"/>
    <p:sldId id="586" r:id="rId25"/>
    <p:sldId id="590" r:id="rId26"/>
    <p:sldId id="449" r:id="rId27"/>
    <p:sldId id="450" r:id="rId28"/>
    <p:sldId id="575" r:id="rId29"/>
    <p:sldId id="591" r:id="rId30"/>
    <p:sldId id="593" r:id="rId31"/>
    <p:sldId id="564" r:id="rId32"/>
    <p:sldId id="577" r:id="rId33"/>
    <p:sldId id="592" r:id="rId34"/>
    <p:sldId id="594" r:id="rId35"/>
    <p:sldId id="688" r:id="rId36"/>
    <p:sldId id="469" r:id="rId37"/>
    <p:sldId id="470" r:id="rId38"/>
    <p:sldId id="472" r:id="rId39"/>
    <p:sldId id="596" r:id="rId40"/>
    <p:sldId id="689" r:id="rId41"/>
    <p:sldId id="578" r:id="rId42"/>
    <p:sldId id="598" r:id="rId43"/>
    <p:sldId id="690" r:id="rId44"/>
    <p:sldId id="599" r:id="rId45"/>
    <p:sldId id="579" r:id="rId46"/>
    <p:sldId id="482" r:id="rId47"/>
    <p:sldId id="483" r:id="rId48"/>
    <p:sldId id="484" r:id="rId49"/>
    <p:sldId id="691" r:id="rId50"/>
    <p:sldId id="486" r:id="rId51"/>
    <p:sldId id="485" r:id="rId52"/>
    <p:sldId id="489" r:id="rId53"/>
    <p:sldId id="492" r:id="rId54"/>
    <p:sldId id="495" r:id="rId55"/>
    <p:sldId id="496" r:id="rId56"/>
    <p:sldId id="453" r:id="rId57"/>
    <p:sldId id="454" r:id="rId58"/>
    <p:sldId id="603" r:id="rId59"/>
    <p:sldId id="604" r:id="rId60"/>
    <p:sldId id="580" r:id="rId61"/>
    <p:sldId id="692" r:id="rId62"/>
    <p:sldId id="600" r:id="rId63"/>
    <p:sldId id="581" r:id="rId64"/>
    <p:sldId id="602" r:id="rId65"/>
    <p:sldId id="693" r:id="rId66"/>
    <p:sldId id="507" r:id="rId67"/>
    <p:sldId id="529" r:id="rId68"/>
    <p:sldId id="530" r:id="rId69"/>
    <p:sldId id="531" r:id="rId70"/>
    <p:sldId id="532" r:id="rId71"/>
    <p:sldId id="533" r:id="rId72"/>
    <p:sldId id="534" r:id="rId73"/>
    <p:sldId id="535" r:id="rId74"/>
    <p:sldId id="536" r:id="rId75"/>
    <p:sldId id="537" r:id="rId76"/>
    <p:sldId id="538" r:id="rId77"/>
    <p:sldId id="539" r:id="rId78"/>
    <p:sldId id="540" r:id="rId79"/>
    <p:sldId id="542" r:id="rId80"/>
    <p:sldId id="544" r:id="rId81"/>
    <p:sldId id="543" r:id="rId82"/>
    <p:sldId id="545" r:id="rId83"/>
    <p:sldId id="546" r:id="rId84"/>
    <p:sldId id="547" r:id="rId85"/>
    <p:sldId id="548" r:id="rId86"/>
    <p:sldId id="549" r:id="rId87"/>
    <p:sldId id="550" r:id="rId88"/>
    <p:sldId id="551" r:id="rId89"/>
    <p:sldId id="552" r:id="rId90"/>
    <p:sldId id="553" r:id="rId91"/>
    <p:sldId id="554" r:id="rId92"/>
    <p:sldId id="555" r:id="rId93"/>
    <p:sldId id="556" r:id="rId94"/>
    <p:sldId id="557" r:id="rId95"/>
    <p:sldId id="694" r:id="rId96"/>
    <p:sldId id="695" r:id="rId97"/>
  </p:sld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BB4FAAA-8E59-40C0-B1AA-50162B12F497}">
          <p14:sldIdLst>
            <p14:sldId id="266"/>
            <p14:sldId id="676"/>
            <p14:sldId id="582"/>
            <p14:sldId id="677"/>
            <p14:sldId id="678"/>
            <p14:sldId id="583"/>
            <p14:sldId id="368"/>
            <p14:sldId id="442"/>
            <p14:sldId id="569"/>
            <p14:sldId id="443"/>
            <p14:sldId id="444"/>
            <p14:sldId id="584"/>
            <p14:sldId id="679"/>
            <p14:sldId id="570"/>
            <p14:sldId id="571"/>
            <p14:sldId id="681"/>
            <p14:sldId id="683"/>
            <p14:sldId id="684"/>
            <p14:sldId id="685"/>
            <p14:sldId id="589"/>
            <p14:sldId id="573"/>
            <p14:sldId id="687"/>
            <p14:sldId id="586"/>
            <p14:sldId id="590"/>
            <p14:sldId id="449"/>
            <p14:sldId id="450"/>
            <p14:sldId id="575"/>
            <p14:sldId id="591"/>
            <p14:sldId id="593"/>
            <p14:sldId id="564"/>
            <p14:sldId id="577"/>
            <p14:sldId id="592"/>
            <p14:sldId id="594"/>
            <p14:sldId id="688"/>
            <p14:sldId id="469"/>
            <p14:sldId id="470"/>
            <p14:sldId id="472"/>
            <p14:sldId id="596"/>
            <p14:sldId id="689"/>
            <p14:sldId id="578"/>
            <p14:sldId id="598"/>
            <p14:sldId id="690"/>
            <p14:sldId id="599"/>
            <p14:sldId id="579"/>
            <p14:sldId id="482"/>
            <p14:sldId id="483"/>
            <p14:sldId id="484"/>
            <p14:sldId id="691"/>
            <p14:sldId id="486"/>
            <p14:sldId id="485"/>
            <p14:sldId id="489"/>
            <p14:sldId id="492"/>
            <p14:sldId id="495"/>
            <p14:sldId id="496"/>
            <p14:sldId id="453"/>
            <p14:sldId id="454"/>
            <p14:sldId id="603"/>
            <p14:sldId id="604"/>
            <p14:sldId id="580"/>
            <p14:sldId id="692"/>
            <p14:sldId id="600"/>
            <p14:sldId id="581"/>
            <p14:sldId id="602"/>
            <p14:sldId id="693"/>
            <p14:sldId id="507"/>
            <p14:sldId id="529"/>
            <p14:sldId id="530"/>
            <p14:sldId id="531"/>
            <p14:sldId id="532"/>
            <p14:sldId id="533"/>
            <p14:sldId id="534"/>
            <p14:sldId id="535"/>
            <p14:sldId id="536"/>
            <p14:sldId id="537"/>
            <p14:sldId id="538"/>
            <p14:sldId id="539"/>
            <p14:sldId id="540"/>
            <p14:sldId id="542"/>
            <p14:sldId id="544"/>
            <p14:sldId id="543"/>
            <p14:sldId id="545"/>
            <p14:sldId id="546"/>
            <p14:sldId id="547"/>
            <p14:sldId id="548"/>
            <p14:sldId id="549"/>
            <p14:sldId id="550"/>
            <p14:sldId id="551"/>
            <p14:sldId id="552"/>
            <p14:sldId id="553"/>
            <p14:sldId id="554"/>
            <p14:sldId id="555"/>
            <p14:sldId id="556"/>
            <p14:sldId id="557"/>
            <p14:sldId id="694"/>
            <p14:sldId id="695"/>
          </p14:sldIdLst>
        </p14:section>
        <p14:section name="无标题节" id="{C8741928-B9EF-491C-B995-74A00C9523D3}">
          <p14:sldIdLst/>
        </p14:section>
      </p14:sectionLst>
    </p:ext>
    <p:ext uri="{EFAFB233-063F-42B5-8137-9DF3F51BA10A}">
      <p15:sldGuideLst xmlns:p15="http://schemas.microsoft.com/office/powerpoint/2012/main">
        <p15:guide id="1" orient="horz" pos="2160" userDrawn="1">
          <p15:clr>
            <a:srgbClr val="A4A3A4"/>
          </p15:clr>
        </p15:guide>
        <p15:guide id="2" pos="3906" userDrawn="1">
          <p15:clr>
            <a:srgbClr val="A4A3A4"/>
          </p15:clr>
        </p15:guide>
      </p15:sldGuideLst>
    </p:ext>
    <p:ext uri="{2D200454-40CA-4A62-9FC3-DE9A4176ACB9}">
      <p15:notesGuideLst xmlns:p15="http://schemas.microsoft.com/office/powerpoint/2012/main">
        <p15:guide id="1" orient="horz" pos="3223">
          <p15:clr>
            <a:srgbClr val="A4A3A4"/>
          </p15:clr>
        </p15:guide>
        <p15:guide id="2" pos="227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0033CC"/>
    <a:srgbClr val="00FF00"/>
    <a:srgbClr val="008080"/>
    <a:srgbClr val="FFFF99"/>
    <a:srgbClr val="FF99FF"/>
    <a:srgbClr val="00FFCC"/>
    <a:srgbClr val="00737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529" autoAdjust="0"/>
    <p:restoredTop sz="92907" autoAdjust="0"/>
  </p:normalViewPr>
  <p:slideViewPr>
    <p:cSldViewPr snapToGrid="0" showGuides="1">
      <p:cViewPr varScale="1">
        <p:scale>
          <a:sx n="155" d="100"/>
          <a:sy n="155" d="100"/>
        </p:scale>
        <p:origin x="2586" y="126"/>
      </p:cViewPr>
      <p:guideLst>
        <p:guide orient="horz" pos="2160"/>
        <p:guide pos="390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760" y="-78"/>
      </p:cViewPr>
      <p:guideLst>
        <p:guide orient="horz" pos="3223"/>
        <p:guide pos="2274"/>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notesMaster" Target="notesMasters/notesMaster1.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69E6C644-74FC-4D44-AB81-2709554C9147}" type="datetimeFigureOut">
              <a:rPr lang="zh-CN" altLang="en-US" smtClean="0"/>
              <a:t>2025/10/11</a:t>
            </a:fld>
            <a:endParaRPr lang="zh-CN" altLang="en-US"/>
          </a:p>
        </p:txBody>
      </p:sp>
      <p:sp>
        <p:nvSpPr>
          <p:cNvPr id="4" name="页脚占位符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B048ACB8-82BB-45CD-9FE9-610CE3440BB0}"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3508"/>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idx="1"/>
          </p:nvPr>
        </p:nvSpPr>
        <p:spPr>
          <a:xfrm>
            <a:off x="4021294" y="0"/>
            <a:ext cx="3076363" cy="513508"/>
          </a:xfrm>
          <a:prstGeom prst="rect">
            <a:avLst/>
          </a:prstGeom>
        </p:spPr>
        <p:txBody>
          <a:bodyPr vert="horz" lIns="99048" tIns="49524" rIns="99048" bIns="49524" rtlCol="0"/>
          <a:lstStyle>
            <a:lvl1pPr algn="r">
              <a:defRPr sz="1300"/>
            </a:lvl1pPr>
          </a:lstStyle>
          <a:p>
            <a:fld id="{F556F344-34FD-4E14-B679-9401DE38C7AF}" type="datetimeFigureOut">
              <a:rPr lang="zh-CN" altLang="en-US" smtClean="0"/>
              <a:t>2025/10/11</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9048" tIns="49524" rIns="99048" bIns="49524" rtlCol="0" anchor="ctr"/>
          <a:lstStyle/>
          <a:p>
            <a:endParaRPr lang="zh-CN" altLang="en-US"/>
          </a:p>
        </p:txBody>
      </p:sp>
      <p:sp>
        <p:nvSpPr>
          <p:cNvPr id="5" name="备注占位符 4"/>
          <p:cNvSpPr>
            <a:spLocks noGrp="1"/>
          </p:cNvSpPr>
          <p:nvPr>
            <p:ph type="body" sz="quarter" idx="3"/>
          </p:nvPr>
        </p:nvSpPr>
        <p:spPr>
          <a:xfrm>
            <a:off x="709930" y="4925407"/>
            <a:ext cx="5679440" cy="4029879"/>
          </a:xfrm>
          <a:prstGeom prst="rect">
            <a:avLst/>
          </a:prstGeom>
        </p:spPr>
        <p:txBody>
          <a:bodyPr vert="horz" lIns="99048" tIns="49524" rIns="99048" bIns="49524"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107"/>
            <a:ext cx="3076363" cy="513507"/>
          </a:xfrm>
          <a:prstGeom prst="rect">
            <a:avLst/>
          </a:prstGeom>
        </p:spPr>
        <p:txBody>
          <a:bodyPr vert="horz" lIns="99048" tIns="49524" rIns="99048" bIns="49524"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1294" y="9721107"/>
            <a:ext cx="3076363" cy="513507"/>
          </a:xfrm>
          <a:prstGeom prst="rect">
            <a:avLst/>
          </a:prstGeom>
        </p:spPr>
        <p:txBody>
          <a:bodyPr vert="horz" lIns="99048" tIns="49524" rIns="99048" bIns="49524" rtlCol="0" anchor="b"/>
          <a:lstStyle>
            <a:lvl1pPr algn="r">
              <a:defRPr sz="1300"/>
            </a:lvl1pPr>
          </a:lstStyle>
          <a:p>
            <a:fld id="{CF81660A-873B-4A21-B820-86EACE2D5F0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49"/>
          <p:cNvSpPr>
            <a:spLocks noGrp="1" noChangeArrowheads="1"/>
          </p:cNvSpPr>
          <p:nvPr>
            <p:ph type="sldNum" sz="quarter"/>
          </p:nvPr>
        </p:nvSpPr>
        <p:spPr>
          <a:noFill/>
        </p:spPr>
        <p:txBody>
          <a:bodyPr/>
          <a:lstStyle/>
          <a:p>
            <a:pPr defTabSz="403860"/>
            <a:fld id="{DFF13921-433A-452C-8781-0C688C459168}" type="slidenum">
              <a:rPr lang="en-US" altLang="zh-CN">
                <a:latin typeface="Times New Roman" panose="02020503050405090304" pitchFamily="18" charset="0"/>
              </a:rPr>
              <a:t>1</a:t>
            </a:fld>
            <a:endParaRPr lang="en-US" altLang="zh-CN" dirty="0">
              <a:latin typeface="Times New Roman" panose="02020503050405090304" pitchFamily="18" charset="0"/>
            </a:endParaRPr>
          </a:p>
        </p:txBody>
      </p:sp>
      <p:sp>
        <p:nvSpPr>
          <p:cNvPr id="26627" name="Text Box 1"/>
          <p:cNvSpPr txBox="1">
            <a:spLocks noChangeArrowheads="1"/>
          </p:cNvSpPr>
          <p:nvPr/>
        </p:nvSpPr>
        <p:spPr bwMode="auto">
          <a:xfrm>
            <a:off x="4017769" y="9722503"/>
            <a:ext cx="3077059" cy="507551"/>
          </a:xfrm>
          <a:prstGeom prst="rect">
            <a:avLst/>
          </a:prstGeom>
          <a:noFill/>
          <a:ln w="9525">
            <a:noFill/>
            <a:round/>
          </a:ln>
        </p:spPr>
        <p:txBody>
          <a:bodyPr lIns="0" tIns="0" rIns="0" bIns="0" anchor="b"/>
          <a:lstStyle/>
          <a:p>
            <a:pPr algn="r">
              <a:lnSpc>
                <a:spcPct val="95000"/>
              </a:lnSpc>
              <a:tabLst>
                <a:tab pos="0" algn="l"/>
                <a:tab pos="424815" algn="l"/>
                <a:tab pos="851535" algn="l"/>
                <a:tab pos="1278255" algn="l"/>
                <a:tab pos="1704975" algn="l"/>
                <a:tab pos="2131060" algn="l"/>
                <a:tab pos="2557780" algn="l"/>
                <a:tab pos="2984500" algn="l"/>
                <a:tab pos="3411220" algn="l"/>
                <a:tab pos="3837940" algn="l"/>
                <a:tab pos="4264660" algn="l"/>
                <a:tab pos="4691380" algn="l"/>
                <a:tab pos="5118100" algn="l"/>
                <a:tab pos="5544185" algn="l"/>
                <a:tab pos="5970905" algn="l"/>
                <a:tab pos="6397625" algn="l"/>
                <a:tab pos="6824345" algn="l"/>
                <a:tab pos="7251065" algn="l"/>
                <a:tab pos="7677785" algn="l"/>
                <a:tab pos="8104505" algn="l"/>
                <a:tab pos="8531225" algn="l"/>
              </a:tabLst>
            </a:pPr>
            <a:fld id="{71E9B9DE-4EE6-446A-B153-879FB46C5256}" type="slidenum">
              <a:rPr lang="en-US" altLang="zh-CN" sz="1300">
                <a:solidFill>
                  <a:srgbClr val="000000"/>
                </a:solidFill>
                <a:latin typeface="Times New Roman" panose="02020503050405090304" pitchFamily="18" charset="0"/>
                <a:ea typeface="宋体" pitchFamily="2" charset="-122"/>
              </a:rPr>
              <a:t>1</a:t>
            </a:fld>
            <a:endParaRPr lang="en-US" altLang="zh-CN" sz="1300" dirty="0">
              <a:solidFill>
                <a:srgbClr val="000000"/>
              </a:solidFill>
              <a:latin typeface="Times New Roman" panose="02020503050405090304" pitchFamily="18" charset="0"/>
              <a:ea typeface="宋体" pitchFamily="2" charset="-122"/>
            </a:endParaRPr>
          </a:p>
        </p:txBody>
      </p:sp>
      <p:sp>
        <p:nvSpPr>
          <p:cNvPr id="26628" name="Rectangle 2"/>
          <p:cNvSpPr txBox="1">
            <a:spLocks noGrp="1" noRot="1" noChangeAspect="1" noChangeArrowheads="1" noTextEdit="1"/>
          </p:cNvSpPr>
          <p:nvPr>
            <p:ph type="sldImg"/>
          </p:nvPr>
        </p:nvSpPr>
        <p:spPr>
          <a:xfrm>
            <a:off x="138113" y="777875"/>
            <a:ext cx="6819900" cy="3836988"/>
          </a:xfrm>
          <a:solidFill>
            <a:srgbClr val="FFFFFF"/>
          </a:solidFill>
          <a:ln>
            <a:solidFill>
              <a:srgbClr val="000000"/>
            </a:solidFill>
            <a:miter lim="800000"/>
          </a:ln>
        </p:spPr>
      </p:sp>
      <p:sp>
        <p:nvSpPr>
          <p:cNvPr id="26629" name="Rectangle 3"/>
          <p:cNvSpPr txBox="1">
            <a:spLocks noGrp="1" noChangeArrowheads="1"/>
          </p:cNvSpPr>
          <p:nvPr>
            <p:ph type="body" idx="1"/>
          </p:nvPr>
        </p:nvSpPr>
        <p:spPr>
          <a:xfrm>
            <a:off x="709632" y="4861252"/>
            <a:ext cx="5680036" cy="4605955"/>
          </a:xfrm>
          <a:noFill/>
        </p:spPr>
        <p:txBody>
          <a:bodyPr wrap="none" anchor="ctr"/>
          <a:lstStyle/>
          <a:p>
            <a:endParaRPr lang="zh-CN" altLang="zh-CN">
              <a:latin typeface="Times New Roman" panose="0202050305040509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dt" sz="half" idx="10"/>
          </p:nvPr>
        </p:nvSpPr>
        <p:spPr/>
        <p:txBody>
          <a:bodyPr/>
          <a:lstStyle>
            <a:lvl1pPr>
              <a:defRPr/>
            </a:lvl1pPr>
          </a:lstStyle>
          <a:p>
            <a:fld id="{C8A432C8-69A7-458B-9684-2BFA64B31948}" type="datetime2">
              <a:rPr lang="en-US" smtClean="0"/>
              <a:t>Saturday, October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片 6" descr="logo-2.png"/>
          <p:cNvPicPr>
            <a:picLocks noChangeAspect="1"/>
          </p:cNvPicPr>
          <p:nvPr userDrawn="1"/>
        </p:nvPicPr>
        <p:blipFill>
          <a:blip r:embed="rId2" cstate="email">
            <a:clrChange>
              <a:clrFrom>
                <a:srgbClr val="000000"/>
              </a:clrFrom>
              <a:clrTo>
                <a:srgbClr val="000000">
                  <a:alpha val="0"/>
                </a:srgbClr>
              </a:clrTo>
            </a:clrChange>
          </a:blip>
          <a:srcRect/>
          <a:stretch>
            <a:fillRect/>
          </a:stretch>
        </p:blipFill>
        <p:spPr bwMode="auto">
          <a:xfrm>
            <a:off x="11175299" y="31523"/>
            <a:ext cx="708025" cy="654050"/>
          </a:xfrm>
          <a:prstGeom prst="rect">
            <a:avLst/>
          </a:prstGeom>
          <a:noFill/>
          <a:ln w="9525">
            <a:noFill/>
            <a:miter lim="800000"/>
            <a:headEnd/>
            <a:tailEnd/>
          </a:ln>
        </p:spPr>
      </p:pic>
      <p:pic>
        <p:nvPicPr>
          <p:cNvPr id="9" name="Picture 2" descr="C:\Users\Administrator\Desktop\u=75086232,1868931616&amp;fm=26&amp;gp=0.jpg"/>
          <p:cNvPicPr>
            <a:picLocks noChangeArrowheads="1"/>
          </p:cNvPicPr>
          <p:nvPr userDrawn="1"/>
        </p:nvPicPr>
        <p:blipFill>
          <a:blip r:embed="rId3" cstate="screen">
            <a:clrChange>
              <a:clrFrom>
                <a:srgbClr val="000000"/>
              </a:clrFrom>
              <a:clrTo>
                <a:srgbClr val="000000">
                  <a:alpha val="0"/>
                </a:srgbClr>
              </a:clrTo>
            </a:clrChange>
          </a:blip>
          <a:srcRect/>
          <a:stretch>
            <a:fillRect/>
          </a:stretch>
        </p:blipFill>
        <p:spPr bwMode="auto">
          <a:xfrm>
            <a:off x="10397424" y="31523"/>
            <a:ext cx="684213" cy="684212"/>
          </a:xfrm>
          <a:prstGeom prst="rect">
            <a:avLst/>
          </a:prstGeom>
          <a:noFill/>
          <a:ln w="9525">
            <a:noFill/>
            <a:miter lim="800000"/>
            <a:headEnd/>
            <a:tailEnd/>
          </a:ln>
        </p:spPr>
      </p:pic>
      <p:cxnSp>
        <p:nvCxnSpPr>
          <p:cNvPr id="11" name="直接连接符 10"/>
          <p:cNvCxnSpPr/>
          <p:nvPr userDrawn="1"/>
        </p:nvCxnSpPr>
        <p:spPr>
          <a:xfrm>
            <a:off x="65309" y="757647"/>
            <a:ext cx="12060000" cy="0"/>
          </a:xfrm>
          <a:prstGeom prst="line">
            <a:avLst/>
          </a:prstGeom>
          <a:ln w="28575">
            <a:solidFill>
              <a:schemeClr val="tx1"/>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fld id="{9933D019-A32C-4EAD-B8E6-DBDA699692FD}" type="datetime2">
              <a:rPr lang="en-US" smtClean="0"/>
              <a:t>Saturday, October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fld id="{CCEBA98F-560C-4997-81C4-81D4D9187EAB}" type="datetime2">
              <a:rPr lang="en-US" smtClean="0"/>
              <a:t>Saturday, October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fld id="{150972B2-CA5C-437D-87D0-8081271A9E4B}" type="datetime2">
              <a:rPr lang="en-US" smtClean="0"/>
              <a:t>Saturday, October 11, 2025</a:t>
            </a:fld>
            <a:endParaRPr lang="en-US"/>
          </a:p>
        </p:txBody>
      </p:sp>
      <p:sp>
        <p:nvSpPr>
          <p:cNvPr id="8" name="Rectangle 6"/>
          <p:cNvSpPr>
            <a:spLocks noGrp="1" noChangeArrowheads="1"/>
          </p:cNvSpPr>
          <p:nvPr>
            <p:ph type="ftr" sz="quarter" idx="11"/>
          </p:nvPr>
        </p:nvSpPr>
        <p:spPr/>
        <p:txBody>
          <a:bodyPr/>
          <a:lstStyle>
            <a:lvl1pPr>
              <a:defRPr/>
            </a:lvl1pPr>
          </a:lstStyle>
          <a:p>
            <a:pPr algn="r"/>
            <a:endParaRPr lang="en-US" dirty="0"/>
          </a:p>
        </p:txBody>
      </p:sp>
      <p:sp>
        <p:nvSpPr>
          <p:cNvPr id="9"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fld id="{79CD4847-11EF-4466-A8AD-85CDB7B49118}" type="datetime2">
              <a:rPr lang="en-US" smtClean="0"/>
              <a:t>Saturday, October 11, 2025</a:t>
            </a:fld>
            <a:endParaRPr lang="en-US"/>
          </a:p>
        </p:txBody>
      </p:sp>
      <p:sp>
        <p:nvSpPr>
          <p:cNvPr id="4" name="Rectangle 6"/>
          <p:cNvSpPr>
            <a:spLocks noGrp="1" noChangeArrowheads="1"/>
          </p:cNvSpPr>
          <p:nvPr>
            <p:ph type="ftr" sz="quarter" idx="11"/>
          </p:nvPr>
        </p:nvSpPr>
        <p:spPr/>
        <p:txBody>
          <a:bodyPr/>
          <a:lstStyle>
            <a:lvl1pPr>
              <a:defRPr/>
            </a:lvl1pPr>
          </a:lstStyle>
          <a:p>
            <a:pPr algn="r"/>
            <a:endParaRPr lang="en-US" dirty="0"/>
          </a:p>
        </p:txBody>
      </p:sp>
      <p:sp>
        <p:nvSpPr>
          <p:cNvPr id="5"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fld id="{F168457A-3AB9-4880-8A0C-9F8524491207}" type="datetime2">
              <a:rPr lang="en-US" smtClean="0"/>
              <a:t>Saturday, October 11, 2025</a:t>
            </a:fld>
            <a:endParaRPr lang="en-US"/>
          </a:p>
        </p:txBody>
      </p:sp>
      <p:sp>
        <p:nvSpPr>
          <p:cNvPr id="3" name="Rectangle 6"/>
          <p:cNvSpPr>
            <a:spLocks noGrp="1" noChangeArrowheads="1"/>
          </p:cNvSpPr>
          <p:nvPr>
            <p:ph type="ftr" sz="quarter" idx="11"/>
          </p:nvPr>
        </p:nvSpPr>
        <p:spPr/>
        <p:txBody>
          <a:bodyPr/>
          <a:lstStyle>
            <a:lvl1pPr>
              <a:defRPr/>
            </a:lvl1pPr>
          </a:lstStyle>
          <a:p>
            <a:pPr algn="r"/>
            <a:endParaRPr lang="en-US" dirty="0"/>
          </a:p>
        </p:txBody>
      </p:sp>
      <p:sp>
        <p:nvSpPr>
          <p:cNvPr id="4"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
        <p:nvSpPr>
          <p:cNvPr id="6" name="矩形 5"/>
          <p:cNvSpPr/>
          <p:nvPr userDrawn="1"/>
        </p:nvSpPr>
        <p:spPr>
          <a:xfrm>
            <a:off x="10454185" y="5841242"/>
            <a:ext cx="1555845" cy="791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3FE976D3-5B7F-4300-ABED-C91F1B2AE209}" type="datetime2">
              <a:rPr lang="en-US" smtClean="0"/>
              <a:t>Saturday, October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EBDC1E59-17DD-41CE-97CA-624A472382D4}" type="datetime2">
              <a:rPr lang="en-US" smtClean="0"/>
              <a:t>Saturday, October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8CC057FC-95B6-4D89-AFDA-ABA33EE921E5}" type="datetime2">
              <a:rPr lang="en-US" smtClean="0"/>
              <a:t>Saturday, October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EC4549AC-EB31-477F-92A9-B1988E232878}" type="datetime2">
              <a:rPr lang="en-US" smtClean="0"/>
              <a:t>Saturday, October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4" name="直接连接符 8"/>
          <p:cNvCxnSpPr>
            <a:cxnSpLocks noChangeShapeType="1"/>
          </p:cNvCxnSpPr>
          <p:nvPr userDrawn="1"/>
        </p:nvCxnSpPr>
        <p:spPr bwMode="auto">
          <a:xfrm>
            <a:off x="-12293" y="707306"/>
            <a:ext cx="12204000" cy="0"/>
          </a:xfrm>
          <a:prstGeom prst="line">
            <a:avLst/>
          </a:prstGeom>
          <a:noFill/>
          <a:ln w="28575" algn="ctr">
            <a:solidFill>
              <a:schemeClr val="tx1"/>
            </a:solidFill>
            <a:round/>
          </a:ln>
        </p:spPr>
      </p:cxnSp>
      <p:sp>
        <p:nvSpPr>
          <p:cNvPr id="11" name="TextBox 10"/>
          <p:cNvSpPr txBox="1"/>
          <p:nvPr userDrawn="1"/>
        </p:nvSpPr>
        <p:spPr>
          <a:xfrm>
            <a:off x="11612880" y="6492240"/>
            <a:ext cx="579120" cy="338554"/>
          </a:xfrm>
          <a:prstGeom prst="rect">
            <a:avLst/>
          </a:prstGeom>
          <a:noFill/>
        </p:spPr>
        <p:txBody>
          <a:bodyPr wrap="square" rtlCol="0">
            <a:spAutoFit/>
          </a:bodyPr>
          <a:lstStyle/>
          <a:p>
            <a:pPr algn="r"/>
            <a:fld id="{8F815E2C-4410-4FF6-BE00-35D2EB204A6F}" type="slidenum">
              <a:rPr lang="zh-CN" altLang="en-US" sz="1600" smtClean="0"/>
              <a:t>‹#›</a:t>
            </a:fld>
            <a:endParaRPr lang="zh-CN" altLang="en-US" sz="1600" dirty="0"/>
          </a:p>
        </p:txBody>
      </p:sp>
      <p:pic>
        <p:nvPicPr>
          <p:cNvPr id="5" name="图片 4"/>
          <p:cNvPicPr>
            <a:picLocks noChangeAspect="1"/>
          </p:cNvPicPr>
          <p:nvPr userDrawn="1"/>
        </p:nvPicPr>
        <p:blipFill>
          <a:blip r:embed="rId2" cstate="print"/>
          <a:stretch>
            <a:fillRect/>
          </a:stretch>
        </p:blipFill>
        <p:spPr>
          <a:xfrm>
            <a:off x="9545696" y="82730"/>
            <a:ext cx="2572490" cy="529198"/>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641" y="273629"/>
            <a:ext cx="10968959" cy="1143480"/>
          </a:xfrm>
        </p:spPr>
        <p:txBody>
          <a:bodyPr/>
          <a:lstStyle/>
          <a:p>
            <a:r>
              <a:rPr lang="zh-CN" altLang="en-US"/>
              <a:t>单击此处编辑母版标题样式</a:t>
            </a:r>
          </a:p>
        </p:txBody>
      </p:sp>
      <p:sp>
        <p:nvSpPr>
          <p:cNvPr id="3" name="日期占位符 2"/>
          <p:cNvSpPr>
            <a:spLocks noGrp="1"/>
          </p:cNvSpPr>
          <p:nvPr>
            <p:ph type="dt" idx="10"/>
          </p:nvPr>
        </p:nvSpPr>
        <p:spPr>
          <a:xfrm>
            <a:off x="608641" y="6247376"/>
            <a:ext cx="2837760" cy="470930"/>
          </a:xfrm>
        </p:spPr>
        <p:txBody>
          <a:bodyPr/>
          <a:lstStyle>
            <a:lvl1pPr>
              <a:defRPr/>
            </a:lvl1pPr>
          </a:lstStyle>
          <a:p>
            <a:endParaRPr lang="en-US"/>
          </a:p>
        </p:txBody>
      </p:sp>
      <p:sp>
        <p:nvSpPr>
          <p:cNvPr id="4" name="页脚占位符 3"/>
          <p:cNvSpPr>
            <a:spLocks noGrp="1"/>
          </p:cNvSpPr>
          <p:nvPr>
            <p:ph type="ftr" idx="11"/>
          </p:nvPr>
        </p:nvSpPr>
        <p:spPr>
          <a:xfrm>
            <a:off x="4170240" y="6247376"/>
            <a:ext cx="3863040" cy="470930"/>
          </a:xfrm>
        </p:spPr>
        <p:txBody>
          <a:bodyPr/>
          <a:lstStyle>
            <a:lvl1pPr>
              <a:defRPr/>
            </a:lvl1pPr>
          </a:lstStyle>
          <a:p>
            <a:endParaRPr lang="en-US"/>
          </a:p>
        </p:txBody>
      </p:sp>
      <p:sp>
        <p:nvSpPr>
          <p:cNvPr id="5" name="灯片编号占位符 4"/>
          <p:cNvSpPr>
            <a:spLocks noGrp="1"/>
          </p:cNvSpPr>
          <p:nvPr>
            <p:ph type="sldNum" idx="12"/>
          </p:nvPr>
        </p:nvSpPr>
        <p:spPr>
          <a:xfrm>
            <a:off x="8741761" y="6247376"/>
            <a:ext cx="2837760" cy="470930"/>
          </a:xfrm>
        </p:spPr>
        <p:txBody>
          <a:bodyPr/>
          <a:lstStyle>
            <a:lvl1pPr>
              <a:defRPr/>
            </a:lvl1pPr>
          </a:lstStyle>
          <a:p>
            <a:fld id="{E0BD98EA-90B5-4CC6-89A6-2E9085E50F5D}" type="slidenum">
              <a:rPr lang="en-US"/>
              <a:t>‹#›</a:t>
            </a:fld>
            <a:endParaRPr lang="en-US"/>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5E69EA7-6172-43EF-B350-5680C85C6BE6}" type="datetimeFigureOut">
              <a:rPr lang="zh-CN" altLang="en-US" smtClean="0"/>
              <a:t>2025/10/11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5E69EA7-6172-43EF-B350-5680C85C6BE6}" type="datetimeFigureOut">
              <a:rPr lang="zh-CN" altLang="en-US" smtClean="0"/>
              <a:t>2025/10/11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5E69EA7-6172-43EF-B350-5680C85C6BE6}" type="datetimeFigureOut">
              <a:rPr lang="zh-CN" altLang="en-US" smtClean="0"/>
              <a:t>2025/10/11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D5E69EA7-6172-43EF-B350-5680C85C6BE6}" type="datetimeFigureOut">
              <a:rPr lang="zh-CN" altLang="en-US" smtClean="0"/>
              <a:t>2025/10/11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D5E69EA7-6172-43EF-B350-5680C85C6BE6}" type="datetimeFigureOut">
              <a:rPr lang="zh-CN" altLang="en-US" smtClean="0"/>
              <a:t>2025/10/11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5E69EA7-6172-43EF-B350-5680C85C6BE6}" type="datetimeFigureOut">
              <a:rPr lang="zh-CN" altLang="en-US" smtClean="0"/>
              <a:t>2025/10/11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5E69EA7-6172-43EF-B350-5680C85C6BE6}" type="datetimeFigureOut">
              <a:rPr lang="zh-CN" altLang="en-US" smtClean="0"/>
              <a:t>2025/10/11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5E69EA7-6172-43EF-B350-5680C85C6BE6}" type="datetimeFigureOut">
              <a:rPr lang="zh-CN" altLang="en-US" smtClean="0"/>
              <a:t>2025/10/11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5E69EA7-6172-43EF-B350-5680C85C6BE6}" type="datetimeFigureOut">
              <a:rPr lang="zh-CN" altLang="en-US" smtClean="0"/>
              <a:t>2025/10/11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5E69EA7-6172-43EF-B350-5680C85C6BE6}" type="datetimeFigureOut">
              <a:rPr lang="zh-CN" altLang="en-US" smtClean="0"/>
              <a:t>2025/10/11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5E69EA7-6172-43EF-B350-5680C85C6BE6}" type="datetimeFigureOut">
              <a:rPr lang="zh-CN" altLang="en-US" smtClean="0"/>
              <a:t>2025/10/11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title"/>
          </p:nvPr>
        </p:nvSpPr>
        <p:spPr bwMode="auto">
          <a:xfrm>
            <a:off x="609680" y="274638"/>
            <a:ext cx="109726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4"/>
          <p:cNvSpPr>
            <a:spLocks noGrp="1" noChangeArrowheads="1"/>
          </p:cNvSpPr>
          <p:nvPr>
            <p:ph type="body" idx="1"/>
          </p:nvPr>
        </p:nvSpPr>
        <p:spPr bwMode="auto">
          <a:xfrm>
            <a:off x="609680" y="1600201"/>
            <a:ext cx="1097264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 第二级</a:t>
            </a:r>
          </a:p>
          <a:p>
            <a:pPr lvl="2"/>
            <a:r>
              <a:rPr lang="zh-CN" altLang="en-US"/>
              <a:t> 第三级</a:t>
            </a:r>
          </a:p>
          <a:p>
            <a:pPr lvl="3"/>
            <a:r>
              <a:rPr lang="zh-CN" altLang="en-US"/>
              <a:t> 第四级</a:t>
            </a:r>
          </a:p>
          <a:p>
            <a:pPr lvl="4"/>
            <a:r>
              <a:rPr lang="zh-CN" altLang="en-US"/>
              <a:t> 第五级</a:t>
            </a:r>
          </a:p>
        </p:txBody>
      </p:sp>
      <p:sp>
        <p:nvSpPr>
          <p:cNvPr id="17413" name="Rectangle 5"/>
          <p:cNvSpPr>
            <a:spLocks noGrp="1" noChangeArrowheads="1"/>
          </p:cNvSpPr>
          <p:nvPr>
            <p:ph type="dt" sz="half" idx="2"/>
          </p:nvPr>
        </p:nvSpPr>
        <p:spPr bwMode="auto">
          <a:xfrm>
            <a:off x="609680" y="6245225"/>
            <a:ext cx="284517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90204" pitchFamily="34" charset="0"/>
                <a:ea typeface="宋体" pitchFamily="2" charset="-122"/>
              </a:defRPr>
            </a:lvl1pPr>
          </a:lstStyle>
          <a:p>
            <a:fld id="{A80CB818-7379-467D-8E76-EF9D9074A26C}" type="datetime2">
              <a:rPr lang="en-US" smtClean="0"/>
              <a:t>Saturday, October 11, 2025</a:t>
            </a:fld>
            <a:endParaRPr lang="en-US" dirty="0"/>
          </a:p>
        </p:txBody>
      </p:sp>
      <p:sp>
        <p:nvSpPr>
          <p:cNvPr id="17414" name="Rectangle 6"/>
          <p:cNvSpPr>
            <a:spLocks noGrp="1" noChangeArrowheads="1"/>
          </p:cNvSpPr>
          <p:nvPr>
            <p:ph type="ftr" sz="quarter" idx="3"/>
          </p:nvPr>
        </p:nvSpPr>
        <p:spPr bwMode="auto">
          <a:xfrm>
            <a:off x="4166143" y="6245225"/>
            <a:ext cx="3859715"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90204" pitchFamily="34" charset="0"/>
                <a:ea typeface="宋体" pitchFamily="2" charset="-122"/>
              </a:defRPr>
            </a:lvl1pPr>
          </a:lstStyle>
          <a:p>
            <a:pPr algn="r"/>
            <a:endParaRPr lang="en-US" dirty="0"/>
          </a:p>
        </p:txBody>
      </p:sp>
      <p:sp>
        <p:nvSpPr>
          <p:cNvPr id="17415" name="Rectangle 7"/>
          <p:cNvSpPr>
            <a:spLocks noGrp="1" noChangeArrowheads="1"/>
          </p:cNvSpPr>
          <p:nvPr>
            <p:ph type="sldNum" sz="quarter" idx="4"/>
          </p:nvPr>
        </p:nvSpPr>
        <p:spPr bwMode="auto">
          <a:xfrm>
            <a:off x="8737150" y="6245225"/>
            <a:ext cx="284517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90204" pitchFamily="34" charset="0"/>
                <a:ea typeface="宋体" pitchFamily="2" charset="-122"/>
              </a:defRPr>
            </a:lvl1pPr>
          </a:lstStyle>
          <a:p>
            <a:fld id="{0CFEC368-1D7A-4F81-ABF6-AE0E36BAF64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fad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9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9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9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9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9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9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9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90204" pitchFamily="34" charset="0"/>
          <a:ea typeface="黑体" panose="02010609060101010101" pitchFamily="2" charset="-122"/>
        </a:defRPr>
      </a:lvl9pPr>
    </p:titleStyle>
    <p:bodyStyle>
      <a:lvl1pPr marL="342900" indent="-342900" algn="l" rtl="0" eaLnBrk="1" fontAlgn="base" hangingPunct="1">
        <a:spcBef>
          <a:spcPct val="20000"/>
        </a:spcBef>
        <a:spcAft>
          <a:spcPct val="0"/>
        </a:spcAft>
        <a:buBlip>
          <a:blip r:embed="rId15"/>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sz="4400" dirty="0">
                <a:sym typeface="+mn-ea"/>
              </a:rPr>
              <a:t>9.3(</a:t>
            </a:r>
            <a:r>
              <a:rPr lang="zh-CN" altLang="en-US" sz="4400" dirty="0">
                <a:sym typeface="+mn-ea"/>
              </a:rPr>
              <a:t>补）</a:t>
            </a:r>
            <a:r>
              <a:rPr lang="en-US" altLang="zh-CN" sz="4400" dirty="0">
                <a:sym typeface="+mn-ea"/>
              </a:rPr>
              <a:t>Products and Quotients of Semigroups</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E69EA7-6172-43EF-B350-5680C85C6BE6}" type="datetimeFigureOut">
              <a:rPr lang="zh-CN" altLang="en-US" smtClean="0"/>
              <a:t>2025/10/11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563DAA-CEAA-410A-9F28-4BA93ED0F57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png"/><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wmf"/></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8" Type="http://schemas.openxmlformats.org/officeDocument/2006/relationships/image" Target="../media/image20.emf"/><Relationship Id="rId13" Type="http://schemas.openxmlformats.org/officeDocument/2006/relationships/image" Target="../media/image25.emf"/><Relationship Id="rId18" Type="http://schemas.openxmlformats.org/officeDocument/2006/relationships/image" Target="../media/image30.wmf"/><Relationship Id="rId26" Type="http://schemas.openxmlformats.org/officeDocument/2006/relationships/image" Target="../media/image38.emf"/><Relationship Id="rId3" Type="http://schemas.openxmlformats.org/officeDocument/2006/relationships/image" Target="../media/image15.emf"/><Relationship Id="rId21" Type="http://schemas.openxmlformats.org/officeDocument/2006/relationships/image" Target="../media/image33.emf"/><Relationship Id="rId7" Type="http://schemas.openxmlformats.org/officeDocument/2006/relationships/image" Target="../media/image19.emf"/><Relationship Id="rId12" Type="http://schemas.openxmlformats.org/officeDocument/2006/relationships/image" Target="../media/image24.emf"/><Relationship Id="rId17" Type="http://schemas.openxmlformats.org/officeDocument/2006/relationships/image" Target="../media/image29.emf"/><Relationship Id="rId25" Type="http://schemas.openxmlformats.org/officeDocument/2006/relationships/image" Target="../media/image37.emf"/><Relationship Id="rId2" Type="http://schemas.openxmlformats.org/officeDocument/2006/relationships/image" Target="../media/image14.emf"/><Relationship Id="rId16" Type="http://schemas.openxmlformats.org/officeDocument/2006/relationships/image" Target="../media/image28.emf"/><Relationship Id="rId20" Type="http://schemas.openxmlformats.org/officeDocument/2006/relationships/image" Target="../media/image32.emf"/><Relationship Id="rId29" Type="http://schemas.openxmlformats.org/officeDocument/2006/relationships/image" Target="../media/image41.wmf"/><Relationship Id="rId1" Type="http://schemas.openxmlformats.org/officeDocument/2006/relationships/slideLayout" Target="../slideLayouts/slideLayout12.xml"/><Relationship Id="rId6" Type="http://schemas.openxmlformats.org/officeDocument/2006/relationships/image" Target="../media/image18.wmf"/><Relationship Id="rId11" Type="http://schemas.openxmlformats.org/officeDocument/2006/relationships/image" Target="../media/image23.emf"/><Relationship Id="rId24" Type="http://schemas.openxmlformats.org/officeDocument/2006/relationships/image" Target="../media/image36.emf"/><Relationship Id="rId5" Type="http://schemas.openxmlformats.org/officeDocument/2006/relationships/image" Target="../media/image17.emf"/><Relationship Id="rId15" Type="http://schemas.openxmlformats.org/officeDocument/2006/relationships/image" Target="../media/image27.wmf"/><Relationship Id="rId23" Type="http://schemas.openxmlformats.org/officeDocument/2006/relationships/image" Target="../media/image35.wmf"/><Relationship Id="rId28" Type="http://schemas.openxmlformats.org/officeDocument/2006/relationships/image" Target="../media/image40.wmf"/><Relationship Id="rId10" Type="http://schemas.openxmlformats.org/officeDocument/2006/relationships/image" Target="../media/image22.emf"/><Relationship Id="rId19" Type="http://schemas.openxmlformats.org/officeDocument/2006/relationships/image" Target="../media/image31.wmf"/><Relationship Id="rId4" Type="http://schemas.openxmlformats.org/officeDocument/2006/relationships/image" Target="../media/image16.emf"/><Relationship Id="rId9" Type="http://schemas.openxmlformats.org/officeDocument/2006/relationships/image" Target="../media/image21.emf"/><Relationship Id="rId14" Type="http://schemas.openxmlformats.org/officeDocument/2006/relationships/image" Target="../media/image26.wmf"/><Relationship Id="rId22" Type="http://schemas.openxmlformats.org/officeDocument/2006/relationships/image" Target="../media/image34.wmf"/><Relationship Id="rId27" Type="http://schemas.openxmlformats.org/officeDocument/2006/relationships/image" Target="../media/image39.e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
          <p:cNvSpPr>
            <a:spLocks noGrp="1" noChangeArrowheads="1"/>
          </p:cNvSpPr>
          <p:nvPr>
            <p:ph type="title" idx="4294967295"/>
          </p:nvPr>
        </p:nvSpPr>
        <p:spPr>
          <a:xfrm>
            <a:off x="609600" y="909501"/>
            <a:ext cx="10972800" cy="5445125"/>
          </a:xfrm>
        </p:spPr>
        <p:txBody>
          <a:bodyPr tIns="36948"/>
          <a:lstStyle/>
          <a:p>
            <a:pPr>
              <a:lnSpc>
                <a:spcPct val="150000"/>
              </a:lnSpc>
              <a:tabLst>
                <a:tab pos="0" algn="l"/>
                <a:tab pos="423545" algn="l"/>
                <a:tab pos="850900" algn="l"/>
                <a:tab pos="1277620" algn="l"/>
                <a:tab pos="1704975" algn="l"/>
                <a:tab pos="2131695" algn="l"/>
                <a:tab pos="2559050" algn="l"/>
                <a:tab pos="2985770" algn="l"/>
                <a:tab pos="3413125" algn="l"/>
                <a:tab pos="3839845" algn="l"/>
                <a:tab pos="4267200" algn="l"/>
                <a:tab pos="4693920" algn="l"/>
                <a:tab pos="5121275" algn="l"/>
                <a:tab pos="5547995" algn="l"/>
                <a:tab pos="5975350" algn="l"/>
                <a:tab pos="6402070" algn="l"/>
                <a:tab pos="6829425" algn="l"/>
                <a:tab pos="7254875" algn="l"/>
                <a:tab pos="7681595" algn="l"/>
                <a:tab pos="8108950" algn="l"/>
                <a:tab pos="8535670" algn="l"/>
              </a:tabLst>
            </a:pPr>
            <a:r>
              <a:rPr lang="zh-CN" altLang="en-US" sz="3200" b="1">
                <a:solidFill>
                  <a:schemeClr val="tx1"/>
                </a:solidFill>
                <a:latin typeface="Microsoft JhengHei" panose="020B0604030504040204" pitchFamily="34" charset="-120"/>
                <a:ea typeface="Microsoft JhengHei" panose="020B0604030504040204" pitchFamily="34" charset="-120"/>
              </a:rPr>
              <a:t>离散数学及其</a:t>
            </a:r>
            <a:r>
              <a:rPr lang="zh-CN" altLang="en-US" sz="3200" b="1" dirty="0">
                <a:solidFill>
                  <a:schemeClr val="tx1"/>
                </a:solidFill>
                <a:latin typeface="Microsoft JhengHei" panose="020B0604030504040204" pitchFamily="34" charset="-120"/>
                <a:ea typeface="Microsoft JhengHei" panose="020B0604030504040204" pitchFamily="34" charset="-120"/>
              </a:rPr>
              <a:t>应用</a:t>
            </a:r>
            <a:br>
              <a:rPr lang="en-US" altLang="zh-CN" sz="3200" b="1" dirty="0">
                <a:solidFill>
                  <a:schemeClr val="tx1"/>
                </a:solidFill>
                <a:latin typeface="Microsoft JhengHei" panose="020B0604030504040204" pitchFamily="34" charset="-120"/>
                <a:ea typeface="Microsoft JhengHei" panose="020B0604030504040204" pitchFamily="34" charset="-120"/>
              </a:rPr>
            </a:br>
            <a:r>
              <a:rPr lang="en-US" altLang="zh-CN" sz="3200" b="1" dirty="0">
                <a:solidFill>
                  <a:schemeClr val="tx1"/>
                </a:solidFill>
                <a:latin typeface="Microsoft JhengHei" panose="020B0604030504040204" pitchFamily="34" charset="-120"/>
                <a:ea typeface="Microsoft JhengHei" panose="020B0604030504040204" pitchFamily="34" charset="-120"/>
              </a:rPr>
              <a:t>Discrete Mathematics and Its Applications</a:t>
            </a:r>
            <a:br>
              <a:rPr lang="en-US" altLang="zh-CN" sz="3200" b="1" dirty="0">
                <a:solidFill>
                  <a:schemeClr val="tx1"/>
                </a:solidFill>
                <a:latin typeface="Microsoft JhengHei" panose="020B0604030504040204" pitchFamily="34" charset="-120"/>
                <a:ea typeface="Microsoft JhengHei" panose="020B0604030504040204" pitchFamily="34" charset="-120"/>
              </a:rPr>
            </a:br>
            <a:r>
              <a:rPr lang="zh-CN" altLang="en-US" sz="3200" b="1" dirty="0">
                <a:solidFill>
                  <a:schemeClr val="tx1"/>
                </a:solidFill>
                <a:latin typeface="Microsoft JhengHei" panose="020B0604030504040204" pitchFamily="34" charset="-120"/>
                <a:ea typeface="Microsoft JhengHei" panose="020B0604030504040204" pitchFamily="34" charset="-120"/>
              </a:rPr>
              <a:t>（</a:t>
            </a:r>
            <a:r>
              <a:rPr lang="en-US" altLang="zh-CN" sz="3200" b="1" dirty="0">
                <a:solidFill>
                  <a:schemeClr val="tx1"/>
                </a:solidFill>
                <a:latin typeface="Microsoft JhengHei" panose="020B0604030504040204" pitchFamily="34" charset="-120"/>
                <a:ea typeface="Microsoft JhengHei" panose="020B0604030504040204" pitchFamily="34" charset="-120"/>
              </a:rPr>
              <a:t>Eighth  Edition/Kenneth </a:t>
            </a:r>
            <a:r>
              <a:rPr lang="en-US" altLang="zh-CN" sz="3200" b="1" dirty="0" err="1">
                <a:solidFill>
                  <a:schemeClr val="tx1"/>
                </a:solidFill>
                <a:latin typeface="Microsoft JhengHei" panose="020B0604030504040204" pitchFamily="34" charset="-120"/>
                <a:ea typeface="Microsoft JhengHei" panose="020B0604030504040204" pitchFamily="34" charset="-120"/>
              </a:rPr>
              <a:t>H.Rosen</a:t>
            </a:r>
            <a:r>
              <a:rPr lang="zh-CN" altLang="en-US" sz="3200" b="1" dirty="0">
                <a:solidFill>
                  <a:schemeClr val="tx1"/>
                </a:solidFill>
                <a:latin typeface="Microsoft JhengHei" panose="020B0604030504040204" pitchFamily="34" charset="-120"/>
                <a:ea typeface="Microsoft JhengHei" panose="020B0604030504040204" pitchFamily="34" charset="-120"/>
              </a:rPr>
              <a:t>）</a:t>
            </a:r>
            <a:br>
              <a:rPr lang="en-US" altLang="zh-CN" sz="3800" b="1" dirty="0">
                <a:solidFill>
                  <a:schemeClr val="tx1"/>
                </a:solidFill>
                <a:latin typeface="Microsoft JhengHei" panose="020B0604030504040204" pitchFamily="34" charset="-120"/>
                <a:ea typeface="Microsoft JhengHei" panose="020B0604030504040204" pitchFamily="34" charset="-120"/>
              </a:rPr>
            </a:br>
            <a:br>
              <a:rPr lang="en-US" altLang="zh-CN" sz="2400" b="1" dirty="0">
                <a:solidFill>
                  <a:schemeClr val="tx1"/>
                </a:solidFill>
                <a:latin typeface="Microsoft JhengHei" panose="020B0604030504040204" pitchFamily="34" charset="-120"/>
                <a:ea typeface="Microsoft JhengHei" panose="020B0604030504040204" pitchFamily="34" charset="-120"/>
              </a:rPr>
            </a:br>
            <a:r>
              <a:rPr lang="zh-CN" altLang="en-US" sz="2400" b="1" dirty="0">
                <a:solidFill>
                  <a:schemeClr val="tx1"/>
                </a:solidFill>
                <a:latin typeface="Microsoft JhengHei" panose="020B0604030504040204" pitchFamily="34" charset="-120"/>
                <a:ea typeface="Microsoft JhengHei" panose="020B0604030504040204" pitchFamily="34" charset="-120"/>
              </a:rPr>
              <a:t>郭少勇 </a:t>
            </a:r>
            <a:r>
              <a:rPr lang="en-US" altLang="zh-CN" sz="2400" b="1" dirty="0">
                <a:solidFill>
                  <a:schemeClr val="tx1"/>
                </a:solidFill>
                <a:latin typeface="Microsoft JhengHei" panose="020B0604030504040204" pitchFamily="34" charset="-120"/>
                <a:ea typeface="Microsoft JhengHei" panose="020B0604030504040204" pitchFamily="34" charset="-120"/>
              </a:rPr>
              <a:t>(syguo@bupt.edu.cn)</a:t>
            </a:r>
            <a:br>
              <a:rPr lang="en-US" altLang="zh-CN" sz="2400" b="1" dirty="0">
                <a:solidFill>
                  <a:schemeClr val="tx1"/>
                </a:solidFill>
                <a:latin typeface="Microsoft JhengHei" panose="020B0604030504040204" pitchFamily="34" charset="-120"/>
                <a:ea typeface="Microsoft JhengHei" panose="020B0604030504040204" pitchFamily="34" charset="-120"/>
              </a:rPr>
            </a:br>
            <a:r>
              <a:rPr lang="zh-CN" altLang="en-US" sz="2400" b="1" dirty="0">
                <a:solidFill>
                  <a:schemeClr val="tx1"/>
                </a:solidFill>
                <a:latin typeface="Microsoft JhengHei" panose="020B0604030504040204" pitchFamily="34" charset="-120"/>
                <a:ea typeface="Microsoft JhengHei" panose="020B0604030504040204" pitchFamily="34" charset="-120"/>
              </a:rPr>
              <a:t>北京邮电大学</a:t>
            </a:r>
            <a:br>
              <a:rPr lang="en-US" altLang="zh-CN" sz="2400" b="1" dirty="0">
                <a:solidFill>
                  <a:schemeClr val="tx1"/>
                </a:solidFill>
                <a:latin typeface="Microsoft JhengHei" panose="020B0604030504040204" pitchFamily="34" charset="-120"/>
                <a:ea typeface="Microsoft JhengHei" panose="020B0604030504040204" pitchFamily="34" charset="-120"/>
              </a:rPr>
            </a:br>
            <a:r>
              <a:rPr lang="en-US" altLang="zh-CN" sz="2400" b="1" dirty="0">
                <a:solidFill>
                  <a:schemeClr val="tx1"/>
                </a:solidFill>
                <a:latin typeface="Microsoft JhengHei" panose="020B0604030504040204" pitchFamily="34" charset="-120"/>
                <a:ea typeface="Microsoft JhengHei" panose="020B0604030504040204" pitchFamily="34" charset="-120"/>
              </a:rPr>
              <a:t>2024.9</a:t>
            </a:r>
            <a:endParaRPr lang="en-US" altLang="zh-CN" b="1" dirty="0">
              <a:solidFill>
                <a:schemeClr val="tx1"/>
              </a:solidFill>
              <a:latin typeface="Microsoft JhengHei" panose="020B0604030504040204" pitchFamily="34" charset="-120"/>
              <a:ea typeface="Microsoft JhengHei" panose="020B0604030504040204" pitchFamily="34" charset="-12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963624"/>
            <a:ext cx="11627772"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zh-CN" altLang="en-US" sz="2800" u="sng" dirty="0">
                <a:solidFill>
                  <a:srgbClr val="FF0000"/>
                </a:solidFill>
              </a:rPr>
              <a:t>定义</a:t>
            </a:r>
            <a:r>
              <a:rPr lang="en-US" altLang="zh-CN" sz="2800" u="sng" dirty="0">
                <a:solidFill>
                  <a:srgbClr val="FF0000"/>
                </a:solidFill>
              </a:rPr>
              <a:t>1</a:t>
            </a:r>
            <a:r>
              <a:rPr lang="zh-CN" altLang="en-US" sz="2800" u="sng" dirty="0">
                <a:solidFill>
                  <a:srgbClr val="FF0000"/>
                </a:solidFill>
              </a:rPr>
              <a:t>：</a:t>
            </a:r>
            <a:r>
              <a:rPr lang="en-US" altLang="zh-CN" sz="2800" b="1" dirty="0">
                <a:solidFill>
                  <a:srgbClr val="FF0000"/>
                </a:solidFill>
              </a:rPr>
              <a:t>Partial order</a:t>
            </a:r>
            <a:r>
              <a:rPr lang="zh-CN" altLang="en-US" sz="2800" b="1" dirty="0">
                <a:solidFill>
                  <a:srgbClr val="FF0000"/>
                </a:solidFill>
              </a:rPr>
              <a:t>（偏序关系）</a:t>
            </a:r>
            <a:r>
              <a:rPr lang="en-US" altLang="zh-CN" sz="2800" dirty="0"/>
              <a:t>:A relation </a:t>
            </a:r>
            <a:r>
              <a:rPr lang="en-US" altLang="zh-CN" sz="2800" i="1" dirty="0"/>
              <a:t>R</a:t>
            </a:r>
            <a:r>
              <a:rPr lang="en-US" altLang="zh-CN" sz="2800" dirty="0"/>
              <a:t> on a set </a:t>
            </a:r>
            <a:r>
              <a:rPr lang="en-US" altLang="zh-CN" sz="2800" i="1" dirty="0"/>
              <a:t>A</a:t>
            </a:r>
            <a:r>
              <a:rPr lang="en-US" altLang="zh-CN" sz="2800" dirty="0"/>
              <a:t> is called a partial order if </a:t>
            </a:r>
            <a:r>
              <a:rPr lang="en-US" altLang="zh-CN" sz="2800" i="1" dirty="0"/>
              <a:t>R</a:t>
            </a:r>
            <a:r>
              <a:rPr lang="en-US" altLang="zh-CN" sz="2800" dirty="0"/>
              <a:t> is reflexive</a:t>
            </a:r>
            <a:r>
              <a:rPr lang="zh-CN" altLang="en-US" sz="2800" dirty="0"/>
              <a:t>（自反）</a:t>
            </a:r>
            <a:r>
              <a:rPr lang="en-US" altLang="zh-CN" sz="2800" dirty="0"/>
              <a:t>, </a:t>
            </a:r>
            <a:r>
              <a:rPr lang="en-US" altLang="zh-CN" sz="2800" dirty="0">
                <a:highlight>
                  <a:srgbClr val="FFFF00"/>
                </a:highlight>
              </a:rPr>
              <a:t>antisymmetric</a:t>
            </a:r>
            <a:r>
              <a:rPr lang="zh-CN" altLang="en-US" sz="2800" dirty="0">
                <a:highlight>
                  <a:srgbClr val="FFFF00"/>
                </a:highlight>
              </a:rPr>
              <a:t>（反对称）</a:t>
            </a:r>
            <a:r>
              <a:rPr lang="en-US" altLang="zh-CN" sz="2800" dirty="0"/>
              <a:t>, and transitive</a:t>
            </a:r>
            <a:r>
              <a:rPr lang="zh-CN" altLang="en-US" sz="2800" dirty="0"/>
              <a:t>（传递）</a:t>
            </a:r>
            <a:r>
              <a:rPr lang="en-US" altLang="zh-CN" sz="2800" dirty="0"/>
              <a:t>. </a:t>
            </a:r>
          </a:p>
          <a:p>
            <a:pPr eaLnBrk="1" hangingPunct="1">
              <a:lnSpc>
                <a:spcPct val="150000"/>
              </a:lnSpc>
            </a:pPr>
            <a:r>
              <a:rPr lang="en-US" altLang="zh-CN" sz="2800" b="1" dirty="0"/>
              <a:t>Partially ordered </a:t>
            </a:r>
            <a:r>
              <a:rPr lang="en-US" altLang="zh-CN" sz="2800" b="1" dirty="0" err="1"/>
              <a:t>set</a:t>
            </a:r>
            <a:r>
              <a:rPr lang="en-US" altLang="zh-CN" sz="2800" dirty="0" err="1"/>
              <a:t>:The</a:t>
            </a:r>
            <a:r>
              <a:rPr lang="en-US" altLang="zh-CN" sz="2800" dirty="0"/>
              <a:t> set </a:t>
            </a:r>
            <a:r>
              <a:rPr lang="en-US" altLang="zh-CN" sz="2800" i="1" dirty="0"/>
              <a:t>A</a:t>
            </a:r>
            <a:r>
              <a:rPr lang="en-US" altLang="zh-CN" sz="2800" dirty="0"/>
              <a:t> together with the partial order </a:t>
            </a:r>
            <a:r>
              <a:rPr lang="en-US" altLang="zh-CN" sz="2800" i="1" dirty="0"/>
              <a:t>R</a:t>
            </a:r>
            <a:r>
              <a:rPr lang="en-US" altLang="zh-CN" sz="2800" dirty="0"/>
              <a:t> is called a </a:t>
            </a:r>
            <a:r>
              <a:rPr lang="en-US" altLang="zh-CN" sz="2800" dirty="0">
                <a:solidFill>
                  <a:srgbClr val="FF0000"/>
                </a:solidFill>
              </a:rPr>
              <a:t>partially ordered set</a:t>
            </a:r>
            <a:r>
              <a:rPr lang="zh-CN" altLang="en-US" sz="2800" dirty="0">
                <a:solidFill>
                  <a:srgbClr val="FF0000"/>
                </a:solidFill>
              </a:rPr>
              <a:t>（偏序集合）</a:t>
            </a:r>
            <a:r>
              <a:rPr lang="en-US" altLang="zh-CN" sz="2800" dirty="0"/>
              <a:t>, or simply a </a:t>
            </a:r>
            <a:r>
              <a:rPr lang="en-US" altLang="zh-CN" sz="2800" dirty="0" err="1">
                <a:solidFill>
                  <a:srgbClr val="FF0000"/>
                </a:solidFill>
              </a:rPr>
              <a:t>poset</a:t>
            </a:r>
            <a:r>
              <a:rPr lang="zh-CN" altLang="en-US" sz="2800" dirty="0">
                <a:solidFill>
                  <a:srgbClr val="FF0000"/>
                </a:solidFill>
              </a:rPr>
              <a:t>（偏序集）</a:t>
            </a:r>
            <a:r>
              <a:rPr lang="en-US" altLang="zh-CN" sz="2800" b="1" u="sng" dirty="0"/>
              <a:t>,</a:t>
            </a:r>
            <a:r>
              <a:rPr lang="en-US" altLang="zh-CN" sz="2800" dirty="0"/>
              <a:t> and we will denote this </a:t>
            </a:r>
            <a:r>
              <a:rPr lang="en-US" altLang="zh-CN" sz="2800" dirty="0" err="1"/>
              <a:t>poset</a:t>
            </a:r>
            <a:r>
              <a:rPr lang="en-US" altLang="zh-CN" sz="2800" dirty="0"/>
              <a:t> by (</a:t>
            </a:r>
            <a:r>
              <a:rPr lang="en-US" altLang="zh-CN" sz="2800" i="1" dirty="0"/>
              <a:t>A</a:t>
            </a:r>
            <a:r>
              <a:rPr lang="en-US" altLang="zh-CN" sz="2800" dirty="0"/>
              <a:t>, </a:t>
            </a:r>
            <a:r>
              <a:rPr lang="en-US" altLang="zh-CN" sz="2800" i="1" dirty="0"/>
              <a:t>R</a:t>
            </a:r>
            <a:r>
              <a:rPr lang="en-US" altLang="zh-CN" sz="2800" dirty="0"/>
              <a:t>). </a:t>
            </a:r>
          </a:p>
          <a:p>
            <a:pPr marL="0" indent="0" eaLnBrk="1" hangingPunct="1">
              <a:lnSpc>
                <a:spcPct val="150000"/>
              </a:lnSpc>
              <a:buNone/>
            </a:pPr>
            <a:endParaRPr lang="en-US" altLang="zh-CN" sz="2800" dirty="0">
              <a:ea typeface="Arial Unicode MS" panose="020B0604020202020204" pitchFamily="34" charset="-122"/>
            </a:endParaRPr>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9.6.1 Introduction - Partial ordered sets </a:t>
            </a:r>
            <a:r>
              <a:rPr lang="zh-CN" altLang="en-US" sz="3200"/>
              <a:t>（偏序集合）</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9.6.1</a:t>
            </a:r>
            <a:r>
              <a:rPr lang="zh-CN" altLang="en-US" sz="3200"/>
              <a:t> </a:t>
            </a:r>
            <a:r>
              <a:rPr lang="en-US" altLang="zh-CN" sz="3200"/>
              <a:t>Introduction</a:t>
            </a:r>
            <a:endParaRPr lang="zh-CN" altLang="en-US" sz="3200" dirty="0"/>
          </a:p>
        </p:txBody>
      </p:sp>
      <p:sp>
        <p:nvSpPr>
          <p:cNvPr id="4" name="Rectangle 3"/>
          <p:cNvSpPr txBox="1">
            <a:spLocks noChangeArrowheads="1"/>
          </p:cNvSpPr>
          <p:nvPr/>
        </p:nvSpPr>
        <p:spPr bwMode="auto">
          <a:xfrm>
            <a:off x="210046" y="894284"/>
            <a:ext cx="1122202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1:</a:t>
            </a:r>
          </a:p>
          <a:p>
            <a:pPr lvl="1">
              <a:lnSpc>
                <a:spcPct val="150000"/>
              </a:lnSpc>
              <a:buClrTx/>
              <a:buFont typeface="Wingdings" panose="05000000000000000000" pitchFamily="2" charset="2"/>
              <a:buChar char="l"/>
            </a:pPr>
            <a:r>
              <a:rPr lang="en-US" altLang="zh-CN" sz="2400" dirty="0"/>
              <a:t>Show that the greater than or equal to relation (≥) is a partial ordering on the set of integers.</a:t>
            </a:r>
          </a:p>
          <a:p>
            <a:pPr lvl="1">
              <a:lnSpc>
                <a:spcPct val="150000"/>
              </a:lnSpc>
              <a:buClrTx/>
              <a:buFont typeface="Wingdings" panose="05000000000000000000" pitchFamily="2" charset="2"/>
              <a:buChar char="l"/>
            </a:pPr>
            <a:r>
              <a:rPr lang="en-US" altLang="zh-CN" sz="2400" dirty="0"/>
              <a:t>Solution: Because a ≥ a for every integer a, ≥ is reflexive. If a ≥ b and b ≥ a, then a = b. Extra  ≥ is antisymmetric. Finally, ≥ is transitive because a ≥ b and b ≥ c imply that a ≥ c. It follows that ≥ is a partial ordering on the set of integers and (Z, ≥) is a poset.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9.6.1</a:t>
            </a:r>
            <a:r>
              <a:rPr lang="zh-CN" altLang="en-US" sz="3200"/>
              <a:t> </a:t>
            </a:r>
            <a:r>
              <a:rPr lang="en-US" altLang="zh-CN" sz="3200"/>
              <a:t>Introduction</a:t>
            </a:r>
            <a:endParaRPr lang="zh-CN" altLang="en-US" sz="3200" dirty="0"/>
          </a:p>
        </p:txBody>
      </p:sp>
      <p:sp>
        <p:nvSpPr>
          <p:cNvPr id="4" name="Rectangle 3"/>
          <p:cNvSpPr txBox="1">
            <a:spLocks noChangeArrowheads="1"/>
          </p:cNvSpPr>
          <p:nvPr/>
        </p:nvSpPr>
        <p:spPr bwMode="auto">
          <a:xfrm>
            <a:off x="210046" y="883189"/>
            <a:ext cx="1122202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2:</a:t>
            </a:r>
          </a:p>
          <a:p>
            <a:pPr lvl="1">
              <a:lnSpc>
                <a:spcPct val="150000"/>
              </a:lnSpc>
              <a:buClrTx/>
              <a:buFont typeface="Wingdings" panose="05000000000000000000" pitchFamily="2" charset="2"/>
              <a:buChar char="l"/>
            </a:pPr>
            <a:r>
              <a:rPr lang="en-US" altLang="zh-CN" sz="2400" dirty="0"/>
              <a:t>The divisibility relation ∣ is a partial ordering on the set of positive integers, because it is reflexive, antisymmetric, and transitive, as was shown in Section 9.1. We see that (Z</a:t>
            </a:r>
            <a:r>
              <a:rPr lang="en-US" altLang="zh-CN" sz="2400" baseline="30000" dirty="0"/>
              <a:t>+</a:t>
            </a:r>
            <a:r>
              <a:rPr lang="en-US" altLang="zh-CN" sz="2400" dirty="0"/>
              <a:t>, ∣) is a poset. Recall that (Z</a:t>
            </a:r>
            <a:r>
              <a:rPr lang="en-US" altLang="zh-CN" sz="2400" baseline="30000" dirty="0"/>
              <a:t>+</a:t>
            </a:r>
            <a:r>
              <a:rPr lang="en-US" altLang="zh-CN" sz="2400" dirty="0"/>
              <a:t> denotes the set of positive integers.) </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9.6.1</a:t>
            </a:r>
            <a:r>
              <a:rPr lang="zh-CN" altLang="en-US" sz="3200"/>
              <a:t> </a:t>
            </a:r>
            <a:r>
              <a:rPr lang="en-US" altLang="zh-CN" sz="3200"/>
              <a:t>Introduction</a:t>
            </a:r>
            <a:endParaRPr lang="zh-CN" altLang="en-US" sz="3200" dirty="0"/>
          </a:p>
        </p:txBody>
      </p:sp>
      <p:sp>
        <p:nvSpPr>
          <p:cNvPr id="5" name="Rectangle 3"/>
          <p:cNvSpPr txBox="1">
            <a:spLocks noChangeArrowheads="1"/>
          </p:cNvSpPr>
          <p:nvPr/>
        </p:nvSpPr>
        <p:spPr bwMode="auto">
          <a:xfrm>
            <a:off x="210046" y="901119"/>
            <a:ext cx="1122202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3:</a:t>
            </a:r>
          </a:p>
          <a:p>
            <a:pPr lvl="1">
              <a:lnSpc>
                <a:spcPct val="150000"/>
              </a:lnSpc>
              <a:buClrTx/>
              <a:buFont typeface="Wingdings" panose="05000000000000000000" pitchFamily="2" charset="2"/>
              <a:buChar char="l"/>
            </a:pPr>
            <a:r>
              <a:rPr lang="en-US" altLang="zh-CN" sz="2400" dirty="0"/>
              <a:t>Show that the inclusion relation ⊆ is a partial ordering on the power set of a set S.</a:t>
            </a:r>
          </a:p>
          <a:p>
            <a:pPr lvl="1">
              <a:lnSpc>
                <a:spcPct val="150000"/>
              </a:lnSpc>
              <a:buClrTx/>
              <a:buFont typeface="Wingdings" panose="05000000000000000000" pitchFamily="2" charset="2"/>
              <a:buChar char="l"/>
            </a:pPr>
            <a:r>
              <a:rPr lang="en-US" altLang="zh-CN" sz="2400" dirty="0"/>
              <a:t>Solution: Because A ⊆ A whenever A is a subset of S,⊆ is reflexive. It is antisymmetric because A ⊆ B and B ⊆ A imply that A = B. Finally, ⊆ is transitive, because A ⊆ B and B ⊆ C imply that A ⊆ C. Hence, ⊆ is a partial ordering on P(S), and (P(S),⊆) is a poset.</a:t>
            </a:r>
          </a:p>
          <a:p>
            <a:pPr lvl="1">
              <a:lnSpc>
                <a:spcPct val="150000"/>
              </a:lnSpc>
              <a:buClrTx/>
              <a:buFont typeface="Wingdings" panose="05000000000000000000" pitchFamily="2" charset="2"/>
              <a:buChar char="l"/>
            </a:pPr>
            <a:endParaRPr lang="en-US" altLang="zh-CN" sz="28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9.6.1</a:t>
            </a:r>
            <a:r>
              <a:rPr lang="zh-CN" altLang="en-US" sz="3200"/>
              <a:t> </a:t>
            </a:r>
            <a:r>
              <a:rPr lang="en-US" altLang="zh-CN" sz="3200"/>
              <a:t>Introduction</a:t>
            </a:r>
            <a:endParaRPr lang="zh-CN" altLang="en-US" sz="3200" dirty="0"/>
          </a:p>
        </p:txBody>
      </p:sp>
      <p:sp>
        <p:nvSpPr>
          <p:cNvPr id="5" name="Rectangle 3"/>
          <p:cNvSpPr txBox="1">
            <a:spLocks noChangeArrowheads="1"/>
          </p:cNvSpPr>
          <p:nvPr/>
        </p:nvSpPr>
        <p:spPr bwMode="auto">
          <a:xfrm>
            <a:off x="210046" y="739754"/>
            <a:ext cx="1122202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4:</a:t>
            </a:r>
          </a:p>
          <a:p>
            <a:pPr lvl="1">
              <a:lnSpc>
                <a:spcPct val="150000"/>
              </a:lnSpc>
              <a:buClrTx/>
              <a:buFont typeface="Wingdings" panose="05000000000000000000" pitchFamily="2" charset="2"/>
              <a:buChar char="l"/>
            </a:pPr>
            <a:r>
              <a:rPr lang="en-US" altLang="zh-CN" sz="2400" dirty="0"/>
              <a:t>Let R be the relation on the set of people such that </a:t>
            </a:r>
            <a:r>
              <a:rPr lang="en-US" altLang="zh-CN" sz="2400" dirty="0" err="1"/>
              <a:t>xRy</a:t>
            </a:r>
            <a:r>
              <a:rPr lang="en-US" altLang="zh-CN" sz="2400" dirty="0"/>
              <a:t> if x and y are people and x is older than y. Show that R is not a partial ordering.</a:t>
            </a:r>
          </a:p>
          <a:p>
            <a:pPr lvl="1">
              <a:lnSpc>
                <a:spcPct val="150000"/>
              </a:lnSpc>
              <a:buClrTx/>
              <a:buFont typeface="Wingdings" panose="05000000000000000000" pitchFamily="2" charset="2"/>
              <a:buChar char="l"/>
            </a:pPr>
            <a:r>
              <a:rPr lang="en-US" altLang="zh-CN" sz="2400" dirty="0"/>
              <a:t>Solution: Note that R is antisymmetric because if a person x is older than a person y, then y is not older than x. That is, if </a:t>
            </a:r>
            <a:r>
              <a:rPr lang="en-US" altLang="zh-CN" sz="2400" dirty="0" err="1"/>
              <a:t>xRy</a:t>
            </a:r>
            <a:r>
              <a:rPr lang="en-US" altLang="zh-CN" sz="2400" dirty="0"/>
              <a:t>, then </a:t>
            </a:r>
            <a:r>
              <a:rPr lang="en-US" altLang="zh-CN" sz="2400" dirty="0" err="1"/>
              <a:t>y</a:t>
            </a:r>
            <a:r>
              <a:rPr lang="en-US" altLang="zh-CN" sz="2400" strike="sngStrike" dirty="0" err="1"/>
              <a:t>R</a:t>
            </a:r>
            <a:r>
              <a:rPr lang="en-US" altLang="zh-CN" sz="2400" dirty="0" err="1"/>
              <a:t>x</a:t>
            </a:r>
            <a:r>
              <a:rPr lang="en-US" altLang="zh-CN" sz="2400" dirty="0"/>
              <a:t>. The relation R is transitive because if person x is older than person y and y is older than person z, then x is older than z. That is, if </a:t>
            </a:r>
            <a:r>
              <a:rPr lang="en-US" altLang="zh-CN" sz="2400" dirty="0" err="1"/>
              <a:t>xRy</a:t>
            </a:r>
            <a:r>
              <a:rPr lang="en-US" altLang="zh-CN" sz="2400" dirty="0"/>
              <a:t> and </a:t>
            </a:r>
            <a:r>
              <a:rPr lang="en-US" altLang="zh-CN" sz="2400" dirty="0" err="1"/>
              <a:t>yRz</a:t>
            </a:r>
            <a:r>
              <a:rPr lang="en-US" altLang="zh-CN" sz="2400" dirty="0"/>
              <a:t>, then </a:t>
            </a:r>
            <a:r>
              <a:rPr lang="en-US" altLang="zh-CN" sz="2400" dirty="0" err="1"/>
              <a:t>xRz</a:t>
            </a:r>
            <a:r>
              <a:rPr lang="en-US" altLang="zh-CN" sz="2400" dirty="0"/>
              <a:t>. However, R is not reflexive, because no person is older than himself or herself. That is, </a:t>
            </a:r>
            <a:r>
              <a:rPr lang="en-US" altLang="zh-CN" sz="2400" dirty="0" err="1"/>
              <a:t>x</a:t>
            </a:r>
            <a:r>
              <a:rPr lang="en-US" altLang="zh-CN" sz="2400" strike="sngStrike" dirty="0" err="1"/>
              <a:t>R</a:t>
            </a:r>
            <a:r>
              <a:rPr lang="en-US" altLang="zh-CN" sz="2400" dirty="0" err="1"/>
              <a:t>x</a:t>
            </a:r>
            <a:r>
              <a:rPr lang="en-US" altLang="zh-CN" sz="2400" dirty="0"/>
              <a:t> for all people x. It follows that R is not a partial ordering.</a:t>
            </a:r>
          </a:p>
          <a:p>
            <a:pPr lvl="1">
              <a:lnSpc>
                <a:spcPct val="150000"/>
              </a:lnSpc>
              <a:buClrTx/>
              <a:buFont typeface="Wingdings" panose="05000000000000000000" pitchFamily="2" charset="2"/>
              <a:buChar char="l"/>
            </a:pPr>
            <a:endParaRPr lang="en-US" altLang="zh-CN" sz="24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9.6.1</a:t>
            </a:r>
            <a:r>
              <a:rPr lang="zh-CN" altLang="en-US" sz="3200" dirty="0"/>
              <a:t> </a:t>
            </a:r>
            <a:r>
              <a:rPr lang="en-US" altLang="zh-CN" sz="3200" dirty="0"/>
              <a:t>Introduction</a:t>
            </a:r>
            <a:endParaRPr lang="zh-CN" altLang="en-US" sz="3200" dirty="0"/>
          </a:p>
        </p:txBody>
      </p:sp>
      <p:sp>
        <p:nvSpPr>
          <p:cNvPr id="5" name="Rectangle 3"/>
          <p:cNvSpPr txBox="1">
            <a:spLocks noChangeArrowheads="1"/>
          </p:cNvSpPr>
          <p:nvPr/>
        </p:nvSpPr>
        <p:spPr bwMode="auto">
          <a:xfrm>
            <a:off x="210046" y="859799"/>
            <a:ext cx="11448554" cy="5678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sz="2800" dirty="0"/>
              <a:t>A relation </a:t>
            </a:r>
            <a:r>
              <a:rPr lang="en-US" altLang="zh-CN" sz="2800" i="1" dirty="0"/>
              <a:t>R</a:t>
            </a:r>
            <a:r>
              <a:rPr lang="en-US" altLang="zh-CN" sz="2800" dirty="0"/>
              <a:t> on </a:t>
            </a:r>
            <a:r>
              <a:rPr lang="en-US" altLang="zh-CN" sz="2800" i="1" dirty="0"/>
              <a:t>A</a:t>
            </a:r>
            <a:r>
              <a:rPr lang="en-US" altLang="zh-CN" sz="2800" dirty="0"/>
              <a:t> is called a </a:t>
            </a:r>
            <a:r>
              <a:rPr lang="en-US" altLang="zh-CN" sz="2800" i="1" dirty="0"/>
              <a:t>partial ordering</a:t>
            </a:r>
            <a:r>
              <a:rPr lang="en-US" altLang="zh-CN" sz="2800" dirty="0"/>
              <a:t> or </a:t>
            </a:r>
            <a:r>
              <a:rPr lang="en-US" altLang="zh-CN" sz="2800" i="1" dirty="0"/>
              <a:t>partial order</a:t>
            </a:r>
            <a:r>
              <a:rPr lang="en-US" altLang="zh-CN" sz="2800" dirty="0"/>
              <a:t> if it is reflexive, antisymmetric, and transitive.</a:t>
            </a:r>
          </a:p>
          <a:p>
            <a:pPr lvl="1" eaLnBrk="1" hangingPunct="1">
              <a:lnSpc>
                <a:spcPct val="150000"/>
              </a:lnSpc>
            </a:pPr>
            <a:r>
              <a:rPr lang="en-US" altLang="zh-CN" dirty="0"/>
              <a:t>We often use a symbol looking something like </a:t>
            </a:r>
            <a:r>
              <a:rPr lang="en-US" altLang="zh-CN" dirty="0">
                <a:latin typeface="Arial Unicode MS" panose="020B0604020202020204" pitchFamily="34" charset="-122"/>
              </a:rPr>
              <a:t>≼</a:t>
            </a:r>
            <a:r>
              <a:rPr lang="en-US" altLang="zh-CN" dirty="0">
                <a:ea typeface="Arial Unicode MS" panose="020B0604020202020204" pitchFamily="34" charset="-122"/>
              </a:rPr>
              <a:t> (or analogous shapes) for such relations.</a:t>
            </a:r>
          </a:p>
          <a:p>
            <a:pPr lvl="1" eaLnBrk="1" hangingPunct="1">
              <a:lnSpc>
                <a:spcPct val="150000"/>
              </a:lnSpc>
            </a:pPr>
            <a:r>
              <a:rPr lang="en-US" altLang="zh-CN" dirty="0">
                <a:ea typeface="Arial Unicode MS" panose="020B0604020202020204" pitchFamily="34" charset="-122"/>
              </a:rPr>
              <a:t>Examples: ≤, ≥ on real numbers, </a:t>
            </a:r>
            <a:r>
              <a:rPr lang="en-US" altLang="zh-CN" dirty="0">
                <a:ea typeface="Arial Unicode MS" panose="020B0604020202020204" pitchFamily="34" charset="-122"/>
                <a:sym typeface="Symbol" panose="05050102010706020507" pitchFamily="18" charset="2"/>
              </a:rPr>
              <a:t>,  on sets.</a:t>
            </a:r>
          </a:p>
          <a:p>
            <a:pPr lvl="1" eaLnBrk="1" hangingPunct="1">
              <a:lnSpc>
                <a:spcPct val="150000"/>
              </a:lnSpc>
            </a:pPr>
            <a:r>
              <a:rPr lang="en-US" altLang="zh-CN" dirty="0">
                <a:ea typeface="Arial Unicode MS" panose="020B0604020202020204" pitchFamily="34" charset="-122"/>
                <a:sym typeface="Symbol" panose="05050102010706020507" pitchFamily="18" charset="2"/>
              </a:rPr>
              <a:t>Another example: the divides relation | on </a:t>
            </a:r>
            <a:r>
              <a:rPr lang="en-US" altLang="zh-CN" b="1" dirty="0">
                <a:ea typeface="Arial Unicode MS" panose="020B0604020202020204" pitchFamily="34" charset="-122"/>
                <a:sym typeface="Symbol" panose="05050102010706020507" pitchFamily="18" charset="2"/>
              </a:rPr>
              <a:t>Z</a:t>
            </a:r>
            <a:r>
              <a:rPr lang="en-US" altLang="zh-CN" baseline="30000" dirty="0">
                <a:ea typeface="Arial Unicode MS" panose="020B0604020202020204" pitchFamily="34" charset="-122"/>
                <a:sym typeface="Symbol" panose="05050102010706020507" pitchFamily="18" charset="2"/>
              </a:rPr>
              <a:t>+</a:t>
            </a:r>
            <a:r>
              <a:rPr lang="en-US" altLang="zh-CN" dirty="0">
                <a:ea typeface="Arial Unicode MS" panose="020B0604020202020204" pitchFamily="34" charset="-122"/>
                <a:sym typeface="Symbol" panose="05050102010706020507" pitchFamily="18" charset="2"/>
              </a:rPr>
              <a:t>.</a:t>
            </a:r>
          </a:p>
          <a:p>
            <a:pPr lvl="2" eaLnBrk="1" hangingPunct="1">
              <a:lnSpc>
                <a:spcPct val="150000"/>
              </a:lnSpc>
            </a:pPr>
            <a:r>
              <a:rPr lang="en-US" altLang="zh-CN" dirty="0">
                <a:ea typeface="Arial Unicode MS" panose="020B0604020202020204" pitchFamily="34" charset="-122"/>
                <a:sym typeface="Symbol" panose="05050102010706020507" pitchFamily="18" charset="2"/>
              </a:rPr>
              <a:t>Note it is not necessarily the case that either </a:t>
            </a:r>
            <a:r>
              <a:rPr lang="en-US" altLang="zh-CN" i="1" dirty="0">
                <a:ea typeface="Arial Unicode MS" panose="020B0604020202020204" pitchFamily="34" charset="-122"/>
                <a:sym typeface="Symbol" panose="05050102010706020507" pitchFamily="18" charset="2"/>
              </a:rPr>
              <a:t>a</a:t>
            </a:r>
            <a:r>
              <a:rPr lang="en-US" altLang="zh-CN" dirty="0">
                <a:latin typeface="Arial Unicode MS" panose="020B0604020202020204" pitchFamily="34" charset="-122"/>
              </a:rPr>
              <a:t>≼</a:t>
            </a:r>
            <a:r>
              <a:rPr lang="en-US" altLang="zh-CN" i="1" dirty="0">
                <a:ea typeface="Arial Unicode MS" panose="020B0604020202020204" pitchFamily="34" charset="-122"/>
                <a:sym typeface="Symbol" panose="05050102010706020507" pitchFamily="18" charset="2"/>
              </a:rPr>
              <a:t>b</a:t>
            </a:r>
            <a:r>
              <a:rPr lang="en-US" altLang="zh-CN" dirty="0">
                <a:ea typeface="Arial Unicode MS" panose="020B0604020202020204" pitchFamily="34" charset="-122"/>
                <a:sym typeface="Symbol" panose="05050102010706020507" pitchFamily="18" charset="2"/>
              </a:rPr>
              <a:t> or </a:t>
            </a:r>
            <a:r>
              <a:rPr lang="en-US" altLang="zh-CN" i="1" dirty="0" err="1">
                <a:ea typeface="Arial Unicode MS" panose="020B0604020202020204" pitchFamily="34" charset="-122"/>
                <a:sym typeface="Symbol" panose="05050102010706020507" pitchFamily="18" charset="2"/>
              </a:rPr>
              <a:t>b</a:t>
            </a:r>
            <a:r>
              <a:rPr lang="en-US" altLang="zh-CN" dirty="0" err="1">
                <a:latin typeface="Arial Unicode MS" panose="020B0604020202020204" pitchFamily="34" charset="-122"/>
              </a:rPr>
              <a:t>≼</a:t>
            </a:r>
            <a:r>
              <a:rPr lang="en-US" altLang="zh-CN" i="1" dirty="0" err="1">
                <a:ea typeface="Arial Unicode MS" panose="020B0604020202020204" pitchFamily="34" charset="-122"/>
                <a:sym typeface="Symbol" panose="05050102010706020507" pitchFamily="18" charset="2"/>
              </a:rPr>
              <a:t>a</a:t>
            </a:r>
            <a:r>
              <a:rPr lang="en-US" altLang="zh-CN" dirty="0">
                <a:ea typeface="Arial Unicode MS" panose="020B0604020202020204" pitchFamily="34" charset="-122"/>
                <a:sym typeface="Symbol" panose="05050102010706020507" pitchFamily="18" charset="2"/>
              </a:rPr>
              <a:t>.</a:t>
            </a:r>
          </a:p>
        </p:txBody>
      </p:sp>
      <p:sp>
        <p:nvSpPr>
          <p:cNvPr id="4" name="Rectangle 3"/>
          <p:cNvSpPr txBox="1">
            <a:spLocks noChangeArrowheads="1"/>
          </p:cNvSpPr>
          <p:nvPr/>
        </p:nvSpPr>
        <p:spPr bwMode="auto">
          <a:xfrm>
            <a:off x="371723" y="5570857"/>
            <a:ext cx="11448554" cy="1471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sz="2800" dirty="0"/>
              <a:t>A set </a:t>
            </a:r>
            <a:r>
              <a:rPr lang="en-US" altLang="zh-CN" sz="2800" i="1" dirty="0"/>
              <a:t>A</a:t>
            </a:r>
            <a:r>
              <a:rPr lang="en-US" altLang="zh-CN" sz="2800" dirty="0"/>
              <a:t> together with a partial order </a:t>
            </a:r>
            <a:r>
              <a:rPr lang="en-US" altLang="zh-CN" sz="2800" dirty="0">
                <a:latin typeface="Arial Unicode MS" panose="020B0604020202020204" pitchFamily="34" charset="-122"/>
              </a:rPr>
              <a:t>≼</a:t>
            </a:r>
            <a:r>
              <a:rPr lang="en-US" altLang="zh-CN" sz="2800" dirty="0"/>
              <a:t> on </a:t>
            </a:r>
            <a:r>
              <a:rPr lang="en-US" altLang="zh-CN" sz="2800" i="1" dirty="0"/>
              <a:t>A</a:t>
            </a:r>
            <a:r>
              <a:rPr lang="en-US" altLang="zh-CN" sz="2800" dirty="0"/>
              <a:t> is called a </a:t>
            </a:r>
            <a:r>
              <a:rPr lang="en-US" altLang="zh-CN" sz="2800" i="1" dirty="0"/>
              <a:t>partially ordered set</a:t>
            </a:r>
            <a:r>
              <a:rPr lang="en-US" altLang="zh-CN" sz="2800" dirty="0"/>
              <a:t> or </a:t>
            </a:r>
            <a:r>
              <a:rPr lang="en-US" altLang="zh-CN" sz="2800" i="1" dirty="0"/>
              <a:t>poset</a:t>
            </a:r>
            <a:r>
              <a:rPr lang="en-US" altLang="zh-CN" sz="2800" dirty="0"/>
              <a:t> and is denoted (</a:t>
            </a:r>
            <a:r>
              <a:rPr lang="en-US" altLang="zh-CN" sz="2800" i="1" dirty="0"/>
              <a:t>A</a:t>
            </a:r>
            <a:r>
              <a:rPr lang="en-US" altLang="zh-CN" sz="2800" dirty="0"/>
              <a:t>, </a:t>
            </a:r>
            <a:r>
              <a:rPr lang="en-US" altLang="zh-CN" sz="2800" dirty="0">
                <a:latin typeface="Arial Unicode MS" panose="020B0604020202020204" pitchFamily="34" charset="-122"/>
              </a:rPr>
              <a:t>≼</a:t>
            </a:r>
            <a:r>
              <a:rPr lang="en-US" altLang="zh-CN" sz="2800" dirty="0">
                <a:ea typeface="Arial Unicode MS" panose="020B0604020202020204" pitchFamily="34" charset="-122"/>
              </a:rPr>
              <a:t>).</a:t>
            </a:r>
          </a:p>
          <a:p>
            <a:pPr marL="0" indent="0" eaLnBrk="1" hangingPunct="1">
              <a:lnSpc>
                <a:spcPct val="150000"/>
              </a:lnSpc>
              <a:buNone/>
            </a:pPr>
            <a:endParaRPr lang="en-US" altLang="zh-CN" sz="2800" dirty="0">
              <a:ea typeface="Arial Unicode MS" panose="020B0604020202020204" pitchFamily="34" charset="-122"/>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5394"/>
          </a:xfrm>
          <a:prstGeom prst="rect">
            <a:avLst/>
          </a:prstGeom>
          <a:noFill/>
        </p:spPr>
        <p:txBody>
          <a:bodyPr wrap="square" rtlCol="0">
            <a:spAutoFit/>
          </a:bodyPr>
          <a:lstStyle/>
          <a:p>
            <a:pPr>
              <a:lnSpc>
                <a:spcPct val="150000"/>
              </a:lnSpc>
            </a:pPr>
            <a:r>
              <a:rPr lang="en-US" altLang="zh-CN" sz="3200" dirty="0"/>
              <a:t>9.6.1 Introduction - Linear Order</a:t>
            </a:r>
            <a:r>
              <a:rPr lang="zh-CN" altLang="en-US" sz="3200" dirty="0"/>
              <a:t>（线序关系）</a:t>
            </a:r>
            <a:endParaRPr lang="en-US" altLang="zh-CN" sz="3200" dirty="0"/>
          </a:p>
        </p:txBody>
      </p:sp>
      <p:sp>
        <p:nvSpPr>
          <p:cNvPr id="5" name="Rectangle 3"/>
          <p:cNvSpPr txBox="1">
            <a:spLocks noChangeArrowheads="1"/>
          </p:cNvSpPr>
          <p:nvPr/>
        </p:nvSpPr>
        <p:spPr bwMode="auto">
          <a:xfrm>
            <a:off x="210046" y="735394"/>
            <a:ext cx="1144855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gn="just">
              <a:lnSpc>
                <a:spcPct val="150000"/>
              </a:lnSpc>
              <a:defRPr/>
            </a:pPr>
            <a:r>
              <a:rPr lang="zh-CN" altLang="en-US" sz="2800" u="sng" dirty="0">
                <a:solidFill>
                  <a:srgbClr val="FF0000"/>
                </a:solidFill>
              </a:rPr>
              <a:t>定义</a:t>
            </a:r>
            <a:r>
              <a:rPr lang="en-US" altLang="zh-CN" sz="2800" u="sng" dirty="0">
                <a:solidFill>
                  <a:srgbClr val="FF0000"/>
                </a:solidFill>
              </a:rPr>
              <a:t>2</a:t>
            </a:r>
            <a:r>
              <a:rPr lang="zh-CN" altLang="en-US" sz="2800" u="sng" dirty="0">
                <a:solidFill>
                  <a:srgbClr val="FF0000"/>
                </a:solidFill>
              </a:rPr>
              <a:t>：</a:t>
            </a:r>
            <a:r>
              <a:rPr lang="en-US" altLang="zh-CN" sz="2800" dirty="0"/>
              <a:t>If (</a:t>
            </a:r>
            <a:r>
              <a:rPr lang="en-US" altLang="zh-CN" sz="2800" i="1" dirty="0"/>
              <a:t>A</a:t>
            </a:r>
            <a:r>
              <a:rPr lang="en-US" altLang="zh-CN" sz="2800" dirty="0"/>
              <a:t>, ≤) is a poset, the elements </a:t>
            </a:r>
            <a:r>
              <a:rPr lang="en-US" altLang="zh-CN" sz="2800" i="1" dirty="0"/>
              <a:t>a</a:t>
            </a:r>
            <a:r>
              <a:rPr lang="en-US" altLang="zh-CN" sz="2800" dirty="0"/>
              <a:t> and </a:t>
            </a:r>
            <a:r>
              <a:rPr lang="en-US" altLang="zh-CN" sz="2800" i="1" dirty="0"/>
              <a:t>b</a:t>
            </a:r>
            <a:r>
              <a:rPr lang="en-US" altLang="zh-CN" sz="2800" dirty="0"/>
              <a:t> are said to be </a:t>
            </a:r>
          </a:p>
          <a:p>
            <a:pPr lvl="1" algn="just" eaLnBrk="1" hangingPunct="1">
              <a:lnSpc>
                <a:spcPct val="150000"/>
              </a:lnSpc>
              <a:defRPr/>
            </a:pPr>
            <a:r>
              <a:rPr lang="en-US" altLang="zh-CN" sz="2400" i="1" dirty="0"/>
              <a:t>Comparable</a:t>
            </a:r>
            <a:r>
              <a:rPr lang="zh-CN" altLang="en-US" sz="2400" i="1" dirty="0"/>
              <a:t>（可比的）</a:t>
            </a:r>
            <a:r>
              <a:rPr lang="zh-CN" altLang="en-US" sz="2400" dirty="0"/>
              <a:t> </a:t>
            </a:r>
            <a:r>
              <a:rPr lang="en-US" altLang="zh-CN" sz="2400" dirty="0"/>
              <a:t>if </a:t>
            </a:r>
            <a:r>
              <a:rPr lang="en-US" altLang="zh-CN" sz="2400" i="1" dirty="0"/>
              <a:t>a</a:t>
            </a:r>
            <a:r>
              <a:rPr lang="en-US" altLang="zh-CN" sz="2400" dirty="0"/>
              <a:t> ≤ </a:t>
            </a:r>
            <a:r>
              <a:rPr lang="en-US" altLang="zh-CN" sz="2400" i="1" dirty="0"/>
              <a:t>b</a:t>
            </a:r>
            <a:r>
              <a:rPr lang="en-US" altLang="zh-CN" sz="2400" dirty="0"/>
              <a:t> or </a:t>
            </a:r>
            <a:r>
              <a:rPr lang="en-US" altLang="zh-CN" sz="2400" i="1" dirty="0"/>
              <a:t>b</a:t>
            </a:r>
            <a:r>
              <a:rPr lang="en-US" altLang="zh-CN" sz="2400" dirty="0"/>
              <a:t> ≤ </a:t>
            </a:r>
            <a:r>
              <a:rPr lang="en-US" altLang="zh-CN" sz="2400" i="1" dirty="0"/>
              <a:t>a.</a:t>
            </a:r>
          </a:p>
          <a:p>
            <a:pPr lvl="1" algn="just" eaLnBrk="1" hangingPunct="1">
              <a:lnSpc>
                <a:spcPct val="150000"/>
              </a:lnSpc>
              <a:defRPr/>
            </a:pPr>
            <a:r>
              <a:rPr lang="en-US" altLang="zh-CN" sz="2400" i="1" dirty="0"/>
              <a:t>incomparable (</a:t>
            </a:r>
            <a:r>
              <a:rPr lang="zh-CN" altLang="en-US" sz="2400" i="1" dirty="0"/>
              <a:t>不可比的）</a:t>
            </a:r>
            <a:r>
              <a:rPr lang="en-US" altLang="zh-CN" sz="2400" dirty="0"/>
              <a:t>if neither </a:t>
            </a:r>
            <a:r>
              <a:rPr lang="en-US" altLang="zh-CN" sz="2400" i="1" dirty="0"/>
              <a:t>a</a:t>
            </a:r>
            <a:r>
              <a:rPr lang="en-US" altLang="zh-CN" sz="2400" dirty="0"/>
              <a:t> ≤ </a:t>
            </a:r>
            <a:r>
              <a:rPr lang="en-US" altLang="zh-CN" sz="2400" i="1" dirty="0"/>
              <a:t>b</a:t>
            </a:r>
            <a:r>
              <a:rPr lang="en-US" altLang="zh-CN" sz="2400" dirty="0"/>
              <a:t> nor </a:t>
            </a:r>
            <a:r>
              <a:rPr lang="en-US" altLang="zh-CN" sz="2400" i="1" dirty="0"/>
              <a:t>b</a:t>
            </a:r>
            <a:r>
              <a:rPr lang="en-US" altLang="zh-CN" sz="2400" dirty="0"/>
              <a:t> ≤ </a:t>
            </a:r>
            <a:r>
              <a:rPr lang="en-US" altLang="zh-CN" sz="2400" i="1" dirty="0"/>
              <a:t>a.</a:t>
            </a:r>
            <a:endParaRPr lang="en-US" altLang="zh-CN" sz="2400" dirty="0"/>
          </a:p>
          <a:p>
            <a:pPr>
              <a:lnSpc>
                <a:spcPct val="150000"/>
              </a:lnSpc>
              <a:buFont typeface="Wingdings" panose="05000000000000000000" pitchFamily="2" charset="2"/>
              <a:buChar char="l"/>
            </a:pPr>
            <a:r>
              <a:rPr lang="en-US" altLang="zh-CN" sz="2800" dirty="0"/>
              <a:t>Example 5:</a:t>
            </a:r>
          </a:p>
          <a:p>
            <a:pPr lvl="1">
              <a:lnSpc>
                <a:spcPct val="150000"/>
              </a:lnSpc>
              <a:buClrTx/>
              <a:buFont typeface="Wingdings" panose="05000000000000000000" pitchFamily="2" charset="2"/>
              <a:buChar char="l"/>
            </a:pPr>
            <a:r>
              <a:rPr lang="en-US" altLang="zh-CN" sz="2400" dirty="0"/>
              <a:t>In the poset (Z</a:t>
            </a:r>
            <a:r>
              <a:rPr lang="en-US" altLang="zh-CN" sz="2400" baseline="30000" dirty="0"/>
              <a:t>+</a:t>
            </a:r>
            <a:r>
              <a:rPr lang="en-US" altLang="zh-CN" sz="2400" dirty="0"/>
              <a:t>, ∣), are the integers 3 and 9 comparable? Are 5 and 7 comparable?</a:t>
            </a:r>
          </a:p>
          <a:p>
            <a:pPr lvl="1">
              <a:lnSpc>
                <a:spcPct val="150000"/>
              </a:lnSpc>
              <a:buClrTx/>
              <a:buFont typeface="Wingdings" panose="05000000000000000000" pitchFamily="2" charset="2"/>
              <a:buChar char="l"/>
            </a:pPr>
            <a:r>
              <a:rPr lang="en-US" altLang="zh-CN" sz="2400" dirty="0"/>
              <a:t>Solution: The integers 3 and 9 are comparable, because 3 ∣ 9. The integers 5 and 7 are incomparable, because 5 ̸| 7 and 7 ̸| 5.</a:t>
            </a:r>
          </a:p>
          <a:p>
            <a:pPr lvl="1">
              <a:lnSpc>
                <a:spcPct val="150000"/>
              </a:lnSpc>
              <a:buClrTx/>
              <a:buFont typeface="Wingdings" panose="05000000000000000000" pitchFamily="2" charset="2"/>
              <a:buChar char="l"/>
            </a:pPr>
            <a:endParaRPr lang="en-US" altLang="zh-CN" sz="2800" dirty="0"/>
          </a:p>
          <a:p>
            <a:pPr marL="0" indent="0" eaLnBrk="1" hangingPunct="1">
              <a:lnSpc>
                <a:spcPct val="150000"/>
              </a:lnSpc>
              <a:buNone/>
            </a:pPr>
            <a:endParaRPr lang="en-US" altLang="zh-CN" sz="2800" dirty="0">
              <a:ea typeface="Arial Unicode MS" panose="020B0604020202020204" pitchFamily="34"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5394"/>
          </a:xfrm>
          <a:prstGeom prst="rect">
            <a:avLst/>
          </a:prstGeom>
          <a:noFill/>
        </p:spPr>
        <p:txBody>
          <a:bodyPr wrap="square" rtlCol="0">
            <a:spAutoFit/>
          </a:bodyPr>
          <a:lstStyle/>
          <a:p>
            <a:pPr>
              <a:lnSpc>
                <a:spcPct val="150000"/>
              </a:lnSpc>
            </a:pPr>
            <a:r>
              <a:rPr lang="en-US" altLang="zh-CN" sz="3200" dirty="0"/>
              <a:t>9.6.1 Introduction - Linear Order</a:t>
            </a:r>
            <a:r>
              <a:rPr lang="zh-CN" altLang="en-US" sz="3200" dirty="0"/>
              <a:t>（线序关系）</a:t>
            </a:r>
            <a:endParaRPr lang="en-US" altLang="zh-CN" sz="3200" dirty="0"/>
          </a:p>
        </p:txBody>
      </p:sp>
      <p:sp>
        <p:nvSpPr>
          <p:cNvPr id="5" name="Rectangle 3"/>
          <p:cNvSpPr txBox="1">
            <a:spLocks noChangeArrowheads="1"/>
          </p:cNvSpPr>
          <p:nvPr/>
        </p:nvSpPr>
        <p:spPr bwMode="auto">
          <a:xfrm>
            <a:off x="210046" y="735394"/>
            <a:ext cx="1144855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gn="just">
              <a:lnSpc>
                <a:spcPct val="150000"/>
              </a:lnSpc>
              <a:defRPr/>
            </a:pPr>
            <a:r>
              <a:rPr lang="zh-CN" altLang="en-US" sz="2400" u="sng" dirty="0">
                <a:solidFill>
                  <a:srgbClr val="FF0000"/>
                </a:solidFill>
              </a:rPr>
              <a:t>定义</a:t>
            </a:r>
            <a:r>
              <a:rPr lang="en-US" altLang="zh-CN" sz="2400" u="sng" dirty="0">
                <a:solidFill>
                  <a:srgbClr val="FF0000"/>
                </a:solidFill>
              </a:rPr>
              <a:t>3</a:t>
            </a:r>
            <a:r>
              <a:rPr lang="zh-CN" altLang="en-US" sz="2400" u="sng" dirty="0">
                <a:solidFill>
                  <a:srgbClr val="FF0000"/>
                </a:solidFill>
              </a:rPr>
              <a:t>：</a:t>
            </a:r>
            <a:r>
              <a:rPr lang="en-US" altLang="zh-CN" sz="2400" dirty="0"/>
              <a:t>If every pair of elements in a poset </a:t>
            </a:r>
            <a:r>
              <a:rPr lang="en-US" altLang="zh-CN" sz="2400" i="1" dirty="0"/>
              <a:t>A</a:t>
            </a:r>
            <a:r>
              <a:rPr lang="en-US" altLang="zh-CN" sz="2400" dirty="0"/>
              <a:t> is comparable, we say that </a:t>
            </a:r>
            <a:r>
              <a:rPr lang="en-US" altLang="zh-CN" sz="2400" i="1" dirty="0"/>
              <a:t>A</a:t>
            </a:r>
            <a:r>
              <a:rPr lang="en-US" altLang="zh-CN" sz="2400" dirty="0"/>
              <a:t> is a </a:t>
            </a:r>
            <a:r>
              <a:rPr lang="en-US" altLang="zh-CN" sz="2400" i="1" dirty="0">
                <a:solidFill>
                  <a:srgbClr val="FF0000"/>
                </a:solidFill>
              </a:rPr>
              <a:t>linearly ordered set</a:t>
            </a:r>
            <a:r>
              <a:rPr lang="zh-CN" altLang="en-US" sz="2400" i="1" dirty="0">
                <a:solidFill>
                  <a:srgbClr val="FF0000"/>
                </a:solidFill>
              </a:rPr>
              <a:t>（线序集合）</a:t>
            </a:r>
            <a:r>
              <a:rPr lang="en-US" altLang="zh-CN" sz="2400" dirty="0"/>
              <a:t>, and the partial order is called a </a:t>
            </a:r>
            <a:r>
              <a:rPr lang="en-US" altLang="zh-CN" sz="2400" i="1" dirty="0">
                <a:solidFill>
                  <a:srgbClr val="FF0000"/>
                </a:solidFill>
              </a:rPr>
              <a:t>linear order</a:t>
            </a:r>
            <a:r>
              <a:rPr lang="zh-CN" altLang="en-US" sz="2400" i="1" dirty="0">
                <a:solidFill>
                  <a:srgbClr val="FF0000"/>
                </a:solidFill>
              </a:rPr>
              <a:t>（线序关系）</a:t>
            </a:r>
            <a:r>
              <a:rPr lang="en-US" altLang="zh-CN" sz="2400" dirty="0"/>
              <a:t>. We also say that A is a </a:t>
            </a:r>
            <a:r>
              <a:rPr lang="en-US" altLang="zh-CN" sz="2400" i="1" dirty="0">
                <a:solidFill>
                  <a:srgbClr val="FF0000"/>
                </a:solidFill>
              </a:rPr>
              <a:t>chain</a:t>
            </a:r>
            <a:r>
              <a:rPr lang="zh-CN" altLang="en-US" sz="2400" i="1" dirty="0">
                <a:solidFill>
                  <a:srgbClr val="FF0000"/>
                </a:solidFill>
              </a:rPr>
              <a:t>（链）</a:t>
            </a:r>
            <a:r>
              <a:rPr lang="en-US" altLang="zh-CN" sz="2400" dirty="0"/>
              <a:t>.</a:t>
            </a:r>
          </a:p>
          <a:p>
            <a:pPr>
              <a:lnSpc>
                <a:spcPct val="150000"/>
              </a:lnSpc>
              <a:buFont typeface="Wingdings" panose="05000000000000000000" pitchFamily="2" charset="2"/>
              <a:buChar char="l"/>
            </a:pPr>
            <a:r>
              <a:rPr lang="en-US" altLang="zh-CN" sz="2800" dirty="0"/>
              <a:t>Example 6:</a:t>
            </a:r>
          </a:p>
          <a:p>
            <a:pPr lvl="1">
              <a:lnSpc>
                <a:spcPct val="150000"/>
              </a:lnSpc>
              <a:buClrTx/>
              <a:buFont typeface="Wingdings" panose="05000000000000000000" pitchFamily="2" charset="2"/>
              <a:buChar char="l"/>
            </a:pPr>
            <a:r>
              <a:rPr lang="en-US" altLang="zh-CN" sz="2400" dirty="0"/>
              <a:t>The poset (Z,≤) is totally ordered, because a ≤ b or b ≤ a whenever a and b are integers.</a:t>
            </a:r>
          </a:p>
          <a:p>
            <a:pPr>
              <a:lnSpc>
                <a:spcPct val="150000"/>
              </a:lnSpc>
              <a:buFont typeface="Wingdings" panose="05000000000000000000" pitchFamily="2" charset="2"/>
              <a:buChar char="l"/>
            </a:pPr>
            <a:r>
              <a:rPr lang="en-US" altLang="zh-CN" sz="2800" dirty="0"/>
              <a:t>Example 7:</a:t>
            </a:r>
          </a:p>
          <a:p>
            <a:pPr lvl="1">
              <a:lnSpc>
                <a:spcPct val="150000"/>
              </a:lnSpc>
              <a:buClrTx/>
              <a:buFont typeface="Wingdings" panose="05000000000000000000" pitchFamily="2" charset="2"/>
              <a:buChar char="l"/>
            </a:pPr>
            <a:r>
              <a:rPr lang="en-US" altLang="zh-CN" sz="2400" dirty="0"/>
              <a:t>The poset (Z</a:t>
            </a:r>
            <a:r>
              <a:rPr lang="en-US" altLang="zh-CN" sz="2400" baseline="30000" dirty="0"/>
              <a:t>+</a:t>
            </a:r>
            <a:r>
              <a:rPr lang="en-US" altLang="zh-CN" sz="2400" dirty="0"/>
              <a:t>, ∣ ) is not totally ordered because it contains elements that are incomparable, such as 5 and 7.</a:t>
            </a:r>
            <a:endParaRPr lang="en-US" altLang="zh-CN" sz="2800" dirty="0"/>
          </a:p>
          <a:p>
            <a:pPr lvl="1" eaLnBrk="1" hangingPunct="1">
              <a:lnSpc>
                <a:spcPct val="150000"/>
              </a:lnSpc>
              <a:defRPr/>
            </a:pPr>
            <a:endParaRPr lang="en-US" altLang="zh-CN" sz="2400" dirty="0"/>
          </a:p>
          <a:p>
            <a:pPr marL="0" indent="0" eaLnBrk="1" hangingPunct="1">
              <a:lnSpc>
                <a:spcPct val="150000"/>
              </a:lnSpc>
              <a:buNone/>
            </a:pPr>
            <a:endParaRPr lang="en-US" altLang="zh-CN" sz="2800" dirty="0">
              <a:ea typeface="Arial Unicode MS" panose="020B0604020202020204" pitchFamily="34"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5394"/>
          </a:xfrm>
          <a:prstGeom prst="rect">
            <a:avLst/>
          </a:prstGeom>
          <a:noFill/>
        </p:spPr>
        <p:txBody>
          <a:bodyPr wrap="square" rtlCol="0">
            <a:spAutoFit/>
          </a:bodyPr>
          <a:lstStyle/>
          <a:p>
            <a:pPr>
              <a:lnSpc>
                <a:spcPct val="150000"/>
              </a:lnSpc>
            </a:pPr>
            <a:r>
              <a:rPr lang="en-US" altLang="zh-CN" sz="3200" dirty="0"/>
              <a:t>9.6.1 Introduction - </a:t>
            </a:r>
            <a:r>
              <a:rPr lang="en-US" altLang="zh-CN" sz="3200"/>
              <a:t>Well order</a:t>
            </a:r>
            <a:r>
              <a:rPr lang="zh-CN" altLang="en-US" sz="3200"/>
              <a:t> </a:t>
            </a:r>
            <a:r>
              <a:rPr lang="zh-CN" altLang="en-US" sz="3200" dirty="0"/>
              <a:t>（良序关系） </a:t>
            </a:r>
            <a:endParaRPr lang="en-US" altLang="zh-CN" sz="3200" dirty="0"/>
          </a:p>
        </p:txBody>
      </p:sp>
      <p:sp>
        <p:nvSpPr>
          <p:cNvPr id="5" name="Rectangle 3"/>
          <p:cNvSpPr txBox="1">
            <a:spLocks noChangeArrowheads="1"/>
          </p:cNvSpPr>
          <p:nvPr/>
        </p:nvSpPr>
        <p:spPr bwMode="auto">
          <a:xfrm>
            <a:off x="58654" y="880187"/>
            <a:ext cx="11689267" cy="3482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zh-CN" altLang="en-US" sz="2800" u="sng" dirty="0">
                <a:solidFill>
                  <a:srgbClr val="FF0000"/>
                </a:solidFill>
              </a:rPr>
              <a:t>定义</a:t>
            </a:r>
            <a:r>
              <a:rPr lang="en-US" altLang="zh-CN" sz="2800" u="sng" dirty="0">
                <a:solidFill>
                  <a:srgbClr val="FF0000"/>
                </a:solidFill>
              </a:rPr>
              <a:t>4</a:t>
            </a:r>
            <a:r>
              <a:rPr lang="zh-CN" altLang="en-US" sz="2800" dirty="0"/>
              <a:t>：</a:t>
            </a:r>
            <a:r>
              <a:rPr lang="en-US" altLang="zh-CN" sz="2800" dirty="0"/>
              <a:t>(</a:t>
            </a:r>
            <a:r>
              <a:rPr lang="en-US" altLang="zh-CN" sz="2800" i="1" dirty="0"/>
              <a:t>S</a:t>
            </a:r>
            <a:r>
              <a:rPr lang="en-US" altLang="zh-CN" sz="2800" dirty="0"/>
              <a:t>,≤) is a well-ordered set</a:t>
            </a:r>
            <a:r>
              <a:rPr lang="zh-CN" altLang="en-US" sz="2800" dirty="0"/>
              <a:t>（良序集）</a:t>
            </a:r>
            <a:r>
              <a:rPr lang="en-US" altLang="zh-CN" sz="2800" dirty="0"/>
              <a:t> if it is a </a:t>
            </a:r>
            <a:r>
              <a:rPr lang="en-US" altLang="zh-CN" sz="2800" dirty="0" err="1"/>
              <a:t>poset</a:t>
            </a:r>
            <a:r>
              <a:rPr lang="en-US" altLang="zh-CN" sz="2800" dirty="0"/>
              <a:t> such that ≤ is a total ordering and every nonempty subset of </a:t>
            </a:r>
            <a:r>
              <a:rPr lang="en-US" altLang="zh-CN" sz="2800" i="1" dirty="0"/>
              <a:t>S</a:t>
            </a:r>
            <a:r>
              <a:rPr lang="en-US" altLang="zh-CN" sz="2800" dirty="0"/>
              <a:t> has </a:t>
            </a:r>
            <a:r>
              <a:rPr lang="en-US" altLang="zh-CN" sz="2800" dirty="0">
                <a:solidFill>
                  <a:srgbClr val="FF0000"/>
                </a:solidFill>
              </a:rPr>
              <a:t>a least element</a:t>
            </a:r>
            <a:r>
              <a:rPr lang="en-US" altLang="zh-CN" sz="2800" dirty="0"/>
              <a:t>.</a:t>
            </a:r>
            <a:endParaRPr lang="en-US" altLang="zh-CN" sz="2400" dirty="0"/>
          </a:p>
          <a:p>
            <a:pPr>
              <a:lnSpc>
                <a:spcPct val="150000"/>
              </a:lnSpc>
              <a:buFont typeface="Wingdings" panose="05000000000000000000" pitchFamily="2" charset="2"/>
              <a:buChar char="l"/>
            </a:pPr>
            <a:r>
              <a:rPr lang="en-US" altLang="zh-CN" sz="2800" dirty="0"/>
              <a:t>Example 8:</a:t>
            </a:r>
          </a:p>
          <a:p>
            <a:pPr lvl="1">
              <a:lnSpc>
                <a:spcPct val="150000"/>
              </a:lnSpc>
              <a:buClrTx/>
              <a:buFont typeface="Wingdings" panose="05000000000000000000" pitchFamily="2" charset="2"/>
              <a:buChar char="l"/>
            </a:pPr>
            <a:r>
              <a:rPr lang="en-US" altLang="zh-CN" sz="2000" dirty="0"/>
              <a:t>The set of ordered pairs of positive integers, Z</a:t>
            </a:r>
            <a:r>
              <a:rPr lang="en-US" altLang="zh-CN" sz="2000" baseline="30000" dirty="0"/>
              <a:t>+</a:t>
            </a:r>
            <a:r>
              <a:rPr lang="en-US" altLang="zh-CN" sz="2000" dirty="0"/>
              <a:t>× Z</a:t>
            </a:r>
            <a:r>
              <a:rPr lang="en-US" altLang="zh-CN" sz="2000" baseline="30000" dirty="0"/>
              <a:t>+</a:t>
            </a:r>
            <a:r>
              <a:rPr lang="en-US" altLang="zh-CN" sz="2000" dirty="0"/>
              <a:t>, with (a</a:t>
            </a:r>
            <a:r>
              <a:rPr lang="en-US" altLang="zh-CN" sz="2000" baseline="-25000" dirty="0"/>
              <a:t>1</a:t>
            </a:r>
            <a:r>
              <a:rPr lang="en-US" altLang="zh-CN" sz="2000" dirty="0"/>
              <a:t>, a</a:t>
            </a:r>
            <a:r>
              <a:rPr lang="en-US" altLang="zh-CN" sz="2000" baseline="-25000" dirty="0"/>
              <a:t>2</a:t>
            </a:r>
            <a:r>
              <a:rPr lang="en-US" altLang="zh-CN" sz="2000" dirty="0"/>
              <a:t>)     (b</a:t>
            </a:r>
            <a:r>
              <a:rPr lang="en-US" altLang="zh-CN" sz="2000" baseline="-25000" dirty="0"/>
              <a:t>1</a:t>
            </a:r>
            <a:r>
              <a:rPr lang="en-US" altLang="zh-CN" sz="2000" dirty="0"/>
              <a:t>, b</a:t>
            </a:r>
            <a:r>
              <a:rPr lang="en-US" altLang="zh-CN" sz="2000" baseline="-25000" dirty="0"/>
              <a:t>2</a:t>
            </a:r>
            <a:r>
              <a:rPr lang="en-US" altLang="zh-CN" sz="2000" dirty="0"/>
              <a:t>) if a</a:t>
            </a:r>
            <a:r>
              <a:rPr lang="en-US" altLang="zh-CN" sz="2000" baseline="-25000" dirty="0"/>
              <a:t>1</a:t>
            </a:r>
            <a:r>
              <a:rPr lang="en-US" altLang="zh-CN" sz="2000" dirty="0"/>
              <a:t> &lt; b</a:t>
            </a:r>
            <a:r>
              <a:rPr lang="en-US" altLang="zh-CN" sz="2000" baseline="-25000" dirty="0"/>
              <a:t>1</a:t>
            </a:r>
            <a:r>
              <a:rPr lang="en-US" altLang="zh-CN" sz="2000" dirty="0"/>
              <a:t>, or if a</a:t>
            </a:r>
            <a:r>
              <a:rPr lang="en-US" altLang="zh-CN" sz="2000" baseline="-25000" dirty="0"/>
              <a:t>1</a:t>
            </a:r>
            <a:r>
              <a:rPr lang="en-US" altLang="zh-CN" sz="2000" dirty="0"/>
              <a:t> = b</a:t>
            </a:r>
            <a:r>
              <a:rPr lang="en-US" altLang="zh-CN" sz="2000" baseline="-25000" dirty="0"/>
              <a:t>1</a:t>
            </a:r>
            <a:r>
              <a:rPr lang="en-US" altLang="zh-CN" sz="2000" dirty="0"/>
              <a:t> and a</a:t>
            </a:r>
            <a:r>
              <a:rPr lang="en-US" altLang="zh-CN" sz="2000" baseline="-25000" dirty="0"/>
              <a:t>2</a:t>
            </a:r>
            <a:r>
              <a:rPr lang="en-US" altLang="zh-CN" sz="2000" dirty="0"/>
              <a:t> ≤ b</a:t>
            </a:r>
            <a:r>
              <a:rPr lang="en-US" altLang="zh-CN" sz="2000" baseline="-25000" dirty="0"/>
              <a:t>2</a:t>
            </a:r>
            <a:r>
              <a:rPr lang="en-US" altLang="zh-CN" sz="2000" dirty="0"/>
              <a:t> (the lexicographic ordering), is a well-ordered set. </a:t>
            </a:r>
          </a:p>
          <a:p>
            <a:pPr lvl="1">
              <a:lnSpc>
                <a:spcPct val="150000"/>
              </a:lnSpc>
              <a:buClrTx/>
              <a:buFont typeface="Wingdings" panose="05000000000000000000" pitchFamily="2" charset="2"/>
              <a:buChar char="l"/>
            </a:pPr>
            <a:r>
              <a:rPr lang="en-US" altLang="zh-CN" sz="2000" dirty="0"/>
              <a:t>The verification of this is left as Exercise 53. The set Z, with the usual ≤ ordering, is not well-ordered because the set of negative integers, which is a subset of Z, has no least element.</a:t>
            </a:r>
            <a:endParaRPr lang="en-US" altLang="zh-CN" sz="2400" dirty="0"/>
          </a:p>
          <a:p>
            <a:pPr marL="0" indent="0" algn="just" eaLnBrk="1" hangingPunct="1">
              <a:lnSpc>
                <a:spcPct val="150000"/>
              </a:lnSpc>
              <a:buNone/>
              <a:defRPr/>
            </a:pPr>
            <a:endParaRPr lang="en-US" altLang="zh-CN" sz="2400" dirty="0"/>
          </a:p>
          <a:p>
            <a:pPr marL="0" indent="0" eaLnBrk="1" hangingPunct="1">
              <a:lnSpc>
                <a:spcPct val="150000"/>
              </a:lnSpc>
              <a:buNone/>
            </a:pPr>
            <a:endParaRPr lang="en-US" altLang="zh-CN" sz="2800" dirty="0">
              <a:ea typeface="Arial Unicode MS" panose="020B0604020202020204" pitchFamily="34" charset="-122"/>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981954" cy="2978508"/>
          </a:xfrm>
          <a:prstGeom prst="rect">
            <a:avLst/>
          </a:prstGeom>
          <a:noFill/>
        </p:spPr>
        <p:txBody>
          <a:bodyPr wrap="square" rtlCol="0">
            <a:spAutoFit/>
          </a:bodyPr>
          <a:lstStyle/>
          <a:p>
            <a:pPr>
              <a:lnSpc>
                <a:spcPct val="150000"/>
              </a:lnSpc>
            </a:pPr>
            <a:r>
              <a:rPr lang="en-US" altLang="zh-CN" sz="3200" dirty="0"/>
              <a:t>9.6.2</a:t>
            </a:r>
            <a:r>
              <a:rPr lang="zh-CN" altLang="en-US" sz="3200" dirty="0"/>
              <a:t> </a:t>
            </a:r>
            <a:r>
              <a:rPr lang="en-US" altLang="zh-CN" sz="3200" dirty="0"/>
              <a:t>Lexicographic order</a:t>
            </a:r>
            <a:r>
              <a:rPr lang="zh-CN" altLang="en-US" sz="3200" dirty="0"/>
              <a:t>（词典顺序）</a:t>
            </a:r>
            <a:endParaRPr lang="en-US" altLang="zh-CN" sz="3200" dirty="0"/>
          </a:p>
          <a:p>
            <a:pPr>
              <a:lnSpc>
                <a:spcPct val="150000"/>
              </a:lnSpc>
            </a:pPr>
            <a:r>
              <a:rPr lang="en-US" altLang="zh-CN" sz="2400" b="1" dirty="0"/>
              <a:t>The words in a dictionary are listed in alphabetic, or lexicographic, order, which is based on the ordering of the letters in the alphabet. This is a special case of an ordering of strings on a set constructed from a partial ordering on the set. We will show how this construction works in any poset.</a:t>
            </a:r>
          </a:p>
        </p:txBody>
      </p:sp>
      <p:sp>
        <p:nvSpPr>
          <p:cNvPr id="5" name="Rectangle 3"/>
          <p:cNvSpPr txBox="1">
            <a:spLocks noChangeArrowheads="1"/>
          </p:cNvSpPr>
          <p:nvPr/>
        </p:nvSpPr>
        <p:spPr bwMode="auto">
          <a:xfrm>
            <a:off x="210046" y="3023876"/>
            <a:ext cx="11448554" cy="2976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gn="just">
              <a:lnSpc>
                <a:spcPct val="150000"/>
              </a:lnSpc>
              <a:defRPr/>
            </a:pPr>
            <a:endParaRPr lang="en-US" altLang="zh-CN" sz="2400" dirty="0"/>
          </a:p>
          <a:p>
            <a:pPr algn="just">
              <a:lnSpc>
                <a:spcPct val="150000"/>
              </a:lnSpc>
              <a:defRPr/>
            </a:pPr>
            <a:endParaRPr lang="en-US" altLang="zh-CN" sz="2400" dirty="0"/>
          </a:p>
          <a:p>
            <a:pPr marL="0" indent="0" algn="just">
              <a:lnSpc>
                <a:spcPct val="150000"/>
              </a:lnSpc>
              <a:buNone/>
              <a:defRPr/>
            </a:pPr>
            <a:endParaRPr lang="en-US" altLang="zh-CN" sz="2400" dirty="0"/>
          </a:p>
          <a:p>
            <a:pPr eaLnBrk="1" hangingPunct="1">
              <a:lnSpc>
                <a:spcPct val="150000"/>
              </a:lnSpc>
            </a:pPr>
            <a:r>
              <a:rPr lang="en-US" altLang="zh-CN" sz="2400" dirty="0"/>
              <a:t>This ordering is called </a:t>
            </a:r>
            <a:r>
              <a:rPr lang="en-US" altLang="zh-CN" sz="2400" i="1" dirty="0">
                <a:solidFill>
                  <a:srgbClr val="FF0000"/>
                </a:solidFill>
              </a:rPr>
              <a:t>lexicographic</a:t>
            </a:r>
            <a:r>
              <a:rPr lang="en-US" altLang="zh-CN" sz="2400" dirty="0"/>
              <a:t>, or </a:t>
            </a:r>
            <a:r>
              <a:rPr lang="en-US" altLang="zh-CN" sz="2400" i="1" dirty="0">
                <a:solidFill>
                  <a:srgbClr val="FF0000"/>
                </a:solidFill>
              </a:rPr>
              <a:t>“dictionary” order</a:t>
            </a:r>
            <a:r>
              <a:rPr lang="zh-CN" altLang="en-US" sz="2400" i="1" dirty="0">
                <a:solidFill>
                  <a:srgbClr val="FF0000"/>
                </a:solidFill>
              </a:rPr>
              <a:t>（词典顺序）</a:t>
            </a:r>
            <a:r>
              <a:rPr lang="en-US" altLang="zh-CN" sz="2400" dirty="0"/>
              <a:t>. </a:t>
            </a:r>
          </a:p>
          <a:p>
            <a:pPr eaLnBrk="1" hangingPunct="1">
              <a:lnSpc>
                <a:spcPct val="150000"/>
              </a:lnSpc>
            </a:pPr>
            <a:r>
              <a:rPr lang="en-US" altLang="zh-CN" sz="2400" dirty="0"/>
              <a:t>Extended to Cartesian products  A</a:t>
            </a:r>
            <a:r>
              <a:rPr lang="en-US" altLang="zh-CN" sz="2400" baseline="-25000" dirty="0"/>
              <a:t>1</a:t>
            </a:r>
            <a:r>
              <a:rPr lang="en-US" altLang="zh-CN" sz="2400" dirty="0"/>
              <a:t>XA</a:t>
            </a:r>
            <a:r>
              <a:rPr lang="en-US" altLang="zh-CN" sz="2400" baseline="-25000" dirty="0"/>
              <a:t>2</a:t>
            </a:r>
            <a:r>
              <a:rPr lang="en-US" altLang="zh-CN" sz="2400" dirty="0"/>
              <a:t>…</a:t>
            </a:r>
            <a:r>
              <a:rPr lang="en-US" altLang="zh-CN" sz="2400" dirty="0" err="1"/>
              <a:t>XA</a:t>
            </a:r>
            <a:r>
              <a:rPr lang="en-US" altLang="zh-CN" sz="2400" baseline="-25000" dirty="0" err="1"/>
              <a:t>n</a:t>
            </a:r>
            <a:endParaRPr lang="en-US" altLang="zh-CN" sz="2400" baseline="-25000" dirty="0"/>
          </a:p>
          <a:p>
            <a:pPr eaLnBrk="1" hangingPunct="1">
              <a:lnSpc>
                <a:spcPct val="150000"/>
              </a:lnSpc>
            </a:pPr>
            <a:r>
              <a:rPr lang="en-US" altLang="zh-CN" sz="2400" baseline="-25000" dirty="0">
                <a:solidFill>
                  <a:schemeClr val="bg1"/>
                </a:solidFill>
              </a:rPr>
              <a:t>O</a:t>
            </a:r>
            <a:endParaRPr lang="en-US" altLang="zh-CN" sz="2400" dirty="0">
              <a:solidFill>
                <a:schemeClr val="bg1"/>
              </a:solidFill>
            </a:endParaRPr>
          </a:p>
          <a:p>
            <a:pPr marL="0" indent="0" eaLnBrk="1" hangingPunct="1">
              <a:lnSpc>
                <a:spcPct val="150000"/>
              </a:lnSpc>
              <a:buNone/>
            </a:pPr>
            <a:endParaRPr lang="en-US" altLang="zh-CN" sz="2800" dirty="0">
              <a:ea typeface="Arial Unicode MS" panose="020B0604020202020204" pitchFamily="34" charset="-122"/>
            </a:endParaRPr>
          </a:p>
        </p:txBody>
      </p:sp>
      <p:graphicFrame>
        <p:nvGraphicFramePr>
          <p:cNvPr id="9" name="Object 4"/>
          <p:cNvGraphicFramePr>
            <a:graphicFrameLocks noChangeAspect="1"/>
          </p:cNvGraphicFramePr>
          <p:nvPr/>
        </p:nvGraphicFramePr>
        <p:xfrm>
          <a:off x="422595" y="3108983"/>
          <a:ext cx="7239000" cy="1708150"/>
        </p:xfrm>
        <a:graphic>
          <a:graphicData uri="http://schemas.openxmlformats.org/presentationml/2006/ole">
            <mc:AlternateContent xmlns:mc="http://schemas.openxmlformats.org/markup-compatibility/2006">
              <mc:Choice xmlns:v="urn:schemas-microsoft-com:vml" Requires="v">
                <p:oleObj name="Equation" r:id="rId3" imgW="2794000" imgH="660400" progId="Equation.DSMT4">
                  <p:embed/>
                </p:oleObj>
              </mc:Choice>
              <mc:Fallback>
                <p:oleObj name="Equation" r:id="rId3" imgW="2794000" imgH="6604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595" y="3108983"/>
                        <a:ext cx="7239000" cy="1708150"/>
                      </a:xfrm>
                      <a:prstGeom prst="rect">
                        <a:avLst/>
                      </a:prstGeom>
                      <a:noFill/>
                      <a:ln>
                        <a:noFill/>
                      </a:ln>
                      <a:effectLst/>
                    </p:spPr>
                  </p:pic>
                </p:oleObj>
              </mc:Fallback>
            </mc:AlternateContent>
          </a:graphicData>
        </a:graphic>
      </p:graphicFrame>
      <p:pic>
        <p:nvPicPr>
          <p:cNvPr id="11" name="图片 10"/>
          <p:cNvPicPr>
            <a:picLocks noChangeAspect="1"/>
          </p:cNvPicPr>
          <p:nvPr/>
        </p:nvPicPr>
        <p:blipFill>
          <a:blip r:embed="rId5"/>
          <a:stretch>
            <a:fillRect/>
          </a:stretch>
        </p:blipFill>
        <p:spPr>
          <a:xfrm>
            <a:off x="623680" y="6282005"/>
            <a:ext cx="6979600" cy="425082"/>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3975332" y="2919840"/>
            <a:ext cx="3976772" cy="3938160"/>
          </a:xfrm>
          <a:prstGeom prst="rect">
            <a:avLst/>
          </a:prstGeom>
        </p:spPr>
      </p:pic>
      <p:sp>
        <p:nvSpPr>
          <p:cNvPr id="2" name="文本框 1"/>
          <p:cNvSpPr txBox="1"/>
          <p:nvPr/>
        </p:nvSpPr>
        <p:spPr>
          <a:xfrm>
            <a:off x="210046" y="0"/>
            <a:ext cx="11056470" cy="735394"/>
          </a:xfrm>
          <a:prstGeom prst="rect">
            <a:avLst/>
          </a:prstGeom>
          <a:noFill/>
        </p:spPr>
        <p:txBody>
          <a:bodyPr wrap="square" rtlCol="0">
            <a:spAutoFit/>
          </a:bodyPr>
          <a:lstStyle/>
          <a:p>
            <a:pPr>
              <a:lnSpc>
                <a:spcPct val="150000"/>
              </a:lnSpc>
            </a:pPr>
            <a:r>
              <a:rPr lang="en-US" altLang="zh-CN" sz="3200" dirty="0"/>
              <a:t>9.6.2</a:t>
            </a:r>
            <a:r>
              <a:rPr lang="zh-CN" altLang="en-US" sz="3200" dirty="0"/>
              <a:t> </a:t>
            </a:r>
            <a:r>
              <a:rPr lang="en-US" altLang="zh-CN" sz="3200" dirty="0"/>
              <a:t> </a:t>
            </a:r>
            <a:r>
              <a:rPr lang="en-US" altLang="zh-CN" sz="3200"/>
              <a:t>Lexicographic order</a:t>
            </a:r>
            <a:endParaRPr lang="en-US" altLang="zh-CN" sz="3200" dirty="0"/>
          </a:p>
        </p:txBody>
      </p:sp>
      <p:sp>
        <p:nvSpPr>
          <p:cNvPr id="6" name="Rectangle 3"/>
          <p:cNvSpPr txBox="1">
            <a:spLocks noChangeArrowheads="1"/>
          </p:cNvSpPr>
          <p:nvPr/>
        </p:nvSpPr>
        <p:spPr bwMode="auto">
          <a:xfrm>
            <a:off x="352708" y="739754"/>
            <a:ext cx="11222020" cy="2575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3"/>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9:</a:t>
            </a:r>
          </a:p>
          <a:p>
            <a:pPr lvl="1">
              <a:lnSpc>
                <a:spcPct val="150000"/>
              </a:lnSpc>
              <a:buClrTx/>
              <a:buFont typeface="Wingdings" panose="05000000000000000000" pitchFamily="2" charset="2"/>
              <a:buChar char="l"/>
            </a:pPr>
            <a:r>
              <a:rPr lang="en-US" altLang="zh-CN" sz="2400" dirty="0"/>
              <a:t>Determine whether (3, 5) ≺ (4, 8), whether (3, 8) ≺ (4, 5), and whether (4, 9) ≺ (4, 11) in the poset (Z × Z, ≤), where   is the lexicographic ordering constructed from the usual ≤ relation Z.</a:t>
            </a:r>
          </a:p>
          <a:p>
            <a:pPr lvl="1">
              <a:lnSpc>
                <a:spcPct val="150000"/>
              </a:lnSpc>
              <a:buClrTx/>
              <a:buFont typeface="Wingdings" panose="05000000000000000000" pitchFamily="2" charset="2"/>
              <a:buChar char="l"/>
            </a:pPr>
            <a:endParaRPr lang="en-US" altLang="zh-CN" sz="24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5394"/>
          </a:xfrm>
          <a:prstGeom prst="rect">
            <a:avLst/>
          </a:prstGeom>
          <a:noFill/>
        </p:spPr>
        <p:txBody>
          <a:bodyPr wrap="square" rtlCol="0">
            <a:spAutoFit/>
          </a:bodyPr>
          <a:lstStyle/>
          <a:p>
            <a:pPr>
              <a:lnSpc>
                <a:spcPct val="150000"/>
              </a:lnSpc>
            </a:pPr>
            <a:r>
              <a:rPr lang="en-US" altLang="zh-CN" sz="3200" dirty="0"/>
              <a:t>9.6.2</a:t>
            </a:r>
            <a:r>
              <a:rPr lang="zh-CN" altLang="en-US" sz="3200" dirty="0"/>
              <a:t> </a:t>
            </a:r>
            <a:r>
              <a:rPr lang="en-US" altLang="zh-CN" sz="3200" dirty="0"/>
              <a:t> </a:t>
            </a:r>
            <a:r>
              <a:rPr lang="en-US" altLang="zh-CN" sz="3200"/>
              <a:t>Lexicographic order</a:t>
            </a:r>
            <a:endParaRPr lang="en-US" altLang="zh-CN" sz="3200" dirty="0"/>
          </a:p>
        </p:txBody>
      </p:sp>
      <p:sp>
        <p:nvSpPr>
          <p:cNvPr id="6" name="Rectangle 3"/>
          <p:cNvSpPr txBox="1">
            <a:spLocks noChangeArrowheads="1"/>
          </p:cNvSpPr>
          <p:nvPr/>
        </p:nvSpPr>
        <p:spPr bwMode="auto">
          <a:xfrm>
            <a:off x="352708" y="739754"/>
            <a:ext cx="11222020" cy="2575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400" dirty="0"/>
              <a:t>Solution:</a:t>
            </a:r>
          </a:p>
          <a:p>
            <a:pPr lvl="1">
              <a:lnSpc>
                <a:spcPct val="150000"/>
              </a:lnSpc>
              <a:buClrTx/>
              <a:buFont typeface="Arial" panose="020B0604020202090204" pitchFamily="34" charset="0"/>
              <a:buChar char="•"/>
            </a:pPr>
            <a:r>
              <a:rPr lang="en-US" altLang="zh-CN" sz="2400" dirty="0"/>
              <a:t>Because 3 &lt; 4, it follows that (3, 5) ≺ (4, 8) and that (3, 8) ≺ (4, 5). We have (4, 9) ≺ (4, 11), because the first entries of (4, 9) and (4, 11) are the same but 9 &lt; 11.  In Figure the ordered pairs in Z</a:t>
            </a:r>
            <a:r>
              <a:rPr lang="en-US" altLang="zh-CN" sz="2400" baseline="30000" dirty="0"/>
              <a:t>+</a:t>
            </a:r>
            <a:r>
              <a:rPr lang="en-US" altLang="zh-CN" sz="2400" dirty="0"/>
              <a:t> × Z</a:t>
            </a:r>
            <a:r>
              <a:rPr lang="en-US" altLang="zh-CN" sz="2400" baseline="30000" dirty="0"/>
              <a:t>+</a:t>
            </a:r>
            <a:r>
              <a:rPr lang="en-US" altLang="zh-CN" sz="2400" dirty="0"/>
              <a:t> that are less than (3, 4) are highlighted.</a:t>
            </a:r>
          </a:p>
          <a:p>
            <a:pPr>
              <a:lnSpc>
                <a:spcPct val="150000"/>
              </a:lnSpc>
              <a:buFont typeface="Wingdings" panose="05000000000000000000" pitchFamily="2" charset="2"/>
              <a:buChar char="l"/>
            </a:pPr>
            <a:r>
              <a:rPr lang="en-US" altLang="zh-CN" sz="2400" dirty="0"/>
              <a:t>A lexicographic ordering can be defined on the Cartesian product of n </a:t>
            </a:r>
            <a:r>
              <a:rPr lang="en-US" altLang="zh-CN" sz="2400" dirty="0" err="1"/>
              <a:t>posets</a:t>
            </a:r>
            <a:r>
              <a:rPr lang="en-US" altLang="zh-CN" sz="2400" dirty="0"/>
              <a:t> (A</a:t>
            </a:r>
            <a:r>
              <a:rPr lang="en-US" altLang="zh-CN" sz="2400" baseline="-25000" dirty="0"/>
              <a:t>1</a:t>
            </a:r>
            <a:r>
              <a:rPr lang="en-US" altLang="zh-CN" sz="2400" dirty="0"/>
              <a:t>, 1), (A</a:t>
            </a:r>
            <a:r>
              <a:rPr lang="en-US" altLang="zh-CN" sz="2400" baseline="-25000" dirty="0"/>
              <a:t>2</a:t>
            </a:r>
            <a:r>
              <a:rPr lang="en-US" altLang="zh-CN" sz="2400" dirty="0"/>
              <a:t>, 2), … , (A</a:t>
            </a:r>
            <a:r>
              <a:rPr lang="en-US" altLang="zh-CN" sz="2400" baseline="-25000" dirty="0"/>
              <a:t>n</a:t>
            </a:r>
            <a:r>
              <a:rPr lang="en-US" altLang="zh-CN" sz="2400" dirty="0"/>
              <a:t>, n). Define the partial ordering  on A</a:t>
            </a:r>
            <a:r>
              <a:rPr lang="en-US" altLang="zh-CN" sz="2400" baseline="-25000" dirty="0"/>
              <a:t>1</a:t>
            </a:r>
            <a:r>
              <a:rPr lang="en-US" altLang="zh-CN" sz="2400" dirty="0"/>
              <a:t> × A</a:t>
            </a:r>
            <a:r>
              <a:rPr lang="en-US" altLang="zh-CN" sz="2400" baseline="-25000" dirty="0"/>
              <a:t>2</a:t>
            </a:r>
            <a:r>
              <a:rPr lang="en-US" altLang="zh-CN" sz="2400" dirty="0"/>
              <a:t> × ⋯ × A</a:t>
            </a:r>
            <a:r>
              <a:rPr lang="en-US" altLang="zh-CN" sz="2400" baseline="-25000" dirty="0"/>
              <a:t>n</a:t>
            </a:r>
            <a:r>
              <a:rPr lang="en-US" altLang="zh-CN" sz="2400" dirty="0"/>
              <a:t> by (a</a:t>
            </a:r>
            <a:r>
              <a:rPr lang="en-US" altLang="zh-CN" sz="2400" baseline="-25000" dirty="0"/>
              <a:t>1</a:t>
            </a:r>
            <a:r>
              <a:rPr lang="en-US" altLang="zh-CN" sz="2400" dirty="0"/>
              <a:t>, a</a:t>
            </a:r>
            <a:r>
              <a:rPr lang="en-US" altLang="zh-CN" sz="2400" baseline="-25000" dirty="0"/>
              <a:t>2</a:t>
            </a:r>
            <a:r>
              <a:rPr lang="en-US" altLang="zh-CN" sz="2400" dirty="0"/>
              <a:t>, … , a</a:t>
            </a:r>
            <a:r>
              <a:rPr lang="en-US" altLang="zh-CN" sz="2400" baseline="-25000" dirty="0"/>
              <a:t>n</a:t>
            </a:r>
            <a:r>
              <a:rPr lang="en-US" altLang="zh-CN" sz="2400" dirty="0"/>
              <a:t>) ≺ (b</a:t>
            </a:r>
            <a:r>
              <a:rPr lang="en-US" altLang="zh-CN" sz="2400" baseline="-25000" dirty="0"/>
              <a:t>1</a:t>
            </a:r>
            <a:r>
              <a:rPr lang="en-US" altLang="zh-CN" sz="2400" dirty="0"/>
              <a:t>, b</a:t>
            </a:r>
            <a:r>
              <a:rPr lang="en-US" altLang="zh-CN" sz="2400" baseline="-25000" dirty="0"/>
              <a:t>2</a:t>
            </a:r>
            <a:r>
              <a:rPr lang="en-US" altLang="zh-CN" sz="2400" dirty="0"/>
              <a:t>, … , b</a:t>
            </a:r>
            <a:r>
              <a:rPr lang="en-US" altLang="zh-CN" sz="2400" baseline="-25000" dirty="0"/>
              <a:t>n</a:t>
            </a:r>
            <a:r>
              <a:rPr lang="en-US" altLang="zh-CN" sz="2400" dirty="0"/>
              <a:t>) if a</a:t>
            </a:r>
            <a:r>
              <a:rPr lang="en-US" altLang="zh-CN" sz="2400" baseline="-25000" dirty="0"/>
              <a:t>1 </a:t>
            </a:r>
            <a:r>
              <a:rPr lang="en-US" altLang="zh-CN" sz="2400" dirty="0"/>
              <a:t>≺</a:t>
            </a:r>
            <a:r>
              <a:rPr lang="en-US" altLang="zh-CN" sz="2400" baseline="-25000" dirty="0"/>
              <a:t>1</a:t>
            </a:r>
            <a:r>
              <a:rPr lang="en-US" altLang="zh-CN" sz="2400" dirty="0"/>
              <a:t> b</a:t>
            </a:r>
            <a:r>
              <a:rPr lang="en-US" altLang="zh-CN" sz="2400" baseline="-25000" dirty="0"/>
              <a:t>1</a:t>
            </a:r>
            <a:r>
              <a:rPr lang="en-US" altLang="zh-CN" sz="2400" dirty="0"/>
              <a:t>, or if there is an integer </a:t>
            </a:r>
            <a:r>
              <a:rPr lang="en-US" altLang="zh-CN" sz="2400" dirty="0" err="1"/>
              <a:t>i</a:t>
            </a:r>
            <a:r>
              <a:rPr lang="en-US" altLang="zh-CN" sz="2400" dirty="0"/>
              <a:t> &gt; 0 such that a</a:t>
            </a:r>
            <a:r>
              <a:rPr lang="en-US" altLang="zh-CN" sz="2400" baseline="-25000" dirty="0"/>
              <a:t>1</a:t>
            </a:r>
            <a:r>
              <a:rPr lang="en-US" altLang="zh-CN" sz="2400" dirty="0"/>
              <a:t> = b</a:t>
            </a:r>
            <a:r>
              <a:rPr lang="en-US" altLang="zh-CN" sz="2400" baseline="-25000" dirty="0"/>
              <a:t>1</a:t>
            </a:r>
            <a:r>
              <a:rPr lang="en-US" altLang="zh-CN" sz="2400" dirty="0"/>
              <a:t>, … , a</a:t>
            </a:r>
            <a:r>
              <a:rPr lang="en-US" altLang="zh-CN" sz="2400" baseline="-25000" dirty="0"/>
              <a:t>i</a:t>
            </a:r>
            <a:r>
              <a:rPr lang="en-US" altLang="zh-CN" sz="2400" dirty="0"/>
              <a:t> = b</a:t>
            </a:r>
            <a:r>
              <a:rPr lang="en-US" altLang="zh-CN" sz="2400" baseline="-25000" dirty="0"/>
              <a:t>i</a:t>
            </a:r>
            <a:r>
              <a:rPr lang="en-US" altLang="zh-CN" sz="2400" dirty="0"/>
              <a:t> , and a</a:t>
            </a:r>
            <a:r>
              <a:rPr lang="en-US" altLang="zh-CN" sz="2400" baseline="-25000" dirty="0"/>
              <a:t>i+1  </a:t>
            </a:r>
            <a:r>
              <a:rPr lang="en-US" altLang="zh-CN" sz="2400" dirty="0"/>
              <a:t>≺</a:t>
            </a:r>
            <a:r>
              <a:rPr lang="en-US" altLang="zh-CN" sz="2400" baseline="-25000" dirty="0"/>
              <a:t>i+1 </a:t>
            </a:r>
            <a:r>
              <a:rPr lang="en-US" altLang="zh-CN" sz="2400" dirty="0"/>
              <a:t>b</a:t>
            </a:r>
            <a:r>
              <a:rPr lang="en-US" altLang="zh-CN" sz="2400" baseline="-25000" dirty="0"/>
              <a:t>i+1</a:t>
            </a:r>
            <a:r>
              <a:rPr lang="en-US" altLang="zh-CN" sz="2400" dirty="0"/>
              <a:t>. </a:t>
            </a:r>
          </a:p>
          <a:p>
            <a:pPr lvl="1">
              <a:lnSpc>
                <a:spcPct val="150000"/>
              </a:lnSpc>
              <a:buClrTx/>
              <a:buFont typeface="Wingdings" panose="05000000000000000000" pitchFamily="2" charset="2"/>
              <a:buChar char="l"/>
            </a:pPr>
            <a:endParaRPr lang="en-US" altLang="zh-CN" sz="24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9.6.2</a:t>
            </a:r>
            <a:r>
              <a:rPr lang="zh-CN" altLang="en-US" sz="3200"/>
              <a:t> </a:t>
            </a:r>
            <a:r>
              <a:rPr lang="en-US" altLang="zh-CN" sz="3200"/>
              <a:t>Lexicographic order</a:t>
            </a:r>
            <a:endParaRPr lang="en-US" altLang="zh-CN" sz="3200" dirty="0"/>
          </a:p>
        </p:txBody>
      </p:sp>
      <p:sp>
        <p:nvSpPr>
          <p:cNvPr id="7" name="Rectangle 3"/>
          <p:cNvSpPr txBox="1">
            <a:spLocks noChangeArrowheads="1"/>
          </p:cNvSpPr>
          <p:nvPr/>
        </p:nvSpPr>
        <p:spPr bwMode="auto">
          <a:xfrm>
            <a:off x="210046" y="921551"/>
            <a:ext cx="1122202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10:</a:t>
            </a:r>
          </a:p>
          <a:p>
            <a:pPr lvl="1">
              <a:lnSpc>
                <a:spcPct val="150000"/>
              </a:lnSpc>
              <a:buClrTx/>
              <a:buFont typeface="Wingdings" panose="05000000000000000000" pitchFamily="2" charset="2"/>
              <a:buChar char="l"/>
            </a:pPr>
            <a:r>
              <a:rPr lang="en-US" altLang="zh-CN" sz="2400" dirty="0"/>
              <a:t>Note that (1, 2, 3, 5) ≺ (1, 2, 4, 3), because the entries in the first two positions of these 4-tuples agree, but in the third position the entry in the first 4-tuple, 3, is less than that in the second 4-tuple, 4</a:t>
            </a:r>
            <a:r>
              <a:rPr lang="en-US" altLang="zh-CN" sz="2400"/>
              <a:t>. </a:t>
            </a:r>
          </a:p>
          <a:p>
            <a:pPr lvl="1">
              <a:lnSpc>
                <a:spcPct val="150000"/>
              </a:lnSpc>
              <a:buClrTx/>
              <a:buFont typeface="Wingdings" panose="05000000000000000000" pitchFamily="2" charset="2"/>
              <a:buChar char="l"/>
            </a:pPr>
            <a:r>
              <a:rPr lang="en-US" altLang="zh-CN" sz="2400"/>
              <a:t>(</a:t>
            </a:r>
            <a:r>
              <a:rPr lang="en-US" altLang="zh-CN" sz="2400" dirty="0"/>
              <a:t>Here the ordering on 4-tuples is the lexicographic ordering that comes from the usual less than or equal to relation on the set of integers.)</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9.6.2</a:t>
            </a:r>
            <a:r>
              <a:rPr lang="zh-CN" altLang="en-US" sz="3200"/>
              <a:t> </a:t>
            </a:r>
            <a:r>
              <a:rPr lang="en-US" altLang="zh-CN" sz="3200"/>
              <a:t>Lexicographic order</a:t>
            </a:r>
            <a:endParaRPr lang="en-US" altLang="zh-CN" sz="3200" dirty="0"/>
          </a:p>
        </p:txBody>
      </p:sp>
      <p:sp>
        <p:nvSpPr>
          <p:cNvPr id="5" name="Rectangle 3"/>
          <p:cNvSpPr txBox="1">
            <a:spLocks noChangeArrowheads="1"/>
          </p:cNvSpPr>
          <p:nvPr/>
        </p:nvSpPr>
        <p:spPr bwMode="auto">
          <a:xfrm>
            <a:off x="210046" y="739754"/>
            <a:ext cx="1122202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11:</a:t>
            </a:r>
          </a:p>
          <a:p>
            <a:pPr lvl="1">
              <a:lnSpc>
                <a:spcPct val="150000"/>
              </a:lnSpc>
              <a:buClrTx/>
              <a:buFont typeface="Wingdings" panose="05000000000000000000" pitchFamily="2" charset="2"/>
              <a:buChar char="l"/>
            </a:pPr>
            <a:r>
              <a:rPr lang="en-US" altLang="zh-CN" sz="2400" dirty="0"/>
              <a:t>Consider the set of strings of lowercase English letters. Using the ordering of letters in the alphabet, a lexicographic ordering on the set of strings can be constructed</a:t>
            </a:r>
            <a:r>
              <a:rPr lang="en-US" altLang="zh-CN" sz="2400"/>
              <a:t>. </a:t>
            </a:r>
          </a:p>
          <a:p>
            <a:pPr lvl="1">
              <a:lnSpc>
                <a:spcPct val="150000"/>
              </a:lnSpc>
              <a:buClrTx/>
              <a:buFont typeface="Wingdings" panose="05000000000000000000" pitchFamily="2" charset="2"/>
              <a:buChar char="l"/>
            </a:pPr>
            <a:r>
              <a:rPr lang="en-US" altLang="zh-CN" sz="2400"/>
              <a:t>A </a:t>
            </a:r>
            <a:r>
              <a:rPr lang="en-US" altLang="zh-CN" sz="2400" dirty="0"/>
              <a:t>string is less than a second string if the letter in the first string in the first position where the strings differ comes before the letter in the second string in this position, or if the first string and the second string agree in all positions, but the second string has more letters</a:t>
            </a:r>
            <a:r>
              <a:rPr lang="en-US" altLang="zh-CN" sz="2400"/>
              <a:t>. </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9.6.2</a:t>
            </a:r>
            <a:r>
              <a:rPr lang="zh-CN" altLang="en-US" sz="3200"/>
              <a:t> </a:t>
            </a:r>
            <a:r>
              <a:rPr lang="en-US" altLang="zh-CN" sz="3200"/>
              <a:t>Lexicographic order</a:t>
            </a:r>
            <a:endParaRPr lang="en-US" altLang="zh-CN" sz="3200" dirty="0"/>
          </a:p>
        </p:txBody>
      </p:sp>
      <p:sp>
        <p:nvSpPr>
          <p:cNvPr id="5" name="Rectangle 3"/>
          <p:cNvSpPr txBox="1">
            <a:spLocks noChangeArrowheads="1"/>
          </p:cNvSpPr>
          <p:nvPr/>
        </p:nvSpPr>
        <p:spPr bwMode="auto">
          <a:xfrm>
            <a:off x="210046" y="739754"/>
            <a:ext cx="1122202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11:</a:t>
            </a:r>
          </a:p>
          <a:p>
            <a:pPr lvl="1">
              <a:lnSpc>
                <a:spcPct val="150000"/>
              </a:lnSpc>
              <a:buClrTx/>
              <a:buFont typeface="Wingdings" panose="05000000000000000000" pitchFamily="2" charset="2"/>
              <a:buChar char="l"/>
            </a:pPr>
            <a:r>
              <a:rPr lang="en-US" altLang="zh-CN" sz="2400"/>
              <a:t>This </a:t>
            </a:r>
            <a:r>
              <a:rPr lang="en-US" altLang="zh-CN" sz="2400" dirty="0"/>
              <a:t>ordering is the same as that used in dictionaries</a:t>
            </a:r>
            <a:r>
              <a:rPr lang="en-US" altLang="zh-CN" sz="2400"/>
              <a:t>. </a:t>
            </a:r>
          </a:p>
          <a:p>
            <a:pPr lvl="1">
              <a:lnSpc>
                <a:spcPct val="150000"/>
              </a:lnSpc>
              <a:buClrTx/>
              <a:buFont typeface="Wingdings" panose="05000000000000000000" pitchFamily="2" charset="2"/>
              <a:buChar char="l"/>
            </a:pPr>
            <a:r>
              <a:rPr lang="en-US" altLang="zh-CN" sz="2400"/>
              <a:t>For example,</a:t>
            </a:r>
          </a:p>
          <a:p>
            <a:pPr lvl="2">
              <a:lnSpc>
                <a:spcPct val="150000"/>
              </a:lnSpc>
              <a:buClrTx/>
              <a:buFont typeface="Wingdings" panose="05000000000000000000" pitchFamily="2" charset="2"/>
              <a:buChar char="l"/>
            </a:pPr>
            <a:r>
              <a:rPr lang="en-US" altLang="zh-CN" sz="2000"/>
              <a:t>discreet ≺ discrete,</a:t>
            </a:r>
          </a:p>
          <a:p>
            <a:pPr lvl="1">
              <a:lnSpc>
                <a:spcPct val="150000"/>
              </a:lnSpc>
              <a:buClrTx/>
              <a:buFont typeface="Wingdings" panose="05000000000000000000" pitchFamily="2" charset="2"/>
              <a:buChar char="l"/>
            </a:pPr>
            <a:r>
              <a:rPr lang="en-US" altLang="zh-CN" sz="2400"/>
              <a:t>because these strings differ first in the seventh position, and e ≺ t</a:t>
            </a:r>
          </a:p>
          <a:p>
            <a:pPr lvl="2">
              <a:lnSpc>
                <a:spcPct val="150000"/>
              </a:lnSpc>
              <a:buClrTx/>
              <a:buFont typeface="Wingdings" panose="05000000000000000000" pitchFamily="2" charset="2"/>
              <a:buChar char="l"/>
            </a:pPr>
            <a:r>
              <a:rPr lang="en-US" altLang="zh-CN" sz="2000"/>
              <a:t>Also,  discreet ≺ discreetness,</a:t>
            </a:r>
          </a:p>
          <a:p>
            <a:pPr lvl="1">
              <a:lnSpc>
                <a:spcPct val="150000"/>
              </a:lnSpc>
              <a:buClrTx/>
              <a:buFont typeface="Wingdings" panose="05000000000000000000" pitchFamily="2" charset="2"/>
              <a:buChar char="l"/>
            </a:pPr>
            <a:r>
              <a:rPr lang="en-US" altLang="zh-CN" sz="2400"/>
              <a:t>because the first eight letters agree, but the second string is longer. </a:t>
            </a:r>
          </a:p>
          <a:p>
            <a:pPr lvl="2">
              <a:lnSpc>
                <a:spcPct val="150000"/>
              </a:lnSpc>
              <a:buClrTx/>
              <a:buFont typeface="Wingdings" panose="05000000000000000000" pitchFamily="2" charset="2"/>
              <a:buChar char="l"/>
            </a:pPr>
            <a:r>
              <a:rPr lang="en-US" altLang="zh-CN" sz="2000"/>
              <a:t>Furthermore, discrete ≺ discretion,</a:t>
            </a:r>
          </a:p>
          <a:p>
            <a:pPr lvl="1">
              <a:lnSpc>
                <a:spcPct val="150000"/>
              </a:lnSpc>
              <a:buClrTx/>
              <a:buFont typeface="Wingdings" panose="05000000000000000000" pitchFamily="2" charset="2"/>
              <a:buChar char="l"/>
            </a:pPr>
            <a:r>
              <a:rPr lang="en-US" altLang="zh-CN" sz="2400"/>
              <a:t>because</a:t>
            </a:r>
          </a:p>
          <a:p>
            <a:pPr lvl="2">
              <a:lnSpc>
                <a:spcPct val="150000"/>
              </a:lnSpc>
              <a:buClrTx/>
              <a:buFont typeface="Wingdings" panose="05000000000000000000" pitchFamily="2" charset="2"/>
              <a:buChar char="l"/>
            </a:pPr>
            <a:r>
              <a:rPr lang="en-US" altLang="zh-CN" sz="2000"/>
              <a:t>discrete ≺ discreti.</a:t>
            </a:r>
          </a:p>
          <a:p>
            <a:pPr marL="457200" lvl="1" indent="0">
              <a:lnSpc>
                <a:spcPct val="150000"/>
              </a:lnSpc>
              <a:buClrTx/>
              <a:buNone/>
            </a:pPr>
            <a:endParaRPr lang="en-US" altLang="zh-CN" sz="24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210045" y="859799"/>
            <a:ext cx="11515789" cy="5678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sz="2800"/>
              <a:t>Many edges in the directed graph for a finite poset do not have to be shown because they must be present. </a:t>
            </a:r>
          </a:p>
          <a:p>
            <a:pPr eaLnBrk="1" hangingPunct="1">
              <a:lnSpc>
                <a:spcPct val="150000"/>
              </a:lnSpc>
            </a:pPr>
            <a:r>
              <a:rPr lang="en-US" altLang="zh-CN" sz="2800"/>
              <a:t>For instance, consider the directed graph for the partial ordering {(a, b) ∣ a ≤ b} on the set {1, 2, 3, 4}, shown in Figure (a). </a:t>
            </a:r>
          </a:p>
          <a:p>
            <a:pPr eaLnBrk="1" hangingPunct="1">
              <a:lnSpc>
                <a:spcPct val="150000"/>
              </a:lnSpc>
            </a:pPr>
            <a:r>
              <a:rPr lang="en-US" altLang="zh-CN" sz="2800">
                <a:ea typeface="Arial Unicode MS" panose="020B0604020202020204" pitchFamily="34" charset="-122"/>
                <a:sym typeface="Symbol" panose="05050102010706020507" pitchFamily="18" charset="2"/>
              </a:rPr>
              <a:t>Because this relation is a partial ordering, </a:t>
            </a:r>
          </a:p>
          <a:p>
            <a:pPr marL="0" indent="0" eaLnBrk="1" hangingPunct="1">
              <a:lnSpc>
                <a:spcPct val="150000"/>
              </a:lnSpc>
              <a:buNone/>
            </a:pPr>
            <a:r>
              <a:rPr lang="en-US" altLang="zh-CN" sz="2800">
                <a:ea typeface="Arial Unicode MS" panose="020B0604020202020204" pitchFamily="34" charset="-122"/>
                <a:sym typeface="Symbol" panose="05050102010706020507" pitchFamily="18" charset="2"/>
              </a:rPr>
              <a:t>   it is reflexive, and its directed graph has </a:t>
            </a:r>
          </a:p>
          <a:p>
            <a:pPr marL="0" indent="0" eaLnBrk="1" hangingPunct="1">
              <a:lnSpc>
                <a:spcPct val="150000"/>
              </a:lnSpc>
              <a:buNone/>
            </a:pPr>
            <a:r>
              <a:rPr lang="en-US" altLang="zh-CN" sz="2800">
                <a:ea typeface="Arial Unicode MS" panose="020B0604020202020204" pitchFamily="34" charset="-122"/>
                <a:sym typeface="Symbol" panose="05050102010706020507" pitchFamily="18" charset="2"/>
              </a:rPr>
              <a:t>   loops at all vertices. </a:t>
            </a:r>
            <a:endParaRPr lang="en-US" altLang="zh-CN" sz="2800" dirty="0">
              <a:ea typeface="Arial Unicode MS" panose="020B0604020202020204" pitchFamily="34" charset="-122"/>
              <a:sym typeface="Symbol" panose="05050102010706020507" pitchFamily="18" charset="2"/>
            </a:endParaRPr>
          </a:p>
        </p:txBody>
      </p:sp>
      <p:sp>
        <p:nvSpPr>
          <p:cNvPr id="6" name="文本框 5"/>
          <p:cNvSpPr txBox="1"/>
          <p:nvPr/>
        </p:nvSpPr>
        <p:spPr>
          <a:xfrm>
            <a:off x="210046" y="0"/>
            <a:ext cx="11056470" cy="735394"/>
          </a:xfrm>
          <a:prstGeom prst="rect">
            <a:avLst/>
          </a:prstGeom>
          <a:noFill/>
        </p:spPr>
        <p:txBody>
          <a:bodyPr wrap="square" rtlCol="0">
            <a:spAutoFit/>
          </a:bodyPr>
          <a:lstStyle/>
          <a:p>
            <a:pPr>
              <a:lnSpc>
                <a:spcPct val="150000"/>
              </a:lnSpc>
            </a:pPr>
            <a:r>
              <a:rPr lang="en-US" altLang="zh-CN" sz="3200" dirty="0"/>
              <a:t>9.6.3 Hasse Diagrams</a:t>
            </a:r>
            <a:r>
              <a:rPr lang="zh-CN" altLang="en-US" sz="3200" dirty="0"/>
              <a:t>（</a:t>
            </a:r>
            <a:r>
              <a:rPr lang="zh-CN" altLang="en-US" sz="3200"/>
              <a:t>哈斯图）</a:t>
            </a:r>
            <a:endParaRPr lang="en-US" altLang="zh-CN" sz="3200" dirty="0"/>
          </a:p>
        </p:txBody>
      </p:sp>
      <p:grpSp>
        <p:nvGrpSpPr>
          <p:cNvPr id="7" name="组合 6"/>
          <p:cNvGrpSpPr/>
          <p:nvPr/>
        </p:nvGrpSpPr>
        <p:grpSpPr>
          <a:xfrm>
            <a:off x="8104094" y="3585883"/>
            <a:ext cx="3388659" cy="2952078"/>
            <a:chOff x="8362121" y="2239484"/>
            <a:chExt cx="3617844" cy="2943036"/>
          </a:xfrm>
        </p:grpSpPr>
        <p:pic>
          <p:nvPicPr>
            <p:cNvPr id="8" name="图片 7"/>
            <p:cNvPicPr>
              <a:picLocks noChangeAspect="1"/>
            </p:cNvPicPr>
            <p:nvPr/>
          </p:nvPicPr>
          <p:blipFill rotWithShape="1">
            <a:blip r:embed="rId3"/>
            <a:srcRect r="29080"/>
            <a:stretch>
              <a:fillRect/>
            </a:stretch>
          </p:blipFill>
          <p:spPr>
            <a:xfrm>
              <a:off x="8362121" y="2239484"/>
              <a:ext cx="2904395" cy="2943036"/>
            </a:xfrm>
            <a:prstGeom prst="rect">
              <a:avLst/>
            </a:prstGeom>
          </p:spPr>
        </p:pic>
        <p:pic>
          <p:nvPicPr>
            <p:cNvPr id="9" name="图片 8"/>
            <p:cNvPicPr>
              <a:picLocks noChangeAspect="1"/>
            </p:cNvPicPr>
            <p:nvPr/>
          </p:nvPicPr>
          <p:blipFill rotWithShape="1">
            <a:blip r:embed="rId3"/>
            <a:srcRect l="88027"/>
            <a:stretch>
              <a:fillRect/>
            </a:stretch>
          </p:blipFill>
          <p:spPr>
            <a:xfrm>
              <a:off x="11489635" y="2239484"/>
              <a:ext cx="490330" cy="2943036"/>
            </a:xfrm>
            <a:prstGeom prst="rect">
              <a:avLst/>
            </a:prstGeom>
          </p:spPr>
        </p:pic>
      </p:gr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210045" y="859799"/>
            <a:ext cx="11515789" cy="5678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sz="2800" dirty="0"/>
              <a:t>Consequently, we do not have to show these loops because they must be present; in Figure (b) loops are not shown. </a:t>
            </a:r>
          </a:p>
          <a:p>
            <a:pPr eaLnBrk="1" hangingPunct="1">
              <a:lnSpc>
                <a:spcPct val="150000"/>
              </a:lnSpc>
            </a:pPr>
            <a:r>
              <a:rPr lang="en-US" altLang="zh-CN" sz="2800" dirty="0"/>
              <a:t>Because a partial ordering is transitive, we do not have to show those edges that must be present because of transitivity. </a:t>
            </a:r>
          </a:p>
        </p:txBody>
      </p:sp>
      <p:sp>
        <p:nvSpPr>
          <p:cNvPr id="6" name="文本框 5"/>
          <p:cNvSpPr txBox="1"/>
          <p:nvPr/>
        </p:nvSpPr>
        <p:spPr>
          <a:xfrm>
            <a:off x="210046" y="0"/>
            <a:ext cx="11056470" cy="735394"/>
          </a:xfrm>
          <a:prstGeom prst="rect">
            <a:avLst/>
          </a:prstGeom>
          <a:noFill/>
        </p:spPr>
        <p:txBody>
          <a:bodyPr wrap="square" rtlCol="0">
            <a:spAutoFit/>
          </a:bodyPr>
          <a:lstStyle/>
          <a:p>
            <a:pPr>
              <a:lnSpc>
                <a:spcPct val="150000"/>
              </a:lnSpc>
            </a:pPr>
            <a:r>
              <a:rPr lang="en-US" altLang="zh-CN" sz="3200" dirty="0"/>
              <a:t>9.6.3 </a:t>
            </a:r>
            <a:r>
              <a:rPr lang="en-US" altLang="zh-CN" sz="3200"/>
              <a:t>Hasse Diagrams</a:t>
            </a:r>
            <a:endParaRPr lang="en-US" altLang="zh-CN" sz="3200" dirty="0"/>
          </a:p>
        </p:txBody>
      </p:sp>
      <p:grpSp>
        <p:nvGrpSpPr>
          <p:cNvPr id="7" name="组合 6"/>
          <p:cNvGrpSpPr/>
          <p:nvPr/>
        </p:nvGrpSpPr>
        <p:grpSpPr>
          <a:xfrm>
            <a:off x="7924800" y="3747248"/>
            <a:ext cx="3573061" cy="2915118"/>
            <a:chOff x="8362121" y="2239484"/>
            <a:chExt cx="3617844" cy="2943036"/>
          </a:xfrm>
        </p:grpSpPr>
        <p:pic>
          <p:nvPicPr>
            <p:cNvPr id="8" name="图片 7"/>
            <p:cNvPicPr>
              <a:picLocks noChangeAspect="1"/>
            </p:cNvPicPr>
            <p:nvPr/>
          </p:nvPicPr>
          <p:blipFill rotWithShape="1">
            <a:blip r:embed="rId3"/>
            <a:srcRect r="29080"/>
            <a:stretch>
              <a:fillRect/>
            </a:stretch>
          </p:blipFill>
          <p:spPr>
            <a:xfrm>
              <a:off x="8362121" y="2239484"/>
              <a:ext cx="2904395" cy="2943036"/>
            </a:xfrm>
            <a:prstGeom prst="rect">
              <a:avLst/>
            </a:prstGeom>
          </p:spPr>
        </p:pic>
        <p:pic>
          <p:nvPicPr>
            <p:cNvPr id="9" name="图片 8"/>
            <p:cNvPicPr>
              <a:picLocks noChangeAspect="1"/>
            </p:cNvPicPr>
            <p:nvPr/>
          </p:nvPicPr>
          <p:blipFill rotWithShape="1">
            <a:blip r:embed="rId3"/>
            <a:srcRect l="88027"/>
            <a:stretch>
              <a:fillRect/>
            </a:stretch>
          </p:blipFill>
          <p:spPr>
            <a:xfrm>
              <a:off x="11489635" y="2239484"/>
              <a:ext cx="490330" cy="2943036"/>
            </a:xfrm>
            <a:prstGeom prst="rect">
              <a:avLst/>
            </a:prstGeom>
          </p:spPr>
        </p:pic>
      </p:gr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210045" y="859799"/>
            <a:ext cx="11515789" cy="5678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sz="2800">
                <a:ea typeface="Arial Unicode MS" panose="020B0604020202020204" pitchFamily="34" charset="-122"/>
                <a:sym typeface="Symbol" panose="05050102010706020507" pitchFamily="18" charset="2"/>
              </a:rPr>
              <a:t>For example, in Figure (c) the edges (1, 3), (1, 4), and (2, 4) are not shown because they must be present. </a:t>
            </a:r>
          </a:p>
          <a:p>
            <a:pPr eaLnBrk="1" hangingPunct="1">
              <a:lnSpc>
                <a:spcPct val="150000"/>
              </a:lnSpc>
            </a:pPr>
            <a:r>
              <a:rPr lang="en-US" altLang="zh-CN" sz="2800">
                <a:ea typeface="Arial Unicode MS" panose="020B0604020202020204" pitchFamily="34" charset="-122"/>
                <a:sym typeface="Symbol" panose="05050102010706020507" pitchFamily="18" charset="2"/>
              </a:rPr>
              <a:t>If we assume that all edges are pointed “upward” (as they are drawn in the figure), we do not have to show the directions of the edges; Figure (c) does not show directions.</a:t>
            </a:r>
            <a:endParaRPr lang="en-US" altLang="zh-CN" sz="2800" dirty="0">
              <a:ea typeface="Arial Unicode MS" panose="020B0604020202020204" pitchFamily="34" charset="-122"/>
              <a:sym typeface="Symbol" panose="05050102010706020507" pitchFamily="18" charset="2"/>
            </a:endParaRPr>
          </a:p>
        </p:txBody>
      </p:sp>
      <p:sp>
        <p:nvSpPr>
          <p:cNvPr id="6" name="文本框 5"/>
          <p:cNvSpPr txBox="1"/>
          <p:nvPr/>
        </p:nvSpPr>
        <p:spPr>
          <a:xfrm>
            <a:off x="210046" y="0"/>
            <a:ext cx="11056470" cy="735394"/>
          </a:xfrm>
          <a:prstGeom prst="rect">
            <a:avLst/>
          </a:prstGeom>
          <a:noFill/>
        </p:spPr>
        <p:txBody>
          <a:bodyPr wrap="square" rtlCol="0">
            <a:spAutoFit/>
          </a:bodyPr>
          <a:lstStyle/>
          <a:p>
            <a:pPr>
              <a:lnSpc>
                <a:spcPct val="150000"/>
              </a:lnSpc>
            </a:pPr>
            <a:r>
              <a:rPr lang="en-US" altLang="zh-CN" sz="3200" dirty="0"/>
              <a:t>9.6.3 </a:t>
            </a:r>
            <a:r>
              <a:rPr lang="en-US" altLang="zh-CN" sz="3200"/>
              <a:t>Hasse Diagrams</a:t>
            </a:r>
            <a:endParaRPr lang="en-US" altLang="zh-CN" sz="3200" dirty="0"/>
          </a:p>
        </p:txBody>
      </p:sp>
      <p:grpSp>
        <p:nvGrpSpPr>
          <p:cNvPr id="7" name="组合 6"/>
          <p:cNvGrpSpPr/>
          <p:nvPr/>
        </p:nvGrpSpPr>
        <p:grpSpPr>
          <a:xfrm>
            <a:off x="8690655" y="3891783"/>
            <a:ext cx="3035179" cy="2646177"/>
            <a:chOff x="8362121" y="2239484"/>
            <a:chExt cx="3617844" cy="2943036"/>
          </a:xfrm>
        </p:grpSpPr>
        <p:pic>
          <p:nvPicPr>
            <p:cNvPr id="8" name="图片 7"/>
            <p:cNvPicPr>
              <a:picLocks noChangeAspect="1"/>
            </p:cNvPicPr>
            <p:nvPr/>
          </p:nvPicPr>
          <p:blipFill rotWithShape="1">
            <a:blip r:embed="rId3"/>
            <a:srcRect r="29080"/>
            <a:stretch>
              <a:fillRect/>
            </a:stretch>
          </p:blipFill>
          <p:spPr>
            <a:xfrm>
              <a:off x="8362121" y="2239484"/>
              <a:ext cx="2904395" cy="2943036"/>
            </a:xfrm>
            <a:prstGeom prst="rect">
              <a:avLst/>
            </a:prstGeom>
          </p:spPr>
        </p:pic>
        <p:pic>
          <p:nvPicPr>
            <p:cNvPr id="9" name="图片 8"/>
            <p:cNvPicPr>
              <a:picLocks noChangeAspect="1"/>
            </p:cNvPicPr>
            <p:nvPr/>
          </p:nvPicPr>
          <p:blipFill rotWithShape="1">
            <a:blip r:embed="rId3"/>
            <a:srcRect l="88027"/>
            <a:stretch>
              <a:fillRect/>
            </a:stretch>
          </p:blipFill>
          <p:spPr>
            <a:xfrm>
              <a:off x="11489635" y="2239484"/>
              <a:ext cx="490330" cy="2943036"/>
            </a:xfrm>
            <a:prstGeom prst="rect">
              <a:avLst/>
            </a:prstGeom>
          </p:spPr>
        </p:pic>
      </p:gr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5394"/>
          </a:xfrm>
          <a:prstGeom prst="rect">
            <a:avLst/>
          </a:prstGeom>
          <a:noFill/>
        </p:spPr>
        <p:txBody>
          <a:bodyPr wrap="square" rtlCol="0">
            <a:spAutoFit/>
          </a:bodyPr>
          <a:lstStyle/>
          <a:p>
            <a:pPr>
              <a:lnSpc>
                <a:spcPct val="150000"/>
              </a:lnSpc>
            </a:pPr>
            <a:r>
              <a:rPr lang="en-US" altLang="zh-CN" sz="3200" dirty="0"/>
              <a:t>9.6.3 </a:t>
            </a:r>
            <a:r>
              <a:rPr lang="en-US" altLang="zh-CN" sz="3200"/>
              <a:t>Hasse Diagrams</a:t>
            </a:r>
            <a:endParaRPr lang="en-US" altLang="zh-CN" sz="3200" dirty="0"/>
          </a:p>
        </p:txBody>
      </p:sp>
      <p:sp>
        <p:nvSpPr>
          <p:cNvPr id="5" name="Rectangle 3"/>
          <p:cNvSpPr txBox="1">
            <a:spLocks noChangeArrowheads="1"/>
          </p:cNvSpPr>
          <p:nvPr/>
        </p:nvSpPr>
        <p:spPr bwMode="auto">
          <a:xfrm>
            <a:off x="210046" y="739209"/>
            <a:ext cx="1144855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err="1">
                <a:solidFill>
                  <a:srgbClr val="FF0000"/>
                </a:solidFill>
              </a:rPr>
              <a:t>Hasse</a:t>
            </a:r>
            <a:r>
              <a:rPr lang="en-US" altLang="zh-CN" dirty="0">
                <a:solidFill>
                  <a:srgbClr val="FF0000"/>
                </a:solidFill>
              </a:rPr>
              <a:t> Diagram</a:t>
            </a:r>
            <a:r>
              <a:rPr lang="zh-CN" altLang="en-US" dirty="0">
                <a:solidFill>
                  <a:srgbClr val="FF0000"/>
                </a:solidFill>
              </a:rPr>
              <a:t>（哈塞图）</a:t>
            </a:r>
            <a:r>
              <a:rPr lang="en-US" altLang="zh-CN" dirty="0">
                <a:solidFill>
                  <a:srgbClr val="FF0000"/>
                </a:solidFill>
              </a:rPr>
              <a:t> </a:t>
            </a:r>
            <a:r>
              <a:rPr lang="en-US" altLang="zh-CN" dirty="0"/>
              <a:t>is the digraph of a partial order on a finite set </a:t>
            </a:r>
            <a:r>
              <a:rPr lang="en-US" altLang="zh-CN" i="1" dirty="0"/>
              <a:t>A</a:t>
            </a:r>
            <a:r>
              <a:rPr lang="en-US" altLang="zh-CN" dirty="0"/>
              <a:t> that</a:t>
            </a:r>
          </a:p>
          <a:p>
            <a:pPr lvl="1" eaLnBrk="1" hangingPunct="1">
              <a:lnSpc>
                <a:spcPct val="150000"/>
              </a:lnSpc>
            </a:pPr>
            <a:r>
              <a:rPr lang="en-US" altLang="zh-CN" dirty="0"/>
              <a:t>deletes all self-cycles</a:t>
            </a:r>
          </a:p>
          <a:p>
            <a:pPr lvl="1" eaLnBrk="1" hangingPunct="1">
              <a:lnSpc>
                <a:spcPct val="150000"/>
              </a:lnSpc>
            </a:pPr>
            <a:r>
              <a:rPr lang="en-US" altLang="zh-CN" dirty="0"/>
              <a:t>eliminates all edges that are implied by the transitive property</a:t>
            </a:r>
          </a:p>
          <a:p>
            <a:pPr lvl="1" eaLnBrk="1" hangingPunct="1">
              <a:lnSpc>
                <a:spcPct val="150000"/>
              </a:lnSpc>
            </a:pPr>
            <a:r>
              <a:rPr lang="en-US" altLang="zh-CN" dirty="0"/>
              <a:t>draws the digraph with all edges pointing upward</a:t>
            </a:r>
          </a:p>
          <a:p>
            <a:pPr marL="0" indent="0" eaLnBrk="1" hangingPunct="1">
              <a:lnSpc>
                <a:spcPct val="150000"/>
              </a:lnSpc>
              <a:buNone/>
            </a:pPr>
            <a:endParaRPr lang="en-US" altLang="zh-CN" sz="2800" dirty="0">
              <a:ea typeface="Arial Unicode MS" panose="020B0604020202020204" pitchFamily="34" charset="-122"/>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9.6.3 Hasse Diagrams</a:t>
            </a:r>
            <a:endParaRPr lang="en-US" altLang="zh-CN" sz="3200" dirty="0"/>
          </a:p>
        </p:txBody>
      </p:sp>
      <p:sp>
        <p:nvSpPr>
          <p:cNvPr id="31" name="文本框 30"/>
          <p:cNvSpPr txBox="1"/>
          <p:nvPr/>
        </p:nvSpPr>
        <p:spPr>
          <a:xfrm>
            <a:off x="210046" y="815788"/>
            <a:ext cx="11198087" cy="4640501"/>
          </a:xfrm>
          <a:prstGeom prst="rect">
            <a:avLst/>
          </a:prstGeom>
          <a:noFill/>
        </p:spPr>
        <p:txBody>
          <a:bodyPr wrap="square">
            <a:spAutoFit/>
          </a:bodyPr>
          <a:lstStyle/>
          <a:p>
            <a:pPr>
              <a:lnSpc>
                <a:spcPct val="150000"/>
              </a:lnSpc>
              <a:buFont typeface="Wingdings" panose="05000000000000000000" pitchFamily="2" charset="2"/>
              <a:buChar char="l"/>
            </a:pPr>
            <a:r>
              <a:rPr lang="en-US" altLang="zh-CN" sz="2800" b="1" dirty="0"/>
              <a:t>Example 12:</a:t>
            </a:r>
          </a:p>
          <a:p>
            <a:pPr lvl="1">
              <a:lnSpc>
                <a:spcPct val="150000"/>
              </a:lnSpc>
              <a:buClrTx/>
              <a:buFont typeface="Wingdings" panose="05000000000000000000" pitchFamily="2" charset="2"/>
              <a:buChar char="l"/>
            </a:pPr>
            <a:r>
              <a:rPr lang="en-US" altLang="zh-CN" sz="2400" b="1" dirty="0"/>
              <a:t>Draw the Hasse diagram representing the partial ordering {(a, b)∣a divides b} on {1, 2, 3, 4, 6, 8, 12}.</a:t>
            </a:r>
          </a:p>
          <a:p>
            <a:pPr>
              <a:lnSpc>
                <a:spcPct val="150000"/>
              </a:lnSpc>
              <a:buFont typeface="Wingdings" panose="05000000000000000000" pitchFamily="2" charset="2"/>
              <a:buChar char="l"/>
            </a:pPr>
            <a:r>
              <a:rPr lang="en-US" altLang="zh-CN" sz="2800" b="1" dirty="0"/>
              <a:t>Solution:</a:t>
            </a:r>
          </a:p>
          <a:p>
            <a:pPr lvl="1">
              <a:lnSpc>
                <a:spcPct val="150000"/>
              </a:lnSpc>
              <a:buClrTx/>
              <a:buFont typeface="Wingdings" panose="05000000000000000000" pitchFamily="2" charset="2"/>
              <a:buChar char="l"/>
            </a:pPr>
            <a:r>
              <a:rPr lang="en-US" altLang="zh-CN" sz="2400" b="1" dirty="0"/>
              <a:t>Begin with the digraph for this partial order, as shown in Figure (a). Remove all loops, as shown in Figure (b). </a:t>
            </a:r>
          </a:p>
          <a:p>
            <a:pPr lvl="1">
              <a:lnSpc>
                <a:spcPct val="150000"/>
              </a:lnSpc>
              <a:buClrTx/>
              <a:buFont typeface="Wingdings" panose="05000000000000000000" pitchFamily="2" charset="2"/>
              <a:buChar char="l"/>
            </a:pPr>
            <a:r>
              <a:rPr lang="en-US" altLang="zh-CN" sz="2400" b="1" dirty="0"/>
              <a:t>Then delete all the edges implied by the transitive property. These are (1, 4), (1, 6), (1, 8), (1, 12), (2, 8), (2, 12), and (3, 12).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9.6.3 Hasse Diagrams</a:t>
            </a:r>
            <a:endParaRPr lang="en-US" altLang="zh-CN" sz="3200" dirty="0"/>
          </a:p>
        </p:txBody>
      </p:sp>
      <p:sp>
        <p:nvSpPr>
          <p:cNvPr id="31" name="文本框 30"/>
          <p:cNvSpPr txBox="1"/>
          <p:nvPr/>
        </p:nvSpPr>
        <p:spPr>
          <a:xfrm>
            <a:off x="210046" y="815788"/>
            <a:ext cx="11198087" cy="2886175"/>
          </a:xfrm>
          <a:prstGeom prst="rect">
            <a:avLst/>
          </a:prstGeom>
          <a:noFill/>
        </p:spPr>
        <p:txBody>
          <a:bodyPr wrap="square">
            <a:spAutoFit/>
          </a:bodyPr>
          <a:lstStyle/>
          <a:p>
            <a:pPr>
              <a:lnSpc>
                <a:spcPct val="150000"/>
              </a:lnSpc>
              <a:buFont typeface="Wingdings" panose="05000000000000000000" pitchFamily="2" charset="2"/>
              <a:buChar char="l"/>
            </a:pPr>
            <a:r>
              <a:rPr lang="en-US" altLang="zh-CN" sz="2800" b="1"/>
              <a:t>Solution:</a:t>
            </a:r>
          </a:p>
          <a:p>
            <a:pPr lvl="1">
              <a:lnSpc>
                <a:spcPct val="150000"/>
              </a:lnSpc>
              <a:buClrTx/>
              <a:buFont typeface="Wingdings" panose="05000000000000000000" pitchFamily="2" charset="2"/>
              <a:buChar char="l"/>
            </a:pPr>
            <a:r>
              <a:rPr lang="en-US" altLang="zh-CN" sz="2400" b="1"/>
              <a:t>These are (1, 4), (1, 6), (1, 8), (1, 12), (2, 8), (2, 12), and (3, 12). Arrange all edges to point upward, and delete all arrows to obtain the Hasse diagram. The resulting Hasse diagram is shown in Figure (c).</a:t>
            </a:r>
          </a:p>
          <a:p>
            <a:pPr lvl="1">
              <a:lnSpc>
                <a:spcPct val="150000"/>
              </a:lnSpc>
              <a:buClrTx/>
            </a:pPr>
            <a:endParaRPr lang="en-US" altLang="zh-CN" sz="2400" b="1"/>
          </a:p>
        </p:txBody>
      </p:sp>
      <p:pic>
        <p:nvPicPr>
          <p:cNvPr id="4" name="图片 3"/>
          <p:cNvPicPr>
            <a:picLocks noChangeAspect="1"/>
          </p:cNvPicPr>
          <p:nvPr/>
        </p:nvPicPr>
        <p:blipFill>
          <a:blip r:embed="rId2"/>
          <a:stretch>
            <a:fillRect/>
          </a:stretch>
        </p:blipFill>
        <p:spPr>
          <a:xfrm>
            <a:off x="2724642" y="3275818"/>
            <a:ext cx="6742715" cy="3277381"/>
          </a:xfrm>
          <a:prstGeom prst="rect">
            <a:avLst/>
          </a:prstGeom>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9.6.3 Hasse Diagrams</a:t>
            </a:r>
            <a:endParaRPr lang="en-US" altLang="zh-CN" sz="3200" dirty="0"/>
          </a:p>
        </p:txBody>
      </p:sp>
      <p:sp>
        <p:nvSpPr>
          <p:cNvPr id="31" name="文本框 30"/>
          <p:cNvSpPr txBox="1"/>
          <p:nvPr/>
        </p:nvSpPr>
        <p:spPr>
          <a:xfrm>
            <a:off x="210046" y="739754"/>
            <a:ext cx="11771908" cy="5748497"/>
          </a:xfrm>
          <a:prstGeom prst="rect">
            <a:avLst/>
          </a:prstGeom>
          <a:noFill/>
        </p:spPr>
        <p:txBody>
          <a:bodyPr wrap="square">
            <a:spAutoFit/>
          </a:bodyPr>
          <a:lstStyle/>
          <a:p>
            <a:pPr>
              <a:lnSpc>
                <a:spcPct val="150000"/>
              </a:lnSpc>
              <a:buFont typeface="Wingdings" panose="05000000000000000000" pitchFamily="2" charset="2"/>
              <a:buChar char="l"/>
            </a:pPr>
            <a:r>
              <a:rPr lang="en-US" altLang="zh-CN" sz="2800" b="1" dirty="0"/>
              <a:t>Example 13:</a:t>
            </a:r>
          </a:p>
          <a:p>
            <a:pPr lvl="1">
              <a:lnSpc>
                <a:spcPct val="150000"/>
              </a:lnSpc>
              <a:buClrTx/>
              <a:buFont typeface="Wingdings" panose="05000000000000000000" pitchFamily="2" charset="2"/>
              <a:buChar char="l"/>
            </a:pPr>
            <a:r>
              <a:rPr lang="en-US" altLang="zh-CN" sz="2400" b="1" dirty="0"/>
              <a:t>Draw the Hasse diagram for the partial ordering {(A, B) ∣ A ⊆ B} on the power set P(S), where S = {a, b, c}.</a:t>
            </a:r>
          </a:p>
          <a:p>
            <a:pPr>
              <a:lnSpc>
                <a:spcPct val="150000"/>
              </a:lnSpc>
              <a:buFont typeface="Wingdings" panose="05000000000000000000" pitchFamily="2" charset="2"/>
              <a:buChar char="l"/>
            </a:pPr>
            <a:r>
              <a:rPr lang="en-US" altLang="zh-CN" sz="2800" b="1" dirty="0"/>
              <a:t>Solution:</a:t>
            </a:r>
          </a:p>
          <a:p>
            <a:pPr lvl="1">
              <a:lnSpc>
                <a:spcPct val="150000"/>
              </a:lnSpc>
              <a:buClrTx/>
              <a:buFont typeface="Wingdings" panose="05000000000000000000" pitchFamily="2" charset="2"/>
              <a:buChar char="l"/>
            </a:pPr>
            <a:r>
              <a:rPr lang="en-US" altLang="zh-CN" sz="2400" b="1" dirty="0"/>
              <a:t>The </a:t>
            </a:r>
            <a:r>
              <a:rPr lang="en-US" altLang="zh-CN" sz="2400" b="1" dirty="0" err="1"/>
              <a:t>Hasse</a:t>
            </a:r>
            <a:r>
              <a:rPr lang="en-US" altLang="zh-CN" sz="2400" b="1" dirty="0"/>
              <a:t> diagram for this partial ordering is obtained from the associated digraph by deleting all the loops and all the edges that occur from transitivity, namely, ( ∅, {a, b} ) , ( ∅, {a, c} ) , ( ∅, {b, c} ) , </a:t>
            </a:r>
          </a:p>
          <a:p>
            <a:pPr lvl="1">
              <a:lnSpc>
                <a:spcPct val="150000"/>
              </a:lnSpc>
              <a:buClrTx/>
            </a:pPr>
            <a:r>
              <a:rPr lang="en-US" altLang="zh-CN" sz="2400" b="1" dirty="0"/>
              <a:t>( ∅, {a, b, c} ) , ({a}, {a, b, c}), ({b}, {a, b, c}), and ({c}, {a, b, c}).</a:t>
            </a:r>
          </a:p>
          <a:p>
            <a:pPr lvl="1">
              <a:lnSpc>
                <a:spcPct val="150000"/>
              </a:lnSpc>
              <a:buClrTx/>
            </a:pPr>
            <a:r>
              <a:rPr lang="en-US" altLang="zh-CN" sz="2400" b="1" dirty="0"/>
              <a:t>Finally, all edges point upward, and arrows are deleted. </a:t>
            </a:r>
          </a:p>
          <a:p>
            <a:pPr lvl="1">
              <a:lnSpc>
                <a:spcPct val="150000"/>
              </a:lnSpc>
              <a:buClrTx/>
            </a:pPr>
            <a:r>
              <a:rPr lang="en-US" altLang="zh-CN" sz="2400" b="1" dirty="0"/>
              <a:t>The resulting </a:t>
            </a:r>
            <a:r>
              <a:rPr lang="en-US" altLang="zh-CN" sz="2400" b="1" dirty="0" err="1"/>
              <a:t>Hasse</a:t>
            </a:r>
            <a:r>
              <a:rPr lang="en-US" altLang="zh-CN" sz="2400" b="1" dirty="0"/>
              <a:t> diagram is illustrated in Figure.</a:t>
            </a:r>
          </a:p>
        </p:txBody>
      </p:sp>
      <p:pic>
        <p:nvPicPr>
          <p:cNvPr id="5" name="图片 4"/>
          <p:cNvPicPr>
            <a:picLocks noChangeAspect="1"/>
          </p:cNvPicPr>
          <p:nvPr/>
        </p:nvPicPr>
        <p:blipFill>
          <a:blip r:embed="rId2"/>
          <a:stretch>
            <a:fillRect/>
          </a:stretch>
        </p:blipFill>
        <p:spPr>
          <a:xfrm>
            <a:off x="9592235" y="4220385"/>
            <a:ext cx="2389719" cy="2267866"/>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1478418"/>
          </a:xfrm>
          <a:prstGeom prst="rect">
            <a:avLst/>
          </a:prstGeom>
          <a:noFill/>
        </p:spPr>
        <p:txBody>
          <a:bodyPr wrap="square" rtlCol="0">
            <a:spAutoFit/>
          </a:bodyPr>
          <a:lstStyle/>
          <a:p>
            <a:pPr>
              <a:lnSpc>
                <a:spcPct val="150000"/>
              </a:lnSpc>
            </a:pPr>
            <a:r>
              <a:rPr lang="en-US" altLang="zh-CN" sz="3200" dirty="0"/>
              <a:t>9.6.4 Extremal elements</a:t>
            </a:r>
          </a:p>
          <a:p>
            <a:pPr>
              <a:lnSpc>
                <a:spcPct val="150000"/>
              </a:lnSpc>
            </a:pPr>
            <a:endParaRPr lang="en-US" altLang="zh-CN" sz="3200" dirty="0"/>
          </a:p>
        </p:txBody>
      </p:sp>
      <p:sp>
        <p:nvSpPr>
          <p:cNvPr id="5" name="Rectangle 3"/>
          <p:cNvSpPr txBox="1">
            <a:spLocks noChangeArrowheads="1"/>
          </p:cNvSpPr>
          <p:nvPr/>
        </p:nvSpPr>
        <p:spPr bwMode="auto">
          <a:xfrm>
            <a:off x="210046" y="957223"/>
            <a:ext cx="1144855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i="1" dirty="0"/>
              <a:t>maximal element</a:t>
            </a:r>
            <a:r>
              <a:rPr lang="zh-CN" altLang="en-US" i="1" dirty="0"/>
              <a:t>（极大元）</a:t>
            </a:r>
          </a:p>
          <a:p>
            <a:pPr eaLnBrk="1" hangingPunct="1">
              <a:lnSpc>
                <a:spcPct val="150000"/>
              </a:lnSpc>
            </a:pPr>
            <a:r>
              <a:rPr lang="en-US" altLang="zh-CN" i="1" dirty="0"/>
              <a:t>minimal element</a:t>
            </a:r>
            <a:r>
              <a:rPr lang="zh-CN" altLang="en-US" i="1" dirty="0"/>
              <a:t>（极小元）</a:t>
            </a:r>
          </a:p>
          <a:p>
            <a:pPr eaLnBrk="1" hangingPunct="1">
              <a:lnSpc>
                <a:spcPct val="150000"/>
              </a:lnSpc>
            </a:pPr>
            <a:r>
              <a:rPr lang="en-US" altLang="zh-CN" i="1" dirty="0"/>
              <a:t>greatest element</a:t>
            </a:r>
            <a:r>
              <a:rPr lang="zh-CN" altLang="en-US" i="1" dirty="0"/>
              <a:t>（最大元）</a:t>
            </a:r>
          </a:p>
          <a:p>
            <a:pPr lvl="1" eaLnBrk="1" hangingPunct="1">
              <a:lnSpc>
                <a:spcPct val="150000"/>
              </a:lnSpc>
            </a:pPr>
            <a:r>
              <a:rPr lang="en-US" altLang="zh-CN" dirty="0"/>
              <a:t>denoted by </a:t>
            </a:r>
            <a:r>
              <a:rPr lang="en-US" altLang="zh-CN" i="1" dirty="0"/>
              <a:t>I</a:t>
            </a:r>
            <a:r>
              <a:rPr lang="en-US" altLang="zh-CN" dirty="0"/>
              <a:t> and often called the </a:t>
            </a:r>
            <a:r>
              <a:rPr lang="en-US" altLang="zh-CN" i="1" dirty="0"/>
              <a:t>unit element</a:t>
            </a:r>
            <a:r>
              <a:rPr lang="zh-CN" altLang="en-US" i="1" dirty="0"/>
              <a:t>（单位元）</a:t>
            </a:r>
            <a:endParaRPr lang="zh-CN" altLang="en-US" dirty="0"/>
          </a:p>
          <a:p>
            <a:pPr eaLnBrk="1" hangingPunct="1">
              <a:lnSpc>
                <a:spcPct val="150000"/>
              </a:lnSpc>
            </a:pPr>
            <a:r>
              <a:rPr lang="en-US" altLang="zh-CN" i="1" dirty="0"/>
              <a:t>least element</a:t>
            </a:r>
            <a:r>
              <a:rPr lang="zh-CN" altLang="en-US" i="1" dirty="0"/>
              <a:t>（最小元）</a:t>
            </a:r>
          </a:p>
          <a:p>
            <a:pPr lvl="1" eaLnBrk="1" hangingPunct="1">
              <a:lnSpc>
                <a:spcPct val="150000"/>
              </a:lnSpc>
            </a:pPr>
            <a:r>
              <a:rPr lang="en-US" altLang="zh-CN" dirty="0"/>
              <a:t>denoted by </a:t>
            </a:r>
            <a:r>
              <a:rPr lang="en-US" altLang="zh-CN" i="1" dirty="0"/>
              <a:t>0</a:t>
            </a:r>
            <a:r>
              <a:rPr lang="en-US" altLang="zh-CN" dirty="0"/>
              <a:t> and often called the </a:t>
            </a:r>
            <a:r>
              <a:rPr lang="en-US" altLang="zh-CN" i="1" dirty="0"/>
              <a:t>zero element</a:t>
            </a:r>
            <a:r>
              <a:rPr lang="zh-CN" altLang="en-US" i="1" dirty="0"/>
              <a:t>（零元）</a:t>
            </a:r>
            <a:endParaRPr lang="zh-CN" altLang="en-US" b="1" u="sng"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1478418"/>
          </a:xfrm>
          <a:prstGeom prst="rect">
            <a:avLst/>
          </a:prstGeom>
          <a:noFill/>
        </p:spPr>
        <p:txBody>
          <a:bodyPr wrap="square" rtlCol="0">
            <a:spAutoFit/>
          </a:bodyPr>
          <a:lstStyle/>
          <a:p>
            <a:pPr>
              <a:lnSpc>
                <a:spcPct val="150000"/>
              </a:lnSpc>
            </a:pPr>
            <a:r>
              <a:rPr lang="en-US" altLang="zh-CN" sz="3200" dirty="0"/>
              <a:t>9.6.4 </a:t>
            </a:r>
            <a:r>
              <a:rPr lang="en-US" altLang="zh-CN" sz="3200"/>
              <a:t>Extremal elements</a:t>
            </a:r>
            <a:endParaRPr lang="en-US" altLang="zh-CN" sz="3200" dirty="0"/>
          </a:p>
          <a:p>
            <a:pPr>
              <a:lnSpc>
                <a:spcPct val="150000"/>
              </a:lnSpc>
            </a:pPr>
            <a:endParaRPr lang="en-US" altLang="zh-CN" sz="3200" dirty="0"/>
          </a:p>
        </p:txBody>
      </p:sp>
      <p:sp>
        <p:nvSpPr>
          <p:cNvPr id="4" name="文本框 3"/>
          <p:cNvSpPr txBox="1"/>
          <p:nvPr/>
        </p:nvSpPr>
        <p:spPr>
          <a:xfrm>
            <a:off x="210046" y="890263"/>
            <a:ext cx="11504877" cy="5194499"/>
          </a:xfrm>
          <a:prstGeom prst="rect">
            <a:avLst/>
          </a:prstGeom>
          <a:noFill/>
        </p:spPr>
        <p:txBody>
          <a:bodyPr wrap="square">
            <a:spAutoFit/>
          </a:bodyPr>
          <a:lstStyle/>
          <a:p>
            <a:pPr>
              <a:lnSpc>
                <a:spcPct val="150000"/>
              </a:lnSpc>
              <a:buFont typeface="Wingdings" panose="05000000000000000000" pitchFamily="2" charset="2"/>
              <a:buChar char="l"/>
            </a:pPr>
            <a:r>
              <a:rPr lang="en-US" altLang="zh-CN" sz="2800" b="1" dirty="0"/>
              <a:t>Example 14:</a:t>
            </a:r>
          </a:p>
          <a:p>
            <a:pPr lvl="1">
              <a:lnSpc>
                <a:spcPct val="150000"/>
              </a:lnSpc>
              <a:buClrTx/>
              <a:buFont typeface="Wingdings" panose="05000000000000000000" pitchFamily="2" charset="2"/>
              <a:buChar char="l"/>
            </a:pPr>
            <a:r>
              <a:rPr lang="en-US" altLang="zh-CN" sz="2400" b="1" dirty="0"/>
              <a:t>Which elements of the poset ({2, 4, 5, 10, 12, 20, 25}, ∣) are maximal, and which are minimal?</a:t>
            </a:r>
          </a:p>
          <a:p>
            <a:pPr>
              <a:lnSpc>
                <a:spcPct val="150000"/>
              </a:lnSpc>
              <a:buFont typeface="Wingdings" panose="05000000000000000000" pitchFamily="2" charset="2"/>
              <a:buChar char="l"/>
            </a:pPr>
            <a:r>
              <a:rPr lang="en-US" altLang="zh-CN" sz="2800" b="1" dirty="0"/>
              <a:t>Solution:</a:t>
            </a:r>
          </a:p>
          <a:p>
            <a:pPr lvl="1">
              <a:lnSpc>
                <a:spcPct val="150000"/>
              </a:lnSpc>
              <a:buClrTx/>
              <a:buFont typeface="Wingdings" panose="05000000000000000000" pitchFamily="2" charset="2"/>
              <a:buChar char="l"/>
            </a:pPr>
            <a:r>
              <a:rPr lang="en-US" altLang="zh-CN" sz="2400" b="1" dirty="0"/>
              <a:t>The </a:t>
            </a:r>
            <a:r>
              <a:rPr lang="en-US" altLang="zh-CN" sz="2400" b="1" dirty="0" err="1"/>
              <a:t>Hasse</a:t>
            </a:r>
            <a:r>
              <a:rPr lang="en-US" altLang="zh-CN" sz="2400" b="1" dirty="0"/>
              <a:t> diagram in Figure 5 for this </a:t>
            </a:r>
            <a:r>
              <a:rPr lang="en-US" altLang="zh-CN" sz="2400" b="1" dirty="0" err="1"/>
              <a:t>poset</a:t>
            </a:r>
            <a:r>
              <a:rPr lang="en-US" altLang="zh-CN" sz="2400" b="1" dirty="0"/>
              <a:t> shows that the maximal elements are 12, 20, and 25, and the minimal elements are 2 and 5. </a:t>
            </a:r>
          </a:p>
          <a:p>
            <a:pPr lvl="1">
              <a:lnSpc>
                <a:spcPct val="150000"/>
              </a:lnSpc>
              <a:buClrTx/>
              <a:buFont typeface="Wingdings" panose="05000000000000000000" pitchFamily="2" charset="2"/>
              <a:buChar char="l"/>
            </a:pPr>
            <a:r>
              <a:rPr lang="en-US" altLang="zh-CN" sz="2400" b="1" dirty="0"/>
              <a:t>As this example shows, a </a:t>
            </a:r>
            <a:r>
              <a:rPr lang="en-US" altLang="zh-CN" sz="2400" b="1" dirty="0" err="1"/>
              <a:t>poset</a:t>
            </a:r>
            <a:r>
              <a:rPr lang="en-US" altLang="zh-CN" sz="2400" b="1" dirty="0"/>
              <a:t> can have more than one maximal element and more than one minimal element.</a:t>
            </a:r>
          </a:p>
          <a:p>
            <a:pPr lvl="1">
              <a:lnSpc>
                <a:spcPct val="150000"/>
              </a:lnSpc>
              <a:buClrTx/>
              <a:buFont typeface="Wingdings" panose="05000000000000000000" pitchFamily="2" charset="2"/>
              <a:buChar char="l"/>
            </a:pPr>
            <a:endParaRPr lang="en-US" altLang="zh-CN" sz="2400" b="1"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1474058"/>
          </a:xfrm>
          <a:prstGeom prst="rect">
            <a:avLst/>
          </a:prstGeom>
          <a:noFill/>
        </p:spPr>
        <p:txBody>
          <a:bodyPr wrap="square" rtlCol="0">
            <a:spAutoFit/>
          </a:bodyPr>
          <a:lstStyle/>
          <a:p>
            <a:pPr>
              <a:lnSpc>
                <a:spcPct val="150000"/>
              </a:lnSpc>
            </a:pPr>
            <a:r>
              <a:rPr lang="en-US" altLang="zh-CN" sz="3200" dirty="0"/>
              <a:t>9.6.4 Extremal elements - Maximal(Minimal) element</a:t>
            </a:r>
          </a:p>
          <a:p>
            <a:pPr>
              <a:lnSpc>
                <a:spcPct val="150000"/>
              </a:lnSpc>
            </a:pPr>
            <a:endParaRPr lang="en-US" altLang="zh-CN" sz="3200" dirty="0"/>
          </a:p>
        </p:txBody>
      </p:sp>
      <p:sp>
        <p:nvSpPr>
          <p:cNvPr id="5" name="Rectangle 3"/>
          <p:cNvSpPr txBox="1">
            <a:spLocks noChangeArrowheads="1"/>
          </p:cNvSpPr>
          <p:nvPr/>
        </p:nvSpPr>
        <p:spPr bwMode="auto">
          <a:xfrm>
            <a:off x="210046" y="866797"/>
            <a:ext cx="1144855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An element a </a:t>
            </a:r>
            <a:r>
              <a:rPr lang="en-US" altLang="zh-CN" dirty="0">
                <a:sym typeface="Symbol" panose="05050102010706020507" pitchFamily="18" charset="2"/>
              </a:rPr>
              <a:t></a:t>
            </a:r>
            <a:r>
              <a:rPr lang="en-US" altLang="zh-CN" dirty="0"/>
              <a:t> A is called a maximal element of A if there is no element c in A such that a&lt;c.</a:t>
            </a:r>
          </a:p>
          <a:p>
            <a:pPr eaLnBrk="1" hangingPunct="1">
              <a:lnSpc>
                <a:spcPct val="150000"/>
              </a:lnSpc>
            </a:pPr>
            <a:r>
              <a:rPr lang="en-US" altLang="zh-CN" dirty="0"/>
              <a:t>An element b </a:t>
            </a:r>
            <a:r>
              <a:rPr lang="en-US" altLang="zh-CN" dirty="0">
                <a:sym typeface="Symbol" panose="05050102010706020507" pitchFamily="18" charset="2"/>
              </a:rPr>
              <a:t></a:t>
            </a:r>
            <a:r>
              <a:rPr lang="en-US" altLang="zh-CN" dirty="0"/>
              <a:t> A is called a minimal element of A if there is no element c in A such that c&lt;b.</a:t>
            </a:r>
          </a:p>
          <a:p>
            <a:pPr marL="0" indent="0" eaLnBrk="1" hangingPunct="1">
              <a:lnSpc>
                <a:spcPct val="150000"/>
              </a:lnSpc>
              <a:buNone/>
            </a:pPr>
            <a:endParaRPr lang="en-US" altLang="zh-CN" dirty="0"/>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9.6.4 Extremal elements </a:t>
            </a:r>
            <a:endParaRPr lang="en-US" altLang="zh-CN" sz="3200" dirty="0"/>
          </a:p>
        </p:txBody>
      </p:sp>
      <p:sp>
        <p:nvSpPr>
          <p:cNvPr id="37" name="Rectangle 3"/>
          <p:cNvSpPr txBox="1">
            <a:spLocks noChangeArrowheads="1"/>
          </p:cNvSpPr>
          <p:nvPr/>
        </p:nvSpPr>
        <p:spPr bwMode="auto">
          <a:xfrm>
            <a:off x="246451" y="739754"/>
            <a:ext cx="1122202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15:</a:t>
            </a:r>
          </a:p>
          <a:p>
            <a:pPr lvl="1">
              <a:lnSpc>
                <a:spcPct val="150000"/>
              </a:lnSpc>
              <a:buClrTx/>
              <a:buFont typeface="Wingdings" panose="05000000000000000000" pitchFamily="2" charset="2"/>
              <a:buChar char="l"/>
            </a:pPr>
            <a:r>
              <a:rPr lang="en-US" altLang="zh-CN" sz="2400" dirty="0"/>
              <a:t>Determine whether the posets represented by each of the Hasse diagrams in Figure have a greatest element and a least element.</a:t>
            </a:r>
          </a:p>
        </p:txBody>
      </p:sp>
      <p:pic>
        <p:nvPicPr>
          <p:cNvPr id="38" name="图片 37"/>
          <p:cNvPicPr>
            <a:picLocks noChangeAspect="1"/>
          </p:cNvPicPr>
          <p:nvPr/>
        </p:nvPicPr>
        <p:blipFill rotWithShape="1">
          <a:blip r:embed="rId3"/>
          <a:srcRect b="16682"/>
          <a:stretch>
            <a:fillRect/>
          </a:stretch>
        </p:blipFill>
        <p:spPr>
          <a:xfrm>
            <a:off x="898057" y="2830346"/>
            <a:ext cx="11047492" cy="3449790"/>
          </a:xfrm>
          <a:prstGeom prst="rect">
            <a:avLst/>
          </a:prstGeom>
        </p:spPr>
      </p:pic>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9.6.4 Extremal elements </a:t>
            </a:r>
            <a:endParaRPr lang="en-US" altLang="zh-CN" sz="3200" dirty="0"/>
          </a:p>
        </p:txBody>
      </p:sp>
      <p:sp>
        <p:nvSpPr>
          <p:cNvPr id="37" name="Rectangle 3"/>
          <p:cNvSpPr txBox="1">
            <a:spLocks noChangeArrowheads="1"/>
          </p:cNvSpPr>
          <p:nvPr/>
        </p:nvSpPr>
        <p:spPr bwMode="auto">
          <a:xfrm>
            <a:off x="210046" y="735781"/>
            <a:ext cx="1122202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Solution:</a:t>
            </a:r>
          </a:p>
          <a:p>
            <a:pPr lvl="1">
              <a:lnSpc>
                <a:spcPct val="150000"/>
              </a:lnSpc>
              <a:buClrTx/>
              <a:buFont typeface="Wingdings" panose="05000000000000000000" pitchFamily="2" charset="2"/>
              <a:buChar char="l"/>
            </a:pPr>
            <a:r>
              <a:rPr lang="en-US" altLang="zh-CN" sz="2400"/>
              <a:t>The </a:t>
            </a:r>
            <a:r>
              <a:rPr lang="en-US" altLang="zh-CN" sz="2400" dirty="0"/>
              <a:t>least element of the poset with Hasse diagram (a) is a. This poset has no greatest element</a:t>
            </a:r>
            <a:r>
              <a:rPr lang="en-US" altLang="zh-CN" sz="2400"/>
              <a:t>. </a:t>
            </a:r>
          </a:p>
          <a:p>
            <a:pPr lvl="1">
              <a:lnSpc>
                <a:spcPct val="150000"/>
              </a:lnSpc>
              <a:buClrTx/>
              <a:buFont typeface="Wingdings" panose="05000000000000000000" pitchFamily="2" charset="2"/>
              <a:buChar char="l"/>
            </a:pPr>
            <a:r>
              <a:rPr lang="en-US" altLang="zh-CN" sz="2400"/>
              <a:t>The </a:t>
            </a:r>
            <a:r>
              <a:rPr lang="en-US" altLang="zh-CN" sz="2400" dirty="0"/>
              <a:t>poset with Hasse diagram (b) has neither a least nor a greatest element</a:t>
            </a:r>
            <a:r>
              <a:rPr lang="en-US" altLang="zh-CN" sz="2400"/>
              <a:t>. </a:t>
            </a:r>
          </a:p>
          <a:p>
            <a:pPr lvl="1">
              <a:lnSpc>
                <a:spcPct val="150000"/>
              </a:lnSpc>
              <a:buClrTx/>
              <a:buFont typeface="Wingdings" panose="05000000000000000000" pitchFamily="2" charset="2"/>
              <a:buChar char="l"/>
            </a:pPr>
            <a:r>
              <a:rPr lang="en-US" altLang="zh-CN" sz="2400"/>
              <a:t>The </a:t>
            </a:r>
            <a:r>
              <a:rPr lang="en-US" altLang="zh-CN" sz="2400" dirty="0"/>
              <a:t>poset with Hasse diagram (c) has no least element. Its greatest element is d</a:t>
            </a:r>
            <a:r>
              <a:rPr lang="en-US" altLang="zh-CN" sz="2400"/>
              <a:t>. </a:t>
            </a:r>
          </a:p>
          <a:p>
            <a:pPr lvl="1">
              <a:lnSpc>
                <a:spcPct val="150000"/>
              </a:lnSpc>
              <a:buClrTx/>
              <a:buFont typeface="Wingdings" panose="05000000000000000000" pitchFamily="2" charset="2"/>
              <a:buChar char="l"/>
            </a:pPr>
            <a:r>
              <a:rPr lang="en-US" altLang="zh-CN" sz="2400"/>
              <a:t>The </a:t>
            </a:r>
            <a:r>
              <a:rPr lang="en-US" altLang="zh-CN" sz="2400" dirty="0"/>
              <a:t>poset with Hasse diagram (d) has least element a and greatest element d.</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9.6.4 </a:t>
            </a:r>
            <a:r>
              <a:rPr lang="en-US" altLang="zh-CN" sz="3200" kern="0" dirty="0"/>
              <a:t>Extremal elements - </a:t>
            </a:r>
            <a:r>
              <a:rPr lang="en-US" altLang="zh-CN" sz="3200" dirty="0"/>
              <a:t>upper(lower) bound</a:t>
            </a:r>
          </a:p>
        </p:txBody>
      </p:sp>
      <p:sp>
        <p:nvSpPr>
          <p:cNvPr id="5" name="Rectangle 3"/>
          <p:cNvSpPr txBox="1">
            <a:spLocks noChangeArrowheads="1"/>
          </p:cNvSpPr>
          <p:nvPr/>
        </p:nvSpPr>
        <p:spPr bwMode="auto">
          <a:xfrm>
            <a:off x="210046" y="739754"/>
            <a:ext cx="12064580" cy="664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40000"/>
              </a:lnSpc>
              <a:buFont typeface="Wingdings" panose="05000000000000000000" pitchFamily="2" charset="2"/>
              <a:buChar char="l"/>
            </a:pPr>
            <a:r>
              <a:rPr lang="en-US" altLang="zh-CN" sz="2800" dirty="0"/>
              <a:t>Example 17:</a:t>
            </a:r>
          </a:p>
          <a:p>
            <a:pPr lvl="1">
              <a:lnSpc>
                <a:spcPct val="140000"/>
              </a:lnSpc>
              <a:buClrTx/>
              <a:buFont typeface="Wingdings" panose="05000000000000000000" pitchFamily="2" charset="2"/>
              <a:buChar char="l"/>
            </a:pPr>
            <a:r>
              <a:rPr lang="en-US" altLang="zh-CN" sz="2400" dirty="0"/>
              <a:t>Is there a greatest element and a least element in the poset (Z+, ∣)?</a:t>
            </a:r>
          </a:p>
          <a:p>
            <a:pPr>
              <a:lnSpc>
                <a:spcPct val="140000"/>
              </a:lnSpc>
              <a:buFont typeface="Wingdings" panose="05000000000000000000" pitchFamily="2" charset="2"/>
              <a:buChar char="l"/>
            </a:pPr>
            <a:r>
              <a:rPr lang="en-US" altLang="zh-CN" sz="2800" dirty="0"/>
              <a:t>Solution:</a:t>
            </a:r>
          </a:p>
          <a:p>
            <a:pPr lvl="1">
              <a:lnSpc>
                <a:spcPct val="140000"/>
              </a:lnSpc>
              <a:buClrTx/>
              <a:buFont typeface="Wingdings" panose="05000000000000000000" pitchFamily="2" charset="2"/>
              <a:buChar char="l"/>
            </a:pPr>
            <a:r>
              <a:rPr lang="en-US" altLang="zh-CN" sz="2400" dirty="0"/>
              <a:t>The integer 1 is the least element because 1|n whenever n is a positive integer. </a:t>
            </a:r>
          </a:p>
          <a:p>
            <a:pPr lvl="1">
              <a:lnSpc>
                <a:spcPct val="140000"/>
              </a:lnSpc>
              <a:buClrTx/>
              <a:buFont typeface="Wingdings" panose="05000000000000000000" pitchFamily="2" charset="2"/>
              <a:buChar char="l"/>
            </a:pPr>
            <a:r>
              <a:rPr lang="en-US" altLang="zh-CN" sz="2400" dirty="0"/>
              <a:t>Because there is no integer that is divisible by all positive integers, there is no greatest element.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1478418"/>
          </a:xfrm>
          <a:prstGeom prst="rect">
            <a:avLst/>
          </a:prstGeom>
          <a:noFill/>
        </p:spPr>
        <p:txBody>
          <a:bodyPr wrap="square" rtlCol="0">
            <a:spAutoFit/>
          </a:bodyPr>
          <a:lstStyle/>
          <a:p>
            <a:pPr>
              <a:lnSpc>
                <a:spcPct val="150000"/>
              </a:lnSpc>
            </a:pPr>
            <a:r>
              <a:rPr lang="en-US" altLang="zh-CN" sz="3200" dirty="0"/>
              <a:t>9.6.4 </a:t>
            </a:r>
            <a:r>
              <a:rPr lang="en-US" altLang="zh-CN" sz="3200" kern="0" dirty="0"/>
              <a:t>Extremal elements - </a:t>
            </a:r>
            <a:r>
              <a:rPr lang="en-US" altLang="zh-CN" sz="3200" dirty="0"/>
              <a:t>upper(lower) bound</a:t>
            </a:r>
          </a:p>
          <a:p>
            <a:pPr>
              <a:lnSpc>
                <a:spcPct val="150000"/>
              </a:lnSpc>
            </a:pPr>
            <a:endParaRPr lang="en-US" altLang="zh-CN" sz="3200" dirty="0"/>
          </a:p>
        </p:txBody>
      </p:sp>
      <p:sp>
        <p:nvSpPr>
          <p:cNvPr id="35" name="Rectangle 3"/>
          <p:cNvSpPr txBox="1">
            <a:spLocks noChangeArrowheads="1"/>
          </p:cNvSpPr>
          <p:nvPr/>
        </p:nvSpPr>
        <p:spPr bwMode="auto">
          <a:xfrm>
            <a:off x="14004" y="1711160"/>
            <a:ext cx="1144855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sz="2800" dirty="0"/>
              <a:t>Consider a poset and a subset </a:t>
            </a:r>
            <a:r>
              <a:rPr lang="en-US" altLang="zh-CN" sz="2800" i="1" dirty="0"/>
              <a:t>B</a:t>
            </a:r>
            <a:r>
              <a:rPr lang="en-US" altLang="zh-CN" sz="2800" dirty="0"/>
              <a:t> of </a:t>
            </a:r>
            <a:r>
              <a:rPr lang="en-US" altLang="zh-CN" sz="2800" i="1" dirty="0"/>
              <a:t>A</a:t>
            </a:r>
            <a:r>
              <a:rPr lang="en-US" altLang="zh-CN" sz="2800" dirty="0"/>
              <a:t>.</a:t>
            </a:r>
          </a:p>
          <a:p>
            <a:pPr lvl="1" eaLnBrk="1" hangingPunct="1">
              <a:lnSpc>
                <a:spcPct val="150000"/>
              </a:lnSpc>
            </a:pPr>
            <a:r>
              <a:rPr lang="en-US" altLang="zh-CN" sz="2400" dirty="0"/>
              <a:t>An element </a:t>
            </a:r>
            <a:r>
              <a:rPr lang="en-US" altLang="zh-CN" sz="2400" i="1" dirty="0"/>
              <a:t>a </a:t>
            </a:r>
            <a:r>
              <a:rPr lang="en-US" altLang="zh-CN" sz="2400" dirty="0">
                <a:sym typeface="Symbol" panose="05050102010706020507" pitchFamily="18" charset="2"/>
              </a:rPr>
              <a:t></a:t>
            </a:r>
            <a:r>
              <a:rPr lang="en-US" altLang="zh-CN" sz="2400" i="1" dirty="0"/>
              <a:t> A</a:t>
            </a:r>
            <a:r>
              <a:rPr lang="en-US" altLang="zh-CN" sz="2400" dirty="0"/>
              <a:t> is called a </a:t>
            </a:r>
            <a:r>
              <a:rPr lang="en-US" altLang="zh-CN" sz="2400" i="1" dirty="0">
                <a:solidFill>
                  <a:srgbClr val="FF0000"/>
                </a:solidFill>
              </a:rPr>
              <a:t>upper bound</a:t>
            </a:r>
            <a:r>
              <a:rPr lang="zh-CN" altLang="en-US" sz="2400" i="1" dirty="0">
                <a:solidFill>
                  <a:srgbClr val="FF0000"/>
                </a:solidFill>
              </a:rPr>
              <a:t>（上界）</a:t>
            </a:r>
            <a:r>
              <a:rPr lang="zh-CN" altLang="en-US" sz="2400" dirty="0">
                <a:solidFill>
                  <a:srgbClr val="FF0000"/>
                </a:solidFill>
              </a:rPr>
              <a:t> </a:t>
            </a:r>
            <a:r>
              <a:rPr lang="en-US" altLang="zh-CN" sz="2400" dirty="0"/>
              <a:t>of </a:t>
            </a:r>
            <a:r>
              <a:rPr lang="en-US" altLang="zh-CN" sz="2400" i="1" dirty="0"/>
              <a:t>B</a:t>
            </a:r>
            <a:r>
              <a:rPr lang="en-US" altLang="zh-CN" sz="2400" dirty="0"/>
              <a:t>  if </a:t>
            </a:r>
            <a:r>
              <a:rPr lang="en-US" altLang="zh-CN" sz="2400" i="1" dirty="0" err="1"/>
              <a:t>b</a:t>
            </a:r>
            <a:r>
              <a:rPr lang="en-US" altLang="zh-CN" sz="2400" dirty="0" err="1"/>
              <a:t>≤</a:t>
            </a:r>
            <a:r>
              <a:rPr lang="en-US" altLang="zh-CN" sz="2400" i="1" dirty="0" err="1"/>
              <a:t>a</a:t>
            </a:r>
            <a:r>
              <a:rPr lang="en-US" altLang="zh-CN" sz="2400" dirty="0"/>
              <a:t> for all </a:t>
            </a:r>
            <a:r>
              <a:rPr lang="en-US" altLang="zh-CN" sz="2400" i="1" dirty="0"/>
              <a:t>b </a:t>
            </a:r>
            <a:r>
              <a:rPr lang="en-US" altLang="zh-CN" sz="2400" dirty="0">
                <a:sym typeface="Symbol" panose="05050102010706020507" pitchFamily="18" charset="2"/>
              </a:rPr>
              <a:t></a:t>
            </a:r>
            <a:r>
              <a:rPr lang="en-US" altLang="zh-CN" sz="2400" i="1" dirty="0"/>
              <a:t> B</a:t>
            </a:r>
            <a:r>
              <a:rPr lang="en-US" altLang="zh-CN" sz="2400" dirty="0"/>
              <a:t>.</a:t>
            </a:r>
          </a:p>
          <a:p>
            <a:pPr lvl="1" eaLnBrk="1" hangingPunct="1">
              <a:lnSpc>
                <a:spcPct val="150000"/>
              </a:lnSpc>
            </a:pPr>
            <a:r>
              <a:rPr lang="en-US" altLang="zh-CN" sz="2400" dirty="0"/>
              <a:t>An element </a:t>
            </a:r>
            <a:r>
              <a:rPr lang="en-US" altLang="zh-CN" sz="2400" i="1" dirty="0"/>
              <a:t>a </a:t>
            </a:r>
            <a:r>
              <a:rPr lang="en-US" altLang="zh-CN" sz="2400" dirty="0">
                <a:sym typeface="Symbol" panose="05050102010706020507" pitchFamily="18" charset="2"/>
              </a:rPr>
              <a:t></a:t>
            </a:r>
            <a:r>
              <a:rPr lang="en-US" altLang="zh-CN" sz="2400" i="1" dirty="0"/>
              <a:t> A</a:t>
            </a:r>
            <a:r>
              <a:rPr lang="en-US" altLang="zh-CN" sz="2400" dirty="0"/>
              <a:t> is called a </a:t>
            </a:r>
            <a:r>
              <a:rPr lang="en-US" altLang="zh-CN" sz="2400" i="1" dirty="0">
                <a:solidFill>
                  <a:srgbClr val="FF0000"/>
                </a:solidFill>
              </a:rPr>
              <a:t>lower bound</a:t>
            </a:r>
            <a:r>
              <a:rPr lang="zh-CN" altLang="en-US" sz="2400" i="1" dirty="0">
                <a:solidFill>
                  <a:srgbClr val="FF0000"/>
                </a:solidFill>
              </a:rPr>
              <a:t>（下界）</a:t>
            </a:r>
            <a:r>
              <a:rPr lang="en-US" altLang="zh-CN" sz="2400" dirty="0"/>
              <a:t>of </a:t>
            </a:r>
            <a:r>
              <a:rPr lang="en-US" altLang="zh-CN" sz="2400" i="1" dirty="0"/>
              <a:t>B</a:t>
            </a:r>
            <a:r>
              <a:rPr lang="en-US" altLang="zh-CN" sz="2400" dirty="0"/>
              <a:t>  if </a:t>
            </a:r>
            <a:r>
              <a:rPr lang="en-US" altLang="zh-CN" sz="2400" i="1" dirty="0" err="1"/>
              <a:t>a</a:t>
            </a:r>
            <a:r>
              <a:rPr lang="en-US" altLang="zh-CN" sz="2400" dirty="0" err="1"/>
              <a:t>≤</a:t>
            </a:r>
            <a:r>
              <a:rPr lang="en-US" altLang="zh-CN" sz="2400" i="1" dirty="0" err="1"/>
              <a:t>b</a:t>
            </a:r>
            <a:r>
              <a:rPr lang="en-US" altLang="zh-CN" sz="2400" dirty="0"/>
              <a:t> for all </a:t>
            </a:r>
            <a:r>
              <a:rPr lang="en-US" altLang="zh-CN" sz="2400" i="1" dirty="0"/>
              <a:t>b </a:t>
            </a:r>
            <a:r>
              <a:rPr lang="en-US" altLang="zh-CN" sz="2400" dirty="0">
                <a:sym typeface="Symbol" panose="05050102010706020507" pitchFamily="18" charset="2"/>
              </a:rPr>
              <a:t></a:t>
            </a:r>
            <a:r>
              <a:rPr lang="en-US" altLang="zh-CN" sz="2400" i="1" dirty="0"/>
              <a:t> B</a:t>
            </a:r>
            <a:r>
              <a:rPr lang="en-US" altLang="zh-CN" sz="2400" dirty="0"/>
              <a:t>.</a:t>
            </a:r>
          </a:p>
          <a:p>
            <a:pPr lvl="1" eaLnBrk="1" hangingPunct="1">
              <a:lnSpc>
                <a:spcPct val="150000"/>
              </a:lnSpc>
            </a:pPr>
            <a:r>
              <a:rPr lang="en-US" altLang="zh-CN" sz="2400" dirty="0"/>
              <a:t>An element </a:t>
            </a:r>
            <a:r>
              <a:rPr lang="en-US" altLang="zh-CN" sz="2400" i="1" dirty="0"/>
              <a:t>a </a:t>
            </a:r>
            <a:r>
              <a:rPr lang="en-US" altLang="zh-CN" sz="2400" dirty="0">
                <a:sym typeface="Symbol" panose="05050102010706020507" pitchFamily="18" charset="2"/>
              </a:rPr>
              <a:t></a:t>
            </a:r>
            <a:r>
              <a:rPr lang="en-US" altLang="zh-CN" sz="2400" i="1" dirty="0"/>
              <a:t> A</a:t>
            </a:r>
            <a:r>
              <a:rPr lang="en-US" altLang="zh-CN" sz="2400" dirty="0"/>
              <a:t> is called a </a:t>
            </a:r>
            <a:r>
              <a:rPr lang="en-US" altLang="zh-CN" sz="2400" i="1" dirty="0">
                <a:solidFill>
                  <a:srgbClr val="FF0000"/>
                </a:solidFill>
              </a:rPr>
              <a:t>least upper bound</a:t>
            </a:r>
            <a:r>
              <a:rPr lang="en-US" altLang="zh-CN" sz="2400" dirty="0">
                <a:solidFill>
                  <a:srgbClr val="FF0000"/>
                </a:solidFill>
              </a:rPr>
              <a:t> (LUB) </a:t>
            </a:r>
            <a:r>
              <a:rPr lang="en-US" altLang="zh-CN" sz="2400" dirty="0"/>
              <a:t>of </a:t>
            </a:r>
            <a:r>
              <a:rPr lang="en-US" altLang="zh-CN" sz="2400" i="1" dirty="0"/>
              <a:t>B</a:t>
            </a:r>
            <a:r>
              <a:rPr lang="en-US" altLang="zh-CN" sz="2400" dirty="0"/>
              <a:t>  if </a:t>
            </a:r>
            <a:r>
              <a:rPr lang="en-US" altLang="zh-CN" sz="2400" i="1" dirty="0"/>
              <a:t>a</a:t>
            </a:r>
            <a:r>
              <a:rPr lang="en-US" altLang="zh-CN" sz="2400" dirty="0"/>
              <a:t> is an upper bound of </a:t>
            </a:r>
            <a:r>
              <a:rPr lang="en-US" altLang="zh-CN" sz="2400" i="1" dirty="0"/>
              <a:t>B</a:t>
            </a:r>
            <a:r>
              <a:rPr lang="en-US" altLang="zh-CN" sz="2400" dirty="0"/>
              <a:t>  and  </a:t>
            </a:r>
            <a:r>
              <a:rPr lang="en-US" altLang="zh-CN" sz="2400" i="1" dirty="0" err="1"/>
              <a:t>a</a:t>
            </a:r>
            <a:r>
              <a:rPr lang="en-US" altLang="zh-CN" sz="2400" dirty="0" err="1"/>
              <a:t>≤</a:t>
            </a:r>
            <a:r>
              <a:rPr lang="en-US" altLang="zh-CN" sz="2400" i="1" dirty="0" err="1"/>
              <a:t>a</a:t>
            </a:r>
            <a:r>
              <a:rPr lang="en-US" altLang="zh-CN" sz="2400" i="1" dirty="0"/>
              <a:t>’</a:t>
            </a:r>
            <a:r>
              <a:rPr lang="en-US" altLang="zh-CN" sz="2400" dirty="0"/>
              <a:t>, whenever </a:t>
            </a:r>
            <a:r>
              <a:rPr lang="en-US" altLang="zh-CN" sz="2400" i="1" dirty="0"/>
              <a:t>a’</a:t>
            </a:r>
            <a:r>
              <a:rPr lang="en-US" altLang="zh-CN" sz="2400" dirty="0"/>
              <a:t> is an upper bound of </a:t>
            </a:r>
            <a:r>
              <a:rPr lang="en-US" altLang="zh-CN" sz="2400" i="1" dirty="0"/>
              <a:t>B</a:t>
            </a:r>
            <a:r>
              <a:rPr lang="en-US" altLang="zh-CN" sz="2400" dirty="0"/>
              <a:t>. </a:t>
            </a:r>
          </a:p>
          <a:p>
            <a:pPr lvl="1" eaLnBrk="1" hangingPunct="1">
              <a:lnSpc>
                <a:spcPct val="150000"/>
              </a:lnSpc>
            </a:pPr>
            <a:r>
              <a:rPr lang="en-US" altLang="zh-CN" sz="2400" dirty="0"/>
              <a:t>An element </a:t>
            </a:r>
            <a:r>
              <a:rPr lang="en-US" altLang="zh-CN" sz="2400" i="1" dirty="0"/>
              <a:t>a </a:t>
            </a:r>
            <a:r>
              <a:rPr lang="en-US" altLang="zh-CN" sz="2400" dirty="0">
                <a:sym typeface="Symbol" panose="05050102010706020507" pitchFamily="18" charset="2"/>
              </a:rPr>
              <a:t></a:t>
            </a:r>
            <a:r>
              <a:rPr lang="en-US" altLang="zh-CN" sz="2400" i="1" dirty="0"/>
              <a:t> A</a:t>
            </a:r>
            <a:r>
              <a:rPr lang="en-US" altLang="zh-CN" sz="2400" dirty="0"/>
              <a:t> is called a </a:t>
            </a:r>
            <a:r>
              <a:rPr lang="en-US" altLang="zh-CN" sz="2400" i="1" dirty="0">
                <a:solidFill>
                  <a:srgbClr val="FF0000"/>
                </a:solidFill>
              </a:rPr>
              <a:t>greatest lower bound</a:t>
            </a:r>
            <a:r>
              <a:rPr lang="en-US" altLang="zh-CN" sz="2400" dirty="0">
                <a:solidFill>
                  <a:srgbClr val="FF0000"/>
                </a:solidFill>
              </a:rPr>
              <a:t> (GLB) </a:t>
            </a:r>
            <a:r>
              <a:rPr lang="en-US" altLang="zh-CN" sz="2400" dirty="0"/>
              <a:t>of </a:t>
            </a:r>
            <a:r>
              <a:rPr lang="en-US" altLang="zh-CN" sz="2400" i="1" dirty="0"/>
              <a:t>B</a:t>
            </a:r>
            <a:r>
              <a:rPr lang="en-US" altLang="zh-CN" sz="2400" dirty="0"/>
              <a:t>  if </a:t>
            </a:r>
            <a:r>
              <a:rPr lang="en-US" altLang="zh-CN" sz="2400" i="1" dirty="0"/>
              <a:t>a</a:t>
            </a:r>
            <a:r>
              <a:rPr lang="en-US" altLang="zh-CN" sz="2400" dirty="0"/>
              <a:t> is an lower bound of </a:t>
            </a:r>
            <a:r>
              <a:rPr lang="en-US" altLang="zh-CN" sz="2400" i="1" dirty="0"/>
              <a:t>B</a:t>
            </a:r>
            <a:r>
              <a:rPr lang="en-US" altLang="zh-CN" sz="2400" dirty="0"/>
              <a:t>  and  </a:t>
            </a:r>
            <a:r>
              <a:rPr lang="en-US" altLang="zh-CN" sz="2400" i="1" dirty="0" err="1"/>
              <a:t>a’</a:t>
            </a:r>
            <a:r>
              <a:rPr lang="en-US" altLang="zh-CN" sz="2400" dirty="0" err="1"/>
              <a:t>≤</a:t>
            </a:r>
            <a:r>
              <a:rPr lang="en-US" altLang="zh-CN" sz="2400" i="1" dirty="0" err="1"/>
              <a:t>a</a:t>
            </a:r>
            <a:r>
              <a:rPr lang="en-US" altLang="zh-CN" sz="2400" dirty="0"/>
              <a:t>, whenever </a:t>
            </a:r>
            <a:r>
              <a:rPr lang="en-US" altLang="zh-CN" sz="2400" i="1" dirty="0"/>
              <a:t>a’</a:t>
            </a:r>
            <a:r>
              <a:rPr lang="en-US" altLang="zh-CN" sz="2400" dirty="0"/>
              <a:t> is an lower bound of </a:t>
            </a:r>
            <a:r>
              <a:rPr lang="en-US" altLang="zh-CN" sz="2400" i="1" dirty="0"/>
              <a:t>B</a:t>
            </a:r>
            <a:r>
              <a:rPr lang="en-US" altLang="zh-CN" sz="2400" dirty="0"/>
              <a:t>. </a:t>
            </a:r>
          </a:p>
        </p:txBody>
      </p:sp>
      <p:sp>
        <p:nvSpPr>
          <p:cNvPr id="4" name="Rectangle 2"/>
          <p:cNvSpPr>
            <a:spLocks noGrp="1"/>
          </p:cNvSpPr>
          <p:nvPr/>
        </p:nvSpPr>
        <p:spPr>
          <a:xfrm>
            <a:off x="983564" y="904378"/>
            <a:ext cx="9509434" cy="806782"/>
          </a:xfrm>
          <a:prstGeom prst="rect">
            <a:avLst/>
          </a:prstGeom>
          <a:noFill/>
          <a:ln w="9525">
            <a:noFill/>
          </a:ln>
        </p:spPr>
        <p:txBody>
          <a:bodyPr vert="horz" wrap="square" lIns="91440" tIns="45720" rIns="91440" bIns="45720" anchor="ctr" anchorCtr="0"/>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9pPr>
          </a:lstStyle>
          <a:p>
            <a:pPr eaLnBrk="1" hangingPunct="1"/>
            <a:r>
              <a:rPr lang="en-US" altLang="zh-CN" dirty="0"/>
              <a:t> </a:t>
            </a:r>
            <a:r>
              <a:rPr lang="en-US" altLang="zh-CN" sz="3200" dirty="0"/>
              <a:t>LUB</a:t>
            </a:r>
            <a:r>
              <a:rPr lang="zh-CN" altLang="en-US" sz="3200" dirty="0"/>
              <a:t>（最小上界</a:t>
            </a:r>
            <a:r>
              <a:rPr lang="zh-CN" altLang="en-US" sz="3200"/>
              <a:t>）     </a:t>
            </a:r>
            <a:r>
              <a:rPr lang="en-US" altLang="zh-CN" sz="3200"/>
              <a:t>GLB</a:t>
            </a:r>
            <a:r>
              <a:rPr lang="zh-CN" altLang="en-US" sz="3200" dirty="0"/>
              <a:t>（最大下界）</a:t>
            </a:r>
            <a:endParaRPr lang="zh-CN" altLang="en-US" dirty="0"/>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9.6.4 </a:t>
            </a:r>
            <a:r>
              <a:rPr lang="en-US" altLang="zh-CN" sz="3200" kern="0" dirty="0"/>
              <a:t>Extremal elements - </a:t>
            </a:r>
            <a:r>
              <a:rPr lang="en-US" altLang="zh-CN" sz="3200" dirty="0"/>
              <a:t>upper(lower) bound</a:t>
            </a:r>
          </a:p>
        </p:txBody>
      </p:sp>
      <p:sp>
        <p:nvSpPr>
          <p:cNvPr id="7" name="Rectangle 3"/>
          <p:cNvSpPr txBox="1">
            <a:spLocks noChangeArrowheads="1"/>
          </p:cNvSpPr>
          <p:nvPr/>
        </p:nvSpPr>
        <p:spPr bwMode="auto">
          <a:xfrm>
            <a:off x="392464" y="853942"/>
            <a:ext cx="8635206"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18:</a:t>
            </a:r>
          </a:p>
          <a:p>
            <a:pPr lvl="1">
              <a:lnSpc>
                <a:spcPct val="150000"/>
              </a:lnSpc>
              <a:buClrTx/>
              <a:buFont typeface="Wingdings" panose="05000000000000000000" pitchFamily="2" charset="2"/>
              <a:buChar char="l"/>
            </a:pPr>
            <a:r>
              <a:rPr lang="en-US" altLang="zh-CN" sz="2400" dirty="0"/>
              <a:t>Find the lower and upper bounds of the subsets {a, b, c}, {j, h}, and {a, c, d, f } in the poset with the Hasse diagram shown in Figure.</a:t>
            </a:r>
          </a:p>
          <a:p>
            <a:pPr lvl="1">
              <a:lnSpc>
                <a:spcPct val="150000"/>
              </a:lnSpc>
              <a:buClrTx/>
              <a:buFont typeface="Wingdings" panose="05000000000000000000" pitchFamily="2" charset="2"/>
              <a:buChar char="l"/>
            </a:pPr>
            <a:r>
              <a:rPr lang="en-US" altLang="zh-CN" sz="2400" dirty="0"/>
              <a:t>Solution: The upper bounds of {a, b, c} are e, f, j, and h, and its only lower bound is a. There are no upper bounds of {j, h}, and its lower bounds are a, b, c, d, e, and f . The upper bounds of {a, c, d, f } are f , h, and j, and its lower bound is a.</a:t>
            </a:r>
          </a:p>
        </p:txBody>
      </p:sp>
      <p:pic>
        <p:nvPicPr>
          <p:cNvPr id="3" name="图片 2"/>
          <p:cNvPicPr>
            <a:picLocks noChangeAspect="1"/>
          </p:cNvPicPr>
          <p:nvPr/>
        </p:nvPicPr>
        <p:blipFill rotWithShape="1">
          <a:blip r:embed="rId3"/>
          <a:srcRect b="24680"/>
          <a:stretch>
            <a:fillRect/>
          </a:stretch>
        </p:blipFill>
        <p:spPr>
          <a:xfrm>
            <a:off x="9027670" y="1653334"/>
            <a:ext cx="3164330" cy="4350724"/>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9.6.4 </a:t>
            </a:r>
            <a:r>
              <a:rPr lang="en-US" altLang="zh-CN" sz="3200" kern="0"/>
              <a:t>Extremal elements </a:t>
            </a:r>
            <a:endParaRPr lang="en-US" altLang="zh-CN" sz="3200" dirty="0"/>
          </a:p>
        </p:txBody>
      </p:sp>
      <p:sp>
        <p:nvSpPr>
          <p:cNvPr id="7" name="Rectangle 3"/>
          <p:cNvSpPr txBox="1">
            <a:spLocks noChangeArrowheads="1"/>
          </p:cNvSpPr>
          <p:nvPr/>
        </p:nvSpPr>
        <p:spPr bwMode="auto">
          <a:xfrm>
            <a:off x="392464" y="853942"/>
            <a:ext cx="8459988"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19:</a:t>
            </a:r>
          </a:p>
          <a:p>
            <a:pPr lvl="1">
              <a:lnSpc>
                <a:spcPct val="150000"/>
              </a:lnSpc>
              <a:buClrTx/>
              <a:buFont typeface="Wingdings" panose="05000000000000000000" pitchFamily="2" charset="2"/>
              <a:buChar char="l"/>
            </a:pPr>
            <a:r>
              <a:rPr lang="en-US" altLang="zh-CN" sz="2400" dirty="0"/>
              <a:t>Find the greatest lower bound and the least upper</a:t>
            </a:r>
          </a:p>
          <a:p>
            <a:pPr marL="457200" lvl="1" indent="0">
              <a:lnSpc>
                <a:spcPct val="150000"/>
              </a:lnSpc>
              <a:buClrTx/>
              <a:buNone/>
            </a:pPr>
            <a:r>
              <a:rPr lang="en-US" altLang="zh-CN" sz="2400" dirty="0"/>
              <a:t>   bound of {b, d, g}, if they exist, in the poset shown </a:t>
            </a:r>
          </a:p>
          <a:p>
            <a:pPr marL="457200" lvl="1" indent="0">
              <a:lnSpc>
                <a:spcPct val="150000"/>
              </a:lnSpc>
              <a:buClrTx/>
              <a:buNone/>
            </a:pPr>
            <a:r>
              <a:rPr lang="en-US" altLang="zh-CN" sz="2400" dirty="0"/>
              <a:t>   in Figure.</a:t>
            </a:r>
          </a:p>
          <a:p>
            <a:pPr lvl="1">
              <a:lnSpc>
                <a:spcPct val="150000"/>
              </a:lnSpc>
              <a:buClrTx/>
              <a:buFont typeface="Wingdings" panose="05000000000000000000" pitchFamily="2" charset="2"/>
              <a:buChar char="l"/>
            </a:pPr>
            <a:r>
              <a:rPr lang="en-US" altLang="zh-CN" sz="2400" dirty="0"/>
              <a:t>Solution: The upper bounds of {b, d, g} are g and h. Because g ≺ h, g is the least upper </a:t>
            </a:r>
            <a:r>
              <a:rPr lang="en-US" altLang="zh-CN" sz="2400" dirty="0" err="1"/>
              <a:t>bound.The</a:t>
            </a:r>
            <a:r>
              <a:rPr lang="en-US" altLang="zh-CN" sz="2400" dirty="0"/>
              <a:t> lower bounds of {b, d, g} are a and b. Because a ≺ b, b is the greatest lower bound.</a:t>
            </a:r>
          </a:p>
        </p:txBody>
      </p:sp>
      <p:pic>
        <p:nvPicPr>
          <p:cNvPr id="3" name="图片 2"/>
          <p:cNvPicPr>
            <a:picLocks noChangeAspect="1"/>
          </p:cNvPicPr>
          <p:nvPr/>
        </p:nvPicPr>
        <p:blipFill rotWithShape="1">
          <a:blip r:embed="rId3"/>
          <a:srcRect b="24680"/>
          <a:stretch>
            <a:fillRect/>
          </a:stretch>
        </p:blipFill>
        <p:spPr>
          <a:xfrm>
            <a:off x="8900264" y="2017770"/>
            <a:ext cx="2899272" cy="3986288"/>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Effect transition="in" filter="fade">
                                      <p:cBhvr>
                                        <p:cTn id="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9.6.4 </a:t>
            </a:r>
            <a:r>
              <a:rPr lang="en-US" altLang="zh-CN" sz="3200" kern="0"/>
              <a:t>Extremal elements </a:t>
            </a:r>
            <a:endParaRPr lang="en-US" altLang="zh-CN" sz="3200" dirty="0"/>
          </a:p>
        </p:txBody>
      </p:sp>
      <p:sp>
        <p:nvSpPr>
          <p:cNvPr id="7" name="Rectangle 3"/>
          <p:cNvSpPr txBox="1">
            <a:spLocks noChangeArrowheads="1"/>
          </p:cNvSpPr>
          <p:nvPr/>
        </p:nvSpPr>
        <p:spPr bwMode="auto">
          <a:xfrm>
            <a:off x="210046" y="735781"/>
            <a:ext cx="11799536"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20:</a:t>
            </a:r>
          </a:p>
          <a:p>
            <a:pPr lvl="1">
              <a:lnSpc>
                <a:spcPct val="150000"/>
              </a:lnSpc>
              <a:buClrTx/>
              <a:buFont typeface="Wingdings" panose="05000000000000000000" pitchFamily="2" charset="2"/>
              <a:buChar char="l"/>
            </a:pPr>
            <a:r>
              <a:rPr lang="en-US" altLang="zh-CN" sz="2400" dirty="0"/>
              <a:t>Find the greatest lower bound and the least upper bound of the sets {3, 9, 12} and {1, 2, 4, 5, 10}, if they exist, in the poset (Z+, ∣).</a:t>
            </a:r>
          </a:p>
          <a:p>
            <a:pPr>
              <a:lnSpc>
                <a:spcPct val="150000"/>
              </a:lnSpc>
              <a:buFont typeface="Wingdings" panose="05000000000000000000" pitchFamily="2" charset="2"/>
              <a:buChar char="l"/>
            </a:pPr>
            <a:r>
              <a:rPr lang="en-US" altLang="zh-CN" sz="2400" dirty="0"/>
              <a:t> </a:t>
            </a:r>
            <a:r>
              <a:rPr lang="en-US" altLang="zh-CN" sz="2800" dirty="0"/>
              <a:t>Solution:</a:t>
            </a:r>
          </a:p>
          <a:p>
            <a:pPr lvl="1">
              <a:lnSpc>
                <a:spcPct val="150000"/>
              </a:lnSpc>
              <a:buClrTx/>
              <a:buFont typeface="Wingdings" panose="05000000000000000000" pitchFamily="2" charset="2"/>
              <a:buChar char="l"/>
            </a:pPr>
            <a:r>
              <a:rPr lang="en-US" altLang="zh-CN" sz="2400" dirty="0"/>
              <a:t>An integer is a lower bound of {3, 9, 12} if 3, 9, and 12 are divisible by this integer. The only such integers are 1 and 3. </a:t>
            </a:r>
          </a:p>
          <a:p>
            <a:pPr lvl="1">
              <a:lnSpc>
                <a:spcPct val="150000"/>
              </a:lnSpc>
              <a:buClrTx/>
              <a:buFont typeface="Wingdings" panose="05000000000000000000" pitchFamily="2" charset="2"/>
              <a:buChar char="l"/>
            </a:pPr>
            <a:r>
              <a:rPr lang="en-US" altLang="zh-CN" sz="2400" dirty="0"/>
              <a:t>Because 1 ∣ 3, 3 is the greatest lower bound of {3, 9, 12}.</a:t>
            </a:r>
          </a:p>
          <a:p>
            <a:pPr lvl="1">
              <a:lnSpc>
                <a:spcPct val="150000"/>
              </a:lnSpc>
              <a:buClrTx/>
              <a:buFont typeface="Wingdings" panose="05000000000000000000" pitchFamily="2" charset="2"/>
              <a:buChar char="l"/>
            </a:pPr>
            <a:r>
              <a:rPr lang="en-US" altLang="zh-CN" sz="2400" dirty="0"/>
              <a:t>The only lower bound for the set {1, 2, 4, 5, 10} with respect to ∣ is the element 1. Hence, 1 is the greatest lower bound for {1, 2, 4, 5, 10}. </a:t>
            </a:r>
          </a:p>
          <a:p>
            <a:pPr marL="457200" lvl="1" indent="0">
              <a:lnSpc>
                <a:spcPct val="150000"/>
              </a:lnSpc>
              <a:buClrTx/>
              <a:buNone/>
            </a:pPr>
            <a:endParaRPr lang="en-US" altLang="zh-CN" sz="24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9.6.4 </a:t>
            </a:r>
            <a:r>
              <a:rPr lang="en-US" altLang="zh-CN" sz="3200" kern="0"/>
              <a:t>Extremal elements </a:t>
            </a:r>
            <a:endParaRPr lang="en-US" altLang="zh-CN" sz="3200" dirty="0"/>
          </a:p>
        </p:txBody>
      </p:sp>
      <p:sp>
        <p:nvSpPr>
          <p:cNvPr id="7" name="Rectangle 3"/>
          <p:cNvSpPr txBox="1">
            <a:spLocks noChangeArrowheads="1"/>
          </p:cNvSpPr>
          <p:nvPr/>
        </p:nvSpPr>
        <p:spPr bwMode="auto">
          <a:xfrm>
            <a:off x="210046" y="735781"/>
            <a:ext cx="11799536"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Solution:</a:t>
            </a:r>
          </a:p>
          <a:p>
            <a:pPr lvl="1">
              <a:lnSpc>
                <a:spcPct val="150000"/>
              </a:lnSpc>
              <a:buClrTx/>
              <a:buFont typeface="Wingdings" panose="05000000000000000000" pitchFamily="2" charset="2"/>
              <a:buChar char="l"/>
            </a:pPr>
            <a:r>
              <a:rPr lang="en-US" altLang="zh-CN" sz="2400"/>
              <a:t>An integer is an upper bound for {3, 9, 12} if and only if it is divisible by 3, 9, and 12. The integers with this property are those divisible by the least common multiple of 3, 9, and 12, which is 36. Hence, 36 is the least upper bound of {3, 9, 12}. </a:t>
            </a:r>
          </a:p>
          <a:p>
            <a:pPr lvl="1">
              <a:lnSpc>
                <a:spcPct val="150000"/>
              </a:lnSpc>
              <a:buClrTx/>
              <a:buFont typeface="Wingdings" panose="05000000000000000000" pitchFamily="2" charset="2"/>
              <a:buChar char="l"/>
            </a:pPr>
            <a:r>
              <a:rPr lang="en-US" altLang="zh-CN" sz="2400"/>
              <a:t>A positive integer is an upper bound for the set {1, 2, 4, 5, 10} if and only if it is divisible by 1, 2, 4, 5, and 10. </a:t>
            </a:r>
          </a:p>
          <a:p>
            <a:pPr lvl="1">
              <a:lnSpc>
                <a:spcPct val="150000"/>
              </a:lnSpc>
              <a:buClrTx/>
              <a:buFont typeface="Wingdings" panose="05000000000000000000" pitchFamily="2" charset="2"/>
              <a:buChar char="l"/>
            </a:pPr>
            <a:r>
              <a:rPr lang="en-US" altLang="zh-CN" sz="2400"/>
              <a:t>The integers with this property are those integers divisible by the least common multiple of these integers, which is 20. Hence, 20 is the least upper bound of {1, 2, 4, 5, 10}.</a:t>
            </a:r>
          </a:p>
          <a:p>
            <a:pPr marL="457200" lvl="1" indent="0">
              <a:lnSpc>
                <a:spcPct val="150000"/>
              </a:lnSpc>
              <a:buClrTx/>
              <a:buNone/>
            </a:pPr>
            <a:endParaRPr lang="en-US" altLang="zh-CN" sz="2400" dirty="0"/>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1478418"/>
          </a:xfrm>
          <a:prstGeom prst="rect">
            <a:avLst/>
          </a:prstGeom>
          <a:noFill/>
        </p:spPr>
        <p:txBody>
          <a:bodyPr wrap="square" rtlCol="0">
            <a:spAutoFit/>
          </a:bodyPr>
          <a:lstStyle/>
          <a:p>
            <a:pPr>
              <a:lnSpc>
                <a:spcPct val="150000"/>
              </a:lnSpc>
            </a:pPr>
            <a:r>
              <a:rPr lang="en-US" altLang="zh-CN" sz="3200" dirty="0"/>
              <a:t>9.6.4 </a:t>
            </a:r>
            <a:r>
              <a:rPr lang="en-US" altLang="zh-CN" sz="3200" kern="0" dirty="0"/>
              <a:t>Extremal elements - </a:t>
            </a:r>
            <a:r>
              <a:rPr lang="en-US" altLang="zh-CN" sz="3200" dirty="0"/>
              <a:t>Theorems</a:t>
            </a:r>
          </a:p>
          <a:p>
            <a:pPr>
              <a:lnSpc>
                <a:spcPct val="150000"/>
              </a:lnSpc>
            </a:pPr>
            <a:endParaRPr lang="en-US" altLang="zh-CN" sz="3200" dirty="0"/>
          </a:p>
        </p:txBody>
      </p:sp>
      <p:sp>
        <p:nvSpPr>
          <p:cNvPr id="35" name="Rectangle 3"/>
          <p:cNvSpPr txBox="1">
            <a:spLocks noChangeArrowheads="1"/>
          </p:cNvSpPr>
          <p:nvPr/>
        </p:nvSpPr>
        <p:spPr bwMode="auto">
          <a:xfrm>
            <a:off x="210046" y="1169193"/>
            <a:ext cx="1144855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Let (</a:t>
            </a:r>
            <a:r>
              <a:rPr lang="en-US" altLang="zh-CN" i="1" dirty="0"/>
              <a:t>A</a:t>
            </a:r>
            <a:r>
              <a:rPr lang="en-US" altLang="zh-CN" dirty="0"/>
              <a:t>, </a:t>
            </a:r>
            <a:r>
              <a:rPr lang="en-US" altLang="zh-CN" dirty="0">
                <a:latin typeface="宋体" pitchFamily="2" charset="-122"/>
              </a:rPr>
              <a:t>≤</a:t>
            </a:r>
            <a:r>
              <a:rPr lang="en-US" altLang="zh-CN" dirty="0"/>
              <a:t>) be a </a:t>
            </a:r>
            <a:r>
              <a:rPr lang="en-US" altLang="zh-CN" dirty="0" err="1"/>
              <a:t>poset</a:t>
            </a:r>
            <a:endParaRPr lang="en-US" altLang="zh-CN" dirty="0"/>
          </a:p>
          <a:p>
            <a:pPr lvl="1" eaLnBrk="1" hangingPunct="1">
              <a:lnSpc>
                <a:spcPct val="150000"/>
              </a:lnSpc>
            </a:pPr>
            <a:r>
              <a:rPr lang="en-US" altLang="zh-CN" dirty="0"/>
              <a:t>If </a:t>
            </a:r>
            <a:r>
              <a:rPr lang="en-US" altLang="zh-CN" i="1" dirty="0"/>
              <a:t>A</a:t>
            </a:r>
            <a:r>
              <a:rPr lang="en-US" altLang="zh-CN" dirty="0"/>
              <a:t> is a finite nonempty, then </a:t>
            </a:r>
            <a:r>
              <a:rPr lang="en-US" altLang="zh-CN" i="1" dirty="0"/>
              <a:t>A</a:t>
            </a:r>
            <a:r>
              <a:rPr lang="en-US" altLang="zh-CN" dirty="0"/>
              <a:t> has at least </a:t>
            </a:r>
            <a:r>
              <a:rPr lang="en-US" altLang="zh-CN" i="1" dirty="0">
                <a:solidFill>
                  <a:schemeClr val="hlink"/>
                </a:solidFill>
              </a:rPr>
              <a:t>one</a:t>
            </a:r>
            <a:r>
              <a:rPr lang="en-US" altLang="zh-CN" dirty="0"/>
              <a:t> maximal element and at least </a:t>
            </a:r>
            <a:r>
              <a:rPr lang="en-US" altLang="zh-CN" i="1" dirty="0">
                <a:solidFill>
                  <a:schemeClr val="hlink"/>
                </a:solidFill>
              </a:rPr>
              <a:t>one</a:t>
            </a:r>
            <a:r>
              <a:rPr lang="en-US" altLang="zh-CN" dirty="0"/>
              <a:t> minimal element.</a:t>
            </a:r>
          </a:p>
          <a:p>
            <a:pPr lvl="1" eaLnBrk="1" hangingPunct="1">
              <a:lnSpc>
                <a:spcPct val="150000"/>
              </a:lnSpc>
            </a:pPr>
            <a:r>
              <a:rPr lang="en-US" altLang="zh-CN" i="1" dirty="0"/>
              <a:t>A</a:t>
            </a:r>
            <a:r>
              <a:rPr lang="en-US" altLang="zh-CN" dirty="0"/>
              <a:t> has at most </a:t>
            </a:r>
            <a:r>
              <a:rPr lang="en-US" altLang="zh-CN" i="1" dirty="0">
                <a:solidFill>
                  <a:schemeClr val="hlink"/>
                </a:solidFill>
              </a:rPr>
              <a:t>one</a:t>
            </a:r>
            <a:r>
              <a:rPr lang="en-US" altLang="zh-CN" dirty="0"/>
              <a:t> greatest element and at most </a:t>
            </a:r>
            <a:r>
              <a:rPr lang="en-US" altLang="zh-CN" i="1" dirty="0">
                <a:solidFill>
                  <a:schemeClr val="hlink"/>
                </a:solidFill>
              </a:rPr>
              <a:t>one</a:t>
            </a:r>
            <a:r>
              <a:rPr lang="en-US" altLang="zh-CN" dirty="0"/>
              <a:t> least element.</a:t>
            </a:r>
          </a:p>
          <a:p>
            <a:pPr lvl="1" eaLnBrk="1" hangingPunct="1">
              <a:lnSpc>
                <a:spcPct val="150000"/>
              </a:lnSpc>
            </a:pPr>
            <a:r>
              <a:rPr lang="en-US" altLang="zh-CN" dirty="0"/>
              <a:t>A subset </a:t>
            </a:r>
            <a:r>
              <a:rPr lang="en-US" altLang="zh-CN" i="1" dirty="0"/>
              <a:t>B</a:t>
            </a:r>
            <a:r>
              <a:rPr lang="en-US" altLang="zh-CN" dirty="0"/>
              <a:t> of </a:t>
            </a:r>
            <a:r>
              <a:rPr lang="en-US" altLang="zh-CN" i="1" dirty="0"/>
              <a:t>A</a:t>
            </a:r>
            <a:r>
              <a:rPr lang="en-US" altLang="zh-CN" dirty="0"/>
              <a:t> has at most </a:t>
            </a:r>
            <a:r>
              <a:rPr lang="en-US" altLang="zh-CN" i="1" dirty="0">
                <a:solidFill>
                  <a:schemeClr val="hlink"/>
                </a:solidFill>
              </a:rPr>
              <a:t>one</a:t>
            </a:r>
            <a:r>
              <a:rPr lang="en-US" altLang="zh-CN" dirty="0"/>
              <a:t> LUB and at most </a:t>
            </a:r>
            <a:r>
              <a:rPr lang="en-US" altLang="zh-CN" i="1" dirty="0">
                <a:solidFill>
                  <a:schemeClr val="hlink"/>
                </a:solidFill>
              </a:rPr>
              <a:t>one</a:t>
            </a:r>
            <a:r>
              <a:rPr lang="en-US" altLang="zh-CN" dirty="0"/>
              <a:t> GLB.</a:t>
            </a: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1478418"/>
          </a:xfrm>
          <a:prstGeom prst="rect">
            <a:avLst/>
          </a:prstGeom>
          <a:noFill/>
        </p:spPr>
        <p:txBody>
          <a:bodyPr wrap="square" rtlCol="0">
            <a:spAutoFit/>
          </a:bodyPr>
          <a:lstStyle/>
          <a:p>
            <a:pPr>
              <a:lnSpc>
                <a:spcPct val="150000"/>
              </a:lnSpc>
            </a:pPr>
            <a:r>
              <a:rPr lang="en-US" altLang="zh-CN" sz="3200" dirty="0"/>
              <a:t>9.6.4 </a:t>
            </a:r>
            <a:r>
              <a:rPr lang="en-US" altLang="zh-CN" sz="3200" kern="0" dirty="0"/>
              <a:t>Extremal elements – </a:t>
            </a:r>
            <a:r>
              <a:rPr lang="en-US" altLang="zh-CN" sz="3200" dirty="0"/>
              <a:t>Theorems 4</a:t>
            </a:r>
          </a:p>
          <a:p>
            <a:pPr>
              <a:lnSpc>
                <a:spcPct val="150000"/>
              </a:lnSpc>
            </a:pPr>
            <a:endParaRPr lang="en-US" altLang="zh-CN" sz="3200" dirty="0"/>
          </a:p>
        </p:txBody>
      </p:sp>
      <p:sp>
        <p:nvSpPr>
          <p:cNvPr id="35" name="Rectangle 3"/>
          <p:cNvSpPr txBox="1">
            <a:spLocks noChangeArrowheads="1"/>
          </p:cNvSpPr>
          <p:nvPr/>
        </p:nvSpPr>
        <p:spPr bwMode="auto">
          <a:xfrm>
            <a:off x="210046" y="720131"/>
            <a:ext cx="1144855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gn="just" eaLnBrk="1" hangingPunct="1">
              <a:lnSpc>
                <a:spcPct val="150000"/>
              </a:lnSpc>
            </a:pPr>
            <a:r>
              <a:rPr lang="en-US" altLang="zh-CN" sz="2800" dirty="0"/>
              <a:t>Suppose that (</a:t>
            </a:r>
            <a:r>
              <a:rPr lang="en-US" altLang="zh-CN" sz="2800" i="1" dirty="0"/>
              <a:t>A</a:t>
            </a:r>
            <a:r>
              <a:rPr lang="en-US" altLang="zh-CN" sz="2800" dirty="0"/>
              <a:t>, ≤) and (</a:t>
            </a:r>
            <a:r>
              <a:rPr lang="en-US" altLang="zh-CN" sz="2800" i="1" dirty="0"/>
              <a:t>A’</a:t>
            </a:r>
            <a:r>
              <a:rPr lang="en-US" altLang="zh-CN" sz="2800" dirty="0"/>
              <a:t>, ≤</a:t>
            </a:r>
            <a:r>
              <a:rPr lang="en-US" altLang="zh-CN" sz="2800" i="1" dirty="0"/>
              <a:t>’</a:t>
            </a:r>
            <a:r>
              <a:rPr lang="en-US" altLang="zh-CN" sz="2800" dirty="0"/>
              <a:t>) are isomorphic </a:t>
            </a:r>
            <a:r>
              <a:rPr lang="en-US" altLang="zh-CN" sz="2800" dirty="0" err="1"/>
              <a:t>posets</a:t>
            </a:r>
            <a:r>
              <a:rPr lang="en-US" altLang="zh-CN" sz="2800" dirty="0"/>
              <a:t> under the isomorphism </a:t>
            </a:r>
            <a:r>
              <a:rPr lang="en-US" altLang="zh-CN" sz="2800" i="1" dirty="0"/>
              <a:t>f</a:t>
            </a:r>
            <a:r>
              <a:rPr lang="en-US" altLang="zh-CN" sz="2800" dirty="0"/>
              <a:t>: </a:t>
            </a:r>
            <a:r>
              <a:rPr lang="en-US" altLang="zh-CN" sz="2800" i="1" dirty="0"/>
              <a:t>A</a:t>
            </a:r>
            <a:r>
              <a:rPr lang="en-US" altLang="zh-CN" sz="2800" dirty="0">
                <a:sym typeface="Wingdings" panose="05000000000000000000" pitchFamily="2" charset="2"/>
              </a:rPr>
              <a:t></a:t>
            </a:r>
            <a:r>
              <a:rPr lang="en-US" altLang="zh-CN" sz="2800" i="1" dirty="0"/>
              <a:t>A’</a:t>
            </a:r>
            <a:r>
              <a:rPr lang="en-US" altLang="zh-CN" sz="2800" dirty="0"/>
              <a:t>.</a:t>
            </a:r>
          </a:p>
          <a:p>
            <a:pPr lvl="1" algn="just" eaLnBrk="1" hangingPunct="1">
              <a:lnSpc>
                <a:spcPct val="133000"/>
              </a:lnSpc>
            </a:pPr>
            <a:r>
              <a:rPr lang="en-US" altLang="zh-CN" sz="2400" dirty="0"/>
              <a:t>If </a:t>
            </a:r>
            <a:r>
              <a:rPr lang="en-US" altLang="zh-CN" sz="2400" i="1" dirty="0"/>
              <a:t>a</a:t>
            </a:r>
            <a:r>
              <a:rPr lang="en-US" altLang="zh-CN" sz="2400" dirty="0"/>
              <a:t> is a maximal (minimal) element of (</a:t>
            </a:r>
            <a:r>
              <a:rPr lang="en-US" altLang="zh-CN" sz="2400" i="1" dirty="0"/>
              <a:t>A</a:t>
            </a:r>
            <a:r>
              <a:rPr lang="en-US" altLang="zh-CN" sz="2400" dirty="0"/>
              <a:t>, ≤),  then </a:t>
            </a:r>
            <a:r>
              <a:rPr lang="en-US" altLang="zh-CN" sz="2400" i="1" dirty="0"/>
              <a:t>f</a:t>
            </a:r>
            <a:r>
              <a:rPr lang="en-US" altLang="zh-CN" sz="2400" dirty="0"/>
              <a:t>(</a:t>
            </a:r>
            <a:r>
              <a:rPr lang="en-US" altLang="zh-CN" sz="2400" i="1" dirty="0"/>
              <a:t>a</a:t>
            </a:r>
            <a:r>
              <a:rPr lang="en-US" altLang="zh-CN" sz="2400" dirty="0"/>
              <a:t>) is a maximal (minimal) element of (</a:t>
            </a:r>
            <a:r>
              <a:rPr lang="en-US" altLang="zh-CN" sz="2400" i="1" dirty="0"/>
              <a:t>A’</a:t>
            </a:r>
            <a:r>
              <a:rPr lang="en-US" altLang="zh-CN" sz="2400" dirty="0"/>
              <a:t>, ≤’).</a:t>
            </a:r>
          </a:p>
          <a:p>
            <a:pPr lvl="1" algn="just" eaLnBrk="1" hangingPunct="1">
              <a:lnSpc>
                <a:spcPct val="133000"/>
              </a:lnSpc>
            </a:pPr>
            <a:r>
              <a:rPr lang="en-US" altLang="zh-CN" sz="2400" dirty="0"/>
              <a:t>If </a:t>
            </a:r>
            <a:r>
              <a:rPr lang="en-US" altLang="zh-CN" sz="2400" i="1" dirty="0"/>
              <a:t>a</a:t>
            </a:r>
            <a:r>
              <a:rPr lang="en-US" altLang="zh-CN" sz="2400" dirty="0"/>
              <a:t> is a greatest (least) element of (</a:t>
            </a:r>
            <a:r>
              <a:rPr lang="en-US" altLang="zh-CN" sz="2400" i="1" dirty="0"/>
              <a:t>A</a:t>
            </a:r>
            <a:r>
              <a:rPr lang="en-US" altLang="zh-CN" sz="2400" dirty="0"/>
              <a:t>, ≤),  then </a:t>
            </a:r>
            <a:r>
              <a:rPr lang="en-US" altLang="zh-CN" sz="2400" i="1" dirty="0"/>
              <a:t>f</a:t>
            </a:r>
            <a:r>
              <a:rPr lang="en-US" altLang="zh-CN" sz="2400" dirty="0"/>
              <a:t>(</a:t>
            </a:r>
            <a:r>
              <a:rPr lang="en-US" altLang="zh-CN" sz="2400" i="1" dirty="0"/>
              <a:t>a</a:t>
            </a:r>
            <a:r>
              <a:rPr lang="en-US" altLang="zh-CN" sz="2400" dirty="0"/>
              <a:t>) is a greatest (least) element of (</a:t>
            </a:r>
            <a:r>
              <a:rPr lang="en-US" altLang="zh-CN" sz="2400" i="1" dirty="0"/>
              <a:t>A’</a:t>
            </a:r>
            <a:r>
              <a:rPr lang="en-US" altLang="zh-CN" sz="2400" dirty="0"/>
              <a:t>, ≤’).</a:t>
            </a:r>
          </a:p>
          <a:p>
            <a:pPr lvl="1" algn="just" eaLnBrk="1" hangingPunct="1">
              <a:lnSpc>
                <a:spcPct val="133000"/>
              </a:lnSpc>
            </a:pPr>
            <a:r>
              <a:rPr lang="en-US" altLang="zh-CN" sz="2400" dirty="0"/>
              <a:t>If </a:t>
            </a:r>
            <a:r>
              <a:rPr lang="en-US" altLang="zh-CN" sz="2400" i="1" dirty="0"/>
              <a:t>a</a:t>
            </a:r>
            <a:r>
              <a:rPr lang="en-US" altLang="zh-CN" sz="2400" dirty="0"/>
              <a:t> is an upper bound (lower bound, least upper bound, greatest lower bound) of (</a:t>
            </a:r>
            <a:r>
              <a:rPr lang="en-US" altLang="zh-CN" sz="2400" i="1" dirty="0"/>
              <a:t>A</a:t>
            </a:r>
            <a:r>
              <a:rPr lang="en-US" altLang="zh-CN" sz="2400" dirty="0"/>
              <a:t>, ≤),  then </a:t>
            </a:r>
            <a:r>
              <a:rPr lang="en-US" altLang="zh-CN" sz="2400" i="1" dirty="0"/>
              <a:t>f</a:t>
            </a:r>
            <a:r>
              <a:rPr lang="en-US" altLang="zh-CN" sz="2400" dirty="0"/>
              <a:t>(</a:t>
            </a:r>
            <a:r>
              <a:rPr lang="en-US" altLang="zh-CN" sz="2400" i="1" dirty="0"/>
              <a:t>a</a:t>
            </a:r>
            <a:r>
              <a:rPr lang="en-US" altLang="zh-CN" sz="2400" dirty="0"/>
              <a:t>) is an upper bound (lower bound, least upper bound, greatest lower bound) of (</a:t>
            </a:r>
            <a:r>
              <a:rPr lang="en-US" altLang="zh-CN" sz="2400" i="1" dirty="0"/>
              <a:t>A’</a:t>
            </a:r>
            <a:r>
              <a:rPr lang="en-US" altLang="zh-CN" sz="2400" dirty="0"/>
              <a:t>, ≤</a:t>
            </a:r>
            <a:r>
              <a:rPr lang="en-US" altLang="zh-CN" sz="2400" i="1" dirty="0"/>
              <a:t>’</a:t>
            </a:r>
            <a:r>
              <a:rPr lang="en-US" altLang="zh-CN" sz="2400" dirty="0"/>
              <a:t>).</a:t>
            </a:r>
          </a:p>
          <a:p>
            <a:pPr lvl="1" eaLnBrk="1" hangingPunct="1">
              <a:lnSpc>
                <a:spcPct val="133000"/>
              </a:lnSpc>
            </a:pPr>
            <a:r>
              <a:rPr lang="en-US" altLang="zh-CN" sz="2400" dirty="0"/>
              <a:t>If every subset of (</a:t>
            </a:r>
            <a:r>
              <a:rPr lang="en-US" altLang="zh-CN" sz="2400" i="1" dirty="0"/>
              <a:t>A</a:t>
            </a:r>
            <a:r>
              <a:rPr lang="en-US" altLang="zh-CN" sz="2400" dirty="0"/>
              <a:t>, </a:t>
            </a:r>
            <a:r>
              <a:rPr lang="en-US" altLang="zh-CN" sz="2400" dirty="0">
                <a:latin typeface="宋体" pitchFamily="2" charset="-122"/>
              </a:rPr>
              <a:t>≤</a:t>
            </a:r>
            <a:r>
              <a:rPr lang="en-US" altLang="zh-CN" sz="2400" dirty="0"/>
              <a:t>) has a LUB (GLB),  then every subset of (</a:t>
            </a:r>
            <a:r>
              <a:rPr lang="en-US" altLang="zh-CN" sz="2400" i="1" dirty="0"/>
              <a:t>A’</a:t>
            </a:r>
            <a:r>
              <a:rPr lang="en-US" altLang="zh-CN" sz="2400" dirty="0"/>
              <a:t>, </a:t>
            </a:r>
            <a:r>
              <a:rPr lang="en-US" altLang="zh-CN" sz="2400" dirty="0">
                <a:latin typeface="宋体" pitchFamily="2" charset="-122"/>
              </a:rPr>
              <a:t>≤</a:t>
            </a:r>
            <a:r>
              <a:rPr lang="en-US" altLang="zh-CN" sz="2400" i="1" dirty="0"/>
              <a:t>’</a:t>
            </a:r>
            <a:r>
              <a:rPr lang="en-US" altLang="zh-CN" sz="2400" dirty="0"/>
              <a:t>) has a LUB (GLB).</a:t>
            </a: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2308324"/>
          </a:xfrm>
          <a:prstGeom prst="rect">
            <a:avLst/>
          </a:prstGeom>
          <a:noFill/>
        </p:spPr>
        <p:txBody>
          <a:bodyPr wrap="square" rtlCol="0">
            <a:spAutoFit/>
          </a:bodyPr>
          <a:lstStyle/>
          <a:p>
            <a:pPr>
              <a:lnSpc>
                <a:spcPct val="150000"/>
              </a:lnSpc>
            </a:pPr>
            <a:r>
              <a:rPr lang="en-US" altLang="zh-CN" sz="3200" dirty="0"/>
              <a:t>9.6.5 Introduction of Lattices</a:t>
            </a:r>
            <a:r>
              <a:rPr lang="zh-CN" altLang="en-US" sz="3200" dirty="0"/>
              <a:t>（格）</a:t>
            </a:r>
          </a:p>
          <a:p>
            <a:pPr>
              <a:lnSpc>
                <a:spcPct val="150000"/>
              </a:lnSpc>
            </a:pPr>
            <a:endParaRPr lang="en-US" altLang="zh-CN" sz="3200" dirty="0"/>
          </a:p>
          <a:p>
            <a:pPr>
              <a:lnSpc>
                <a:spcPct val="150000"/>
              </a:lnSpc>
            </a:pPr>
            <a:endParaRPr lang="en-US" altLang="zh-CN" sz="3200" dirty="0"/>
          </a:p>
        </p:txBody>
      </p:sp>
      <p:sp>
        <p:nvSpPr>
          <p:cNvPr id="5" name="Rectangle 3"/>
          <p:cNvSpPr txBox="1">
            <a:spLocks noChangeArrowheads="1"/>
          </p:cNvSpPr>
          <p:nvPr/>
        </p:nvSpPr>
        <p:spPr bwMode="auto">
          <a:xfrm>
            <a:off x="210046" y="1166018"/>
            <a:ext cx="1144855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gn="just" eaLnBrk="1" hangingPunct="1">
              <a:lnSpc>
                <a:spcPct val="150000"/>
              </a:lnSpc>
            </a:pPr>
            <a:r>
              <a:rPr lang="en-US" altLang="zh-CN" dirty="0"/>
              <a:t>A </a:t>
            </a:r>
            <a:r>
              <a:rPr lang="en-US" altLang="zh-CN" i="1" dirty="0">
                <a:solidFill>
                  <a:srgbClr val="FF0000"/>
                </a:solidFill>
              </a:rPr>
              <a:t>lattice</a:t>
            </a:r>
            <a:r>
              <a:rPr lang="zh-CN" altLang="en-US" i="1" dirty="0">
                <a:solidFill>
                  <a:srgbClr val="FF0000"/>
                </a:solidFill>
              </a:rPr>
              <a:t>（格）</a:t>
            </a:r>
            <a:r>
              <a:rPr lang="en-US" altLang="zh-CN" dirty="0">
                <a:solidFill>
                  <a:srgbClr val="FF0000"/>
                </a:solidFill>
              </a:rPr>
              <a:t> </a:t>
            </a:r>
            <a:r>
              <a:rPr lang="en-US" altLang="zh-CN" dirty="0"/>
              <a:t>is a </a:t>
            </a:r>
            <a:r>
              <a:rPr lang="en-US" altLang="zh-CN" dirty="0" err="1"/>
              <a:t>poset</a:t>
            </a:r>
            <a:r>
              <a:rPr lang="en-US" altLang="zh-CN" dirty="0"/>
              <a:t> in which every subset {</a:t>
            </a:r>
            <a:r>
              <a:rPr lang="en-US" altLang="zh-CN" dirty="0" err="1"/>
              <a:t>a,b</a:t>
            </a:r>
            <a:r>
              <a:rPr lang="en-US" altLang="zh-CN" dirty="0"/>
              <a:t>} consisting of two elements has a least upper bound and a greatest lower bound.</a:t>
            </a:r>
          </a:p>
          <a:p>
            <a:pPr lvl="1" algn="just" eaLnBrk="1" hangingPunct="1">
              <a:lnSpc>
                <a:spcPct val="150000"/>
              </a:lnSpc>
            </a:pPr>
            <a:r>
              <a:rPr lang="en-US" altLang="zh-CN" dirty="0"/>
              <a:t>denote  LUB({</a:t>
            </a:r>
            <a:r>
              <a:rPr lang="en-US" altLang="zh-CN" dirty="0" err="1"/>
              <a:t>a,b</a:t>
            </a:r>
            <a:r>
              <a:rPr lang="en-US" altLang="zh-CN" dirty="0"/>
              <a:t>}) by </a:t>
            </a:r>
            <a:r>
              <a:rPr lang="en-US" altLang="zh-CN" dirty="0" err="1"/>
              <a:t>a∨b</a:t>
            </a:r>
            <a:r>
              <a:rPr lang="en-US" altLang="zh-CN" dirty="0"/>
              <a:t> and call it the </a:t>
            </a:r>
            <a:r>
              <a:rPr lang="en-US" altLang="zh-CN" i="1" dirty="0">
                <a:solidFill>
                  <a:srgbClr val="FF0000"/>
                </a:solidFill>
              </a:rPr>
              <a:t>join</a:t>
            </a:r>
            <a:r>
              <a:rPr lang="zh-CN" altLang="en-US" i="1" dirty="0">
                <a:solidFill>
                  <a:srgbClr val="FF0000"/>
                </a:solidFill>
              </a:rPr>
              <a:t>（并）</a:t>
            </a:r>
            <a:r>
              <a:rPr lang="zh-CN" altLang="en-US" dirty="0">
                <a:solidFill>
                  <a:srgbClr val="FF0000"/>
                </a:solidFill>
              </a:rPr>
              <a:t> </a:t>
            </a:r>
            <a:r>
              <a:rPr lang="en-US" altLang="zh-CN" dirty="0"/>
              <a:t>of a and b.</a:t>
            </a:r>
          </a:p>
          <a:p>
            <a:pPr lvl="1" algn="just" eaLnBrk="1" hangingPunct="1">
              <a:lnSpc>
                <a:spcPct val="150000"/>
              </a:lnSpc>
            </a:pPr>
            <a:r>
              <a:rPr lang="en-US" altLang="zh-CN" dirty="0"/>
              <a:t>denote  GLB({</a:t>
            </a:r>
            <a:r>
              <a:rPr lang="en-US" altLang="zh-CN" dirty="0" err="1"/>
              <a:t>a,b</a:t>
            </a:r>
            <a:r>
              <a:rPr lang="en-US" altLang="zh-CN" dirty="0"/>
              <a:t>}) by </a:t>
            </a:r>
            <a:r>
              <a:rPr lang="en-US" altLang="zh-CN" dirty="0" err="1"/>
              <a:t>a∧b</a:t>
            </a:r>
            <a:r>
              <a:rPr lang="en-US" altLang="zh-CN" dirty="0"/>
              <a:t> and call it the </a:t>
            </a:r>
            <a:r>
              <a:rPr lang="en-US" altLang="zh-CN" i="1" dirty="0">
                <a:solidFill>
                  <a:srgbClr val="FF0000"/>
                </a:solidFill>
              </a:rPr>
              <a:t>meet</a:t>
            </a:r>
            <a:r>
              <a:rPr lang="zh-CN" altLang="en-US" i="1" dirty="0">
                <a:solidFill>
                  <a:srgbClr val="FF0000"/>
                </a:solidFill>
              </a:rPr>
              <a:t>（交） </a:t>
            </a:r>
            <a:r>
              <a:rPr lang="en-US" altLang="zh-CN" dirty="0"/>
              <a:t>of a and b.</a:t>
            </a:r>
          </a:p>
          <a:p>
            <a:pPr marL="0" indent="0" eaLnBrk="1" hangingPunct="1">
              <a:lnSpc>
                <a:spcPct val="150000"/>
              </a:lnSpc>
              <a:buNone/>
            </a:pPr>
            <a:endParaRPr lang="en-US" altLang="zh-CN" sz="2800" dirty="0"/>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2217082"/>
          </a:xfrm>
          <a:prstGeom prst="rect">
            <a:avLst/>
          </a:prstGeom>
          <a:noFill/>
        </p:spPr>
        <p:txBody>
          <a:bodyPr wrap="square" rtlCol="0">
            <a:spAutoFit/>
          </a:bodyPr>
          <a:lstStyle/>
          <a:p>
            <a:pPr>
              <a:lnSpc>
                <a:spcPct val="150000"/>
              </a:lnSpc>
            </a:pPr>
            <a:r>
              <a:rPr lang="en-US" altLang="zh-CN" sz="3200" dirty="0"/>
              <a:t>9.6.5 Lattices</a:t>
            </a:r>
            <a:endParaRPr lang="zh-CN" altLang="en-US" sz="3200" dirty="0"/>
          </a:p>
          <a:p>
            <a:pPr>
              <a:lnSpc>
                <a:spcPct val="150000"/>
              </a:lnSpc>
            </a:pPr>
            <a:endParaRPr lang="en-US" altLang="zh-CN" sz="3200" dirty="0"/>
          </a:p>
          <a:p>
            <a:pPr>
              <a:lnSpc>
                <a:spcPct val="150000"/>
              </a:lnSpc>
            </a:pPr>
            <a:endParaRPr lang="en-US" altLang="zh-CN" sz="3200" dirty="0"/>
          </a:p>
        </p:txBody>
      </p:sp>
      <p:sp>
        <p:nvSpPr>
          <p:cNvPr id="5" name="Rectangle 3"/>
          <p:cNvSpPr txBox="1">
            <a:spLocks noChangeArrowheads="1"/>
          </p:cNvSpPr>
          <p:nvPr/>
        </p:nvSpPr>
        <p:spPr bwMode="auto">
          <a:xfrm>
            <a:off x="181042" y="862972"/>
            <a:ext cx="1144855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21:</a:t>
            </a:r>
          </a:p>
          <a:p>
            <a:pPr lvl="1">
              <a:lnSpc>
                <a:spcPct val="150000"/>
              </a:lnSpc>
              <a:buClrTx/>
              <a:buFont typeface="Wingdings" panose="05000000000000000000" pitchFamily="2" charset="2"/>
              <a:buChar char="l"/>
            </a:pPr>
            <a:r>
              <a:rPr lang="en-US" altLang="zh-CN" sz="2400" dirty="0"/>
              <a:t>Determine whether the posets represented by each of the Hasse diagrams in Figures  are lattices.</a:t>
            </a:r>
          </a:p>
        </p:txBody>
      </p:sp>
      <p:pic>
        <p:nvPicPr>
          <p:cNvPr id="3" name="图片 2"/>
          <p:cNvPicPr>
            <a:picLocks noChangeAspect="1"/>
          </p:cNvPicPr>
          <p:nvPr/>
        </p:nvPicPr>
        <p:blipFill rotWithShape="1">
          <a:blip r:embed="rId3"/>
          <a:srcRect b="13824"/>
          <a:stretch>
            <a:fillRect/>
          </a:stretch>
        </p:blipFill>
        <p:spPr>
          <a:xfrm>
            <a:off x="2917650" y="3143882"/>
            <a:ext cx="5975338" cy="3322645"/>
          </a:xfrm>
          <a:prstGeom prst="rect">
            <a:avLst/>
          </a:prstGeom>
        </p:spPr>
      </p:pic>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2217082"/>
          </a:xfrm>
          <a:prstGeom prst="rect">
            <a:avLst/>
          </a:prstGeom>
          <a:noFill/>
        </p:spPr>
        <p:txBody>
          <a:bodyPr wrap="square" rtlCol="0">
            <a:spAutoFit/>
          </a:bodyPr>
          <a:lstStyle/>
          <a:p>
            <a:pPr>
              <a:lnSpc>
                <a:spcPct val="150000"/>
              </a:lnSpc>
            </a:pPr>
            <a:r>
              <a:rPr lang="en-US" altLang="zh-CN" sz="3200" dirty="0"/>
              <a:t>9.6.5 Lattices</a:t>
            </a:r>
            <a:endParaRPr lang="zh-CN" altLang="en-US" sz="3200" dirty="0"/>
          </a:p>
          <a:p>
            <a:pPr>
              <a:lnSpc>
                <a:spcPct val="150000"/>
              </a:lnSpc>
            </a:pPr>
            <a:endParaRPr lang="en-US" altLang="zh-CN" sz="3200" dirty="0"/>
          </a:p>
          <a:p>
            <a:pPr>
              <a:lnSpc>
                <a:spcPct val="150000"/>
              </a:lnSpc>
            </a:pPr>
            <a:endParaRPr lang="en-US" altLang="zh-CN" sz="3200" dirty="0"/>
          </a:p>
        </p:txBody>
      </p:sp>
      <p:sp>
        <p:nvSpPr>
          <p:cNvPr id="5" name="Rectangle 3"/>
          <p:cNvSpPr txBox="1">
            <a:spLocks noChangeArrowheads="1"/>
          </p:cNvSpPr>
          <p:nvPr/>
        </p:nvSpPr>
        <p:spPr bwMode="auto">
          <a:xfrm>
            <a:off x="181042" y="862972"/>
            <a:ext cx="11448554" cy="6362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Solution:</a:t>
            </a:r>
            <a:endParaRPr lang="en-US" altLang="zh-CN" sz="2800" dirty="0"/>
          </a:p>
          <a:p>
            <a:pPr lvl="1">
              <a:lnSpc>
                <a:spcPct val="150000"/>
              </a:lnSpc>
              <a:buClrTx/>
              <a:buFont typeface="Wingdings" panose="05000000000000000000" pitchFamily="2" charset="2"/>
              <a:buChar char="l"/>
            </a:pPr>
            <a:r>
              <a:rPr lang="en-US" altLang="zh-CN" sz="2400"/>
              <a:t>The posets represented by the Hasse diagrams in (a) and (c) are both lattices because in each poset every pair of elements has both a least upper bound and a greatest lower bound, as the reader should verify. </a:t>
            </a:r>
          </a:p>
          <a:p>
            <a:pPr lvl="1">
              <a:lnSpc>
                <a:spcPct val="150000"/>
              </a:lnSpc>
              <a:buClrTx/>
              <a:buFont typeface="Wingdings" panose="05000000000000000000" pitchFamily="2" charset="2"/>
              <a:buChar char="l"/>
            </a:pPr>
            <a:r>
              <a:rPr lang="en-US" altLang="zh-CN" sz="2400"/>
              <a:t>On the other hand, the poset with the Hasse diagram shown in (b) is not a lattice, because the elements b and c have no least upper bound. </a:t>
            </a:r>
          </a:p>
          <a:p>
            <a:pPr lvl="1">
              <a:lnSpc>
                <a:spcPct val="150000"/>
              </a:lnSpc>
              <a:buClrTx/>
              <a:buFont typeface="Wingdings" panose="05000000000000000000" pitchFamily="2" charset="2"/>
              <a:buChar char="l"/>
            </a:pPr>
            <a:r>
              <a:rPr lang="en-US" altLang="zh-CN" sz="2400"/>
              <a:t>To see this, note that each of the elements d, e, and f is an upper bound, but none of these three elements precedes the other two with respect to the ordering of this poset.</a:t>
            </a:r>
            <a:endParaRPr lang="en-US" altLang="zh-CN" sz="2400" dirty="0"/>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2217082"/>
          </a:xfrm>
          <a:prstGeom prst="rect">
            <a:avLst/>
          </a:prstGeom>
          <a:noFill/>
        </p:spPr>
        <p:txBody>
          <a:bodyPr wrap="square" rtlCol="0">
            <a:spAutoFit/>
          </a:bodyPr>
          <a:lstStyle/>
          <a:p>
            <a:pPr>
              <a:lnSpc>
                <a:spcPct val="150000"/>
              </a:lnSpc>
            </a:pPr>
            <a:r>
              <a:rPr lang="en-US" altLang="zh-CN" sz="3200"/>
              <a:t>9.6.5 Lattices</a:t>
            </a:r>
            <a:endParaRPr lang="zh-CN" altLang="en-US" sz="3200"/>
          </a:p>
          <a:p>
            <a:pPr>
              <a:lnSpc>
                <a:spcPct val="150000"/>
              </a:lnSpc>
            </a:pPr>
            <a:endParaRPr lang="en-US" altLang="zh-CN" sz="3200"/>
          </a:p>
          <a:p>
            <a:pPr>
              <a:lnSpc>
                <a:spcPct val="150000"/>
              </a:lnSpc>
            </a:pPr>
            <a:endParaRPr lang="en-US" altLang="zh-CN" sz="3200" dirty="0"/>
          </a:p>
        </p:txBody>
      </p:sp>
      <p:sp>
        <p:nvSpPr>
          <p:cNvPr id="38" name="Rectangle 3"/>
          <p:cNvSpPr txBox="1">
            <a:spLocks noChangeArrowheads="1"/>
          </p:cNvSpPr>
          <p:nvPr/>
        </p:nvSpPr>
        <p:spPr bwMode="auto">
          <a:xfrm>
            <a:off x="323064" y="1012968"/>
            <a:ext cx="1122202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22:</a:t>
            </a:r>
          </a:p>
          <a:p>
            <a:pPr lvl="1">
              <a:lnSpc>
                <a:spcPct val="150000"/>
              </a:lnSpc>
              <a:buClrTx/>
              <a:buFont typeface="Wingdings" panose="05000000000000000000" pitchFamily="2" charset="2"/>
              <a:buChar char="l"/>
            </a:pPr>
            <a:r>
              <a:rPr lang="en-US" altLang="zh-CN" sz="2400" dirty="0"/>
              <a:t>Is the poset (Z+, ∣) a lattice?</a:t>
            </a:r>
          </a:p>
          <a:p>
            <a:pPr>
              <a:lnSpc>
                <a:spcPct val="150000"/>
              </a:lnSpc>
              <a:buFont typeface="Wingdings" panose="05000000000000000000" pitchFamily="2" charset="2"/>
              <a:buChar char="l"/>
            </a:pPr>
            <a:r>
              <a:rPr lang="en-US" altLang="zh-CN" sz="2800" dirty="0"/>
              <a:t>Solution:</a:t>
            </a:r>
          </a:p>
          <a:p>
            <a:pPr lvl="1">
              <a:lnSpc>
                <a:spcPct val="150000"/>
              </a:lnSpc>
              <a:buClrTx/>
              <a:buFont typeface="Wingdings" panose="05000000000000000000" pitchFamily="2" charset="2"/>
              <a:buChar char="l"/>
            </a:pPr>
            <a:r>
              <a:rPr lang="en-US" altLang="zh-CN" sz="2400" dirty="0"/>
              <a:t>Let a and b be two positive integers. The least upper bound and greatest lower bound of these two integers are the least common multiple and the greatest common divisor of these integers, respectively, as the reader should verify. It follows that this poset is a lattice.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xEl>
                                              <p:pRg st="3" end="3"/>
                                            </p:txEl>
                                          </p:spTgt>
                                        </p:tgtEl>
                                        <p:attrNameLst>
                                          <p:attrName>style.visibility</p:attrName>
                                        </p:attrNameLst>
                                      </p:cBhvr>
                                      <p:to>
                                        <p:strVal val="visible"/>
                                      </p:to>
                                    </p:set>
                                    <p:animEffect transition="in" filter="fade">
                                      <p:cBhvr>
                                        <p:cTn id="7" dur="500"/>
                                        <p:tgtEl>
                                          <p:spTgt spid="38">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
                                            <p:txEl>
                                              <p:pRg st="2" end="2"/>
                                            </p:txEl>
                                          </p:spTgt>
                                        </p:tgtEl>
                                        <p:attrNameLst>
                                          <p:attrName>style.visibility</p:attrName>
                                        </p:attrNameLst>
                                      </p:cBhvr>
                                      <p:to>
                                        <p:strVal val="visible"/>
                                      </p:to>
                                    </p:set>
                                    <p:animEffect transition="in" filter="fade">
                                      <p:cBhvr>
                                        <p:cTn id="12" dur="500"/>
                                        <p:tgtEl>
                                          <p:spTgt spid="3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2217082"/>
          </a:xfrm>
          <a:prstGeom prst="rect">
            <a:avLst/>
          </a:prstGeom>
          <a:noFill/>
        </p:spPr>
        <p:txBody>
          <a:bodyPr wrap="square" rtlCol="0">
            <a:spAutoFit/>
          </a:bodyPr>
          <a:lstStyle/>
          <a:p>
            <a:pPr>
              <a:lnSpc>
                <a:spcPct val="150000"/>
              </a:lnSpc>
            </a:pPr>
            <a:r>
              <a:rPr lang="en-US" altLang="zh-CN" sz="3200"/>
              <a:t>9.6.5 Lattices</a:t>
            </a:r>
            <a:endParaRPr lang="zh-CN" altLang="en-US" sz="3200"/>
          </a:p>
          <a:p>
            <a:pPr>
              <a:lnSpc>
                <a:spcPct val="150000"/>
              </a:lnSpc>
            </a:pPr>
            <a:endParaRPr lang="en-US" altLang="zh-CN" sz="3200"/>
          </a:p>
          <a:p>
            <a:pPr>
              <a:lnSpc>
                <a:spcPct val="150000"/>
              </a:lnSpc>
            </a:pPr>
            <a:endParaRPr lang="en-US" altLang="zh-CN" sz="3200" dirty="0"/>
          </a:p>
        </p:txBody>
      </p:sp>
      <p:sp>
        <p:nvSpPr>
          <p:cNvPr id="38" name="Rectangle 3"/>
          <p:cNvSpPr txBox="1">
            <a:spLocks noChangeArrowheads="1"/>
          </p:cNvSpPr>
          <p:nvPr/>
        </p:nvSpPr>
        <p:spPr bwMode="auto">
          <a:xfrm>
            <a:off x="323064" y="1012968"/>
            <a:ext cx="11658890" cy="6209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23:</a:t>
            </a:r>
          </a:p>
          <a:p>
            <a:pPr lvl="1">
              <a:lnSpc>
                <a:spcPct val="150000"/>
              </a:lnSpc>
              <a:buClrTx/>
              <a:buFont typeface="Wingdings" panose="05000000000000000000" pitchFamily="2" charset="2"/>
              <a:buChar char="l"/>
            </a:pPr>
            <a:r>
              <a:rPr lang="en-US" altLang="zh-CN" sz="2400" dirty="0"/>
              <a:t>Determine whether the posets ({1, 2, 3, 4, 5}, ∣) and ({1, 2, 4, 8, 16}, ∣) are lattices.</a:t>
            </a:r>
          </a:p>
          <a:p>
            <a:pPr>
              <a:lnSpc>
                <a:spcPct val="150000"/>
              </a:lnSpc>
              <a:buFont typeface="Wingdings" panose="05000000000000000000" pitchFamily="2" charset="2"/>
              <a:buChar char="l"/>
            </a:pPr>
            <a:r>
              <a:rPr lang="en-US" altLang="zh-CN" sz="2800" dirty="0"/>
              <a:t>Solution:</a:t>
            </a:r>
          </a:p>
          <a:p>
            <a:pPr lvl="1">
              <a:lnSpc>
                <a:spcPct val="150000"/>
              </a:lnSpc>
              <a:buClrTx/>
              <a:buFont typeface="Wingdings" panose="05000000000000000000" pitchFamily="2" charset="2"/>
              <a:buChar char="l"/>
            </a:pPr>
            <a:r>
              <a:rPr lang="en-US" altLang="zh-CN" sz="2400" dirty="0"/>
              <a:t>Because 2 and 3 have no upper bounds in ({1, 2, 3, 4, 5}, ∣), they certainly do not have a least upper bound. </a:t>
            </a:r>
          </a:p>
          <a:p>
            <a:pPr lvl="1">
              <a:lnSpc>
                <a:spcPct val="150000"/>
              </a:lnSpc>
              <a:buClrTx/>
              <a:buFont typeface="Wingdings" panose="05000000000000000000" pitchFamily="2" charset="2"/>
              <a:buChar char="l"/>
            </a:pPr>
            <a:r>
              <a:rPr lang="en-US" altLang="zh-CN" sz="2400" dirty="0"/>
              <a:t>Hence, the first poset is not a lattice. Every two elements of the second poset have both a least upper bound and a greatest lower bound.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xEl>
                                              <p:pRg st="3" end="3"/>
                                            </p:txEl>
                                          </p:spTgt>
                                        </p:tgtEl>
                                        <p:attrNameLst>
                                          <p:attrName>style.visibility</p:attrName>
                                        </p:attrNameLst>
                                      </p:cBhvr>
                                      <p:to>
                                        <p:strVal val="visible"/>
                                      </p:to>
                                    </p:set>
                                    <p:animEffect transition="in" filter="fade">
                                      <p:cBhvr>
                                        <p:cTn id="7" dur="500"/>
                                        <p:tgtEl>
                                          <p:spTgt spid="38">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8">
                                            <p:txEl>
                                              <p:pRg st="4" end="4"/>
                                            </p:txEl>
                                          </p:spTgt>
                                        </p:tgtEl>
                                        <p:attrNameLst>
                                          <p:attrName>style.visibility</p:attrName>
                                        </p:attrNameLst>
                                      </p:cBhvr>
                                      <p:to>
                                        <p:strVal val="visible"/>
                                      </p:to>
                                    </p:set>
                                    <p:animEffect transition="in" filter="fade">
                                      <p:cBhvr>
                                        <p:cTn id="10" dur="500"/>
                                        <p:tgtEl>
                                          <p:spTgt spid="38">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8">
                                            <p:txEl>
                                              <p:pRg st="2" end="2"/>
                                            </p:txEl>
                                          </p:spTgt>
                                        </p:tgtEl>
                                        <p:attrNameLst>
                                          <p:attrName>style.visibility</p:attrName>
                                        </p:attrNameLst>
                                      </p:cBhvr>
                                      <p:to>
                                        <p:strVal val="visible"/>
                                      </p:to>
                                    </p:set>
                                    <p:animEffect transition="in" filter="fade">
                                      <p:cBhvr>
                                        <p:cTn id="15" dur="500"/>
                                        <p:tgtEl>
                                          <p:spTgt spid="3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2217082"/>
          </a:xfrm>
          <a:prstGeom prst="rect">
            <a:avLst/>
          </a:prstGeom>
          <a:noFill/>
        </p:spPr>
        <p:txBody>
          <a:bodyPr wrap="square" rtlCol="0">
            <a:spAutoFit/>
          </a:bodyPr>
          <a:lstStyle/>
          <a:p>
            <a:pPr>
              <a:lnSpc>
                <a:spcPct val="150000"/>
              </a:lnSpc>
            </a:pPr>
            <a:r>
              <a:rPr lang="en-US" altLang="zh-CN" sz="3200"/>
              <a:t>9.6.5 Lattices</a:t>
            </a:r>
            <a:endParaRPr lang="zh-CN" altLang="en-US" sz="3200"/>
          </a:p>
          <a:p>
            <a:pPr>
              <a:lnSpc>
                <a:spcPct val="150000"/>
              </a:lnSpc>
            </a:pPr>
            <a:endParaRPr lang="en-US" altLang="zh-CN" sz="3200"/>
          </a:p>
          <a:p>
            <a:pPr>
              <a:lnSpc>
                <a:spcPct val="150000"/>
              </a:lnSpc>
            </a:pPr>
            <a:endParaRPr lang="en-US" altLang="zh-CN" sz="3200" dirty="0"/>
          </a:p>
        </p:txBody>
      </p:sp>
      <p:sp>
        <p:nvSpPr>
          <p:cNvPr id="38" name="Rectangle 3"/>
          <p:cNvSpPr txBox="1">
            <a:spLocks noChangeArrowheads="1"/>
          </p:cNvSpPr>
          <p:nvPr/>
        </p:nvSpPr>
        <p:spPr bwMode="auto">
          <a:xfrm>
            <a:off x="323064" y="1012968"/>
            <a:ext cx="11658890" cy="6209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Solution:</a:t>
            </a:r>
          </a:p>
          <a:p>
            <a:pPr lvl="1">
              <a:lnSpc>
                <a:spcPct val="150000"/>
              </a:lnSpc>
              <a:buClrTx/>
              <a:buFont typeface="Wingdings" panose="05000000000000000000" pitchFamily="2" charset="2"/>
              <a:buChar char="l"/>
            </a:pPr>
            <a:r>
              <a:rPr lang="en-US" altLang="zh-CN" sz="2400"/>
              <a:t>The </a:t>
            </a:r>
            <a:r>
              <a:rPr lang="en-US" altLang="zh-CN" sz="2400" dirty="0"/>
              <a:t>least upper bound of two elements in this poset is the larger of the elements </a:t>
            </a:r>
            <a:r>
              <a:rPr lang="en-US" altLang="zh-CN" sz="2400"/>
              <a:t>and the greatest </a:t>
            </a:r>
            <a:r>
              <a:rPr lang="en-US" altLang="zh-CN" sz="2400" dirty="0"/>
              <a:t>lower bound of two elements is the smaller of the </a:t>
            </a:r>
            <a:r>
              <a:rPr lang="en-US" altLang="zh-CN" sz="2400"/>
              <a:t>elements, as  </a:t>
            </a:r>
            <a:r>
              <a:rPr lang="en-US" altLang="zh-CN" sz="2400" dirty="0"/>
              <a:t>the reader should verify</a:t>
            </a:r>
            <a:r>
              <a:rPr lang="en-US" altLang="zh-CN" sz="2400"/>
              <a:t>. </a:t>
            </a:r>
          </a:p>
          <a:p>
            <a:pPr lvl="1">
              <a:lnSpc>
                <a:spcPct val="150000"/>
              </a:lnSpc>
              <a:buClrTx/>
              <a:buFont typeface="Wingdings" panose="05000000000000000000" pitchFamily="2" charset="2"/>
              <a:buChar char="l"/>
            </a:pPr>
            <a:r>
              <a:rPr lang="en-US" altLang="zh-CN" sz="2400"/>
              <a:t>Hence</a:t>
            </a:r>
            <a:r>
              <a:rPr lang="en-US" altLang="zh-CN" sz="2400" dirty="0"/>
              <a:t>, this second poset is a lattice.</a:t>
            </a:r>
          </a:p>
          <a:p>
            <a:pPr lvl="1">
              <a:lnSpc>
                <a:spcPct val="150000"/>
              </a:lnSpc>
              <a:buClrTx/>
              <a:buFont typeface="Wingdings" panose="05000000000000000000" pitchFamily="2" charset="2"/>
              <a:buChar char="l"/>
            </a:pPr>
            <a:endParaRPr lang="en-US" altLang="zh-CN" sz="24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2217082"/>
          </a:xfrm>
          <a:prstGeom prst="rect">
            <a:avLst/>
          </a:prstGeom>
          <a:noFill/>
        </p:spPr>
        <p:txBody>
          <a:bodyPr wrap="square" rtlCol="0">
            <a:spAutoFit/>
          </a:bodyPr>
          <a:lstStyle/>
          <a:p>
            <a:pPr>
              <a:lnSpc>
                <a:spcPct val="150000"/>
              </a:lnSpc>
            </a:pPr>
            <a:r>
              <a:rPr lang="en-US" altLang="zh-CN" sz="3200"/>
              <a:t>9.6.5 Lattices</a:t>
            </a:r>
            <a:endParaRPr lang="zh-CN" altLang="en-US" sz="3200"/>
          </a:p>
          <a:p>
            <a:pPr>
              <a:lnSpc>
                <a:spcPct val="150000"/>
              </a:lnSpc>
            </a:pPr>
            <a:endParaRPr lang="en-US" altLang="zh-CN" sz="3200"/>
          </a:p>
          <a:p>
            <a:pPr>
              <a:lnSpc>
                <a:spcPct val="150000"/>
              </a:lnSpc>
            </a:pPr>
            <a:endParaRPr lang="en-US" altLang="zh-CN" sz="3200" dirty="0"/>
          </a:p>
        </p:txBody>
      </p:sp>
      <p:sp>
        <p:nvSpPr>
          <p:cNvPr id="38" name="Rectangle 3"/>
          <p:cNvSpPr txBox="1">
            <a:spLocks noChangeArrowheads="1"/>
          </p:cNvSpPr>
          <p:nvPr/>
        </p:nvSpPr>
        <p:spPr bwMode="auto">
          <a:xfrm>
            <a:off x="323064" y="1012968"/>
            <a:ext cx="1122202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24:</a:t>
            </a:r>
          </a:p>
          <a:p>
            <a:pPr lvl="1">
              <a:lnSpc>
                <a:spcPct val="150000"/>
              </a:lnSpc>
              <a:buClrTx/>
              <a:buFont typeface="Wingdings" panose="05000000000000000000" pitchFamily="2" charset="2"/>
              <a:buChar char="l"/>
            </a:pPr>
            <a:r>
              <a:rPr lang="en-US" altLang="zh-CN" sz="2400" dirty="0"/>
              <a:t>Determine whether (P(S),⊆) is a lattice where S is a set.</a:t>
            </a:r>
          </a:p>
          <a:p>
            <a:pPr>
              <a:lnSpc>
                <a:spcPct val="150000"/>
              </a:lnSpc>
              <a:buFont typeface="Wingdings" panose="05000000000000000000" pitchFamily="2" charset="2"/>
              <a:buChar char="l"/>
            </a:pPr>
            <a:r>
              <a:rPr lang="en-US" altLang="zh-CN" sz="2800" dirty="0"/>
              <a:t>Solution:</a:t>
            </a:r>
          </a:p>
          <a:p>
            <a:pPr lvl="1">
              <a:lnSpc>
                <a:spcPct val="150000"/>
              </a:lnSpc>
              <a:buClrTx/>
              <a:buFont typeface="Wingdings" panose="05000000000000000000" pitchFamily="2" charset="2"/>
              <a:buChar char="l"/>
            </a:pPr>
            <a:r>
              <a:rPr lang="en-US" altLang="zh-CN" sz="2400" dirty="0"/>
              <a:t>Let A and B be two subsets of S. The least upper bound and the greatest lower bound of A and B are A ∪ B and A ∩ B, respectively, as the reader can show. Hence, (P(S),⊆) is a lattice.</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p:cNvSpPr txBox="1"/>
          <p:nvPr/>
        </p:nvSpPr>
        <p:spPr>
          <a:xfrm>
            <a:off x="210046" y="0"/>
            <a:ext cx="11056470" cy="2217082"/>
          </a:xfrm>
          <a:prstGeom prst="rect">
            <a:avLst/>
          </a:prstGeom>
          <a:noFill/>
        </p:spPr>
        <p:txBody>
          <a:bodyPr wrap="square" rtlCol="0">
            <a:spAutoFit/>
          </a:bodyPr>
          <a:lstStyle/>
          <a:p>
            <a:pPr>
              <a:lnSpc>
                <a:spcPct val="150000"/>
              </a:lnSpc>
            </a:pPr>
            <a:r>
              <a:rPr lang="en-US" altLang="zh-CN" sz="3200"/>
              <a:t>9.6.5 Lattices</a:t>
            </a:r>
            <a:endParaRPr lang="zh-CN" altLang="en-US" sz="3200"/>
          </a:p>
          <a:p>
            <a:pPr>
              <a:lnSpc>
                <a:spcPct val="150000"/>
              </a:lnSpc>
            </a:pPr>
            <a:endParaRPr lang="en-US" altLang="zh-CN" sz="3200"/>
          </a:p>
          <a:p>
            <a:pPr>
              <a:lnSpc>
                <a:spcPct val="150000"/>
              </a:lnSpc>
            </a:pPr>
            <a:endParaRPr lang="en-US" altLang="zh-CN" sz="3200" dirty="0"/>
          </a:p>
        </p:txBody>
      </p:sp>
      <p:sp>
        <p:nvSpPr>
          <p:cNvPr id="4" name="Rectangle 3"/>
          <p:cNvSpPr txBox="1">
            <a:spLocks noChangeArrowheads="1"/>
          </p:cNvSpPr>
          <p:nvPr/>
        </p:nvSpPr>
        <p:spPr bwMode="auto">
          <a:xfrm>
            <a:off x="210046" y="973212"/>
            <a:ext cx="1122202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25:</a:t>
            </a:r>
          </a:p>
          <a:p>
            <a:pPr lvl="1">
              <a:lnSpc>
                <a:spcPct val="150000"/>
              </a:lnSpc>
              <a:buClrTx/>
              <a:buFont typeface="Wingdings" panose="05000000000000000000" pitchFamily="2" charset="2"/>
              <a:buChar char="l"/>
            </a:pPr>
            <a:r>
              <a:rPr lang="en-US" altLang="zh-CN" sz="2400" dirty="0"/>
              <a:t>The Lattice Model of Information Flow</a:t>
            </a:r>
          </a:p>
          <a:p>
            <a:pPr lvl="2">
              <a:lnSpc>
                <a:spcPct val="150000"/>
              </a:lnSpc>
              <a:buClrTx/>
              <a:buFont typeface="Wingdings" panose="05000000000000000000" pitchFamily="2" charset="2"/>
              <a:buChar char="l"/>
            </a:pPr>
            <a:r>
              <a:rPr lang="en-US" altLang="zh-CN" sz="2000" dirty="0"/>
              <a:t> In many settings the flow of information from one person or computer program to another is restricted via security clearances. We can use a lattice model to represent different information flow policies. For example, one common information flow policy is the multilevel security policy used in government and military systems. Each piece of information is assigned to a security class, and each security class is represented by a pair (A, C) where A is an authority level and C is a category. People and computer programs are then allowed access to information from a specific restricted set of security classes.</a:t>
            </a: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2217082"/>
          </a:xfrm>
          <a:prstGeom prst="rect">
            <a:avLst/>
          </a:prstGeom>
          <a:noFill/>
        </p:spPr>
        <p:txBody>
          <a:bodyPr wrap="square" rtlCol="0">
            <a:spAutoFit/>
          </a:bodyPr>
          <a:lstStyle/>
          <a:p>
            <a:pPr>
              <a:lnSpc>
                <a:spcPct val="150000"/>
              </a:lnSpc>
            </a:pPr>
            <a:r>
              <a:rPr lang="en-US" altLang="zh-CN" sz="3200" dirty="0"/>
              <a:t>9.6.5 Lattices - Theorem 1</a:t>
            </a:r>
          </a:p>
          <a:p>
            <a:pPr>
              <a:lnSpc>
                <a:spcPct val="150000"/>
              </a:lnSpc>
            </a:pPr>
            <a:endParaRPr lang="zh-CN" altLang="en-US" sz="3200" dirty="0"/>
          </a:p>
          <a:p>
            <a:pPr>
              <a:lnSpc>
                <a:spcPct val="150000"/>
              </a:lnSpc>
            </a:pPr>
            <a:endParaRPr lang="en-US" altLang="zh-CN" sz="3200" dirty="0"/>
          </a:p>
        </p:txBody>
      </p:sp>
      <p:sp>
        <p:nvSpPr>
          <p:cNvPr id="58" name="Rectangle 3"/>
          <p:cNvSpPr txBox="1">
            <a:spLocks noChangeArrowheads="1"/>
          </p:cNvSpPr>
          <p:nvPr/>
        </p:nvSpPr>
        <p:spPr bwMode="auto">
          <a:xfrm>
            <a:off x="210046" y="1482684"/>
            <a:ext cx="1144855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gn="just" eaLnBrk="1" hangingPunct="1">
              <a:lnSpc>
                <a:spcPct val="150000"/>
              </a:lnSpc>
            </a:pPr>
            <a:r>
              <a:rPr lang="en-US" altLang="zh-CN" dirty="0"/>
              <a:t>Let </a:t>
            </a:r>
            <a:r>
              <a:rPr lang="en-US" altLang="zh-CN" i="1" dirty="0"/>
              <a:t>L</a:t>
            </a:r>
            <a:r>
              <a:rPr lang="en-US" altLang="zh-CN" dirty="0"/>
              <a:t> be a lattice</a:t>
            </a:r>
            <a:r>
              <a:rPr lang="zh-CN" altLang="en-US" dirty="0"/>
              <a:t>（格）</a:t>
            </a:r>
            <a:r>
              <a:rPr lang="en-US" altLang="zh-CN" dirty="0"/>
              <a:t>.  Then for every </a:t>
            </a:r>
            <a:r>
              <a:rPr lang="en-US" altLang="zh-CN" i="1" dirty="0"/>
              <a:t>a</a:t>
            </a:r>
            <a:r>
              <a:rPr lang="en-US" altLang="zh-CN" dirty="0"/>
              <a:t> and </a:t>
            </a:r>
            <a:r>
              <a:rPr lang="en-US" altLang="zh-CN" i="1" dirty="0"/>
              <a:t>b</a:t>
            </a:r>
            <a:r>
              <a:rPr lang="en-US" altLang="zh-CN" dirty="0"/>
              <a:t> in </a:t>
            </a:r>
            <a:r>
              <a:rPr lang="en-US" altLang="zh-CN" i="1" dirty="0"/>
              <a:t>L</a:t>
            </a:r>
            <a:r>
              <a:rPr lang="en-US" altLang="zh-CN" dirty="0"/>
              <a:t>,</a:t>
            </a:r>
          </a:p>
          <a:p>
            <a:pPr lvl="1" algn="just" eaLnBrk="1" hangingPunct="1">
              <a:lnSpc>
                <a:spcPct val="150000"/>
              </a:lnSpc>
            </a:pPr>
            <a:r>
              <a:rPr lang="en-US" altLang="zh-CN" i="1" dirty="0" err="1"/>
              <a:t>a</a:t>
            </a:r>
            <a:r>
              <a:rPr lang="en-US" altLang="zh-CN" dirty="0" err="1"/>
              <a:t>∨</a:t>
            </a:r>
            <a:r>
              <a:rPr lang="en-US" altLang="zh-CN" i="1" dirty="0" err="1"/>
              <a:t>b</a:t>
            </a:r>
            <a:r>
              <a:rPr lang="en-US" altLang="zh-CN" dirty="0"/>
              <a:t> = </a:t>
            </a:r>
            <a:r>
              <a:rPr lang="en-US" altLang="zh-CN" i="1" dirty="0"/>
              <a:t>b</a:t>
            </a:r>
            <a:r>
              <a:rPr lang="en-US" altLang="zh-CN" dirty="0"/>
              <a:t>  if and only if  </a:t>
            </a:r>
            <a:r>
              <a:rPr lang="en-US" altLang="zh-CN" i="1" dirty="0" err="1"/>
              <a:t>a</a:t>
            </a:r>
            <a:r>
              <a:rPr lang="en-US" altLang="zh-CN" dirty="0" err="1"/>
              <a:t>≤</a:t>
            </a:r>
            <a:r>
              <a:rPr lang="en-US" altLang="zh-CN" i="1" dirty="0" err="1"/>
              <a:t>b</a:t>
            </a:r>
            <a:r>
              <a:rPr lang="en-US" altLang="zh-CN" dirty="0"/>
              <a:t>.</a:t>
            </a:r>
          </a:p>
          <a:p>
            <a:pPr lvl="1" algn="just" eaLnBrk="1" hangingPunct="1">
              <a:lnSpc>
                <a:spcPct val="150000"/>
              </a:lnSpc>
            </a:pPr>
            <a:r>
              <a:rPr lang="en-US" altLang="zh-CN" i="1" dirty="0" err="1"/>
              <a:t>a</a:t>
            </a:r>
            <a:r>
              <a:rPr lang="en-US" altLang="zh-CN" dirty="0" err="1"/>
              <a:t>∧</a:t>
            </a:r>
            <a:r>
              <a:rPr lang="en-US" altLang="zh-CN" i="1" dirty="0" err="1"/>
              <a:t>b</a:t>
            </a:r>
            <a:r>
              <a:rPr lang="en-US" altLang="zh-CN" dirty="0"/>
              <a:t> = </a:t>
            </a:r>
            <a:r>
              <a:rPr lang="en-US" altLang="zh-CN" i="1" dirty="0"/>
              <a:t>a</a:t>
            </a:r>
            <a:r>
              <a:rPr lang="en-US" altLang="zh-CN" dirty="0"/>
              <a:t>  if and only if  </a:t>
            </a:r>
            <a:r>
              <a:rPr lang="en-US" altLang="zh-CN" i="1" dirty="0" err="1"/>
              <a:t>a</a:t>
            </a:r>
            <a:r>
              <a:rPr lang="en-US" altLang="zh-CN" dirty="0" err="1"/>
              <a:t>≤</a:t>
            </a:r>
            <a:r>
              <a:rPr lang="en-US" altLang="zh-CN" i="1" dirty="0" err="1"/>
              <a:t>b</a:t>
            </a:r>
            <a:r>
              <a:rPr lang="en-US" altLang="zh-CN" dirty="0"/>
              <a:t>.</a:t>
            </a:r>
          </a:p>
          <a:p>
            <a:pPr lvl="1" eaLnBrk="1" hangingPunct="1">
              <a:lnSpc>
                <a:spcPct val="150000"/>
              </a:lnSpc>
            </a:pPr>
            <a:r>
              <a:rPr lang="en-US" altLang="zh-CN" i="1" dirty="0" err="1"/>
              <a:t>a</a:t>
            </a:r>
            <a:r>
              <a:rPr lang="en-US" altLang="zh-CN" dirty="0" err="1"/>
              <a:t>∧</a:t>
            </a:r>
            <a:r>
              <a:rPr lang="en-US" altLang="zh-CN" i="1" dirty="0" err="1"/>
              <a:t>b</a:t>
            </a:r>
            <a:r>
              <a:rPr lang="en-US" altLang="zh-CN" dirty="0"/>
              <a:t> = </a:t>
            </a:r>
            <a:r>
              <a:rPr lang="en-US" altLang="zh-CN" i="1" dirty="0"/>
              <a:t>a</a:t>
            </a:r>
            <a:r>
              <a:rPr lang="en-US" altLang="zh-CN" dirty="0"/>
              <a:t>  if and only if  </a:t>
            </a:r>
            <a:r>
              <a:rPr lang="en-US" altLang="zh-CN" i="1" dirty="0" err="1"/>
              <a:t>a</a:t>
            </a:r>
            <a:r>
              <a:rPr lang="en-US" altLang="zh-CN" dirty="0" err="1"/>
              <a:t>∨</a:t>
            </a:r>
            <a:r>
              <a:rPr lang="en-US" altLang="zh-CN" i="1" dirty="0" err="1"/>
              <a:t>b</a:t>
            </a:r>
            <a:r>
              <a:rPr lang="en-US" altLang="zh-CN" dirty="0"/>
              <a:t> = </a:t>
            </a:r>
            <a:r>
              <a:rPr lang="en-US" altLang="zh-CN" i="1" dirty="0"/>
              <a:t>b</a:t>
            </a:r>
            <a:r>
              <a:rPr lang="en-US" altLang="zh-CN" dirty="0"/>
              <a:t> </a:t>
            </a: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1481816"/>
          </a:xfrm>
          <a:prstGeom prst="rect">
            <a:avLst/>
          </a:prstGeom>
          <a:noFill/>
        </p:spPr>
        <p:txBody>
          <a:bodyPr wrap="square" rtlCol="0">
            <a:spAutoFit/>
          </a:bodyPr>
          <a:lstStyle/>
          <a:p>
            <a:pPr>
              <a:lnSpc>
                <a:spcPct val="150000"/>
              </a:lnSpc>
            </a:pPr>
            <a:r>
              <a:rPr lang="en-US" altLang="zh-CN" sz="3200" dirty="0"/>
              <a:t>9.6.5 Lattices – Proof </a:t>
            </a:r>
          </a:p>
          <a:p>
            <a:pPr>
              <a:lnSpc>
                <a:spcPct val="150000"/>
              </a:lnSpc>
            </a:pPr>
            <a:r>
              <a:rPr lang="en-US" altLang="zh-CN" sz="3200" dirty="0"/>
              <a:t>Proof of a∨b = b  if and only if  </a:t>
            </a:r>
            <a:r>
              <a:rPr lang="en-US" altLang="zh-CN" sz="3200" dirty="0" err="1"/>
              <a:t>a≤b</a:t>
            </a:r>
            <a:r>
              <a:rPr lang="en-US" altLang="zh-CN" sz="3200" dirty="0"/>
              <a:t>.</a:t>
            </a:r>
            <a:endParaRPr lang="zh-CN" altLang="en-US" sz="3200" dirty="0"/>
          </a:p>
        </p:txBody>
      </p:sp>
      <p:sp>
        <p:nvSpPr>
          <p:cNvPr id="58" name="Rectangle 3"/>
          <p:cNvSpPr txBox="1">
            <a:spLocks noChangeArrowheads="1"/>
          </p:cNvSpPr>
          <p:nvPr/>
        </p:nvSpPr>
        <p:spPr bwMode="auto">
          <a:xfrm>
            <a:off x="210046" y="1169193"/>
            <a:ext cx="1144855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sz="2800" dirty="0">
                <a:sym typeface="Symbol" panose="05050102010706020507" pitchFamily="18" charset="2"/>
              </a:rPr>
              <a:t> only if</a:t>
            </a:r>
          </a:p>
          <a:p>
            <a:pPr lvl="1" eaLnBrk="1" hangingPunct="1">
              <a:lnSpc>
                <a:spcPct val="150000"/>
              </a:lnSpc>
            </a:pPr>
            <a:r>
              <a:rPr lang="en-US" altLang="zh-CN" sz="2000" dirty="0"/>
              <a:t>Suppose </a:t>
            </a:r>
            <a:r>
              <a:rPr lang="en-US" altLang="zh-CN" sz="2000" i="1" dirty="0" err="1"/>
              <a:t>a</a:t>
            </a:r>
            <a:r>
              <a:rPr lang="en-US" altLang="zh-CN" sz="2000" dirty="0" err="1"/>
              <a:t>∨</a:t>
            </a:r>
            <a:r>
              <a:rPr lang="en-US" altLang="zh-CN" sz="2000" i="1" dirty="0" err="1"/>
              <a:t>b</a:t>
            </a:r>
            <a:r>
              <a:rPr lang="en-US" altLang="zh-CN" sz="2000" dirty="0"/>
              <a:t> = </a:t>
            </a:r>
            <a:r>
              <a:rPr lang="en-US" altLang="zh-CN" sz="2000" i="1" dirty="0"/>
              <a:t>b</a:t>
            </a:r>
            <a:r>
              <a:rPr lang="en-US" altLang="zh-CN" sz="2000" dirty="0"/>
              <a:t>, so </a:t>
            </a:r>
            <a:r>
              <a:rPr lang="en-US" altLang="zh-CN" sz="2000" i="1" dirty="0" err="1"/>
              <a:t>a</a:t>
            </a:r>
            <a:r>
              <a:rPr lang="en-US" altLang="zh-CN" sz="2000" dirty="0" err="1"/>
              <a:t>∨</a:t>
            </a:r>
            <a:r>
              <a:rPr lang="en-US" altLang="zh-CN" sz="2000" i="1" dirty="0" err="1"/>
              <a:t>b</a:t>
            </a:r>
            <a:r>
              <a:rPr lang="en-US" altLang="zh-CN" sz="2000" dirty="0"/>
              <a:t> ≤ </a:t>
            </a:r>
            <a:r>
              <a:rPr lang="en-US" altLang="zh-CN" sz="2000" i="1" dirty="0"/>
              <a:t>b</a:t>
            </a:r>
            <a:r>
              <a:rPr lang="en-US" altLang="zh-CN" sz="2000" dirty="0"/>
              <a:t> (reflexive)</a:t>
            </a:r>
            <a:endParaRPr lang="en-US" altLang="zh-CN" sz="2000" i="1" dirty="0"/>
          </a:p>
          <a:p>
            <a:pPr lvl="1" eaLnBrk="1" hangingPunct="1">
              <a:lnSpc>
                <a:spcPct val="150000"/>
              </a:lnSpc>
            </a:pPr>
            <a:r>
              <a:rPr lang="en-US" altLang="zh-CN" sz="2000" i="1" dirty="0" err="1"/>
              <a:t>a</a:t>
            </a:r>
            <a:r>
              <a:rPr lang="en-US" altLang="zh-CN" sz="2000" dirty="0" err="1"/>
              <a:t>∨</a:t>
            </a:r>
            <a:r>
              <a:rPr lang="en-US" altLang="zh-CN" sz="2000" i="1" dirty="0" err="1"/>
              <a:t>b</a:t>
            </a:r>
            <a:r>
              <a:rPr lang="en-US" altLang="zh-CN" sz="2000" dirty="0"/>
              <a:t> is an upper bound of </a:t>
            </a:r>
            <a:r>
              <a:rPr lang="en-US" altLang="zh-CN" sz="2000" i="1" dirty="0"/>
              <a:t>a </a:t>
            </a:r>
            <a:r>
              <a:rPr lang="en-US" altLang="zh-CN" sz="2000" dirty="0"/>
              <a:t>and </a:t>
            </a:r>
            <a:r>
              <a:rPr lang="en-US" altLang="zh-CN" sz="2000" i="1" dirty="0"/>
              <a:t>b</a:t>
            </a:r>
            <a:r>
              <a:rPr lang="en-US" altLang="zh-CN" sz="2000" dirty="0"/>
              <a:t>, so </a:t>
            </a:r>
            <a:r>
              <a:rPr lang="en-US" altLang="zh-CN" sz="2000" i="1" dirty="0"/>
              <a:t>a </a:t>
            </a:r>
            <a:r>
              <a:rPr lang="en-US" altLang="zh-CN" sz="2000" dirty="0"/>
              <a:t>≤ </a:t>
            </a:r>
            <a:r>
              <a:rPr lang="en-US" altLang="zh-CN" sz="2000" i="1" dirty="0" err="1"/>
              <a:t>a</a:t>
            </a:r>
            <a:r>
              <a:rPr lang="en-US" altLang="zh-CN" sz="2000" dirty="0" err="1"/>
              <a:t>∨</a:t>
            </a:r>
            <a:r>
              <a:rPr lang="en-US" altLang="zh-CN" sz="2000" i="1" dirty="0" err="1"/>
              <a:t>b</a:t>
            </a:r>
            <a:endParaRPr lang="en-US" altLang="zh-CN" sz="2000" i="1" dirty="0"/>
          </a:p>
          <a:p>
            <a:pPr lvl="1" eaLnBrk="1" hangingPunct="1">
              <a:lnSpc>
                <a:spcPct val="150000"/>
              </a:lnSpc>
            </a:pPr>
            <a:r>
              <a:rPr lang="en-US" altLang="zh-CN" sz="2400" dirty="0">
                <a:sym typeface="Symbol" panose="05050102010706020507" pitchFamily="18" charset="2"/>
              </a:rPr>
              <a:t>So, </a:t>
            </a:r>
            <a:r>
              <a:rPr lang="en-US" altLang="zh-CN" sz="2000" i="1" dirty="0"/>
              <a:t>a </a:t>
            </a:r>
            <a:r>
              <a:rPr lang="en-US" altLang="zh-CN" sz="2000" dirty="0"/>
              <a:t>≤ </a:t>
            </a:r>
            <a:r>
              <a:rPr lang="en-US" altLang="zh-CN" sz="2000" i="1" dirty="0"/>
              <a:t>b </a:t>
            </a:r>
            <a:r>
              <a:rPr lang="en-US" altLang="zh-CN" sz="2000" dirty="0"/>
              <a:t>(transitive)</a:t>
            </a:r>
            <a:endParaRPr lang="en-US" altLang="zh-CN" sz="2400" dirty="0">
              <a:sym typeface="Symbol" panose="05050102010706020507" pitchFamily="18" charset="2"/>
            </a:endParaRPr>
          </a:p>
          <a:p>
            <a:pPr eaLnBrk="1" hangingPunct="1">
              <a:lnSpc>
                <a:spcPct val="150000"/>
              </a:lnSpc>
            </a:pPr>
            <a:r>
              <a:rPr lang="en-US" altLang="zh-CN" sz="2800" dirty="0">
                <a:sym typeface="Symbol" panose="05050102010706020507" pitchFamily="18" charset="2"/>
              </a:rPr>
              <a:t> if</a:t>
            </a:r>
          </a:p>
          <a:p>
            <a:pPr lvl="1" eaLnBrk="1" hangingPunct="1">
              <a:lnSpc>
                <a:spcPct val="150000"/>
              </a:lnSpc>
            </a:pPr>
            <a:r>
              <a:rPr lang="en-US" altLang="zh-CN" sz="2000" dirty="0"/>
              <a:t>Suppose </a:t>
            </a:r>
            <a:r>
              <a:rPr lang="en-US" altLang="zh-CN" sz="2000" i="1" dirty="0" err="1"/>
              <a:t>a</a:t>
            </a:r>
            <a:r>
              <a:rPr lang="en-US" altLang="zh-CN" sz="2000" dirty="0" err="1"/>
              <a:t>≤</a:t>
            </a:r>
            <a:r>
              <a:rPr lang="en-US" altLang="zh-CN" sz="2000" i="1" dirty="0" err="1"/>
              <a:t>b</a:t>
            </a:r>
            <a:endParaRPr lang="en-US" altLang="zh-CN" sz="2000" dirty="0"/>
          </a:p>
          <a:p>
            <a:pPr lvl="1" eaLnBrk="1" hangingPunct="1">
              <a:lnSpc>
                <a:spcPct val="150000"/>
              </a:lnSpc>
            </a:pPr>
            <a:r>
              <a:rPr lang="en-US" altLang="zh-CN" sz="2000" i="1" dirty="0" err="1"/>
              <a:t>b</a:t>
            </a:r>
            <a:r>
              <a:rPr lang="en-US" altLang="zh-CN" sz="2000" dirty="0" err="1"/>
              <a:t>≤</a:t>
            </a:r>
            <a:r>
              <a:rPr lang="en-US" altLang="zh-CN" sz="2000" i="1" dirty="0" err="1"/>
              <a:t>b</a:t>
            </a:r>
            <a:r>
              <a:rPr lang="en-US" altLang="zh-CN" sz="2000" i="1" dirty="0"/>
              <a:t> </a:t>
            </a:r>
            <a:r>
              <a:rPr lang="en-US" altLang="zh-CN" sz="2000" dirty="0"/>
              <a:t>(reflexive), </a:t>
            </a:r>
            <a:r>
              <a:rPr lang="en-US" altLang="zh-CN" sz="2000" i="1" dirty="0"/>
              <a:t>b</a:t>
            </a:r>
            <a:r>
              <a:rPr lang="en-US" altLang="zh-CN" sz="2000" dirty="0"/>
              <a:t> is an upper bound of </a:t>
            </a:r>
            <a:r>
              <a:rPr lang="en-US" altLang="zh-CN" sz="2000" i="1" dirty="0"/>
              <a:t>a </a:t>
            </a:r>
            <a:r>
              <a:rPr lang="en-US" altLang="zh-CN" sz="2000" dirty="0"/>
              <a:t>and </a:t>
            </a:r>
            <a:r>
              <a:rPr lang="en-US" altLang="zh-CN" sz="2000" i="1" dirty="0"/>
              <a:t>b</a:t>
            </a:r>
          </a:p>
          <a:p>
            <a:pPr lvl="1" eaLnBrk="1" hangingPunct="1">
              <a:lnSpc>
                <a:spcPct val="150000"/>
              </a:lnSpc>
            </a:pPr>
            <a:r>
              <a:rPr lang="en-US" altLang="zh-CN" sz="2000" dirty="0"/>
              <a:t>So </a:t>
            </a:r>
            <a:r>
              <a:rPr lang="en-US" altLang="zh-CN" sz="2000" i="1" dirty="0" err="1"/>
              <a:t>a</a:t>
            </a:r>
            <a:r>
              <a:rPr lang="en-US" altLang="zh-CN" sz="2000" dirty="0" err="1">
                <a:latin typeface="宋体" pitchFamily="2" charset="-122"/>
              </a:rPr>
              <a:t>∨</a:t>
            </a:r>
            <a:r>
              <a:rPr lang="en-US" altLang="zh-CN" sz="2000" i="1" dirty="0" err="1"/>
              <a:t>b</a:t>
            </a:r>
            <a:r>
              <a:rPr lang="en-US" altLang="zh-CN" sz="2000" dirty="0" err="1">
                <a:latin typeface="宋体" pitchFamily="2" charset="-122"/>
              </a:rPr>
              <a:t>≤</a:t>
            </a:r>
            <a:r>
              <a:rPr lang="en-US" altLang="zh-CN" sz="2000" i="1" dirty="0" err="1"/>
              <a:t>b</a:t>
            </a:r>
            <a:r>
              <a:rPr lang="en-US" altLang="zh-CN" sz="2000" dirty="0"/>
              <a:t> (by definition of </a:t>
            </a:r>
            <a:r>
              <a:rPr lang="en-US" altLang="zh-CN" sz="2000" dirty="0" err="1"/>
              <a:t>lub</a:t>
            </a:r>
            <a:r>
              <a:rPr lang="en-US" altLang="zh-CN" sz="2000" dirty="0"/>
              <a:t>)</a:t>
            </a:r>
          </a:p>
          <a:p>
            <a:pPr lvl="1" eaLnBrk="1" hangingPunct="1">
              <a:lnSpc>
                <a:spcPct val="150000"/>
              </a:lnSpc>
            </a:pPr>
            <a:r>
              <a:rPr lang="en-US" altLang="zh-CN" sz="2000" dirty="0"/>
              <a:t>But, </a:t>
            </a:r>
            <a:r>
              <a:rPr lang="en-US" altLang="zh-CN" sz="2000" i="1" dirty="0" err="1"/>
              <a:t>b</a:t>
            </a:r>
            <a:r>
              <a:rPr lang="en-US" altLang="zh-CN" sz="2000" dirty="0" err="1">
                <a:latin typeface="宋体" pitchFamily="2" charset="-122"/>
              </a:rPr>
              <a:t>≤</a:t>
            </a:r>
            <a:r>
              <a:rPr lang="en-US" altLang="zh-CN" sz="2000" i="1" dirty="0" err="1"/>
              <a:t>a</a:t>
            </a:r>
            <a:r>
              <a:rPr lang="en-US" altLang="zh-CN" sz="2000" dirty="0" err="1">
                <a:latin typeface="宋体" pitchFamily="2" charset="-122"/>
              </a:rPr>
              <a:t>∨</a:t>
            </a:r>
            <a:r>
              <a:rPr lang="en-US" altLang="zh-CN" sz="2000" i="1" dirty="0" err="1"/>
              <a:t>b</a:t>
            </a:r>
            <a:r>
              <a:rPr lang="en-US" altLang="zh-CN" sz="2000" dirty="0"/>
              <a:t> (by definition of </a:t>
            </a:r>
            <a:r>
              <a:rPr lang="en-US" altLang="zh-CN" sz="2000" dirty="0" err="1"/>
              <a:t>lub</a:t>
            </a:r>
            <a:r>
              <a:rPr lang="en-US" altLang="zh-CN" sz="2000" dirty="0"/>
              <a:t>)</a:t>
            </a:r>
          </a:p>
          <a:p>
            <a:pPr lvl="1" eaLnBrk="1" hangingPunct="1">
              <a:lnSpc>
                <a:spcPct val="150000"/>
              </a:lnSpc>
            </a:pPr>
            <a:r>
              <a:rPr lang="en-US" altLang="zh-CN" sz="2000" dirty="0"/>
              <a:t>Therefore, </a:t>
            </a:r>
            <a:r>
              <a:rPr lang="en-US" altLang="zh-CN" sz="2000" i="1" dirty="0" err="1"/>
              <a:t>a</a:t>
            </a:r>
            <a:r>
              <a:rPr lang="en-US" altLang="zh-CN" sz="2000" dirty="0" err="1">
                <a:latin typeface="宋体" pitchFamily="2" charset="-122"/>
              </a:rPr>
              <a:t>∨</a:t>
            </a:r>
            <a:r>
              <a:rPr lang="en-US" altLang="zh-CN" sz="2000" i="1" dirty="0" err="1"/>
              <a:t>b</a:t>
            </a:r>
            <a:r>
              <a:rPr lang="en-US" altLang="zh-CN" sz="2000" i="1" dirty="0"/>
              <a:t> </a:t>
            </a:r>
            <a:r>
              <a:rPr lang="en-US" altLang="zh-CN" sz="2000" dirty="0">
                <a:latin typeface="宋体" pitchFamily="2" charset="-122"/>
              </a:rPr>
              <a:t>= </a:t>
            </a:r>
            <a:r>
              <a:rPr lang="en-US" altLang="zh-CN" sz="2000" i="1" dirty="0"/>
              <a:t>b</a:t>
            </a:r>
            <a:r>
              <a:rPr lang="en-US" altLang="zh-CN" sz="2000" dirty="0"/>
              <a:t> (antisymmetric)</a:t>
            </a: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9.6.5 Lattices - Theorem 2</a:t>
            </a:r>
            <a:endParaRPr lang="zh-CN" altLang="en-US" sz="3200" dirty="0"/>
          </a:p>
        </p:txBody>
      </p:sp>
      <p:sp>
        <p:nvSpPr>
          <p:cNvPr id="58" name="Rectangle 3"/>
          <p:cNvSpPr txBox="1">
            <a:spLocks noChangeArrowheads="1"/>
          </p:cNvSpPr>
          <p:nvPr/>
        </p:nvSpPr>
        <p:spPr bwMode="auto">
          <a:xfrm>
            <a:off x="210046" y="739754"/>
            <a:ext cx="1144855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gn="just" eaLnBrk="1" hangingPunct="1">
              <a:lnSpc>
                <a:spcPct val="150000"/>
              </a:lnSpc>
            </a:pPr>
            <a:r>
              <a:rPr lang="en-US" altLang="zh-CN" sz="2800" dirty="0"/>
              <a:t>Let L be a lattice.  Then </a:t>
            </a:r>
          </a:p>
          <a:p>
            <a:pPr lvl="1" algn="just" eaLnBrk="1" hangingPunct="1">
              <a:lnSpc>
                <a:spcPct val="150000"/>
              </a:lnSpc>
            </a:pPr>
            <a:r>
              <a:rPr lang="en-US" altLang="zh-CN" dirty="0"/>
              <a:t>Idempotent </a:t>
            </a:r>
            <a:r>
              <a:rPr lang="en-US" altLang="zh-CN"/>
              <a:t>Properties</a:t>
            </a:r>
            <a:r>
              <a:rPr lang="zh-CN" altLang="en-US"/>
              <a:t>（幂等律</a:t>
            </a:r>
            <a:r>
              <a:rPr lang="zh-CN" altLang="en-US" dirty="0"/>
              <a:t>）</a:t>
            </a:r>
          </a:p>
          <a:p>
            <a:pPr lvl="2" algn="just" eaLnBrk="1" hangingPunct="1">
              <a:lnSpc>
                <a:spcPct val="150000"/>
              </a:lnSpc>
            </a:pPr>
            <a:r>
              <a:rPr lang="en-US" altLang="zh-CN" dirty="0"/>
              <a:t>(a) </a:t>
            </a:r>
            <a:r>
              <a:rPr lang="en-US" altLang="zh-CN" dirty="0" err="1"/>
              <a:t>a</a:t>
            </a:r>
            <a:r>
              <a:rPr lang="en-US" altLang="zh-CN" dirty="0" err="1">
                <a:latin typeface="宋体" pitchFamily="2" charset="-122"/>
              </a:rPr>
              <a:t>∨</a:t>
            </a:r>
            <a:r>
              <a:rPr lang="en-US" altLang="zh-CN" dirty="0" err="1"/>
              <a:t>a</a:t>
            </a:r>
            <a:r>
              <a:rPr lang="en-US" altLang="zh-CN" dirty="0"/>
              <a:t> = a</a:t>
            </a:r>
          </a:p>
          <a:p>
            <a:pPr lvl="2" algn="just" eaLnBrk="1" hangingPunct="1">
              <a:lnSpc>
                <a:spcPct val="150000"/>
              </a:lnSpc>
            </a:pPr>
            <a:r>
              <a:rPr lang="en-US" altLang="zh-CN" dirty="0"/>
              <a:t>(b) </a:t>
            </a:r>
            <a:r>
              <a:rPr lang="en-US" altLang="zh-CN" dirty="0" err="1"/>
              <a:t>a</a:t>
            </a:r>
            <a:r>
              <a:rPr lang="en-US" altLang="zh-CN" dirty="0" err="1">
                <a:latin typeface="宋体" pitchFamily="2" charset="-122"/>
              </a:rPr>
              <a:t>∧</a:t>
            </a:r>
            <a:r>
              <a:rPr lang="en-US" altLang="zh-CN" dirty="0" err="1"/>
              <a:t>a</a:t>
            </a:r>
            <a:r>
              <a:rPr lang="en-US" altLang="zh-CN" dirty="0"/>
              <a:t> = a</a:t>
            </a:r>
          </a:p>
          <a:p>
            <a:pPr lvl="1" algn="just" eaLnBrk="1" hangingPunct="1">
              <a:lnSpc>
                <a:spcPct val="150000"/>
              </a:lnSpc>
            </a:pPr>
            <a:r>
              <a:rPr lang="en-US" altLang="zh-CN" dirty="0"/>
              <a:t>Commutative Properties</a:t>
            </a:r>
            <a:r>
              <a:rPr lang="zh-CN" altLang="en-US" dirty="0"/>
              <a:t>（交换律）</a:t>
            </a:r>
          </a:p>
          <a:p>
            <a:pPr lvl="2" algn="just" eaLnBrk="1" hangingPunct="1">
              <a:lnSpc>
                <a:spcPct val="150000"/>
              </a:lnSpc>
            </a:pPr>
            <a:r>
              <a:rPr lang="en-US" altLang="zh-CN" dirty="0"/>
              <a:t>(a) </a:t>
            </a:r>
            <a:r>
              <a:rPr lang="en-US" altLang="zh-CN" dirty="0" err="1"/>
              <a:t>a</a:t>
            </a:r>
            <a:r>
              <a:rPr lang="en-US" altLang="zh-CN" dirty="0" err="1">
                <a:latin typeface="宋体" pitchFamily="2" charset="-122"/>
              </a:rPr>
              <a:t>∨</a:t>
            </a:r>
            <a:r>
              <a:rPr lang="en-US" altLang="zh-CN" dirty="0" err="1"/>
              <a:t>b</a:t>
            </a:r>
            <a:r>
              <a:rPr lang="en-US" altLang="zh-CN" dirty="0"/>
              <a:t> = </a:t>
            </a:r>
            <a:r>
              <a:rPr lang="en-US" altLang="zh-CN" dirty="0" err="1"/>
              <a:t>b</a:t>
            </a:r>
            <a:r>
              <a:rPr lang="en-US" altLang="zh-CN" dirty="0" err="1">
                <a:latin typeface="宋体" pitchFamily="2" charset="-122"/>
              </a:rPr>
              <a:t>∨</a:t>
            </a:r>
            <a:r>
              <a:rPr lang="en-US" altLang="zh-CN" dirty="0" err="1"/>
              <a:t>a</a:t>
            </a:r>
            <a:endParaRPr lang="en-US" altLang="zh-CN" dirty="0"/>
          </a:p>
          <a:p>
            <a:pPr lvl="2" algn="just" eaLnBrk="1" hangingPunct="1">
              <a:lnSpc>
                <a:spcPct val="150000"/>
              </a:lnSpc>
            </a:pPr>
            <a:r>
              <a:rPr lang="en-US" altLang="zh-CN" dirty="0"/>
              <a:t>(b) </a:t>
            </a:r>
            <a:r>
              <a:rPr lang="en-US" altLang="zh-CN" dirty="0" err="1"/>
              <a:t>a</a:t>
            </a:r>
            <a:r>
              <a:rPr lang="en-US" altLang="zh-CN" dirty="0" err="1">
                <a:latin typeface="宋体" pitchFamily="2" charset="-122"/>
              </a:rPr>
              <a:t>∧</a:t>
            </a:r>
            <a:r>
              <a:rPr lang="en-US" altLang="zh-CN" dirty="0" err="1"/>
              <a:t>b</a:t>
            </a:r>
            <a:r>
              <a:rPr lang="en-US" altLang="zh-CN" dirty="0"/>
              <a:t> = </a:t>
            </a:r>
            <a:r>
              <a:rPr lang="en-US" altLang="zh-CN" dirty="0" err="1"/>
              <a:t>b</a:t>
            </a:r>
            <a:r>
              <a:rPr lang="en-US" altLang="zh-CN" err="1">
                <a:latin typeface="宋体" pitchFamily="2" charset="-122"/>
              </a:rPr>
              <a:t>∧</a:t>
            </a:r>
            <a:r>
              <a:rPr lang="en-US" altLang="zh-CN"/>
              <a:t>a</a:t>
            </a:r>
            <a:endParaRPr lang="en-US" altLang="zh-CN" dirty="0"/>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9.6.5 Lattices - Theorem 2</a:t>
            </a:r>
            <a:endParaRPr lang="zh-CN" altLang="en-US" sz="3200" dirty="0"/>
          </a:p>
        </p:txBody>
      </p:sp>
      <p:sp>
        <p:nvSpPr>
          <p:cNvPr id="58" name="Rectangle 3"/>
          <p:cNvSpPr txBox="1">
            <a:spLocks noChangeArrowheads="1"/>
          </p:cNvSpPr>
          <p:nvPr/>
        </p:nvSpPr>
        <p:spPr bwMode="auto">
          <a:xfrm>
            <a:off x="210046" y="972836"/>
            <a:ext cx="1144855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lvl="1" algn="just" eaLnBrk="1" hangingPunct="1">
              <a:lnSpc>
                <a:spcPct val="150000"/>
              </a:lnSpc>
            </a:pPr>
            <a:r>
              <a:rPr lang="en-US" altLang="zh-CN"/>
              <a:t>Associative </a:t>
            </a:r>
            <a:r>
              <a:rPr lang="en-US" altLang="zh-CN" dirty="0"/>
              <a:t>Properties</a:t>
            </a:r>
            <a:r>
              <a:rPr lang="zh-CN" altLang="en-US" dirty="0"/>
              <a:t>（结合律）</a:t>
            </a:r>
          </a:p>
          <a:p>
            <a:pPr lvl="2" algn="just" eaLnBrk="1" hangingPunct="1">
              <a:lnSpc>
                <a:spcPct val="150000"/>
              </a:lnSpc>
            </a:pPr>
            <a:r>
              <a:rPr lang="en-US" altLang="zh-CN" dirty="0"/>
              <a:t>(a) a</a:t>
            </a:r>
            <a:r>
              <a:rPr lang="en-US" altLang="zh-CN" dirty="0">
                <a:latin typeface="宋体" pitchFamily="2" charset="-122"/>
              </a:rPr>
              <a:t>∨</a:t>
            </a:r>
            <a:r>
              <a:rPr lang="en-US" altLang="zh-CN" dirty="0"/>
              <a:t>(</a:t>
            </a:r>
            <a:r>
              <a:rPr lang="en-US" altLang="zh-CN" dirty="0" err="1"/>
              <a:t>b</a:t>
            </a:r>
            <a:r>
              <a:rPr lang="en-US" altLang="zh-CN" dirty="0" err="1">
                <a:latin typeface="宋体" pitchFamily="2" charset="-122"/>
              </a:rPr>
              <a:t>∨</a:t>
            </a:r>
            <a:r>
              <a:rPr lang="en-US" altLang="zh-CN" dirty="0" err="1"/>
              <a:t>c</a:t>
            </a:r>
            <a:r>
              <a:rPr lang="en-US" altLang="zh-CN" dirty="0"/>
              <a:t>) = (</a:t>
            </a:r>
            <a:r>
              <a:rPr lang="en-US" altLang="zh-CN" dirty="0" err="1"/>
              <a:t>a</a:t>
            </a:r>
            <a:r>
              <a:rPr lang="en-US" altLang="zh-CN" dirty="0" err="1">
                <a:latin typeface="宋体" pitchFamily="2" charset="-122"/>
              </a:rPr>
              <a:t>∨</a:t>
            </a:r>
            <a:r>
              <a:rPr lang="en-US" altLang="zh-CN" dirty="0" err="1"/>
              <a:t>b</a:t>
            </a:r>
            <a:r>
              <a:rPr lang="en-US" altLang="zh-CN" dirty="0"/>
              <a:t>)</a:t>
            </a:r>
            <a:r>
              <a:rPr lang="en-US" altLang="zh-CN" dirty="0">
                <a:latin typeface="宋体" pitchFamily="2" charset="-122"/>
              </a:rPr>
              <a:t>∨</a:t>
            </a:r>
            <a:r>
              <a:rPr lang="en-US" altLang="zh-CN" dirty="0"/>
              <a:t>c</a:t>
            </a:r>
          </a:p>
          <a:p>
            <a:pPr lvl="2" algn="just" eaLnBrk="1" hangingPunct="1">
              <a:lnSpc>
                <a:spcPct val="150000"/>
              </a:lnSpc>
            </a:pPr>
            <a:r>
              <a:rPr lang="en-US" altLang="zh-CN" dirty="0"/>
              <a:t>(b) a</a:t>
            </a:r>
            <a:r>
              <a:rPr lang="en-US" altLang="zh-CN" dirty="0">
                <a:latin typeface="宋体" pitchFamily="2" charset="-122"/>
              </a:rPr>
              <a:t>∧</a:t>
            </a:r>
            <a:r>
              <a:rPr lang="en-US" altLang="zh-CN" dirty="0"/>
              <a:t>(</a:t>
            </a:r>
            <a:r>
              <a:rPr lang="en-US" altLang="zh-CN" dirty="0" err="1"/>
              <a:t>b</a:t>
            </a:r>
            <a:r>
              <a:rPr lang="en-US" altLang="zh-CN" dirty="0" err="1">
                <a:latin typeface="宋体" pitchFamily="2" charset="-122"/>
              </a:rPr>
              <a:t>∧</a:t>
            </a:r>
            <a:r>
              <a:rPr lang="en-US" altLang="zh-CN" dirty="0" err="1"/>
              <a:t>c</a:t>
            </a:r>
            <a:r>
              <a:rPr lang="en-US" altLang="zh-CN" dirty="0"/>
              <a:t>) = (</a:t>
            </a:r>
            <a:r>
              <a:rPr lang="en-US" altLang="zh-CN" dirty="0" err="1"/>
              <a:t>a</a:t>
            </a:r>
            <a:r>
              <a:rPr lang="en-US" altLang="zh-CN" dirty="0" err="1">
                <a:latin typeface="宋体" pitchFamily="2" charset="-122"/>
              </a:rPr>
              <a:t>∧</a:t>
            </a:r>
            <a:r>
              <a:rPr lang="en-US" altLang="zh-CN" dirty="0" err="1"/>
              <a:t>b</a:t>
            </a:r>
            <a:r>
              <a:rPr lang="en-US" altLang="zh-CN" dirty="0"/>
              <a:t>)</a:t>
            </a:r>
            <a:r>
              <a:rPr lang="en-US" altLang="zh-CN" dirty="0">
                <a:latin typeface="宋体" pitchFamily="2" charset="-122"/>
              </a:rPr>
              <a:t> ∧</a:t>
            </a:r>
            <a:r>
              <a:rPr lang="en-US" altLang="zh-CN" dirty="0"/>
              <a:t>c</a:t>
            </a:r>
          </a:p>
          <a:p>
            <a:pPr lvl="1" algn="just" eaLnBrk="1" hangingPunct="1">
              <a:lnSpc>
                <a:spcPct val="150000"/>
              </a:lnSpc>
            </a:pPr>
            <a:r>
              <a:rPr lang="en-US" altLang="zh-CN" dirty="0"/>
              <a:t>Absorption Properties</a:t>
            </a:r>
            <a:r>
              <a:rPr lang="zh-CN" altLang="en-US" dirty="0"/>
              <a:t>（吸收律）</a:t>
            </a:r>
          </a:p>
          <a:p>
            <a:pPr lvl="2" algn="just" eaLnBrk="1" hangingPunct="1">
              <a:lnSpc>
                <a:spcPct val="150000"/>
              </a:lnSpc>
            </a:pPr>
            <a:r>
              <a:rPr lang="en-US" altLang="zh-CN" dirty="0"/>
              <a:t>(a) a</a:t>
            </a:r>
            <a:r>
              <a:rPr lang="en-US" altLang="zh-CN" dirty="0">
                <a:latin typeface="宋体" pitchFamily="2" charset="-122"/>
              </a:rPr>
              <a:t>∨</a:t>
            </a:r>
            <a:r>
              <a:rPr lang="en-US" altLang="zh-CN" dirty="0"/>
              <a:t>(</a:t>
            </a:r>
            <a:r>
              <a:rPr lang="en-US" altLang="zh-CN" dirty="0" err="1"/>
              <a:t>a</a:t>
            </a:r>
            <a:r>
              <a:rPr lang="en-US" altLang="zh-CN" dirty="0" err="1">
                <a:latin typeface="宋体" pitchFamily="2" charset="-122"/>
              </a:rPr>
              <a:t>∧</a:t>
            </a:r>
            <a:r>
              <a:rPr lang="en-US" altLang="zh-CN" dirty="0" err="1"/>
              <a:t>b</a:t>
            </a:r>
            <a:r>
              <a:rPr lang="en-US" altLang="zh-CN" dirty="0"/>
              <a:t>) = a</a:t>
            </a:r>
          </a:p>
          <a:p>
            <a:pPr lvl="2" eaLnBrk="1" hangingPunct="1">
              <a:lnSpc>
                <a:spcPct val="150000"/>
              </a:lnSpc>
            </a:pPr>
            <a:r>
              <a:rPr lang="en-US" altLang="zh-CN" dirty="0"/>
              <a:t>(b) a</a:t>
            </a:r>
            <a:r>
              <a:rPr lang="en-US" altLang="zh-CN" dirty="0">
                <a:latin typeface="宋体" pitchFamily="2" charset="-122"/>
              </a:rPr>
              <a:t>∧</a:t>
            </a:r>
            <a:r>
              <a:rPr lang="en-US" altLang="zh-CN" dirty="0"/>
              <a:t>(</a:t>
            </a:r>
            <a:r>
              <a:rPr lang="en-US" altLang="zh-CN" dirty="0" err="1"/>
              <a:t>a</a:t>
            </a:r>
            <a:r>
              <a:rPr lang="en-US" altLang="zh-CN" dirty="0" err="1">
                <a:latin typeface="宋体" pitchFamily="2" charset="-122"/>
              </a:rPr>
              <a:t>∨</a:t>
            </a:r>
            <a:r>
              <a:rPr lang="en-US" altLang="zh-CN" dirty="0" err="1"/>
              <a:t>b</a:t>
            </a:r>
            <a:r>
              <a:rPr lang="en-US" altLang="zh-CN" dirty="0"/>
              <a:t>) = a</a:t>
            </a:r>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9.6.5 Lattices - Theorem 3</a:t>
            </a:r>
            <a:endParaRPr lang="zh-CN" altLang="en-US" sz="3200" dirty="0"/>
          </a:p>
        </p:txBody>
      </p:sp>
      <p:sp>
        <p:nvSpPr>
          <p:cNvPr id="58" name="Rectangle 3"/>
          <p:cNvSpPr txBox="1">
            <a:spLocks noChangeArrowheads="1"/>
          </p:cNvSpPr>
          <p:nvPr/>
        </p:nvSpPr>
        <p:spPr bwMode="auto">
          <a:xfrm>
            <a:off x="210046" y="739754"/>
            <a:ext cx="1144855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gn="just" eaLnBrk="1" hangingPunct="1">
              <a:lnSpc>
                <a:spcPct val="150000"/>
              </a:lnSpc>
            </a:pPr>
            <a:r>
              <a:rPr lang="en-US" altLang="zh-CN" sz="2800"/>
              <a:t>Let </a:t>
            </a:r>
            <a:r>
              <a:rPr lang="en-US" altLang="zh-CN" sz="2800" dirty="0"/>
              <a:t>L be a lattice.  Then for every a, b, and c in L,</a:t>
            </a:r>
          </a:p>
          <a:p>
            <a:pPr algn="just" eaLnBrk="1" hangingPunct="1">
              <a:lnSpc>
                <a:spcPct val="150000"/>
              </a:lnSpc>
            </a:pPr>
            <a:r>
              <a:rPr lang="en-US" altLang="zh-CN" sz="2800" dirty="0"/>
              <a:t>If </a:t>
            </a:r>
            <a:r>
              <a:rPr lang="en-US" altLang="zh-CN" sz="2800" dirty="0" err="1"/>
              <a:t>a≤b</a:t>
            </a:r>
            <a:r>
              <a:rPr lang="en-US" altLang="zh-CN" sz="2800" dirty="0"/>
              <a:t>, then</a:t>
            </a:r>
          </a:p>
          <a:p>
            <a:pPr lvl="1" algn="just" eaLnBrk="1" hangingPunct="1">
              <a:lnSpc>
                <a:spcPct val="150000"/>
              </a:lnSpc>
            </a:pPr>
            <a:r>
              <a:rPr lang="en-US" altLang="zh-CN" sz="2400" dirty="0"/>
              <a:t>a</a:t>
            </a:r>
            <a:r>
              <a:rPr lang="en-US" altLang="zh-CN" sz="2400" dirty="0">
                <a:latin typeface="宋体" pitchFamily="2" charset="-122"/>
              </a:rPr>
              <a:t> ∨ </a:t>
            </a:r>
            <a:r>
              <a:rPr lang="en-US" altLang="zh-CN" sz="2400" dirty="0"/>
              <a:t>c ≤ </a:t>
            </a:r>
            <a:r>
              <a:rPr lang="en-US" altLang="zh-CN" sz="2400" dirty="0" err="1"/>
              <a:t>b</a:t>
            </a:r>
            <a:r>
              <a:rPr lang="en-US" altLang="zh-CN" sz="2400" dirty="0" err="1">
                <a:latin typeface="宋体" pitchFamily="2" charset="-122"/>
              </a:rPr>
              <a:t>∨</a:t>
            </a:r>
            <a:r>
              <a:rPr lang="en-US" altLang="zh-CN" sz="2400" dirty="0" err="1"/>
              <a:t>c</a:t>
            </a:r>
            <a:r>
              <a:rPr lang="en-US" altLang="zh-CN" sz="2400" dirty="0"/>
              <a:t>.</a:t>
            </a:r>
          </a:p>
          <a:p>
            <a:pPr lvl="1" algn="just" eaLnBrk="1" hangingPunct="1">
              <a:lnSpc>
                <a:spcPct val="150000"/>
              </a:lnSpc>
            </a:pPr>
            <a:r>
              <a:rPr lang="en-US" altLang="zh-CN" sz="2400" dirty="0" err="1"/>
              <a:t>a</a:t>
            </a:r>
            <a:r>
              <a:rPr lang="en-US" altLang="zh-CN" sz="2400" dirty="0" err="1">
                <a:latin typeface="宋体" pitchFamily="2" charset="-122"/>
              </a:rPr>
              <a:t>∧</a:t>
            </a:r>
            <a:r>
              <a:rPr lang="en-US" altLang="zh-CN" sz="2400" dirty="0" err="1"/>
              <a:t>c</a:t>
            </a:r>
            <a:r>
              <a:rPr lang="en-US" altLang="zh-CN" sz="2400" dirty="0"/>
              <a:t> ≤ </a:t>
            </a:r>
            <a:r>
              <a:rPr lang="en-US" altLang="zh-CN" sz="2400" dirty="0" err="1"/>
              <a:t>b</a:t>
            </a:r>
            <a:r>
              <a:rPr lang="en-US" altLang="zh-CN" sz="2400" dirty="0" err="1">
                <a:latin typeface="宋体" pitchFamily="2" charset="-122"/>
              </a:rPr>
              <a:t>∧</a:t>
            </a:r>
            <a:r>
              <a:rPr lang="en-US" altLang="zh-CN" sz="2400" dirty="0" err="1"/>
              <a:t>c</a:t>
            </a:r>
            <a:r>
              <a:rPr lang="en-US" altLang="zh-CN" sz="2400" dirty="0"/>
              <a:t>.</a:t>
            </a:r>
          </a:p>
          <a:p>
            <a:pPr algn="just" eaLnBrk="1" hangingPunct="1">
              <a:lnSpc>
                <a:spcPct val="150000"/>
              </a:lnSpc>
            </a:pPr>
            <a:r>
              <a:rPr lang="en-US" altLang="zh-CN" sz="2800" dirty="0" err="1"/>
              <a:t>a≤c</a:t>
            </a:r>
            <a:r>
              <a:rPr lang="en-US" altLang="zh-CN" sz="2800" dirty="0"/>
              <a:t> and </a:t>
            </a:r>
            <a:r>
              <a:rPr lang="en-US" altLang="zh-CN" sz="2800" dirty="0" err="1"/>
              <a:t>b≤c</a:t>
            </a:r>
            <a:r>
              <a:rPr lang="en-US" altLang="zh-CN" sz="2800" dirty="0"/>
              <a:t>  if and only if  </a:t>
            </a:r>
            <a:r>
              <a:rPr lang="en-US" altLang="zh-CN" sz="2800" dirty="0" err="1"/>
              <a:t>a</a:t>
            </a:r>
            <a:r>
              <a:rPr lang="en-US" altLang="zh-CN" sz="2800" dirty="0" err="1">
                <a:latin typeface="宋体" pitchFamily="2" charset="-122"/>
              </a:rPr>
              <a:t>∨</a:t>
            </a:r>
            <a:r>
              <a:rPr lang="en-US" altLang="zh-CN" sz="2800" dirty="0" err="1"/>
              <a:t>b≤c</a:t>
            </a:r>
            <a:r>
              <a:rPr lang="en-US" altLang="zh-CN" sz="2800" dirty="0"/>
              <a:t>.</a:t>
            </a:r>
          </a:p>
          <a:p>
            <a:pPr algn="just" eaLnBrk="1" hangingPunct="1">
              <a:lnSpc>
                <a:spcPct val="150000"/>
              </a:lnSpc>
            </a:pPr>
            <a:r>
              <a:rPr lang="en-US" altLang="zh-CN" sz="2800" dirty="0" err="1"/>
              <a:t>c≤a</a:t>
            </a:r>
            <a:r>
              <a:rPr lang="en-US" altLang="zh-CN" sz="2800" dirty="0"/>
              <a:t> and </a:t>
            </a:r>
            <a:r>
              <a:rPr lang="en-US" altLang="zh-CN" sz="2800" dirty="0" err="1"/>
              <a:t>c≤b</a:t>
            </a:r>
            <a:r>
              <a:rPr lang="en-US" altLang="zh-CN" sz="2800" dirty="0"/>
              <a:t>  if and only if  </a:t>
            </a:r>
            <a:r>
              <a:rPr lang="en-US" altLang="zh-CN" sz="2800" dirty="0" err="1"/>
              <a:t>c≤a</a:t>
            </a:r>
            <a:r>
              <a:rPr lang="en-US" altLang="zh-CN" sz="2800" dirty="0" err="1">
                <a:latin typeface="宋体" pitchFamily="2" charset="-122"/>
              </a:rPr>
              <a:t>∧</a:t>
            </a:r>
            <a:r>
              <a:rPr lang="en-US" altLang="zh-CN" sz="2800" dirty="0" err="1"/>
              <a:t>b</a:t>
            </a:r>
            <a:r>
              <a:rPr lang="en-US" altLang="zh-CN" sz="2800" dirty="0"/>
              <a:t>.</a:t>
            </a:r>
          </a:p>
          <a:p>
            <a:pPr algn="just" eaLnBrk="1" hangingPunct="1">
              <a:lnSpc>
                <a:spcPct val="150000"/>
              </a:lnSpc>
            </a:pPr>
            <a:r>
              <a:rPr lang="en-US" altLang="zh-CN" sz="2800" dirty="0"/>
              <a:t>If </a:t>
            </a:r>
            <a:r>
              <a:rPr lang="en-US" altLang="zh-CN" sz="2800" dirty="0" err="1"/>
              <a:t>a≤b</a:t>
            </a:r>
            <a:r>
              <a:rPr lang="en-US" altLang="zh-CN" sz="2800" dirty="0"/>
              <a:t> and </a:t>
            </a:r>
            <a:r>
              <a:rPr lang="en-US" altLang="zh-CN" sz="2800" dirty="0" err="1"/>
              <a:t>c≤d</a:t>
            </a:r>
            <a:r>
              <a:rPr lang="en-US" altLang="zh-CN" sz="2800" dirty="0"/>
              <a:t>, then</a:t>
            </a:r>
          </a:p>
          <a:p>
            <a:pPr lvl="1" algn="just" eaLnBrk="1" hangingPunct="1">
              <a:lnSpc>
                <a:spcPct val="150000"/>
              </a:lnSpc>
            </a:pPr>
            <a:r>
              <a:rPr lang="en-US" altLang="zh-CN" sz="2400" dirty="0" err="1"/>
              <a:t>a</a:t>
            </a:r>
            <a:r>
              <a:rPr lang="en-US" altLang="zh-CN" sz="2400" dirty="0" err="1">
                <a:latin typeface="宋体" pitchFamily="2" charset="-122"/>
              </a:rPr>
              <a:t>∨</a:t>
            </a:r>
            <a:r>
              <a:rPr lang="en-US" altLang="zh-CN" sz="2400" dirty="0" err="1"/>
              <a:t>c</a:t>
            </a:r>
            <a:r>
              <a:rPr lang="en-US" altLang="zh-CN" sz="2400" dirty="0"/>
              <a:t> ≤ </a:t>
            </a:r>
            <a:r>
              <a:rPr lang="en-US" altLang="zh-CN" sz="2400" dirty="0" err="1"/>
              <a:t>b</a:t>
            </a:r>
            <a:r>
              <a:rPr lang="en-US" altLang="zh-CN" sz="2400" dirty="0" err="1">
                <a:latin typeface="宋体" pitchFamily="2" charset="-122"/>
              </a:rPr>
              <a:t>∨</a:t>
            </a:r>
            <a:r>
              <a:rPr lang="en-US" altLang="zh-CN" sz="2400" dirty="0" err="1"/>
              <a:t>d</a:t>
            </a:r>
            <a:r>
              <a:rPr lang="en-US" altLang="zh-CN" sz="2400" dirty="0"/>
              <a:t>.</a:t>
            </a:r>
          </a:p>
          <a:p>
            <a:pPr lvl="1" algn="just" eaLnBrk="1" hangingPunct="1">
              <a:lnSpc>
                <a:spcPct val="150000"/>
              </a:lnSpc>
            </a:pPr>
            <a:r>
              <a:rPr lang="en-US" altLang="zh-CN" sz="2400" dirty="0" err="1"/>
              <a:t>a</a:t>
            </a:r>
            <a:r>
              <a:rPr lang="en-US" altLang="zh-CN" sz="2400" dirty="0" err="1">
                <a:latin typeface="宋体" pitchFamily="2" charset="-122"/>
              </a:rPr>
              <a:t>∧</a:t>
            </a:r>
            <a:r>
              <a:rPr lang="en-US" altLang="zh-CN" sz="2400" dirty="0" err="1"/>
              <a:t>c</a:t>
            </a:r>
            <a:r>
              <a:rPr lang="en-US" altLang="zh-CN" sz="2400" dirty="0"/>
              <a:t> </a:t>
            </a:r>
            <a:r>
              <a:rPr lang="en-US" altLang="zh-CN" sz="2400" dirty="0">
                <a:latin typeface="宋体" pitchFamily="2" charset="-122"/>
              </a:rPr>
              <a:t>≤</a:t>
            </a:r>
            <a:r>
              <a:rPr lang="en-US" altLang="zh-CN" sz="2400" dirty="0"/>
              <a:t> </a:t>
            </a:r>
            <a:r>
              <a:rPr lang="en-US" altLang="zh-CN" sz="2400" dirty="0" err="1"/>
              <a:t>b</a:t>
            </a:r>
            <a:r>
              <a:rPr lang="en-US" altLang="zh-CN" sz="2400" dirty="0" err="1">
                <a:latin typeface="宋体" pitchFamily="2" charset="-122"/>
              </a:rPr>
              <a:t>∧</a:t>
            </a:r>
            <a:r>
              <a:rPr lang="en-US" altLang="zh-CN" sz="2400" dirty="0" err="1"/>
              <a:t>d</a:t>
            </a:r>
            <a:r>
              <a:rPr lang="en-US" altLang="zh-CN" sz="2400" dirty="0"/>
              <a:t>. </a:t>
            </a: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2217082"/>
          </a:xfrm>
          <a:prstGeom prst="rect">
            <a:avLst/>
          </a:prstGeom>
          <a:noFill/>
        </p:spPr>
        <p:txBody>
          <a:bodyPr wrap="square" rtlCol="0">
            <a:spAutoFit/>
          </a:bodyPr>
          <a:lstStyle/>
          <a:p>
            <a:pPr>
              <a:lnSpc>
                <a:spcPct val="150000"/>
              </a:lnSpc>
            </a:pPr>
            <a:r>
              <a:rPr lang="en-US" altLang="zh-CN" sz="3200" dirty="0"/>
              <a:t>9.6.5 Lattices - Proof of 3. (a) </a:t>
            </a:r>
          </a:p>
          <a:p>
            <a:pPr>
              <a:lnSpc>
                <a:spcPct val="150000"/>
              </a:lnSpc>
            </a:pPr>
            <a:endParaRPr lang="zh-CN" altLang="en-US" sz="3200" dirty="0"/>
          </a:p>
          <a:p>
            <a:pPr>
              <a:lnSpc>
                <a:spcPct val="150000"/>
              </a:lnSpc>
            </a:pPr>
            <a:endParaRPr lang="en-US" altLang="zh-CN" sz="3200" dirty="0"/>
          </a:p>
        </p:txBody>
      </p:sp>
      <p:sp>
        <p:nvSpPr>
          <p:cNvPr id="58" name="Rectangle 3"/>
          <p:cNvSpPr txBox="1">
            <a:spLocks noChangeArrowheads="1"/>
          </p:cNvSpPr>
          <p:nvPr/>
        </p:nvSpPr>
        <p:spPr bwMode="auto">
          <a:xfrm>
            <a:off x="210046" y="813008"/>
            <a:ext cx="1144855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sz="2800" dirty="0"/>
              <a:t>Since </a:t>
            </a:r>
            <a:r>
              <a:rPr lang="en-US" altLang="zh-CN" sz="2800" dirty="0" err="1"/>
              <a:t>a</a:t>
            </a:r>
            <a:r>
              <a:rPr lang="en-US" altLang="zh-CN" sz="2800" dirty="0" err="1">
                <a:latin typeface="宋体" pitchFamily="2" charset="-122"/>
              </a:rPr>
              <a:t>∧</a:t>
            </a:r>
            <a:r>
              <a:rPr lang="en-US" altLang="zh-CN" sz="2800" dirty="0" err="1"/>
              <a:t>b</a:t>
            </a:r>
            <a:r>
              <a:rPr lang="en-US" altLang="zh-CN" sz="2800" dirty="0" err="1">
                <a:latin typeface="宋体" pitchFamily="2" charset="-122"/>
              </a:rPr>
              <a:t>≤</a:t>
            </a:r>
            <a:r>
              <a:rPr lang="en-US" altLang="zh-CN" sz="2800" dirty="0" err="1"/>
              <a:t>a</a:t>
            </a:r>
            <a:r>
              <a:rPr lang="en-US" altLang="zh-CN" sz="2800" dirty="0"/>
              <a:t> and </a:t>
            </a:r>
            <a:r>
              <a:rPr lang="en-US" altLang="zh-CN" sz="2800" dirty="0" err="1"/>
              <a:t>a</a:t>
            </a:r>
            <a:r>
              <a:rPr lang="en-US" altLang="zh-CN" sz="2800" dirty="0" err="1">
                <a:latin typeface="宋体" pitchFamily="2" charset="-122"/>
              </a:rPr>
              <a:t>≤</a:t>
            </a:r>
            <a:r>
              <a:rPr lang="en-US" altLang="zh-CN" sz="2800" dirty="0" err="1"/>
              <a:t>a</a:t>
            </a:r>
            <a:r>
              <a:rPr lang="en-US" altLang="zh-CN" sz="2800" dirty="0"/>
              <a:t>, we see that a is an upper bound of </a:t>
            </a:r>
            <a:r>
              <a:rPr lang="en-US" altLang="zh-CN" sz="2800" dirty="0" err="1"/>
              <a:t>a</a:t>
            </a:r>
            <a:r>
              <a:rPr lang="en-US" altLang="zh-CN" sz="2800" dirty="0" err="1">
                <a:latin typeface="宋体" pitchFamily="2" charset="-122"/>
              </a:rPr>
              <a:t>∧</a:t>
            </a:r>
            <a:r>
              <a:rPr lang="en-US" altLang="zh-CN" sz="2800" dirty="0" err="1"/>
              <a:t>b</a:t>
            </a:r>
            <a:r>
              <a:rPr lang="en-US" altLang="zh-CN" sz="2800" dirty="0"/>
              <a:t> and a;  so a</a:t>
            </a:r>
            <a:r>
              <a:rPr lang="en-US" altLang="zh-CN" sz="2800" dirty="0">
                <a:latin typeface="宋体" pitchFamily="2" charset="-122"/>
              </a:rPr>
              <a:t>∨</a:t>
            </a:r>
            <a:r>
              <a:rPr lang="en-US" altLang="zh-CN" sz="2800" dirty="0"/>
              <a:t>(</a:t>
            </a:r>
            <a:r>
              <a:rPr lang="en-US" altLang="zh-CN" sz="2800" dirty="0" err="1"/>
              <a:t>a</a:t>
            </a:r>
            <a:r>
              <a:rPr lang="en-US" altLang="zh-CN" sz="2800" dirty="0" err="1">
                <a:latin typeface="宋体" pitchFamily="2" charset="-122"/>
              </a:rPr>
              <a:t>∧</a:t>
            </a:r>
            <a:r>
              <a:rPr lang="en-US" altLang="zh-CN" sz="2800" dirty="0" err="1"/>
              <a:t>b</a:t>
            </a:r>
            <a:r>
              <a:rPr lang="en-US" altLang="zh-CN" sz="2800" dirty="0"/>
              <a:t>)</a:t>
            </a:r>
            <a:r>
              <a:rPr lang="en-US" altLang="zh-CN" sz="2800" dirty="0">
                <a:latin typeface="宋体" pitchFamily="2" charset="-122"/>
              </a:rPr>
              <a:t>≤</a:t>
            </a:r>
            <a:r>
              <a:rPr lang="en-US" altLang="zh-CN" sz="2800" dirty="0"/>
              <a:t>a.  On the other hand, by the definition of LUB,  we have </a:t>
            </a:r>
            <a:r>
              <a:rPr lang="en-US" altLang="zh-CN" sz="2800" dirty="0" err="1"/>
              <a:t>a</a:t>
            </a:r>
            <a:r>
              <a:rPr lang="en-US" altLang="zh-CN" sz="2800" dirty="0" err="1">
                <a:latin typeface="宋体" pitchFamily="2" charset="-122"/>
              </a:rPr>
              <a:t>≤</a:t>
            </a:r>
            <a:r>
              <a:rPr lang="en-US" altLang="zh-CN" sz="2800" dirty="0" err="1"/>
              <a:t>a</a:t>
            </a:r>
            <a:r>
              <a:rPr lang="en-US" altLang="zh-CN" sz="2800" dirty="0">
                <a:latin typeface="宋体" pitchFamily="2" charset="-122"/>
              </a:rPr>
              <a:t>∨</a:t>
            </a:r>
            <a:r>
              <a:rPr lang="en-US" altLang="zh-CN" sz="2800" dirty="0"/>
              <a:t>(</a:t>
            </a:r>
            <a:r>
              <a:rPr lang="en-US" altLang="zh-CN" sz="2800" dirty="0" err="1"/>
              <a:t>a</a:t>
            </a:r>
            <a:r>
              <a:rPr lang="en-US" altLang="zh-CN" sz="2800" dirty="0" err="1">
                <a:latin typeface="宋体" pitchFamily="2" charset="-122"/>
              </a:rPr>
              <a:t>∧</a:t>
            </a:r>
            <a:r>
              <a:rPr lang="en-US" altLang="zh-CN" sz="2800" dirty="0" err="1"/>
              <a:t>b</a:t>
            </a:r>
            <a:r>
              <a:rPr lang="en-US" altLang="zh-CN" sz="2800" dirty="0"/>
              <a:t>),  so a</a:t>
            </a:r>
            <a:r>
              <a:rPr lang="en-US" altLang="zh-CN" sz="2800" dirty="0">
                <a:latin typeface="宋体" pitchFamily="2" charset="-122"/>
              </a:rPr>
              <a:t>∨</a:t>
            </a:r>
            <a:r>
              <a:rPr lang="en-US" altLang="zh-CN" sz="2800" dirty="0"/>
              <a:t>(</a:t>
            </a:r>
            <a:r>
              <a:rPr lang="en-US" altLang="zh-CN" sz="2800" dirty="0" err="1"/>
              <a:t>a</a:t>
            </a:r>
            <a:r>
              <a:rPr lang="en-US" altLang="zh-CN" sz="2800" dirty="0" err="1">
                <a:latin typeface="宋体" pitchFamily="2" charset="-122"/>
              </a:rPr>
              <a:t>∧</a:t>
            </a:r>
            <a:r>
              <a:rPr lang="en-US" altLang="zh-CN" sz="2800" dirty="0" err="1"/>
              <a:t>b</a:t>
            </a:r>
            <a:r>
              <a:rPr lang="en-US" altLang="zh-CN" sz="2800" dirty="0"/>
              <a:t>) = a. </a:t>
            </a:r>
          </a:p>
          <a:p>
            <a:pPr lvl="1" algn="r" eaLnBrk="1" hangingPunct="1">
              <a:lnSpc>
                <a:spcPct val="150000"/>
              </a:lnSpc>
            </a:pPr>
            <a:r>
              <a:rPr lang="en-US" altLang="zh-CN" sz="2400" dirty="0"/>
              <a:t>Q.E.D</a:t>
            </a:r>
          </a:p>
          <a:p>
            <a:pPr eaLnBrk="1" hangingPunct="1">
              <a:lnSpc>
                <a:spcPct val="150000"/>
              </a:lnSpc>
            </a:pPr>
            <a:r>
              <a:rPr lang="en-US" altLang="zh-CN" sz="2800" dirty="0"/>
              <a:t>It follows from property 3 that we can write a</a:t>
            </a:r>
            <a:r>
              <a:rPr lang="en-US" altLang="zh-CN" sz="2800" dirty="0">
                <a:latin typeface="宋体" pitchFamily="2" charset="-122"/>
              </a:rPr>
              <a:t>∨</a:t>
            </a:r>
            <a:r>
              <a:rPr lang="en-US" altLang="zh-CN" sz="2800" dirty="0"/>
              <a:t>(</a:t>
            </a:r>
            <a:r>
              <a:rPr lang="en-US" altLang="zh-CN" sz="2800" dirty="0" err="1"/>
              <a:t>b</a:t>
            </a:r>
            <a:r>
              <a:rPr lang="en-US" altLang="zh-CN" sz="2800" dirty="0" err="1">
                <a:latin typeface="宋体" pitchFamily="2" charset="-122"/>
              </a:rPr>
              <a:t>∨</a:t>
            </a:r>
            <a:r>
              <a:rPr lang="en-US" altLang="zh-CN" sz="2800" dirty="0" err="1"/>
              <a:t>c</a:t>
            </a:r>
            <a:r>
              <a:rPr lang="en-US" altLang="zh-CN" sz="2800" dirty="0"/>
              <a:t>) and (</a:t>
            </a:r>
            <a:r>
              <a:rPr lang="en-US" altLang="zh-CN" sz="2800" dirty="0" err="1"/>
              <a:t>a</a:t>
            </a:r>
            <a:r>
              <a:rPr lang="en-US" altLang="zh-CN" sz="2800" dirty="0" err="1">
                <a:latin typeface="宋体" pitchFamily="2" charset="-122"/>
              </a:rPr>
              <a:t>∨</a:t>
            </a:r>
            <a:r>
              <a:rPr lang="en-US" altLang="zh-CN" sz="2800" dirty="0" err="1"/>
              <a:t>b</a:t>
            </a:r>
            <a:r>
              <a:rPr lang="en-US" altLang="zh-CN" sz="2800" dirty="0"/>
              <a:t>)</a:t>
            </a:r>
            <a:r>
              <a:rPr lang="en-US" altLang="zh-CN" sz="2800" dirty="0">
                <a:latin typeface="宋体" pitchFamily="2" charset="-122"/>
              </a:rPr>
              <a:t> ∨</a:t>
            </a:r>
            <a:r>
              <a:rPr lang="en-US" altLang="zh-CN" sz="2800" dirty="0"/>
              <a:t>c merely as  </a:t>
            </a:r>
            <a:r>
              <a:rPr lang="en-US" altLang="zh-CN" sz="2800" dirty="0" err="1"/>
              <a:t>a</a:t>
            </a:r>
            <a:r>
              <a:rPr lang="en-US" altLang="zh-CN" sz="2800" dirty="0" err="1">
                <a:latin typeface="宋体" pitchFamily="2" charset="-122"/>
              </a:rPr>
              <a:t>∨</a:t>
            </a:r>
            <a:r>
              <a:rPr lang="en-US" altLang="zh-CN" sz="2800" dirty="0" err="1"/>
              <a:t>b</a:t>
            </a:r>
            <a:r>
              <a:rPr lang="en-US" altLang="zh-CN" sz="2800" dirty="0" err="1">
                <a:latin typeface="宋体" pitchFamily="2" charset="-122"/>
              </a:rPr>
              <a:t>∨</a:t>
            </a:r>
            <a:r>
              <a:rPr lang="en-US" altLang="zh-CN" sz="2800" dirty="0" err="1"/>
              <a:t>c</a:t>
            </a:r>
            <a:r>
              <a:rPr lang="en-US" altLang="zh-CN" sz="2800" dirty="0"/>
              <a:t>,  and similarly  for </a:t>
            </a:r>
            <a:r>
              <a:rPr lang="en-US" altLang="zh-CN" sz="2800" dirty="0" err="1"/>
              <a:t>a</a:t>
            </a:r>
            <a:r>
              <a:rPr lang="en-US" altLang="zh-CN" sz="2800" dirty="0" err="1">
                <a:latin typeface="宋体" pitchFamily="2" charset="-122"/>
              </a:rPr>
              <a:t>∧</a:t>
            </a:r>
            <a:r>
              <a:rPr lang="en-US" altLang="zh-CN" sz="2800" dirty="0" err="1"/>
              <a:t>b</a:t>
            </a:r>
            <a:r>
              <a:rPr lang="en-US" altLang="zh-CN" sz="2800" dirty="0" err="1">
                <a:latin typeface="宋体" pitchFamily="2" charset="-122"/>
              </a:rPr>
              <a:t>∧</a:t>
            </a:r>
            <a:r>
              <a:rPr lang="en-US" altLang="zh-CN" sz="2800" dirty="0" err="1"/>
              <a:t>c</a:t>
            </a:r>
            <a:r>
              <a:rPr lang="en-US" altLang="zh-CN" sz="2800" dirty="0"/>
              <a:t>. </a:t>
            </a: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9.6.5 Lattices - Theorem 4</a:t>
            </a:r>
            <a:endParaRPr lang="zh-CN" altLang="en-US" sz="3200" dirty="0"/>
          </a:p>
        </p:txBody>
      </p:sp>
      <p:sp>
        <p:nvSpPr>
          <p:cNvPr id="58" name="Rectangle 3"/>
          <p:cNvSpPr txBox="1">
            <a:spLocks noChangeArrowheads="1"/>
          </p:cNvSpPr>
          <p:nvPr/>
        </p:nvSpPr>
        <p:spPr bwMode="auto">
          <a:xfrm>
            <a:off x="210046" y="1010232"/>
            <a:ext cx="1144855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Let </a:t>
            </a:r>
            <a:r>
              <a:rPr lang="en-US" altLang="zh-CN" i="1" dirty="0"/>
              <a:t>L</a:t>
            </a:r>
            <a:r>
              <a:rPr lang="en-US" altLang="zh-CN" dirty="0"/>
              <a:t> = {</a:t>
            </a:r>
            <a:r>
              <a:rPr lang="en-US" altLang="zh-CN" i="1" dirty="0"/>
              <a:t>a</a:t>
            </a:r>
            <a:r>
              <a:rPr lang="en-US" altLang="zh-CN" baseline="-25000" dirty="0"/>
              <a:t>1</a:t>
            </a:r>
            <a:r>
              <a:rPr lang="en-US" altLang="zh-CN" dirty="0"/>
              <a:t>, </a:t>
            </a:r>
            <a:r>
              <a:rPr lang="en-US" altLang="zh-CN" i="1" dirty="0"/>
              <a:t>a</a:t>
            </a:r>
            <a:r>
              <a:rPr lang="en-US" altLang="zh-CN" baseline="-25000" dirty="0"/>
              <a:t>2</a:t>
            </a:r>
            <a:r>
              <a:rPr lang="en-US" altLang="zh-CN" dirty="0"/>
              <a:t>, …, </a:t>
            </a:r>
            <a:r>
              <a:rPr lang="en-US" altLang="zh-CN" i="1" dirty="0"/>
              <a:t>a</a:t>
            </a:r>
            <a:r>
              <a:rPr lang="en-US" altLang="zh-CN" baseline="-25000" dirty="0"/>
              <a:t>n</a:t>
            </a:r>
            <a:r>
              <a:rPr lang="en-US" altLang="zh-CN" dirty="0"/>
              <a:t>} be a finite lattice.  Then </a:t>
            </a:r>
            <a:r>
              <a:rPr lang="en-US" altLang="zh-CN" i="1" dirty="0"/>
              <a:t>L</a:t>
            </a:r>
            <a:r>
              <a:rPr lang="en-US" altLang="zh-CN" dirty="0"/>
              <a:t> is bounded. </a:t>
            </a:r>
          </a:p>
          <a:p>
            <a:pPr eaLnBrk="1" hangingPunct="1">
              <a:lnSpc>
                <a:spcPct val="150000"/>
              </a:lnSpc>
            </a:pPr>
            <a:r>
              <a:rPr lang="en-US" altLang="zh-CN" b="1" dirty="0"/>
              <a:t>Proof</a:t>
            </a:r>
          </a:p>
          <a:p>
            <a:pPr lvl="1" eaLnBrk="1" hangingPunct="1">
              <a:lnSpc>
                <a:spcPct val="150000"/>
              </a:lnSpc>
            </a:pPr>
            <a:r>
              <a:rPr lang="en-US" altLang="zh-CN" dirty="0"/>
              <a:t>The greatest element of L is </a:t>
            </a:r>
            <a:r>
              <a:rPr lang="en-US" altLang="zh-CN" i="1" dirty="0"/>
              <a:t>a</a:t>
            </a:r>
            <a:r>
              <a:rPr lang="en-US" altLang="zh-CN" baseline="-25000" dirty="0"/>
              <a:t>1</a:t>
            </a:r>
            <a:r>
              <a:rPr lang="en-US" altLang="zh-CN" dirty="0">
                <a:latin typeface="Symbol" panose="05050102010706020507" pitchFamily="18" charset="2"/>
                <a:sym typeface="Symbol" panose="05050102010706020507" pitchFamily="18" charset="2"/>
              </a:rPr>
              <a:t></a:t>
            </a:r>
            <a:r>
              <a:rPr lang="en-US" altLang="zh-CN" i="1" dirty="0"/>
              <a:t>a</a:t>
            </a:r>
            <a:r>
              <a:rPr lang="en-US" altLang="zh-CN" baseline="-25000" dirty="0"/>
              <a:t>2</a:t>
            </a:r>
            <a:r>
              <a:rPr lang="en-US" altLang="zh-CN" dirty="0">
                <a:latin typeface="Symbol" panose="05050102010706020507" pitchFamily="18" charset="2"/>
                <a:sym typeface="Symbol" panose="05050102010706020507" pitchFamily="18" charset="2"/>
              </a:rPr>
              <a:t>  </a:t>
            </a:r>
            <a:r>
              <a:rPr lang="en-US" altLang="zh-CN" dirty="0"/>
              <a:t>…</a:t>
            </a:r>
            <a:r>
              <a:rPr lang="en-US" altLang="zh-CN" dirty="0">
                <a:latin typeface="Symbol" panose="05050102010706020507" pitchFamily="18" charset="2"/>
                <a:sym typeface="Symbol" panose="05050102010706020507" pitchFamily="18" charset="2"/>
              </a:rPr>
              <a:t>  </a:t>
            </a:r>
            <a:r>
              <a:rPr lang="en-US" altLang="zh-CN" i="1" dirty="0"/>
              <a:t>a</a:t>
            </a:r>
            <a:r>
              <a:rPr lang="en-US" altLang="zh-CN" baseline="-25000" dirty="0"/>
              <a:t>n</a:t>
            </a:r>
            <a:r>
              <a:rPr lang="en-US" altLang="zh-CN" dirty="0"/>
              <a:t>,  </a:t>
            </a:r>
          </a:p>
          <a:p>
            <a:pPr lvl="1" eaLnBrk="1" hangingPunct="1">
              <a:lnSpc>
                <a:spcPct val="150000"/>
              </a:lnSpc>
            </a:pPr>
            <a:r>
              <a:rPr lang="en-US" altLang="zh-CN" dirty="0"/>
              <a:t>and its least element is </a:t>
            </a:r>
            <a:r>
              <a:rPr lang="en-US" altLang="zh-CN" i="1" dirty="0"/>
              <a:t>a</a:t>
            </a:r>
            <a:r>
              <a:rPr lang="en-US" altLang="zh-CN" baseline="-25000" dirty="0"/>
              <a:t>1</a:t>
            </a:r>
            <a:r>
              <a:rPr lang="en-US" altLang="zh-CN" dirty="0">
                <a:latin typeface="宋体" pitchFamily="2" charset="-122"/>
              </a:rPr>
              <a:t>∧</a:t>
            </a:r>
            <a:r>
              <a:rPr lang="en-US" altLang="zh-CN" i="1" dirty="0"/>
              <a:t>a</a:t>
            </a:r>
            <a:r>
              <a:rPr lang="en-US" altLang="zh-CN" baseline="-25000" dirty="0"/>
              <a:t>2</a:t>
            </a:r>
            <a:r>
              <a:rPr lang="en-US" altLang="zh-CN" dirty="0">
                <a:latin typeface="宋体" pitchFamily="2" charset="-122"/>
              </a:rPr>
              <a:t>∧</a:t>
            </a:r>
            <a:r>
              <a:rPr lang="en-US" altLang="zh-CN" dirty="0"/>
              <a:t>…</a:t>
            </a:r>
            <a:r>
              <a:rPr lang="en-US" altLang="zh-CN" dirty="0">
                <a:latin typeface="宋体" pitchFamily="2" charset="-122"/>
              </a:rPr>
              <a:t>∧</a:t>
            </a:r>
            <a:r>
              <a:rPr lang="en-US" altLang="zh-CN" i="1" dirty="0"/>
              <a:t>a</a:t>
            </a:r>
            <a:r>
              <a:rPr lang="en-US" altLang="zh-CN" baseline="-25000" dirty="0"/>
              <a:t>n</a:t>
            </a: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2217082"/>
          </a:xfrm>
          <a:prstGeom prst="rect">
            <a:avLst/>
          </a:prstGeom>
          <a:noFill/>
        </p:spPr>
        <p:txBody>
          <a:bodyPr wrap="square" rtlCol="0">
            <a:spAutoFit/>
          </a:bodyPr>
          <a:lstStyle/>
          <a:p>
            <a:pPr>
              <a:lnSpc>
                <a:spcPct val="150000"/>
              </a:lnSpc>
            </a:pPr>
            <a:r>
              <a:rPr lang="en-US" altLang="zh-CN" sz="3200" dirty="0"/>
              <a:t>9.6.5 Lattices - </a:t>
            </a:r>
            <a:r>
              <a:rPr lang="en-US" altLang="zh-CN" sz="3200" dirty="0">
                <a:cs typeface="Times New Roman" panose="02020503050405090304" pitchFamily="18" charset="0"/>
              </a:rPr>
              <a:t>Theorem 5 </a:t>
            </a:r>
          </a:p>
          <a:p>
            <a:pPr>
              <a:lnSpc>
                <a:spcPct val="150000"/>
              </a:lnSpc>
            </a:pPr>
            <a:endParaRPr lang="zh-CN" altLang="en-US" sz="3200" dirty="0"/>
          </a:p>
          <a:p>
            <a:pPr>
              <a:lnSpc>
                <a:spcPct val="150000"/>
              </a:lnSpc>
            </a:pPr>
            <a:endParaRPr lang="en-US" altLang="zh-CN" sz="3200" dirty="0"/>
          </a:p>
        </p:txBody>
      </p:sp>
      <p:sp>
        <p:nvSpPr>
          <p:cNvPr id="58" name="Rectangle 3"/>
          <p:cNvSpPr txBox="1">
            <a:spLocks noChangeArrowheads="1"/>
          </p:cNvSpPr>
          <p:nvPr/>
        </p:nvSpPr>
        <p:spPr bwMode="auto">
          <a:xfrm>
            <a:off x="210046" y="1108541"/>
            <a:ext cx="11448554" cy="1741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A </a:t>
            </a:r>
            <a:r>
              <a:rPr lang="en-US" altLang="zh-CN" dirty="0" err="1"/>
              <a:t>lattic</a:t>
            </a:r>
            <a:r>
              <a:rPr lang="en-US" altLang="zh-CN" dirty="0"/>
              <a:t> </a:t>
            </a:r>
            <a:r>
              <a:rPr lang="en-US" altLang="zh-CN" i="1" dirty="0"/>
              <a:t>L</a:t>
            </a:r>
            <a:r>
              <a:rPr lang="en-US" altLang="zh-CN" dirty="0"/>
              <a:t> is </a:t>
            </a:r>
            <a:r>
              <a:rPr lang="en-US" altLang="zh-CN" dirty="0" err="1"/>
              <a:t>nondistributive</a:t>
            </a:r>
            <a:r>
              <a:rPr lang="en-US" altLang="zh-CN" dirty="0"/>
              <a:t>  if and only if  it contains a sublattice that is isomorphic to one of the above two lattices. </a:t>
            </a:r>
          </a:p>
          <a:p>
            <a:pPr eaLnBrk="1" hangingPunct="1">
              <a:lnSpc>
                <a:spcPct val="150000"/>
              </a:lnSpc>
            </a:pPr>
            <a:r>
              <a:rPr lang="en-US" altLang="zh-CN" dirty="0"/>
              <a:t>Proof: </a:t>
            </a:r>
          </a:p>
          <a:p>
            <a:pPr lvl="1" eaLnBrk="1" hangingPunct="1">
              <a:lnSpc>
                <a:spcPct val="150000"/>
              </a:lnSpc>
            </a:pPr>
            <a:r>
              <a:rPr lang="en-US" altLang="zh-CN" dirty="0"/>
              <a:t>omitted</a:t>
            </a: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9.6.5 Lattices - </a:t>
            </a:r>
            <a:r>
              <a:rPr lang="en-US" altLang="zh-CN" sz="3200" dirty="0">
                <a:cs typeface="Times New Roman" panose="02020503050405090304" pitchFamily="18" charset="0"/>
              </a:rPr>
              <a:t>Theorem 6</a:t>
            </a:r>
          </a:p>
        </p:txBody>
      </p:sp>
      <p:sp>
        <p:nvSpPr>
          <p:cNvPr id="58" name="Rectangle 3"/>
          <p:cNvSpPr txBox="1">
            <a:spLocks noChangeArrowheads="1"/>
          </p:cNvSpPr>
          <p:nvPr/>
        </p:nvSpPr>
        <p:spPr bwMode="auto">
          <a:xfrm>
            <a:off x="210046" y="1168623"/>
            <a:ext cx="11448554" cy="1741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Let </a:t>
            </a:r>
            <a:r>
              <a:rPr lang="en-US" altLang="zh-CN" i="1" dirty="0"/>
              <a:t>L</a:t>
            </a:r>
            <a:r>
              <a:rPr lang="en-US" altLang="zh-CN" dirty="0"/>
              <a:t> be a bounded distributive lattice.  If a complement exists, it is unique.</a:t>
            </a:r>
          </a:p>
        </p:txBody>
      </p:sp>
      <p:grpSp>
        <p:nvGrpSpPr>
          <p:cNvPr id="5" name="Group 4"/>
          <p:cNvGrpSpPr/>
          <p:nvPr/>
        </p:nvGrpSpPr>
        <p:grpSpPr>
          <a:xfrm>
            <a:off x="8260080" y="2735580"/>
            <a:ext cx="2743201" cy="3429000"/>
            <a:chOff x="0" y="0"/>
            <a:chExt cx="1728" cy="2160"/>
          </a:xfrm>
        </p:grpSpPr>
        <p:grpSp>
          <p:nvGrpSpPr>
            <p:cNvPr id="6" name="Group 5"/>
            <p:cNvGrpSpPr/>
            <p:nvPr/>
          </p:nvGrpSpPr>
          <p:grpSpPr>
            <a:xfrm>
              <a:off x="240" y="192"/>
              <a:ext cx="1218" cy="1790"/>
              <a:chOff x="0" y="0"/>
              <a:chExt cx="1218" cy="1790"/>
            </a:xfrm>
          </p:grpSpPr>
          <p:grpSp>
            <p:nvGrpSpPr>
              <p:cNvPr id="15" name="Group 6"/>
              <p:cNvGrpSpPr/>
              <p:nvPr/>
            </p:nvGrpSpPr>
            <p:grpSpPr>
              <a:xfrm>
                <a:off x="8" y="0"/>
                <a:ext cx="1210" cy="1214"/>
                <a:chOff x="0" y="0"/>
                <a:chExt cx="1210" cy="1214"/>
              </a:xfrm>
            </p:grpSpPr>
            <p:sp>
              <p:nvSpPr>
                <p:cNvPr id="26" name="AutoShape 7"/>
                <p:cNvSpPr/>
                <p:nvPr/>
              </p:nvSpPr>
              <p:spPr>
                <a:xfrm>
                  <a:off x="38" y="24"/>
                  <a:ext cx="1152" cy="1152"/>
                </a:xfrm>
                <a:prstGeom prst="diamond">
                  <a:avLst/>
                </a:prstGeom>
                <a:noFill/>
                <a:ln w="25400" cap="flat" cmpd="sng">
                  <a:solidFill>
                    <a:schemeClr val="fo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7" name="Oval 8"/>
                <p:cNvSpPr/>
                <p:nvPr/>
              </p:nvSpPr>
              <p:spPr>
                <a:xfrm>
                  <a:off x="586" y="0"/>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8" name="Oval 9"/>
                <p:cNvSpPr/>
                <p:nvPr/>
              </p:nvSpPr>
              <p:spPr>
                <a:xfrm>
                  <a:off x="586" y="1166"/>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9" name="Oval 10"/>
                <p:cNvSpPr/>
                <p:nvPr/>
              </p:nvSpPr>
              <p:spPr>
                <a:xfrm>
                  <a:off x="0" y="570"/>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30" name="Oval 11"/>
                <p:cNvSpPr/>
                <p:nvPr/>
              </p:nvSpPr>
              <p:spPr>
                <a:xfrm>
                  <a:off x="1162" y="572"/>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pSp>
          <p:grpSp>
            <p:nvGrpSpPr>
              <p:cNvPr id="16" name="Group 12"/>
              <p:cNvGrpSpPr/>
              <p:nvPr/>
            </p:nvGrpSpPr>
            <p:grpSpPr>
              <a:xfrm>
                <a:off x="0" y="576"/>
                <a:ext cx="1210" cy="1214"/>
                <a:chOff x="0" y="0"/>
                <a:chExt cx="1210" cy="1214"/>
              </a:xfrm>
            </p:grpSpPr>
            <p:sp>
              <p:nvSpPr>
                <p:cNvPr id="21" name="AutoShape 13"/>
                <p:cNvSpPr/>
                <p:nvPr/>
              </p:nvSpPr>
              <p:spPr>
                <a:xfrm>
                  <a:off x="38" y="24"/>
                  <a:ext cx="1152" cy="1152"/>
                </a:xfrm>
                <a:prstGeom prst="diamond">
                  <a:avLst/>
                </a:prstGeom>
                <a:noFill/>
                <a:ln w="25400" cap="flat" cmpd="sng">
                  <a:solidFill>
                    <a:schemeClr val="fo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2" name="Oval 14"/>
                <p:cNvSpPr/>
                <p:nvPr/>
              </p:nvSpPr>
              <p:spPr>
                <a:xfrm>
                  <a:off x="586" y="0"/>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3" name="Oval 15"/>
                <p:cNvSpPr/>
                <p:nvPr/>
              </p:nvSpPr>
              <p:spPr>
                <a:xfrm>
                  <a:off x="586" y="1166"/>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4" name="Oval 16"/>
                <p:cNvSpPr/>
                <p:nvPr/>
              </p:nvSpPr>
              <p:spPr>
                <a:xfrm>
                  <a:off x="0" y="570"/>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5" name="Oval 17"/>
                <p:cNvSpPr/>
                <p:nvPr/>
              </p:nvSpPr>
              <p:spPr>
                <a:xfrm>
                  <a:off x="1162" y="572"/>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pSp>
          <p:sp>
            <p:nvSpPr>
              <p:cNvPr id="17" name="Line 18"/>
              <p:cNvSpPr/>
              <p:nvPr/>
            </p:nvSpPr>
            <p:spPr>
              <a:xfrm>
                <a:off x="38" y="624"/>
                <a:ext cx="0" cy="528"/>
              </a:xfrm>
              <a:prstGeom prst="line">
                <a:avLst/>
              </a:prstGeom>
              <a:ln w="28575" cap="flat" cmpd="sng">
                <a:solidFill>
                  <a:schemeClr val="folHlink"/>
                </a:solidFill>
                <a:prstDash val="solid"/>
                <a:headEnd type="none" w="med" len="med"/>
                <a:tailEnd type="none" w="med" len="med"/>
              </a:ln>
            </p:spPr>
          </p:sp>
          <p:sp>
            <p:nvSpPr>
              <p:cNvPr id="18" name="Line 19"/>
              <p:cNvSpPr/>
              <p:nvPr/>
            </p:nvSpPr>
            <p:spPr>
              <a:xfrm>
                <a:off x="1200" y="620"/>
                <a:ext cx="0" cy="528"/>
              </a:xfrm>
              <a:prstGeom prst="line">
                <a:avLst/>
              </a:prstGeom>
              <a:ln w="28575" cap="flat" cmpd="sng">
                <a:solidFill>
                  <a:schemeClr val="folHlink"/>
                </a:solidFill>
                <a:prstDash val="solid"/>
                <a:headEnd type="none" w="med" len="med"/>
                <a:tailEnd type="none" w="med" len="med"/>
              </a:ln>
            </p:spPr>
          </p:sp>
          <p:sp>
            <p:nvSpPr>
              <p:cNvPr id="19" name="Line 20"/>
              <p:cNvSpPr/>
              <p:nvPr/>
            </p:nvSpPr>
            <p:spPr>
              <a:xfrm>
                <a:off x="614" y="1208"/>
                <a:ext cx="0" cy="528"/>
              </a:xfrm>
              <a:prstGeom prst="line">
                <a:avLst/>
              </a:prstGeom>
              <a:ln w="28575" cap="flat" cmpd="sng">
                <a:solidFill>
                  <a:schemeClr val="folHlink"/>
                </a:solidFill>
                <a:prstDash val="solid"/>
                <a:headEnd type="none" w="med" len="med"/>
                <a:tailEnd type="none" w="med" len="med"/>
              </a:ln>
            </p:spPr>
          </p:sp>
          <p:sp>
            <p:nvSpPr>
              <p:cNvPr id="20" name="Line 21"/>
              <p:cNvSpPr/>
              <p:nvPr/>
            </p:nvSpPr>
            <p:spPr>
              <a:xfrm>
                <a:off x="614" y="46"/>
                <a:ext cx="0" cy="528"/>
              </a:xfrm>
              <a:prstGeom prst="line">
                <a:avLst/>
              </a:prstGeom>
              <a:ln w="28575" cap="flat" cmpd="sng">
                <a:solidFill>
                  <a:schemeClr val="folHlink"/>
                </a:solidFill>
                <a:prstDash val="solid"/>
                <a:headEnd type="none" w="med" len="med"/>
                <a:tailEnd type="none" w="med" len="med"/>
              </a:ln>
            </p:spPr>
          </p:sp>
        </p:grpSp>
        <p:sp>
          <p:nvSpPr>
            <p:cNvPr id="7" name="Text Box 22"/>
            <p:cNvSpPr txBox="1"/>
            <p:nvPr/>
          </p:nvSpPr>
          <p:spPr>
            <a:xfrm>
              <a:off x="624" y="0"/>
              <a:ext cx="471" cy="19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1400" dirty="0">
                  <a:latin typeface="Tahoma" panose="020B0604030504040204" pitchFamily="34" charset="0"/>
                </a:rPr>
                <a:t>(</a:t>
              </a:r>
              <a:r>
                <a:rPr lang="en-US" altLang="zh-CN" sz="1400" i="1" dirty="0">
                  <a:latin typeface="Tahoma" panose="020B0604030504040204" pitchFamily="34" charset="0"/>
                </a:rPr>
                <a:t>1</a:t>
              </a:r>
              <a:r>
                <a:rPr lang="en-US" altLang="zh-CN" sz="1400" baseline="-25000" dirty="0">
                  <a:latin typeface="Tahoma" panose="020B0604030504040204" pitchFamily="34" charset="0"/>
                </a:rPr>
                <a:t>1</a:t>
              </a:r>
              <a:r>
                <a:rPr lang="en-US" altLang="zh-CN" sz="1400" dirty="0">
                  <a:latin typeface="Tahoma" panose="020B0604030504040204" pitchFamily="34" charset="0"/>
                </a:rPr>
                <a:t> ,</a:t>
              </a:r>
              <a:r>
                <a:rPr lang="en-US" altLang="zh-CN" sz="1400" i="1" dirty="0">
                  <a:latin typeface="Tahoma" panose="020B0604030504040204" pitchFamily="34" charset="0"/>
                </a:rPr>
                <a:t>1</a:t>
              </a:r>
              <a:r>
                <a:rPr lang="en-US" altLang="zh-CN" sz="1400" baseline="-25000" dirty="0">
                  <a:latin typeface="Tahoma" panose="020B0604030504040204" pitchFamily="34" charset="0"/>
                </a:rPr>
                <a:t>2</a:t>
              </a:r>
              <a:r>
                <a:rPr lang="en-US" altLang="zh-CN" sz="1400" dirty="0">
                  <a:latin typeface="Tahoma" panose="020B0604030504040204" pitchFamily="34" charset="0"/>
                </a:rPr>
                <a:t>)</a:t>
              </a:r>
            </a:p>
          </p:txBody>
        </p:sp>
        <p:sp>
          <p:nvSpPr>
            <p:cNvPr id="8" name="Text Box 23"/>
            <p:cNvSpPr txBox="1"/>
            <p:nvPr/>
          </p:nvSpPr>
          <p:spPr>
            <a:xfrm>
              <a:off x="624" y="1968"/>
              <a:ext cx="471" cy="19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1400" dirty="0">
                  <a:latin typeface="Tahoma" panose="020B0604030504040204" pitchFamily="34" charset="0"/>
                </a:rPr>
                <a:t>(</a:t>
              </a:r>
              <a:r>
                <a:rPr lang="en-US" altLang="zh-CN" sz="1400" i="1" dirty="0">
                  <a:latin typeface="Tahoma" panose="020B0604030504040204" pitchFamily="34" charset="0"/>
                </a:rPr>
                <a:t>0</a:t>
              </a:r>
              <a:r>
                <a:rPr lang="en-US" altLang="zh-CN" sz="1400" baseline="-25000" dirty="0">
                  <a:latin typeface="Tahoma" panose="020B0604030504040204" pitchFamily="34" charset="0"/>
                </a:rPr>
                <a:t>1</a:t>
              </a:r>
              <a:r>
                <a:rPr lang="en-US" altLang="zh-CN" sz="1400" dirty="0">
                  <a:latin typeface="Tahoma" panose="020B0604030504040204" pitchFamily="34" charset="0"/>
                </a:rPr>
                <a:t> ,</a:t>
              </a:r>
              <a:r>
                <a:rPr lang="en-US" altLang="zh-CN" sz="1400" i="1" dirty="0">
                  <a:latin typeface="Tahoma" panose="020B0604030504040204" pitchFamily="34" charset="0"/>
                </a:rPr>
                <a:t>0</a:t>
              </a:r>
              <a:r>
                <a:rPr lang="en-US" altLang="zh-CN" sz="1400" baseline="-25000" dirty="0">
                  <a:latin typeface="Tahoma" panose="020B0604030504040204" pitchFamily="34" charset="0"/>
                </a:rPr>
                <a:t>2</a:t>
              </a:r>
              <a:r>
                <a:rPr lang="en-US" altLang="zh-CN" sz="1400" dirty="0">
                  <a:latin typeface="Tahoma" panose="020B0604030504040204" pitchFamily="34" charset="0"/>
                </a:rPr>
                <a:t>)</a:t>
              </a:r>
            </a:p>
          </p:txBody>
        </p:sp>
        <p:sp>
          <p:nvSpPr>
            <p:cNvPr id="9" name="Text Box 24"/>
            <p:cNvSpPr txBox="1"/>
            <p:nvPr/>
          </p:nvSpPr>
          <p:spPr>
            <a:xfrm>
              <a:off x="9" y="529"/>
              <a:ext cx="427" cy="19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1400" dirty="0">
                  <a:latin typeface="Tahoma" panose="020B0604030504040204" pitchFamily="34" charset="0"/>
                </a:rPr>
                <a:t>(</a:t>
              </a:r>
              <a:r>
                <a:rPr lang="en-US" altLang="zh-CN" sz="1400" i="1" dirty="0">
                  <a:latin typeface="Tahoma" panose="020B0604030504040204" pitchFamily="34" charset="0"/>
                </a:rPr>
                <a:t>1</a:t>
              </a:r>
              <a:r>
                <a:rPr lang="en-US" altLang="zh-CN" sz="1400" baseline="-25000" dirty="0">
                  <a:latin typeface="Tahoma" panose="020B0604030504040204" pitchFamily="34" charset="0"/>
                </a:rPr>
                <a:t>1</a:t>
              </a:r>
              <a:r>
                <a:rPr lang="en-US" altLang="zh-CN" sz="1400" dirty="0">
                  <a:latin typeface="Tahoma" panose="020B0604030504040204" pitchFamily="34" charset="0"/>
                </a:rPr>
                <a:t> ,</a:t>
              </a:r>
              <a:r>
                <a:rPr lang="en-US" altLang="zh-CN" sz="1400" i="1" dirty="0">
                  <a:latin typeface="Times New Roman" panose="02020503050405090304" pitchFamily="18" charset="0"/>
                </a:rPr>
                <a:t>a</a:t>
              </a:r>
              <a:r>
                <a:rPr lang="en-US" altLang="zh-CN" sz="1400" dirty="0">
                  <a:latin typeface="Tahoma" panose="020B0604030504040204" pitchFamily="34" charset="0"/>
                </a:rPr>
                <a:t>)</a:t>
              </a:r>
            </a:p>
          </p:txBody>
        </p:sp>
        <p:sp>
          <p:nvSpPr>
            <p:cNvPr id="10" name="Text Box 25"/>
            <p:cNvSpPr txBox="1"/>
            <p:nvPr/>
          </p:nvSpPr>
          <p:spPr>
            <a:xfrm>
              <a:off x="0" y="1440"/>
              <a:ext cx="427" cy="19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1400" dirty="0">
                  <a:latin typeface="Tahoma" panose="020B0604030504040204" pitchFamily="34" charset="0"/>
                </a:rPr>
                <a:t>(</a:t>
              </a:r>
              <a:r>
                <a:rPr lang="en-US" altLang="zh-CN" sz="1400" i="1" dirty="0">
                  <a:latin typeface="Tahoma" panose="020B0604030504040204" pitchFamily="34" charset="0"/>
                </a:rPr>
                <a:t>0</a:t>
              </a:r>
              <a:r>
                <a:rPr lang="en-US" altLang="zh-CN" sz="1400" baseline="-25000" dirty="0">
                  <a:latin typeface="Tahoma" panose="020B0604030504040204" pitchFamily="34" charset="0"/>
                </a:rPr>
                <a:t>1</a:t>
              </a:r>
              <a:r>
                <a:rPr lang="en-US" altLang="zh-CN" sz="1400" dirty="0">
                  <a:latin typeface="Tahoma" panose="020B0604030504040204" pitchFamily="34" charset="0"/>
                </a:rPr>
                <a:t> ,</a:t>
              </a:r>
              <a:r>
                <a:rPr lang="en-US" altLang="zh-CN" sz="1400" i="1" dirty="0">
                  <a:latin typeface="Times New Roman" panose="02020503050405090304" pitchFamily="18" charset="0"/>
                </a:rPr>
                <a:t>a</a:t>
              </a:r>
              <a:r>
                <a:rPr lang="en-US" altLang="zh-CN" sz="1400" dirty="0">
                  <a:latin typeface="Tahoma" panose="020B0604030504040204" pitchFamily="34" charset="0"/>
                </a:rPr>
                <a:t>)</a:t>
              </a:r>
            </a:p>
          </p:txBody>
        </p:sp>
        <p:sp>
          <p:nvSpPr>
            <p:cNvPr id="11" name="Text Box 26"/>
            <p:cNvSpPr txBox="1"/>
            <p:nvPr/>
          </p:nvSpPr>
          <p:spPr>
            <a:xfrm>
              <a:off x="1301" y="528"/>
              <a:ext cx="427" cy="19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1400" dirty="0">
                  <a:latin typeface="Tahoma" panose="020B0604030504040204" pitchFamily="34" charset="0"/>
                </a:rPr>
                <a:t>(</a:t>
              </a:r>
              <a:r>
                <a:rPr lang="en-US" altLang="zh-CN" sz="1400" i="1" dirty="0">
                  <a:latin typeface="Tahoma" panose="020B0604030504040204" pitchFamily="34" charset="0"/>
                </a:rPr>
                <a:t>1</a:t>
              </a:r>
              <a:r>
                <a:rPr lang="en-US" altLang="zh-CN" sz="1400" baseline="-25000" dirty="0">
                  <a:latin typeface="Tahoma" panose="020B0604030504040204" pitchFamily="34" charset="0"/>
                </a:rPr>
                <a:t>1</a:t>
              </a:r>
              <a:r>
                <a:rPr lang="en-US" altLang="zh-CN" sz="1400" dirty="0">
                  <a:latin typeface="Tahoma" panose="020B0604030504040204" pitchFamily="34" charset="0"/>
                </a:rPr>
                <a:t> ,</a:t>
              </a:r>
              <a:r>
                <a:rPr lang="en-US" altLang="zh-CN" sz="1400" i="1" dirty="0">
                  <a:latin typeface="Times New Roman" panose="02020503050405090304" pitchFamily="18" charset="0"/>
                </a:rPr>
                <a:t>b</a:t>
              </a:r>
              <a:r>
                <a:rPr lang="en-US" altLang="zh-CN" sz="1400" dirty="0">
                  <a:latin typeface="Tahoma" panose="020B0604030504040204" pitchFamily="34" charset="0"/>
                </a:rPr>
                <a:t>)</a:t>
              </a:r>
            </a:p>
          </p:txBody>
        </p:sp>
        <p:sp>
          <p:nvSpPr>
            <p:cNvPr id="12" name="Text Box 27"/>
            <p:cNvSpPr txBox="1"/>
            <p:nvPr/>
          </p:nvSpPr>
          <p:spPr>
            <a:xfrm>
              <a:off x="1248" y="1440"/>
              <a:ext cx="427" cy="19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1400" dirty="0">
                  <a:latin typeface="Tahoma" panose="020B0604030504040204" pitchFamily="34" charset="0"/>
                </a:rPr>
                <a:t>(</a:t>
              </a:r>
              <a:r>
                <a:rPr lang="en-US" altLang="zh-CN" sz="1400" i="1" dirty="0">
                  <a:latin typeface="Tahoma" panose="020B0604030504040204" pitchFamily="34" charset="0"/>
                </a:rPr>
                <a:t>0</a:t>
              </a:r>
              <a:r>
                <a:rPr lang="en-US" altLang="zh-CN" sz="1400" baseline="-25000" dirty="0">
                  <a:latin typeface="Tahoma" panose="020B0604030504040204" pitchFamily="34" charset="0"/>
                </a:rPr>
                <a:t>1</a:t>
              </a:r>
              <a:r>
                <a:rPr lang="en-US" altLang="zh-CN" sz="1400" dirty="0">
                  <a:latin typeface="Tahoma" panose="020B0604030504040204" pitchFamily="34" charset="0"/>
                </a:rPr>
                <a:t> ,</a:t>
              </a:r>
              <a:r>
                <a:rPr lang="en-US" altLang="zh-CN" sz="1400" i="1" dirty="0">
                  <a:latin typeface="Times New Roman" panose="02020503050405090304" pitchFamily="18" charset="0"/>
                </a:rPr>
                <a:t>b</a:t>
              </a:r>
              <a:r>
                <a:rPr lang="en-US" altLang="zh-CN" sz="1400" dirty="0">
                  <a:latin typeface="Tahoma" panose="020B0604030504040204" pitchFamily="34" charset="0"/>
                </a:rPr>
                <a:t>)</a:t>
              </a:r>
            </a:p>
          </p:txBody>
        </p:sp>
        <p:sp>
          <p:nvSpPr>
            <p:cNvPr id="13" name="Text Box 28"/>
            <p:cNvSpPr txBox="1"/>
            <p:nvPr/>
          </p:nvSpPr>
          <p:spPr>
            <a:xfrm>
              <a:off x="825" y="624"/>
              <a:ext cx="471" cy="19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1400" dirty="0">
                  <a:latin typeface="Tahoma" panose="020B0604030504040204" pitchFamily="34" charset="0"/>
                </a:rPr>
                <a:t>(</a:t>
              </a:r>
              <a:r>
                <a:rPr lang="en-US" altLang="zh-CN" sz="1400" i="1" dirty="0">
                  <a:latin typeface="Tahoma" panose="020B0604030504040204" pitchFamily="34" charset="0"/>
                </a:rPr>
                <a:t>0</a:t>
              </a:r>
              <a:r>
                <a:rPr lang="en-US" altLang="zh-CN" sz="1400" baseline="-25000" dirty="0">
                  <a:latin typeface="Tahoma" panose="020B0604030504040204" pitchFamily="34" charset="0"/>
                </a:rPr>
                <a:t>1</a:t>
              </a:r>
              <a:r>
                <a:rPr lang="en-US" altLang="zh-CN" sz="1400" dirty="0">
                  <a:latin typeface="Tahoma" panose="020B0604030504040204" pitchFamily="34" charset="0"/>
                </a:rPr>
                <a:t> ,</a:t>
              </a:r>
              <a:r>
                <a:rPr lang="en-US" altLang="zh-CN" sz="1400" i="1" dirty="0">
                  <a:latin typeface="Tahoma" panose="020B0604030504040204" pitchFamily="34" charset="0"/>
                </a:rPr>
                <a:t>1</a:t>
              </a:r>
              <a:r>
                <a:rPr lang="en-US" altLang="zh-CN" sz="1400" baseline="-25000" dirty="0">
                  <a:latin typeface="Tahoma" panose="020B0604030504040204" pitchFamily="34" charset="0"/>
                </a:rPr>
                <a:t>2</a:t>
              </a:r>
              <a:r>
                <a:rPr lang="en-US" altLang="zh-CN" sz="1400" dirty="0">
                  <a:latin typeface="Tahoma" panose="020B0604030504040204" pitchFamily="34" charset="0"/>
                </a:rPr>
                <a:t>)</a:t>
              </a:r>
            </a:p>
          </p:txBody>
        </p:sp>
        <p:sp>
          <p:nvSpPr>
            <p:cNvPr id="14" name="Text Box 29"/>
            <p:cNvSpPr txBox="1"/>
            <p:nvPr/>
          </p:nvSpPr>
          <p:spPr>
            <a:xfrm>
              <a:off x="422" y="1296"/>
              <a:ext cx="471" cy="19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1400" dirty="0">
                  <a:latin typeface="Tahoma" panose="020B0604030504040204" pitchFamily="34" charset="0"/>
                </a:rPr>
                <a:t>(</a:t>
              </a:r>
              <a:r>
                <a:rPr lang="en-US" altLang="zh-CN" sz="1400" i="1" dirty="0">
                  <a:latin typeface="Tahoma" panose="020B0604030504040204" pitchFamily="34" charset="0"/>
                </a:rPr>
                <a:t>1</a:t>
              </a:r>
              <a:r>
                <a:rPr lang="en-US" altLang="zh-CN" sz="1400" baseline="-25000" dirty="0">
                  <a:latin typeface="Tahoma" panose="020B0604030504040204" pitchFamily="34" charset="0"/>
                </a:rPr>
                <a:t>1</a:t>
              </a:r>
              <a:r>
                <a:rPr lang="en-US" altLang="zh-CN" sz="1400" dirty="0">
                  <a:latin typeface="Tahoma" panose="020B0604030504040204" pitchFamily="34" charset="0"/>
                </a:rPr>
                <a:t> ,</a:t>
              </a:r>
              <a:r>
                <a:rPr lang="en-US" altLang="zh-CN" sz="1400" i="1" dirty="0">
                  <a:latin typeface="Tahoma" panose="020B0604030504040204" pitchFamily="34" charset="0"/>
                </a:rPr>
                <a:t>0</a:t>
              </a:r>
              <a:r>
                <a:rPr lang="en-US" altLang="zh-CN" sz="1400" baseline="-25000" dirty="0">
                  <a:latin typeface="Tahoma" panose="020B0604030504040204" pitchFamily="34" charset="0"/>
                </a:rPr>
                <a:t>2</a:t>
              </a:r>
              <a:r>
                <a:rPr lang="en-US" altLang="zh-CN" sz="1400" dirty="0">
                  <a:latin typeface="Tahoma" panose="020B0604030504040204" pitchFamily="34" charset="0"/>
                </a:rPr>
                <a:t>)</a:t>
              </a:r>
            </a:p>
          </p:txBody>
        </p:sp>
      </p:gr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1478418"/>
          </a:xfrm>
          <a:prstGeom prst="rect">
            <a:avLst/>
          </a:prstGeom>
          <a:noFill/>
        </p:spPr>
        <p:txBody>
          <a:bodyPr wrap="square" rtlCol="0">
            <a:spAutoFit/>
          </a:bodyPr>
          <a:lstStyle/>
          <a:p>
            <a:pPr>
              <a:lnSpc>
                <a:spcPct val="150000"/>
              </a:lnSpc>
            </a:pPr>
            <a:r>
              <a:rPr lang="en-US" altLang="zh-CN" sz="3200" dirty="0"/>
              <a:t>9.6.5 Lattices - </a:t>
            </a:r>
            <a:r>
              <a:rPr lang="en-US" altLang="zh-CN" sz="3200" dirty="0">
                <a:cs typeface="Times New Roman" panose="02020503050405090304" pitchFamily="18" charset="0"/>
              </a:rPr>
              <a:t>Proof of 6 </a:t>
            </a:r>
          </a:p>
          <a:p>
            <a:pPr>
              <a:lnSpc>
                <a:spcPct val="150000"/>
              </a:lnSpc>
            </a:pPr>
            <a:endParaRPr lang="en-US" altLang="zh-CN" sz="3200" dirty="0"/>
          </a:p>
        </p:txBody>
      </p:sp>
      <p:sp>
        <p:nvSpPr>
          <p:cNvPr id="58" name="Rectangle 3"/>
          <p:cNvSpPr txBox="1">
            <a:spLocks noChangeArrowheads="1"/>
          </p:cNvSpPr>
          <p:nvPr/>
        </p:nvSpPr>
        <p:spPr bwMode="auto">
          <a:xfrm>
            <a:off x="210046" y="1010233"/>
            <a:ext cx="11448554" cy="1741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gn="just" eaLnBrk="1" hangingPunct="1">
              <a:lnSpc>
                <a:spcPct val="150000"/>
              </a:lnSpc>
            </a:pPr>
            <a:r>
              <a:rPr lang="en-US" altLang="zh-CN" sz="2800" dirty="0"/>
              <a:t>Let </a:t>
            </a:r>
            <a:r>
              <a:rPr lang="en-US" altLang="zh-CN" sz="2800" i="1" dirty="0"/>
              <a:t>a</a:t>
            </a:r>
            <a:r>
              <a:rPr lang="en-US" altLang="zh-CN" sz="2800" dirty="0"/>
              <a:t>’ and </a:t>
            </a:r>
            <a:r>
              <a:rPr lang="en-US" altLang="zh-CN" sz="2800" i="1" dirty="0"/>
              <a:t>a</a:t>
            </a:r>
            <a:r>
              <a:rPr lang="en-US" altLang="zh-CN" sz="2800" dirty="0"/>
              <a:t>’’ be complements of the element </a:t>
            </a:r>
            <a:r>
              <a:rPr lang="en-US" altLang="zh-CN" sz="2800" i="1" dirty="0" err="1"/>
              <a:t>a</a:t>
            </a:r>
            <a:r>
              <a:rPr lang="en-US" altLang="zh-CN" sz="2800" i="1" dirty="0" err="1">
                <a:sym typeface="Symbol" panose="05050102010706020507" pitchFamily="18" charset="2"/>
              </a:rPr>
              <a:t></a:t>
            </a:r>
            <a:r>
              <a:rPr lang="en-US" altLang="zh-CN" sz="2800" i="1" dirty="0" err="1"/>
              <a:t>L</a:t>
            </a:r>
            <a:r>
              <a:rPr lang="en-US" altLang="zh-CN" sz="2800" dirty="0"/>
              <a:t>.  Then</a:t>
            </a:r>
          </a:p>
          <a:p>
            <a:pPr lvl="1" algn="just" eaLnBrk="1" hangingPunct="1">
              <a:lnSpc>
                <a:spcPct val="150000"/>
              </a:lnSpc>
            </a:pPr>
            <a:r>
              <a:rPr lang="en-US" altLang="zh-CN" sz="2400" i="1" dirty="0" err="1"/>
              <a:t>a</a:t>
            </a:r>
            <a:r>
              <a:rPr lang="en-US" altLang="zh-CN" sz="2400" dirty="0" err="1"/>
              <a:t>∨</a:t>
            </a:r>
            <a:r>
              <a:rPr lang="en-US" altLang="zh-CN" sz="2400" i="1" dirty="0" err="1"/>
              <a:t>a</a:t>
            </a:r>
            <a:r>
              <a:rPr lang="en-US" altLang="zh-CN" sz="2400" dirty="0"/>
              <a:t>’ = </a:t>
            </a:r>
            <a:r>
              <a:rPr lang="en-US" altLang="zh-CN" sz="2400" i="1" dirty="0"/>
              <a:t>I</a:t>
            </a:r>
            <a:r>
              <a:rPr lang="en-US" altLang="zh-CN" sz="2400" dirty="0"/>
              <a:t>,   </a:t>
            </a:r>
            <a:r>
              <a:rPr lang="en-US" altLang="zh-CN" sz="2400" i="1" dirty="0" err="1"/>
              <a:t>a</a:t>
            </a:r>
            <a:r>
              <a:rPr lang="en-US" altLang="zh-CN" sz="2400" dirty="0" err="1"/>
              <a:t>∨</a:t>
            </a:r>
            <a:r>
              <a:rPr lang="en-US" altLang="zh-CN" sz="2400" i="1" dirty="0" err="1"/>
              <a:t>a</a:t>
            </a:r>
            <a:r>
              <a:rPr lang="en-US" altLang="zh-CN" sz="2400" dirty="0"/>
              <a:t>’’ = </a:t>
            </a:r>
            <a:r>
              <a:rPr lang="en-US" altLang="zh-CN" sz="2400" i="1" dirty="0"/>
              <a:t>I</a:t>
            </a:r>
            <a:r>
              <a:rPr lang="en-US" altLang="zh-CN" sz="2400" dirty="0"/>
              <a:t>,   </a:t>
            </a:r>
            <a:r>
              <a:rPr lang="en-US" altLang="zh-CN" sz="2400" i="1" dirty="0" err="1"/>
              <a:t>a</a:t>
            </a:r>
            <a:r>
              <a:rPr lang="en-US" altLang="zh-CN" sz="2400" dirty="0" err="1"/>
              <a:t>∧</a:t>
            </a:r>
            <a:r>
              <a:rPr lang="en-US" altLang="zh-CN" sz="2400" i="1" dirty="0" err="1"/>
              <a:t>a</a:t>
            </a:r>
            <a:r>
              <a:rPr lang="en-US" altLang="zh-CN" sz="2400" dirty="0"/>
              <a:t>’ = </a:t>
            </a:r>
            <a:r>
              <a:rPr lang="en-US" altLang="zh-CN" sz="2400" i="1" dirty="0"/>
              <a:t>0</a:t>
            </a:r>
            <a:r>
              <a:rPr lang="en-US" altLang="zh-CN" sz="2400" dirty="0"/>
              <a:t>,   </a:t>
            </a:r>
            <a:r>
              <a:rPr lang="en-US" altLang="zh-CN" sz="2400" i="1" dirty="0" err="1"/>
              <a:t>a</a:t>
            </a:r>
            <a:r>
              <a:rPr lang="en-US" altLang="zh-CN" sz="2400" dirty="0" err="1"/>
              <a:t>∧</a:t>
            </a:r>
            <a:r>
              <a:rPr lang="en-US" altLang="zh-CN" sz="2400" i="1" dirty="0" err="1"/>
              <a:t>a</a:t>
            </a:r>
            <a:r>
              <a:rPr lang="en-US" altLang="zh-CN" sz="2400" dirty="0"/>
              <a:t>’’ = </a:t>
            </a:r>
            <a:r>
              <a:rPr lang="en-US" altLang="zh-CN" sz="2400" i="1" dirty="0"/>
              <a:t>0</a:t>
            </a:r>
            <a:r>
              <a:rPr lang="en-US" altLang="zh-CN" sz="2400" dirty="0"/>
              <a:t>.</a:t>
            </a:r>
          </a:p>
          <a:p>
            <a:pPr algn="just" eaLnBrk="1" hangingPunct="1">
              <a:lnSpc>
                <a:spcPct val="150000"/>
              </a:lnSpc>
            </a:pPr>
            <a:r>
              <a:rPr lang="en-US" altLang="zh-CN" sz="2800" dirty="0"/>
              <a:t>Using the distributive laws, we obtain</a:t>
            </a:r>
          </a:p>
          <a:p>
            <a:pPr lvl="1" algn="just" eaLnBrk="1" hangingPunct="1">
              <a:lnSpc>
                <a:spcPct val="150000"/>
              </a:lnSpc>
            </a:pPr>
            <a:r>
              <a:rPr lang="en-US" altLang="zh-CN" sz="2400" i="1" dirty="0"/>
              <a:t>a</a:t>
            </a:r>
            <a:r>
              <a:rPr lang="en-US" altLang="zh-CN" sz="2400" dirty="0"/>
              <a:t>’ = </a:t>
            </a:r>
            <a:r>
              <a:rPr lang="en-US" altLang="zh-CN" sz="2400" i="1" dirty="0"/>
              <a:t>a</a:t>
            </a:r>
            <a:r>
              <a:rPr lang="en-US" altLang="zh-CN" sz="2400" dirty="0"/>
              <a:t>’∨</a:t>
            </a:r>
            <a:r>
              <a:rPr lang="en-US" altLang="zh-CN" sz="2400" i="1" dirty="0"/>
              <a:t>0</a:t>
            </a:r>
            <a:r>
              <a:rPr lang="en-US" altLang="zh-CN" sz="2400" dirty="0"/>
              <a:t> = </a:t>
            </a:r>
            <a:r>
              <a:rPr lang="en-US" altLang="zh-CN" sz="2400" i="1" dirty="0"/>
              <a:t>a</a:t>
            </a:r>
            <a:r>
              <a:rPr lang="en-US" altLang="zh-CN" sz="2400" dirty="0"/>
              <a:t>’∨(</a:t>
            </a:r>
            <a:r>
              <a:rPr lang="en-US" altLang="zh-CN" sz="2400" i="1" dirty="0" err="1"/>
              <a:t>a</a:t>
            </a:r>
            <a:r>
              <a:rPr lang="en-US" altLang="zh-CN" sz="2400" dirty="0" err="1"/>
              <a:t>∧</a:t>
            </a:r>
            <a:r>
              <a:rPr lang="en-US" altLang="zh-CN" sz="2400" i="1" dirty="0" err="1"/>
              <a:t>a</a:t>
            </a:r>
            <a:r>
              <a:rPr lang="en-US" altLang="zh-CN" sz="2400" dirty="0"/>
              <a:t>’’) = (</a:t>
            </a:r>
            <a:r>
              <a:rPr lang="en-US" altLang="zh-CN" sz="2400" i="1" dirty="0" err="1"/>
              <a:t>a</a:t>
            </a:r>
            <a:r>
              <a:rPr lang="en-US" altLang="zh-CN" sz="2400" dirty="0" err="1"/>
              <a:t>’∨</a:t>
            </a:r>
            <a:r>
              <a:rPr lang="en-US" altLang="zh-CN" sz="2400" i="1" dirty="0" err="1"/>
              <a:t>a</a:t>
            </a:r>
            <a:r>
              <a:rPr lang="en-US" altLang="zh-CN" sz="2400" dirty="0"/>
              <a:t>) ∧(</a:t>
            </a:r>
            <a:r>
              <a:rPr lang="en-US" altLang="zh-CN" sz="2400" i="1" dirty="0" err="1"/>
              <a:t>a</a:t>
            </a:r>
            <a:r>
              <a:rPr lang="en-US" altLang="zh-CN" sz="2400" dirty="0" err="1"/>
              <a:t>’∨</a:t>
            </a:r>
            <a:r>
              <a:rPr lang="en-US" altLang="zh-CN" sz="2400" i="1" dirty="0" err="1"/>
              <a:t>a</a:t>
            </a:r>
            <a:r>
              <a:rPr lang="en-US" altLang="zh-CN" sz="2400" dirty="0"/>
              <a:t>’’) = </a:t>
            </a:r>
            <a:r>
              <a:rPr lang="en-US" altLang="zh-CN" sz="2400" i="1" dirty="0"/>
              <a:t>I</a:t>
            </a:r>
            <a:r>
              <a:rPr lang="en-US" altLang="zh-CN" sz="2400" dirty="0"/>
              <a:t>∧(</a:t>
            </a:r>
            <a:r>
              <a:rPr lang="en-US" altLang="zh-CN" sz="2400" i="1" dirty="0"/>
              <a:t>a</a:t>
            </a:r>
            <a:r>
              <a:rPr lang="en-US" altLang="zh-CN" sz="2400" dirty="0"/>
              <a:t>’ ∨</a:t>
            </a:r>
            <a:r>
              <a:rPr lang="en-US" altLang="zh-CN" sz="2400" i="1" dirty="0"/>
              <a:t>a</a:t>
            </a:r>
            <a:r>
              <a:rPr lang="en-US" altLang="zh-CN" sz="2400" dirty="0"/>
              <a:t>’’) = </a:t>
            </a:r>
            <a:r>
              <a:rPr lang="en-US" altLang="zh-CN" sz="2400" i="1" dirty="0" err="1"/>
              <a:t>a</a:t>
            </a:r>
            <a:r>
              <a:rPr lang="en-US" altLang="zh-CN" sz="2400" dirty="0" err="1"/>
              <a:t>’∨</a:t>
            </a:r>
            <a:r>
              <a:rPr lang="en-US" altLang="zh-CN" sz="2400" i="1" dirty="0" err="1"/>
              <a:t>a</a:t>
            </a:r>
            <a:r>
              <a:rPr lang="en-US" altLang="zh-CN" sz="2400" dirty="0"/>
              <a:t>’’</a:t>
            </a:r>
          </a:p>
          <a:p>
            <a:pPr algn="just" eaLnBrk="1" hangingPunct="1">
              <a:lnSpc>
                <a:spcPct val="150000"/>
              </a:lnSpc>
            </a:pPr>
            <a:r>
              <a:rPr lang="en-US" altLang="zh-CN" sz="2800" dirty="0"/>
              <a:t>Also</a:t>
            </a:r>
          </a:p>
          <a:p>
            <a:pPr lvl="1" algn="just" eaLnBrk="1" hangingPunct="1">
              <a:lnSpc>
                <a:spcPct val="150000"/>
              </a:lnSpc>
            </a:pPr>
            <a:r>
              <a:rPr lang="en-US" altLang="zh-CN" sz="2400" i="1" dirty="0"/>
              <a:t>a</a:t>
            </a:r>
            <a:r>
              <a:rPr lang="en-US" altLang="zh-CN" sz="2400" dirty="0"/>
              <a:t>’’ = </a:t>
            </a:r>
            <a:r>
              <a:rPr lang="en-US" altLang="zh-CN" sz="2400" i="1" dirty="0"/>
              <a:t>a</a:t>
            </a:r>
            <a:r>
              <a:rPr lang="en-US" altLang="zh-CN" sz="2400" dirty="0"/>
              <a:t>’’∨</a:t>
            </a:r>
            <a:r>
              <a:rPr lang="en-US" altLang="zh-CN" sz="2400" i="1" dirty="0"/>
              <a:t>0</a:t>
            </a:r>
            <a:r>
              <a:rPr lang="en-US" altLang="zh-CN" sz="2400" dirty="0"/>
              <a:t> = </a:t>
            </a:r>
            <a:r>
              <a:rPr lang="en-US" altLang="zh-CN" sz="2400" i="1" dirty="0"/>
              <a:t>a</a:t>
            </a:r>
            <a:r>
              <a:rPr lang="en-US" altLang="zh-CN" sz="2400" dirty="0"/>
              <a:t>’’∨(</a:t>
            </a:r>
            <a:r>
              <a:rPr lang="en-US" altLang="zh-CN" sz="2400" i="1" dirty="0" err="1"/>
              <a:t>a</a:t>
            </a:r>
            <a:r>
              <a:rPr lang="en-US" altLang="zh-CN" sz="2400" dirty="0" err="1"/>
              <a:t>∧</a:t>
            </a:r>
            <a:r>
              <a:rPr lang="en-US" altLang="zh-CN" sz="2400" i="1" dirty="0" err="1"/>
              <a:t>a</a:t>
            </a:r>
            <a:r>
              <a:rPr lang="en-US" altLang="zh-CN" sz="2400" dirty="0"/>
              <a:t>’)= (</a:t>
            </a:r>
            <a:r>
              <a:rPr lang="en-US" altLang="zh-CN" sz="2400" i="1" dirty="0" err="1"/>
              <a:t>a</a:t>
            </a:r>
            <a:r>
              <a:rPr lang="en-US" altLang="zh-CN" sz="2400" dirty="0" err="1"/>
              <a:t>’’∨</a:t>
            </a:r>
            <a:r>
              <a:rPr lang="en-US" altLang="zh-CN" sz="2400" i="1" dirty="0" err="1"/>
              <a:t>a</a:t>
            </a:r>
            <a:r>
              <a:rPr lang="en-US" altLang="zh-CN" sz="2400" dirty="0"/>
              <a:t>)∧(</a:t>
            </a:r>
            <a:r>
              <a:rPr lang="en-US" altLang="zh-CN" sz="2400" i="1" dirty="0" err="1"/>
              <a:t>a</a:t>
            </a:r>
            <a:r>
              <a:rPr lang="en-US" altLang="zh-CN" sz="2400" dirty="0" err="1"/>
              <a:t>’’∨</a:t>
            </a:r>
            <a:r>
              <a:rPr lang="en-US" altLang="zh-CN" sz="2400" i="1" dirty="0" err="1"/>
              <a:t>a</a:t>
            </a:r>
            <a:r>
              <a:rPr lang="en-US" altLang="zh-CN" sz="2400" dirty="0"/>
              <a:t>’) = </a:t>
            </a:r>
            <a:r>
              <a:rPr lang="en-US" altLang="zh-CN" sz="2400" i="1" dirty="0"/>
              <a:t>I</a:t>
            </a:r>
            <a:r>
              <a:rPr lang="en-US" altLang="zh-CN" sz="2400" dirty="0"/>
              <a:t>∧(</a:t>
            </a:r>
            <a:r>
              <a:rPr lang="en-US" altLang="zh-CN" sz="2400" i="1" dirty="0" err="1"/>
              <a:t>a</a:t>
            </a:r>
            <a:r>
              <a:rPr lang="en-US" altLang="zh-CN" sz="2400" dirty="0" err="1"/>
              <a:t>’’∨</a:t>
            </a:r>
            <a:r>
              <a:rPr lang="en-US" altLang="zh-CN" sz="2400" i="1" dirty="0" err="1"/>
              <a:t>a</a:t>
            </a:r>
            <a:r>
              <a:rPr lang="en-US" altLang="zh-CN" sz="2400" dirty="0"/>
              <a:t>’) = </a:t>
            </a:r>
            <a:r>
              <a:rPr lang="en-US" altLang="zh-CN" sz="2400" i="1" dirty="0" err="1"/>
              <a:t>a</a:t>
            </a:r>
            <a:r>
              <a:rPr lang="en-US" altLang="zh-CN" sz="2400" dirty="0" err="1"/>
              <a:t>’∨</a:t>
            </a:r>
            <a:r>
              <a:rPr lang="en-US" altLang="zh-CN" sz="2400" i="1" dirty="0" err="1"/>
              <a:t>a</a:t>
            </a:r>
            <a:r>
              <a:rPr lang="en-US" altLang="zh-CN" sz="2400" dirty="0"/>
              <a:t>’’</a:t>
            </a:r>
          </a:p>
          <a:p>
            <a:pPr eaLnBrk="1" hangingPunct="1">
              <a:lnSpc>
                <a:spcPct val="150000"/>
              </a:lnSpc>
            </a:pPr>
            <a:r>
              <a:rPr lang="en-US" altLang="zh-CN" sz="2800" dirty="0"/>
              <a:t>Hence  </a:t>
            </a:r>
            <a:r>
              <a:rPr lang="en-US" altLang="zh-CN" sz="2800" i="1" dirty="0"/>
              <a:t>a</a:t>
            </a:r>
            <a:r>
              <a:rPr lang="en-US" altLang="zh-CN" sz="2800" dirty="0"/>
              <a:t>’ = </a:t>
            </a:r>
            <a:r>
              <a:rPr lang="en-US" altLang="zh-CN" sz="2800" i="1" dirty="0"/>
              <a:t>a</a:t>
            </a:r>
            <a:r>
              <a:rPr lang="en-US" altLang="zh-CN" sz="2800" dirty="0"/>
              <a:t>’’. </a:t>
            </a:r>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1478418"/>
          </a:xfrm>
          <a:prstGeom prst="rect">
            <a:avLst/>
          </a:prstGeom>
          <a:noFill/>
        </p:spPr>
        <p:txBody>
          <a:bodyPr wrap="square" rtlCol="0">
            <a:spAutoFit/>
          </a:bodyPr>
          <a:lstStyle/>
          <a:p>
            <a:pPr>
              <a:lnSpc>
                <a:spcPct val="150000"/>
              </a:lnSpc>
            </a:pPr>
            <a:r>
              <a:rPr lang="en-US" altLang="zh-CN" sz="3200" dirty="0"/>
              <a:t>9.6.6 Topological Sorting</a:t>
            </a:r>
            <a:r>
              <a:rPr lang="zh-CN" altLang="en-US" sz="3200" dirty="0"/>
              <a:t>（拓扑排序）</a:t>
            </a:r>
          </a:p>
          <a:p>
            <a:pPr>
              <a:lnSpc>
                <a:spcPct val="150000"/>
              </a:lnSpc>
            </a:pPr>
            <a:endParaRPr lang="en-US" altLang="zh-CN" sz="3200" dirty="0"/>
          </a:p>
        </p:txBody>
      </p:sp>
      <p:sp>
        <p:nvSpPr>
          <p:cNvPr id="35" name="Rectangle 3"/>
          <p:cNvSpPr txBox="1">
            <a:spLocks noChangeArrowheads="1"/>
          </p:cNvSpPr>
          <p:nvPr/>
        </p:nvSpPr>
        <p:spPr bwMode="auto">
          <a:xfrm>
            <a:off x="210046" y="932935"/>
            <a:ext cx="11771908"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sz="2800"/>
              <a:t>A total ordering </a:t>
            </a:r>
            <a:r>
              <a:rPr lang="en-US" altLang="zh-CN" sz="2800">
                <a:latin typeface="Arial Unicode MS" panose="020B0604020202020204" pitchFamily="34" charset="-122"/>
              </a:rPr>
              <a:t>≼</a:t>
            </a:r>
            <a:r>
              <a:rPr lang="en-US" altLang="zh-CN" sz="2800"/>
              <a:t> is said to be compatible with the partial ordering R if a </a:t>
            </a:r>
            <a:r>
              <a:rPr lang="en-US" altLang="zh-CN" sz="2800">
                <a:latin typeface="Arial Unicode MS" panose="020B0604020202020204" pitchFamily="34" charset="-122"/>
              </a:rPr>
              <a:t>≼</a:t>
            </a:r>
            <a:r>
              <a:rPr lang="en-US" altLang="zh-CN" sz="2800"/>
              <a:t> b whenever aRb. </a:t>
            </a:r>
          </a:p>
          <a:p>
            <a:pPr eaLnBrk="1" hangingPunct="1">
              <a:lnSpc>
                <a:spcPct val="150000"/>
              </a:lnSpc>
            </a:pPr>
            <a:r>
              <a:rPr lang="en-US" altLang="zh-CN" sz="2800"/>
              <a:t>Constructing a compatible total ordering from a partial ordering is called </a:t>
            </a:r>
            <a:r>
              <a:rPr lang="en-US" altLang="zh-CN" sz="2800">
                <a:solidFill>
                  <a:srgbClr val="FF0000"/>
                </a:solidFill>
              </a:rPr>
              <a:t>topological sorting</a:t>
            </a:r>
            <a:r>
              <a:rPr lang="zh-CN" altLang="en-US" sz="2800">
                <a:solidFill>
                  <a:srgbClr val="FF0000"/>
                </a:solidFill>
              </a:rPr>
              <a:t>（拓扑排序）</a:t>
            </a:r>
            <a:r>
              <a:rPr lang="en-US" altLang="zh-CN" sz="2800"/>
              <a:t>.</a:t>
            </a:r>
          </a:p>
          <a:p>
            <a:pPr marL="0" indent="0" eaLnBrk="1" hangingPunct="1">
              <a:buNone/>
            </a:pPr>
            <a:endParaRPr lang="en-US" altLang="zh-CN" sz="2800" dirty="0">
              <a:ea typeface="Arial Unicode MS" panose="020B0604020202020204" pitchFamily="34" charset="-122"/>
            </a:endParaRP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1478418"/>
          </a:xfrm>
          <a:prstGeom prst="rect">
            <a:avLst/>
          </a:prstGeom>
          <a:noFill/>
        </p:spPr>
        <p:txBody>
          <a:bodyPr wrap="square" rtlCol="0">
            <a:spAutoFit/>
          </a:bodyPr>
          <a:lstStyle/>
          <a:p>
            <a:pPr>
              <a:lnSpc>
                <a:spcPct val="150000"/>
              </a:lnSpc>
            </a:pPr>
            <a:r>
              <a:rPr lang="en-US" altLang="zh-CN" sz="3200"/>
              <a:t>9.6.6 Topological Sorting</a:t>
            </a:r>
            <a:endParaRPr lang="zh-CN" altLang="en-US" sz="3200"/>
          </a:p>
          <a:p>
            <a:pPr>
              <a:lnSpc>
                <a:spcPct val="150000"/>
              </a:lnSpc>
            </a:pPr>
            <a:endParaRPr lang="en-US" altLang="zh-CN" sz="3200" dirty="0"/>
          </a:p>
        </p:txBody>
      </p:sp>
      <p:sp>
        <p:nvSpPr>
          <p:cNvPr id="5" name="Oval 3"/>
          <p:cNvSpPr/>
          <p:nvPr/>
        </p:nvSpPr>
        <p:spPr>
          <a:xfrm>
            <a:off x="2844800" y="3478212"/>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6" name="Oval 4"/>
          <p:cNvSpPr/>
          <p:nvPr/>
        </p:nvSpPr>
        <p:spPr>
          <a:xfrm>
            <a:off x="3768725" y="4240212"/>
            <a:ext cx="152400" cy="152400"/>
          </a:xfrm>
          <a:prstGeom prst="ellipse">
            <a:avLst/>
          </a:prstGeom>
          <a:solidFill>
            <a:schemeClr val="tx1"/>
          </a:soli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7" name="Oval 5"/>
          <p:cNvSpPr/>
          <p:nvPr/>
        </p:nvSpPr>
        <p:spPr>
          <a:xfrm>
            <a:off x="4835525" y="2868612"/>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8" name="Oval 6"/>
          <p:cNvSpPr/>
          <p:nvPr/>
        </p:nvSpPr>
        <p:spPr>
          <a:xfrm>
            <a:off x="2168525" y="4545012"/>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9" name="Oval 7"/>
          <p:cNvSpPr/>
          <p:nvPr/>
        </p:nvSpPr>
        <p:spPr>
          <a:xfrm>
            <a:off x="3082925" y="5459412"/>
            <a:ext cx="152400" cy="152400"/>
          </a:xfrm>
          <a:prstGeom prst="ellipse">
            <a:avLst/>
          </a:prstGeom>
          <a:solidFill>
            <a:schemeClr val="tx1"/>
          </a:soli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pic>
        <p:nvPicPr>
          <p:cNvPr id="10" name="Object 8"/>
          <p:cNvPicPr>
            <a:picLocks noChangeAspect="1"/>
          </p:cNvPicPr>
          <p:nvPr/>
        </p:nvPicPr>
        <p:blipFill>
          <a:blip r:embed="rId2"/>
          <a:stretch>
            <a:fillRect/>
          </a:stretch>
        </p:blipFill>
        <p:spPr>
          <a:xfrm>
            <a:off x="2701925" y="2792412"/>
            <a:ext cx="498475" cy="609600"/>
          </a:xfrm>
          <a:prstGeom prst="rect">
            <a:avLst/>
          </a:prstGeom>
          <a:noFill/>
          <a:ln w="38100">
            <a:noFill/>
            <a:miter/>
          </a:ln>
        </p:spPr>
      </p:pic>
      <p:pic>
        <p:nvPicPr>
          <p:cNvPr id="11" name="Object 9"/>
          <p:cNvPicPr>
            <a:picLocks noChangeAspect="1"/>
          </p:cNvPicPr>
          <p:nvPr/>
        </p:nvPicPr>
        <p:blipFill>
          <a:blip r:embed="rId3"/>
          <a:stretch>
            <a:fillRect/>
          </a:stretch>
        </p:blipFill>
        <p:spPr>
          <a:xfrm>
            <a:off x="2854325" y="5611812"/>
            <a:ext cx="554038" cy="609600"/>
          </a:xfrm>
          <a:prstGeom prst="rect">
            <a:avLst/>
          </a:prstGeom>
          <a:noFill/>
          <a:ln w="38100">
            <a:noFill/>
            <a:miter/>
          </a:ln>
        </p:spPr>
      </p:pic>
      <p:pic>
        <p:nvPicPr>
          <p:cNvPr id="12" name="Object 10"/>
          <p:cNvPicPr>
            <a:picLocks noChangeAspect="1"/>
          </p:cNvPicPr>
          <p:nvPr/>
        </p:nvPicPr>
        <p:blipFill>
          <a:blip r:embed="rId4"/>
          <a:stretch>
            <a:fillRect/>
          </a:stretch>
        </p:blipFill>
        <p:spPr>
          <a:xfrm>
            <a:off x="1558925" y="4316412"/>
            <a:ext cx="554038" cy="774700"/>
          </a:xfrm>
          <a:prstGeom prst="rect">
            <a:avLst/>
          </a:prstGeom>
          <a:noFill/>
          <a:ln w="38100">
            <a:noFill/>
            <a:miter/>
          </a:ln>
        </p:spPr>
      </p:pic>
      <p:pic>
        <p:nvPicPr>
          <p:cNvPr id="13" name="Object 11"/>
          <p:cNvPicPr>
            <a:picLocks noChangeAspect="1"/>
          </p:cNvPicPr>
          <p:nvPr/>
        </p:nvPicPr>
        <p:blipFill>
          <a:blip r:embed="rId5"/>
          <a:stretch>
            <a:fillRect/>
          </a:stretch>
        </p:blipFill>
        <p:spPr>
          <a:xfrm>
            <a:off x="4246563" y="2662237"/>
            <a:ext cx="609600" cy="719138"/>
          </a:xfrm>
          <a:prstGeom prst="rect">
            <a:avLst/>
          </a:prstGeom>
          <a:noFill/>
          <a:ln w="38100">
            <a:noFill/>
            <a:miter/>
          </a:ln>
        </p:spPr>
      </p:pic>
      <p:pic>
        <p:nvPicPr>
          <p:cNvPr id="14" name="Object 12"/>
          <p:cNvPicPr>
            <a:picLocks noChangeAspect="1"/>
          </p:cNvPicPr>
          <p:nvPr/>
        </p:nvPicPr>
        <p:blipFill>
          <a:blip r:embed="rId6"/>
          <a:stretch>
            <a:fillRect/>
          </a:stretch>
        </p:blipFill>
        <p:spPr>
          <a:xfrm>
            <a:off x="4019550" y="4117975"/>
            <a:ext cx="371475" cy="557212"/>
          </a:xfrm>
          <a:prstGeom prst="rect">
            <a:avLst/>
          </a:prstGeom>
          <a:noFill/>
          <a:ln w="38100">
            <a:noFill/>
            <a:miter/>
          </a:ln>
        </p:spPr>
      </p:pic>
      <p:sp>
        <p:nvSpPr>
          <p:cNvPr id="15" name="Line 13"/>
          <p:cNvSpPr/>
          <p:nvPr/>
        </p:nvSpPr>
        <p:spPr>
          <a:xfrm flipH="1" flipV="1">
            <a:off x="2168525" y="4621212"/>
            <a:ext cx="914400" cy="914400"/>
          </a:xfrm>
          <a:prstGeom prst="line">
            <a:avLst/>
          </a:prstGeom>
          <a:ln w="38100" cap="flat" cmpd="sng">
            <a:solidFill>
              <a:schemeClr val="tx1"/>
            </a:solidFill>
            <a:prstDash val="solid"/>
            <a:headEnd type="none" w="med" len="med"/>
            <a:tailEnd type="none" w="med" len="med"/>
          </a:ln>
        </p:spPr>
      </p:sp>
      <p:sp>
        <p:nvSpPr>
          <p:cNvPr id="16" name="Line 14"/>
          <p:cNvSpPr/>
          <p:nvPr/>
        </p:nvSpPr>
        <p:spPr>
          <a:xfrm flipV="1">
            <a:off x="2244725" y="3554412"/>
            <a:ext cx="685800" cy="1066800"/>
          </a:xfrm>
          <a:prstGeom prst="line">
            <a:avLst/>
          </a:prstGeom>
          <a:ln w="38100" cap="flat" cmpd="sng">
            <a:solidFill>
              <a:schemeClr val="tx1"/>
            </a:solidFill>
            <a:prstDash val="solid"/>
            <a:headEnd type="none" w="med" len="med"/>
            <a:tailEnd type="none" w="med" len="med"/>
          </a:ln>
        </p:spPr>
      </p:sp>
      <p:sp>
        <p:nvSpPr>
          <p:cNvPr id="17" name="Line 15"/>
          <p:cNvSpPr/>
          <p:nvPr/>
        </p:nvSpPr>
        <p:spPr>
          <a:xfrm flipV="1">
            <a:off x="2930525" y="1878012"/>
            <a:ext cx="609600" cy="1600200"/>
          </a:xfrm>
          <a:prstGeom prst="line">
            <a:avLst/>
          </a:prstGeom>
          <a:ln w="38100" cap="flat" cmpd="sng">
            <a:solidFill>
              <a:schemeClr val="tx1"/>
            </a:solidFill>
            <a:prstDash val="solid"/>
            <a:headEnd type="none" w="med" len="med"/>
            <a:tailEnd type="none" w="med" len="med"/>
          </a:ln>
        </p:spPr>
      </p:sp>
      <p:sp>
        <p:nvSpPr>
          <p:cNvPr id="18" name="Line 16"/>
          <p:cNvSpPr/>
          <p:nvPr/>
        </p:nvSpPr>
        <p:spPr>
          <a:xfrm>
            <a:off x="3540125" y="1878012"/>
            <a:ext cx="1371600" cy="1066800"/>
          </a:xfrm>
          <a:prstGeom prst="line">
            <a:avLst/>
          </a:prstGeom>
          <a:ln w="38100" cap="flat" cmpd="sng">
            <a:solidFill>
              <a:schemeClr val="tx1"/>
            </a:solidFill>
            <a:prstDash val="solid"/>
            <a:headEnd type="none" w="med" len="med"/>
            <a:tailEnd type="none" w="med" len="med"/>
          </a:ln>
        </p:spPr>
      </p:sp>
      <p:sp>
        <p:nvSpPr>
          <p:cNvPr id="19" name="Line 17"/>
          <p:cNvSpPr/>
          <p:nvPr/>
        </p:nvSpPr>
        <p:spPr>
          <a:xfrm flipH="1">
            <a:off x="3235325" y="4316412"/>
            <a:ext cx="2286000" cy="1295400"/>
          </a:xfrm>
          <a:prstGeom prst="line">
            <a:avLst/>
          </a:prstGeom>
          <a:ln w="38100" cap="flat" cmpd="sng">
            <a:solidFill>
              <a:schemeClr val="tx1"/>
            </a:solidFill>
            <a:prstDash val="solid"/>
            <a:headEnd type="none" w="med" len="med"/>
            <a:tailEnd type="none" w="med" len="med"/>
          </a:ln>
        </p:spPr>
      </p:sp>
      <p:sp>
        <p:nvSpPr>
          <p:cNvPr id="20" name="Line 18"/>
          <p:cNvSpPr/>
          <p:nvPr/>
        </p:nvSpPr>
        <p:spPr>
          <a:xfrm flipH="1" flipV="1">
            <a:off x="3006725" y="3554412"/>
            <a:ext cx="838200" cy="762000"/>
          </a:xfrm>
          <a:prstGeom prst="line">
            <a:avLst/>
          </a:prstGeom>
          <a:ln w="38100" cap="flat" cmpd="sng">
            <a:solidFill>
              <a:schemeClr val="tx1"/>
            </a:solidFill>
            <a:prstDash val="solid"/>
            <a:headEnd type="none" w="med" len="med"/>
            <a:tailEnd type="none" w="med" len="med"/>
          </a:ln>
        </p:spPr>
      </p:sp>
      <p:sp>
        <p:nvSpPr>
          <p:cNvPr id="21" name="Line 19"/>
          <p:cNvSpPr/>
          <p:nvPr/>
        </p:nvSpPr>
        <p:spPr>
          <a:xfrm flipV="1">
            <a:off x="3235325" y="4392612"/>
            <a:ext cx="609600" cy="1143000"/>
          </a:xfrm>
          <a:prstGeom prst="line">
            <a:avLst/>
          </a:prstGeom>
          <a:ln w="38100" cap="flat" cmpd="sng">
            <a:solidFill>
              <a:schemeClr val="tx1"/>
            </a:solidFill>
            <a:prstDash val="solid"/>
            <a:headEnd type="none" w="med" len="med"/>
            <a:tailEnd type="none" w="med" len="med"/>
          </a:ln>
        </p:spPr>
      </p:sp>
      <p:sp>
        <p:nvSpPr>
          <p:cNvPr id="22" name="Line 20"/>
          <p:cNvSpPr/>
          <p:nvPr/>
        </p:nvSpPr>
        <p:spPr>
          <a:xfrm>
            <a:off x="4835525" y="2868612"/>
            <a:ext cx="685800" cy="1371600"/>
          </a:xfrm>
          <a:prstGeom prst="line">
            <a:avLst/>
          </a:prstGeom>
          <a:ln w="38100" cap="flat" cmpd="sng">
            <a:solidFill>
              <a:schemeClr val="tx1"/>
            </a:solidFill>
            <a:prstDash val="solid"/>
            <a:headEnd type="none" w="med" len="med"/>
            <a:tailEnd type="none" w="med" len="med"/>
          </a:ln>
        </p:spPr>
      </p:sp>
      <p:sp>
        <p:nvSpPr>
          <p:cNvPr id="23" name="Oval 21"/>
          <p:cNvSpPr/>
          <p:nvPr/>
        </p:nvSpPr>
        <p:spPr>
          <a:xfrm>
            <a:off x="5445125" y="4164012"/>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pic>
        <p:nvPicPr>
          <p:cNvPr id="24" name="Object 22"/>
          <p:cNvPicPr>
            <a:picLocks noChangeAspect="1"/>
          </p:cNvPicPr>
          <p:nvPr/>
        </p:nvPicPr>
        <p:blipFill>
          <a:blip r:embed="rId7"/>
          <a:stretch>
            <a:fillRect/>
          </a:stretch>
        </p:blipFill>
        <p:spPr>
          <a:xfrm>
            <a:off x="4835525" y="3935412"/>
            <a:ext cx="498475" cy="609600"/>
          </a:xfrm>
          <a:prstGeom prst="rect">
            <a:avLst/>
          </a:prstGeom>
          <a:noFill/>
          <a:ln w="38100">
            <a:noFill/>
            <a:miter/>
          </a:ln>
        </p:spPr>
      </p:pic>
      <p:sp>
        <p:nvSpPr>
          <p:cNvPr id="25" name="Oval 23"/>
          <p:cNvSpPr/>
          <p:nvPr/>
        </p:nvSpPr>
        <p:spPr>
          <a:xfrm>
            <a:off x="3540125" y="1801812"/>
            <a:ext cx="152400" cy="152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pic>
        <p:nvPicPr>
          <p:cNvPr id="26" name="Object 24"/>
          <p:cNvPicPr>
            <a:picLocks noChangeAspect="1"/>
          </p:cNvPicPr>
          <p:nvPr/>
        </p:nvPicPr>
        <p:blipFill>
          <a:blip r:embed="rId8"/>
          <a:stretch>
            <a:fillRect/>
          </a:stretch>
        </p:blipFill>
        <p:spPr>
          <a:xfrm>
            <a:off x="2924175" y="1511300"/>
            <a:ext cx="665163" cy="885825"/>
          </a:xfrm>
          <a:prstGeom prst="rect">
            <a:avLst/>
          </a:prstGeom>
          <a:noFill/>
          <a:ln w="38100">
            <a:noFill/>
            <a:miter/>
          </a:ln>
        </p:spPr>
      </p:pic>
      <p:grpSp>
        <p:nvGrpSpPr>
          <p:cNvPr id="27" name="Group 25"/>
          <p:cNvGrpSpPr/>
          <p:nvPr/>
        </p:nvGrpSpPr>
        <p:grpSpPr>
          <a:xfrm>
            <a:off x="6096000" y="1412875"/>
            <a:ext cx="1066800" cy="5099050"/>
            <a:chOff x="0" y="148"/>
            <a:chExt cx="672" cy="3212"/>
          </a:xfrm>
        </p:grpSpPr>
        <p:sp>
          <p:nvSpPr>
            <p:cNvPr id="71" name="Oval 26"/>
            <p:cNvSpPr/>
            <p:nvPr/>
          </p:nvSpPr>
          <p:spPr>
            <a:xfrm>
              <a:off x="576" y="1104"/>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72" name="Oval 27"/>
            <p:cNvSpPr/>
            <p:nvPr/>
          </p:nvSpPr>
          <p:spPr>
            <a:xfrm>
              <a:off x="576" y="1584"/>
              <a:ext cx="96" cy="96"/>
            </a:xfrm>
            <a:prstGeom prst="ellipse">
              <a:avLst/>
            </a:prstGeom>
            <a:solidFill>
              <a:schemeClr val="tx1"/>
            </a:soli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73" name="Oval 28"/>
            <p:cNvSpPr/>
            <p:nvPr/>
          </p:nvSpPr>
          <p:spPr>
            <a:xfrm>
              <a:off x="576" y="288"/>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74" name="Oval 29"/>
            <p:cNvSpPr/>
            <p:nvPr/>
          </p:nvSpPr>
          <p:spPr>
            <a:xfrm>
              <a:off x="576" y="2592"/>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75" name="Oval 30"/>
            <p:cNvSpPr/>
            <p:nvPr/>
          </p:nvSpPr>
          <p:spPr>
            <a:xfrm>
              <a:off x="576" y="3072"/>
              <a:ext cx="96" cy="96"/>
            </a:xfrm>
            <a:prstGeom prst="ellipse">
              <a:avLst/>
            </a:prstGeom>
            <a:solidFill>
              <a:schemeClr val="tx1"/>
            </a:soli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pic>
          <p:nvPicPr>
            <p:cNvPr id="76" name="图片 75"/>
            <p:cNvPicPr/>
            <p:nvPr/>
          </p:nvPicPr>
          <p:blipFill>
            <a:blip r:embed="rId9"/>
            <a:stretch>
              <a:fillRect/>
            </a:stretch>
          </p:blipFill>
          <p:spPr>
            <a:xfrm>
              <a:off x="0" y="1008"/>
              <a:ext cx="314" cy="384"/>
            </a:xfrm>
            <a:prstGeom prst="rect">
              <a:avLst/>
            </a:prstGeom>
            <a:noFill/>
            <a:ln w="38100">
              <a:noFill/>
              <a:miter/>
            </a:ln>
          </p:spPr>
        </p:pic>
        <p:pic>
          <p:nvPicPr>
            <p:cNvPr id="77" name="图片 76"/>
            <p:cNvPicPr/>
            <p:nvPr/>
          </p:nvPicPr>
          <p:blipFill>
            <a:blip r:embed="rId10"/>
            <a:stretch>
              <a:fillRect/>
            </a:stretch>
          </p:blipFill>
          <p:spPr>
            <a:xfrm>
              <a:off x="48" y="2976"/>
              <a:ext cx="349" cy="384"/>
            </a:xfrm>
            <a:prstGeom prst="rect">
              <a:avLst/>
            </a:prstGeom>
            <a:noFill/>
            <a:ln w="38100">
              <a:noFill/>
              <a:miter/>
            </a:ln>
          </p:spPr>
        </p:pic>
        <p:pic>
          <p:nvPicPr>
            <p:cNvPr id="78" name="图片 77"/>
            <p:cNvPicPr/>
            <p:nvPr/>
          </p:nvPicPr>
          <p:blipFill>
            <a:blip r:embed="rId11"/>
            <a:stretch>
              <a:fillRect/>
            </a:stretch>
          </p:blipFill>
          <p:spPr>
            <a:xfrm>
              <a:off x="48" y="2448"/>
              <a:ext cx="349" cy="488"/>
            </a:xfrm>
            <a:prstGeom prst="rect">
              <a:avLst/>
            </a:prstGeom>
            <a:noFill/>
            <a:ln w="38100">
              <a:noFill/>
              <a:miter/>
            </a:ln>
          </p:spPr>
        </p:pic>
        <p:pic>
          <p:nvPicPr>
            <p:cNvPr id="79" name="图片 78"/>
            <p:cNvPicPr/>
            <p:nvPr/>
          </p:nvPicPr>
          <p:blipFill>
            <a:blip r:embed="rId12"/>
            <a:stretch>
              <a:fillRect/>
            </a:stretch>
          </p:blipFill>
          <p:spPr>
            <a:xfrm>
              <a:off x="0" y="528"/>
              <a:ext cx="384" cy="453"/>
            </a:xfrm>
            <a:prstGeom prst="rect">
              <a:avLst/>
            </a:prstGeom>
            <a:noFill/>
            <a:ln w="38100">
              <a:noFill/>
              <a:miter/>
            </a:ln>
          </p:spPr>
        </p:pic>
        <p:pic>
          <p:nvPicPr>
            <p:cNvPr id="80" name="图片 79"/>
            <p:cNvPicPr/>
            <p:nvPr/>
          </p:nvPicPr>
          <p:blipFill>
            <a:blip r:embed="rId13"/>
            <a:stretch>
              <a:fillRect/>
            </a:stretch>
          </p:blipFill>
          <p:spPr>
            <a:xfrm>
              <a:off x="0" y="1392"/>
              <a:ext cx="384" cy="488"/>
            </a:xfrm>
            <a:prstGeom prst="rect">
              <a:avLst/>
            </a:prstGeom>
            <a:noFill/>
            <a:ln w="38100">
              <a:noFill/>
              <a:miter/>
            </a:ln>
          </p:spPr>
        </p:pic>
        <p:sp>
          <p:nvSpPr>
            <p:cNvPr id="81" name="Line 36"/>
            <p:cNvSpPr/>
            <p:nvPr/>
          </p:nvSpPr>
          <p:spPr>
            <a:xfrm flipH="1" flipV="1">
              <a:off x="624" y="2688"/>
              <a:ext cx="0" cy="384"/>
            </a:xfrm>
            <a:prstGeom prst="line">
              <a:avLst/>
            </a:prstGeom>
            <a:ln w="38100" cap="flat" cmpd="sng">
              <a:solidFill>
                <a:schemeClr val="tx1"/>
              </a:solidFill>
              <a:prstDash val="solid"/>
              <a:headEnd type="none" w="med" len="med"/>
              <a:tailEnd type="none" w="med" len="med"/>
            </a:ln>
          </p:spPr>
        </p:sp>
        <p:sp>
          <p:nvSpPr>
            <p:cNvPr id="82" name="Oval 37"/>
            <p:cNvSpPr/>
            <p:nvPr/>
          </p:nvSpPr>
          <p:spPr>
            <a:xfrm>
              <a:off x="576" y="2016"/>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pic>
          <p:nvPicPr>
            <p:cNvPr id="83" name="图片 82"/>
            <p:cNvPicPr/>
            <p:nvPr/>
          </p:nvPicPr>
          <p:blipFill>
            <a:blip r:embed="rId14"/>
            <a:stretch>
              <a:fillRect/>
            </a:stretch>
          </p:blipFill>
          <p:spPr>
            <a:xfrm>
              <a:off x="59" y="1955"/>
              <a:ext cx="410" cy="480"/>
            </a:xfrm>
            <a:prstGeom prst="rect">
              <a:avLst/>
            </a:prstGeom>
            <a:noFill/>
            <a:ln w="38100">
              <a:noFill/>
              <a:miter/>
            </a:ln>
          </p:spPr>
        </p:pic>
        <p:sp>
          <p:nvSpPr>
            <p:cNvPr id="84" name="Oval 39"/>
            <p:cNvSpPr/>
            <p:nvPr/>
          </p:nvSpPr>
          <p:spPr>
            <a:xfrm>
              <a:off x="576" y="720"/>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pic>
          <p:nvPicPr>
            <p:cNvPr id="85" name="图片 84"/>
            <p:cNvPicPr/>
            <p:nvPr/>
          </p:nvPicPr>
          <p:blipFill>
            <a:blip r:embed="rId15"/>
            <a:stretch>
              <a:fillRect/>
            </a:stretch>
          </p:blipFill>
          <p:spPr>
            <a:xfrm>
              <a:off x="107" y="148"/>
              <a:ext cx="247" cy="358"/>
            </a:xfrm>
            <a:prstGeom prst="rect">
              <a:avLst/>
            </a:prstGeom>
            <a:noFill/>
            <a:ln w="38100">
              <a:noFill/>
              <a:miter/>
            </a:ln>
          </p:spPr>
        </p:pic>
        <p:sp>
          <p:nvSpPr>
            <p:cNvPr id="86" name="Line 41"/>
            <p:cNvSpPr/>
            <p:nvPr/>
          </p:nvSpPr>
          <p:spPr>
            <a:xfrm flipH="1" flipV="1">
              <a:off x="624" y="2112"/>
              <a:ext cx="0" cy="480"/>
            </a:xfrm>
            <a:prstGeom prst="line">
              <a:avLst/>
            </a:prstGeom>
            <a:ln w="38100" cap="flat" cmpd="sng">
              <a:solidFill>
                <a:schemeClr val="tx1"/>
              </a:solidFill>
              <a:prstDash val="solid"/>
              <a:headEnd type="none" w="med" len="med"/>
              <a:tailEnd type="none" w="med" len="med"/>
            </a:ln>
          </p:spPr>
        </p:sp>
        <p:sp>
          <p:nvSpPr>
            <p:cNvPr id="87" name="Line 42"/>
            <p:cNvSpPr/>
            <p:nvPr/>
          </p:nvSpPr>
          <p:spPr>
            <a:xfrm flipH="1" flipV="1">
              <a:off x="624" y="1680"/>
              <a:ext cx="0" cy="384"/>
            </a:xfrm>
            <a:prstGeom prst="line">
              <a:avLst/>
            </a:prstGeom>
            <a:ln w="38100" cap="flat" cmpd="sng">
              <a:solidFill>
                <a:schemeClr val="tx1"/>
              </a:solidFill>
              <a:prstDash val="solid"/>
              <a:headEnd type="none" w="med" len="med"/>
              <a:tailEnd type="none" w="med" len="med"/>
            </a:ln>
          </p:spPr>
        </p:sp>
        <p:sp>
          <p:nvSpPr>
            <p:cNvPr id="88" name="Line 43"/>
            <p:cNvSpPr/>
            <p:nvPr/>
          </p:nvSpPr>
          <p:spPr>
            <a:xfrm flipH="1" flipV="1">
              <a:off x="624" y="1200"/>
              <a:ext cx="0" cy="384"/>
            </a:xfrm>
            <a:prstGeom prst="line">
              <a:avLst/>
            </a:prstGeom>
            <a:ln w="38100" cap="flat" cmpd="sng">
              <a:solidFill>
                <a:schemeClr val="tx1"/>
              </a:solidFill>
              <a:prstDash val="solid"/>
              <a:headEnd type="none" w="med" len="med"/>
              <a:tailEnd type="none" w="med" len="med"/>
            </a:ln>
          </p:spPr>
        </p:sp>
        <p:sp>
          <p:nvSpPr>
            <p:cNvPr id="89" name="Line 44"/>
            <p:cNvSpPr/>
            <p:nvPr/>
          </p:nvSpPr>
          <p:spPr>
            <a:xfrm flipH="1" flipV="1">
              <a:off x="624" y="768"/>
              <a:ext cx="0" cy="384"/>
            </a:xfrm>
            <a:prstGeom prst="line">
              <a:avLst/>
            </a:prstGeom>
            <a:ln w="38100" cap="flat" cmpd="sng">
              <a:solidFill>
                <a:schemeClr val="tx1"/>
              </a:solidFill>
              <a:prstDash val="solid"/>
              <a:headEnd type="none" w="med" len="med"/>
              <a:tailEnd type="none" w="med" len="med"/>
            </a:ln>
          </p:spPr>
        </p:sp>
        <p:sp>
          <p:nvSpPr>
            <p:cNvPr id="90" name="Line 45"/>
            <p:cNvSpPr/>
            <p:nvPr/>
          </p:nvSpPr>
          <p:spPr>
            <a:xfrm flipH="1" flipV="1">
              <a:off x="624" y="336"/>
              <a:ext cx="0" cy="384"/>
            </a:xfrm>
            <a:prstGeom prst="line">
              <a:avLst/>
            </a:prstGeom>
            <a:ln w="38100" cap="flat" cmpd="sng">
              <a:solidFill>
                <a:schemeClr val="tx1"/>
              </a:solidFill>
              <a:prstDash val="solid"/>
              <a:headEnd type="none" w="med" len="med"/>
              <a:tailEnd type="none" w="med" len="med"/>
            </a:ln>
          </p:spPr>
        </p:sp>
      </p:grpSp>
      <p:grpSp>
        <p:nvGrpSpPr>
          <p:cNvPr id="28" name="Group 46"/>
          <p:cNvGrpSpPr/>
          <p:nvPr/>
        </p:nvGrpSpPr>
        <p:grpSpPr>
          <a:xfrm>
            <a:off x="7578725" y="1443037"/>
            <a:ext cx="990600" cy="5006975"/>
            <a:chOff x="96" y="206"/>
            <a:chExt cx="624" cy="3154"/>
          </a:xfrm>
        </p:grpSpPr>
        <p:sp>
          <p:nvSpPr>
            <p:cNvPr id="51" name="Oval 47"/>
            <p:cNvSpPr/>
            <p:nvPr/>
          </p:nvSpPr>
          <p:spPr>
            <a:xfrm>
              <a:off x="624" y="1104"/>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52" name="Oval 48"/>
            <p:cNvSpPr/>
            <p:nvPr/>
          </p:nvSpPr>
          <p:spPr>
            <a:xfrm>
              <a:off x="624" y="1584"/>
              <a:ext cx="96" cy="96"/>
            </a:xfrm>
            <a:prstGeom prst="ellipse">
              <a:avLst/>
            </a:prstGeom>
            <a:solidFill>
              <a:schemeClr val="tx1"/>
            </a:soli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53" name="Oval 49"/>
            <p:cNvSpPr/>
            <p:nvPr/>
          </p:nvSpPr>
          <p:spPr>
            <a:xfrm>
              <a:off x="624" y="288"/>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54" name="Oval 50"/>
            <p:cNvSpPr/>
            <p:nvPr/>
          </p:nvSpPr>
          <p:spPr>
            <a:xfrm>
              <a:off x="624" y="2592"/>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55" name="Oval 51"/>
            <p:cNvSpPr/>
            <p:nvPr/>
          </p:nvSpPr>
          <p:spPr>
            <a:xfrm>
              <a:off x="624" y="3072"/>
              <a:ext cx="96" cy="96"/>
            </a:xfrm>
            <a:prstGeom prst="ellipse">
              <a:avLst/>
            </a:prstGeom>
            <a:solidFill>
              <a:schemeClr val="tx1"/>
            </a:soli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pic>
          <p:nvPicPr>
            <p:cNvPr id="56" name="图片 55"/>
            <p:cNvPicPr/>
            <p:nvPr/>
          </p:nvPicPr>
          <p:blipFill>
            <a:blip r:embed="rId16"/>
            <a:stretch>
              <a:fillRect/>
            </a:stretch>
          </p:blipFill>
          <p:spPr>
            <a:xfrm>
              <a:off x="96" y="576"/>
              <a:ext cx="314" cy="384"/>
            </a:xfrm>
            <a:prstGeom prst="rect">
              <a:avLst/>
            </a:prstGeom>
            <a:noFill/>
            <a:ln w="38100">
              <a:noFill/>
              <a:miter/>
            </a:ln>
          </p:spPr>
        </p:pic>
        <p:pic>
          <p:nvPicPr>
            <p:cNvPr id="57" name="图片 56"/>
            <p:cNvPicPr/>
            <p:nvPr/>
          </p:nvPicPr>
          <p:blipFill>
            <a:blip r:embed="rId17"/>
            <a:stretch>
              <a:fillRect/>
            </a:stretch>
          </p:blipFill>
          <p:spPr>
            <a:xfrm>
              <a:off x="96" y="2976"/>
              <a:ext cx="349" cy="384"/>
            </a:xfrm>
            <a:prstGeom prst="rect">
              <a:avLst/>
            </a:prstGeom>
            <a:noFill/>
            <a:ln w="38100">
              <a:noFill/>
              <a:miter/>
            </a:ln>
          </p:spPr>
        </p:pic>
        <p:pic>
          <p:nvPicPr>
            <p:cNvPr id="58" name="图片 57"/>
            <p:cNvPicPr/>
            <p:nvPr/>
          </p:nvPicPr>
          <p:blipFill>
            <a:blip r:embed="rId18"/>
            <a:stretch>
              <a:fillRect/>
            </a:stretch>
          </p:blipFill>
          <p:spPr>
            <a:xfrm>
              <a:off x="155" y="1440"/>
              <a:ext cx="267" cy="491"/>
            </a:xfrm>
            <a:prstGeom prst="rect">
              <a:avLst/>
            </a:prstGeom>
            <a:noFill/>
            <a:ln w="38100">
              <a:noFill/>
              <a:miter/>
            </a:ln>
          </p:spPr>
        </p:pic>
        <p:pic>
          <p:nvPicPr>
            <p:cNvPr id="59" name="图片 58"/>
            <p:cNvPicPr/>
            <p:nvPr/>
          </p:nvPicPr>
          <p:blipFill>
            <a:blip r:embed="rId19"/>
            <a:stretch>
              <a:fillRect/>
            </a:stretch>
          </p:blipFill>
          <p:spPr>
            <a:xfrm>
              <a:off x="187" y="1968"/>
              <a:ext cx="330" cy="428"/>
            </a:xfrm>
            <a:prstGeom prst="rect">
              <a:avLst/>
            </a:prstGeom>
            <a:noFill/>
            <a:ln w="38100">
              <a:noFill/>
              <a:miter/>
            </a:ln>
          </p:spPr>
        </p:pic>
        <p:pic>
          <p:nvPicPr>
            <p:cNvPr id="60" name="图片 59"/>
            <p:cNvPicPr/>
            <p:nvPr/>
          </p:nvPicPr>
          <p:blipFill>
            <a:blip r:embed="rId20"/>
            <a:stretch>
              <a:fillRect/>
            </a:stretch>
          </p:blipFill>
          <p:spPr>
            <a:xfrm>
              <a:off x="119" y="940"/>
              <a:ext cx="384" cy="488"/>
            </a:xfrm>
            <a:prstGeom prst="rect">
              <a:avLst/>
            </a:prstGeom>
            <a:noFill/>
            <a:ln w="38100">
              <a:noFill/>
              <a:miter/>
            </a:ln>
          </p:spPr>
        </p:pic>
        <p:sp>
          <p:nvSpPr>
            <p:cNvPr id="61" name="Line 57"/>
            <p:cNvSpPr/>
            <p:nvPr/>
          </p:nvSpPr>
          <p:spPr>
            <a:xfrm flipH="1" flipV="1">
              <a:off x="672" y="2688"/>
              <a:ext cx="0" cy="384"/>
            </a:xfrm>
            <a:prstGeom prst="line">
              <a:avLst/>
            </a:prstGeom>
            <a:ln w="38100" cap="flat" cmpd="sng">
              <a:solidFill>
                <a:schemeClr val="tx1"/>
              </a:solidFill>
              <a:prstDash val="solid"/>
              <a:headEnd type="none" w="med" len="med"/>
              <a:tailEnd type="none" w="med" len="med"/>
            </a:ln>
          </p:spPr>
        </p:sp>
        <p:sp>
          <p:nvSpPr>
            <p:cNvPr id="62" name="Oval 58"/>
            <p:cNvSpPr/>
            <p:nvPr/>
          </p:nvSpPr>
          <p:spPr>
            <a:xfrm>
              <a:off x="624" y="2016"/>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pic>
          <p:nvPicPr>
            <p:cNvPr id="63" name="图片 62"/>
            <p:cNvPicPr/>
            <p:nvPr/>
          </p:nvPicPr>
          <p:blipFill>
            <a:blip r:embed="rId21"/>
            <a:stretch>
              <a:fillRect/>
            </a:stretch>
          </p:blipFill>
          <p:spPr>
            <a:xfrm>
              <a:off x="144" y="2496"/>
              <a:ext cx="314" cy="384"/>
            </a:xfrm>
            <a:prstGeom prst="rect">
              <a:avLst/>
            </a:prstGeom>
            <a:noFill/>
            <a:ln w="38100">
              <a:noFill/>
              <a:miter/>
            </a:ln>
          </p:spPr>
        </p:pic>
        <p:sp>
          <p:nvSpPr>
            <p:cNvPr id="64" name="Oval 60"/>
            <p:cNvSpPr/>
            <p:nvPr/>
          </p:nvSpPr>
          <p:spPr>
            <a:xfrm>
              <a:off x="624" y="720"/>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65" name="Line 61"/>
            <p:cNvSpPr/>
            <p:nvPr/>
          </p:nvSpPr>
          <p:spPr>
            <a:xfrm flipH="1" flipV="1">
              <a:off x="672" y="2112"/>
              <a:ext cx="0" cy="480"/>
            </a:xfrm>
            <a:prstGeom prst="line">
              <a:avLst/>
            </a:prstGeom>
            <a:ln w="38100" cap="flat" cmpd="sng">
              <a:solidFill>
                <a:schemeClr val="tx1"/>
              </a:solidFill>
              <a:prstDash val="solid"/>
              <a:headEnd type="none" w="med" len="med"/>
              <a:tailEnd type="none" w="med" len="med"/>
            </a:ln>
          </p:spPr>
        </p:sp>
        <p:sp>
          <p:nvSpPr>
            <p:cNvPr id="66" name="Line 62"/>
            <p:cNvSpPr/>
            <p:nvPr/>
          </p:nvSpPr>
          <p:spPr>
            <a:xfrm flipH="1" flipV="1">
              <a:off x="672" y="1680"/>
              <a:ext cx="0" cy="384"/>
            </a:xfrm>
            <a:prstGeom prst="line">
              <a:avLst/>
            </a:prstGeom>
            <a:ln w="38100" cap="flat" cmpd="sng">
              <a:solidFill>
                <a:schemeClr val="tx1"/>
              </a:solidFill>
              <a:prstDash val="solid"/>
              <a:headEnd type="none" w="med" len="med"/>
              <a:tailEnd type="none" w="med" len="med"/>
            </a:ln>
          </p:spPr>
        </p:sp>
        <p:sp>
          <p:nvSpPr>
            <p:cNvPr id="67" name="Line 63"/>
            <p:cNvSpPr/>
            <p:nvPr/>
          </p:nvSpPr>
          <p:spPr>
            <a:xfrm flipH="1" flipV="1">
              <a:off x="672" y="1200"/>
              <a:ext cx="0" cy="384"/>
            </a:xfrm>
            <a:prstGeom prst="line">
              <a:avLst/>
            </a:prstGeom>
            <a:ln w="38100" cap="flat" cmpd="sng">
              <a:solidFill>
                <a:schemeClr val="tx1"/>
              </a:solidFill>
              <a:prstDash val="solid"/>
              <a:headEnd type="none" w="med" len="med"/>
              <a:tailEnd type="none" w="med" len="med"/>
            </a:ln>
          </p:spPr>
        </p:sp>
        <p:sp>
          <p:nvSpPr>
            <p:cNvPr id="68" name="Line 64"/>
            <p:cNvSpPr/>
            <p:nvPr/>
          </p:nvSpPr>
          <p:spPr>
            <a:xfrm flipH="1" flipV="1">
              <a:off x="672" y="768"/>
              <a:ext cx="0" cy="384"/>
            </a:xfrm>
            <a:prstGeom prst="line">
              <a:avLst/>
            </a:prstGeom>
            <a:ln w="38100" cap="flat" cmpd="sng">
              <a:solidFill>
                <a:schemeClr val="tx1"/>
              </a:solidFill>
              <a:prstDash val="solid"/>
              <a:headEnd type="none" w="med" len="med"/>
              <a:tailEnd type="none" w="med" len="med"/>
            </a:ln>
          </p:spPr>
        </p:sp>
        <p:sp>
          <p:nvSpPr>
            <p:cNvPr id="69" name="Line 65"/>
            <p:cNvSpPr/>
            <p:nvPr/>
          </p:nvSpPr>
          <p:spPr>
            <a:xfrm flipH="1" flipV="1">
              <a:off x="672" y="336"/>
              <a:ext cx="0" cy="384"/>
            </a:xfrm>
            <a:prstGeom prst="line">
              <a:avLst/>
            </a:prstGeom>
            <a:ln w="38100" cap="flat" cmpd="sng">
              <a:solidFill>
                <a:schemeClr val="tx1"/>
              </a:solidFill>
              <a:prstDash val="solid"/>
              <a:headEnd type="none" w="med" len="med"/>
              <a:tailEnd type="none" w="med" len="med"/>
            </a:ln>
          </p:spPr>
        </p:sp>
        <p:pic>
          <p:nvPicPr>
            <p:cNvPr id="70" name="图片 69"/>
            <p:cNvPicPr/>
            <p:nvPr/>
          </p:nvPicPr>
          <p:blipFill>
            <a:blip r:embed="rId22"/>
            <a:stretch>
              <a:fillRect/>
            </a:stretch>
          </p:blipFill>
          <p:spPr>
            <a:xfrm>
              <a:off x="159" y="206"/>
              <a:ext cx="273" cy="392"/>
            </a:xfrm>
            <a:prstGeom prst="rect">
              <a:avLst/>
            </a:prstGeom>
            <a:noFill/>
            <a:ln w="38100">
              <a:noFill/>
              <a:miter/>
            </a:ln>
          </p:spPr>
        </p:pic>
      </p:grpSp>
      <p:grpSp>
        <p:nvGrpSpPr>
          <p:cNvPr id="29" name="Group 67"/>
          <p:cNvGrpSpPr/>
          <p:nvPr/>
        </p:nvGrpSpPr>
        <p:grpSpPr>
          <a:xfrm>
            <a:off x="9026525" y="1443037"/>
            <a:ext cx="1066800" cy="4930775"/>
            <a:chOff x="0" y="206"/>
            <a:chExt cx="672" cy="3106"/>
          </a:xfrm>
        </p:grpSpPr>
        <p:sp>
          <p:nvSpPr>
            <p:cNvPr id="30" name="Oval 68"/>
            <p:cNvSpPr/>
            <p:nvPr/>
          </p:nvSpPr>
          <p:spPr>
            <a:xfrm>
              <a:off x="576" y="1056"/>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31" name="Oval 69"/>
            <p:cNvSpPr/>
            <p:nvPr/>
          </p:nvSpPr>
          <p:spPr>
            <a:xfrm>
              <a:off x="576" y="1536"/>
              <a:ext cx="96" cy="96"/>
            </a:xfrm>
            <a:prstGeom prst="ellipse">
              <a:avLst/>
            </a:prstGeom>
            <a:solidFill>
              <a:schemeClr val="tx1"/>
            </a:soli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32" name="Oval 70"/>
            <p:cNvSpPr/>
            <p:nvPr/>
          </p:nvSpPr>
          <p:spPr>
            <a:xfrm>
              <a:off x="576" y="240"/>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33" name="Oval 71"/>
            <p:cNvSpPr/>
            <p:nvPr/>
          </p:nvSpPr>
          <p:spPr>
            <a:xfrm>
              <a:off x="576" y="2544"/>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34" name="Oval 72"/>
            <p:cNvSpPr/>
            <p:nvPr/>
          </p:nvSpPr>
          <p:spPr>
            <a:xfrm>
              <a:off x="576" y="3024"/>
              <a:ext cx="96" cy="96"/>
            </a:xfrm>
            <a:prstGeom prst="ellipse">
              <a:avLst/>
            </a:prstGeom>
            <a:solidFill>
              <a:schemeClr val="tx1"/>
            </a:soli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pic>
          <p:nvPicPr>
            <p:cNvPr id="36" name="图片 35"/>
            <p:cNvPicPr/>
            <p:nvPr/>
          </p:nvPicPr>
          <p:blipFill>
            <a:blip r:embed="rId23"/>
            <a:stretch>
              <a:fillRect/>
            </a:stretch>
          </p:blipFill>
          <p:spPr>
            <a:xfrm>
              <a:off x="58" y="1314"/>
              <a:ext cx="304" cy="411"/>
            </a:xfrm>
            <a:prstGeom prst="rect">
              <a:avLst/>
            </a:prstGeom>
            <a:noFill/>
            <a:ln w="38100">
              <a:noFill/>
              <a:miter/>
            </a:ln>
          </p:spPr>
        </p:pic>
        <p:pic>
          <p:nvPicPr>
            <p:cNvPr id="37" name="图片 36"/>
            <p:cNvPicPr/>
            <p:nvPr/>
          </p:nvPicPr>
          <p:blipFill>
            <a:blip r:embed="rId24"/>
            <a:stretch>
              <a:fillRect/>
            </a:stretch>
          </p:blipFill>
          <p:spPr>
            <a:xfrm>
              <a:off x="48" y="2928"/>
              <a:ext cx="349" cy="384"/>
            </a:xfrm>
            <a:prstGeom prst="rect">
              <a:avLst/>
            </a:prstGeom>
            <a:noFill/>
            <a:ln w="38100">
              <a:noFill/>
              <a:miter/>
            </a:ln>
          </p:spPr>
        </p:pic>
        <p:pic>
          <p:nvPicPr>
            <p:cNvPr id="38" name="图片 37"/>
            <p:cNvPicPr/>
            <p:nvPr/>
          </p:nvPicPr>
          <p:blipFill>
            <a:blip r:embed="rId25"/>
            <a:stretch>
              <a:fillRect/>
            </a:stretch>
          </p:blipFill>
          <p:spPr>
            <a:xfrm>
              <a:off x="48" y="1776"/>
              <a:ext cx="349" cy="488"/>
            </a:xfrm>
            <a:prstGeom prst="rect">
              <a:avLst/>
            </a:prstGeom>
            <a:noFill/>
            <a:ln w="38100">
              <a:noFill/>
              <a:miter/>
            </a:ln>
          </p:spPr>
        </p:pic>
        <p:pic>
          <p:nvPicPr>
            <p:cNvPr id="39" name="图片 38"/>
            <p:cNvPicPr/>
            <p:nvPr/>
          </p:nvPicPr>
          <p:blipFill>
            <a:blip r:embed="rId26"/>
            <a:stretch>
              <a:fillRect/>
            </a:stretch>
          </p:blipFill>
          <p:spPr>
            <a:xfrm>
              <a:off x="0" y="480"/>
              <a:ext cx="384" cy="453"/>
            </a:xfrm>
            <a:prstGeom prst="rect">
              <a:avLst/>
            </a:prstGeom>
            <a:noFill/>
            <a:ln w="38100">
              <a:noFill/>
              <a:miter/>
            </a:ln>
          </p:spPr>
        </p:pic>
        <p:pic>
          <p:nvPicPr>
            <p:cNvPr id="40" name="图片 39"/>
            <p:cNvPicPr/>
            <p:nvPr/>
          </p:nvPicPr>
          <p:blipFill>
            <a:blip r:embed="rId27"/>
            <a:stretch>
              <a:fillRect/>
            </a:stretch>
          </p:blipFill>
          <p:spPr>
            <a:xfrm>
              <a:off x="96" y="2352"/>
              <a:ext cx="384" cy="488"/>
            </a:xfrm>
            <a:prstGeom prst="rect">
              <a:avLst/>
            </a:prstGeom>
            <a:noFill/>
            <a:ln w="38100">
              <a:noFill/>
              <a:miter/>
            </a:ln>
          </p:spPr>
        </p:pic>
        <p:sp>
          <p:nvSpPr>
            <p:cNvPr id="41" name="Line 78"/>
            <p:cNvSpPr/>
            <p:nvPr/>
          </p:nvSpPr>
          <p:spPr>
            <a:xfrm flipH="1" flipV="1">
              <a:off x="624" y="2640"/>
              <a:ext cx="0" cy="384"/>
            </a:xfrm>
            <a:prstGeom prst="line">
              <a:avLst/>
            </a:prstGeom>
            <a:ln w="38100" cap="flat" cmpd="sng">
              <a:solidFill>
                <a:schemeClr val="tx1"/>
              </a:solidFill>
              <a:prstDash val="solid"/>
              <a:headEnd type="none" w="med" len="med"/>
              <a:tailEnd type="none" w="med" len="med"/>
            </a:ln>
          </p:spPr>
        </p:sp>
        <p:sp>
          <p:nvSpPr>
            <p:cNvPr id="42" name="Oval 79"/>
            <p:cNvSpPr/>
            <p:nvPr/>
          </p:nvSpPr>
          <p:spPr>
            <a:xfrm>
              <a:off x="576" y="1968"/>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pic>
          <p:nvPicPr>
            <p:cNvPr id="43" name="图片 42"/>
            <p:cNvPicPr/>
            <p:nvPr/>
          </p:nvPicPr>
          <p:blipFill>
            <a:blip r:embed="rId28"/>
            <a:stretch>
              <a:fillRect/>
            </a:stretch>
          </p:blipFill>
          <p:spPr>
            <a:xfrm>
              <a:off x="50" y="861"/>
              <a:ext cx="303" cy="411"/>
            </a:xfrm>
            <a:prstGeom prst="rect">
              <a:avLst/>
            </a:prstGeom>
            <a:noFill/>
            <a:ln w="38100">
              <a:noFill/>
              <a:miter/>
            </a:ln>
          </p:spPr>
        </p:pic>
        <p:sp>
          <p:nvSpPr>
            <p:cNvPr id="44" name="Oval 81"/>
            <p:cNvSpPr/>
            <p:nvPr/>
          </p:nvSpPr>
          <p:spPr>
            <a:xfrm>
              <a:off x="576" y="672"/>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45" name="Line 82"/>
            <p:cNvSpPr/>
            <p:nvPr/>
          </p:nvSpPr>
          <p:spPr>
            <a:xfrm flipH="1" flipV="1">
              <a:off x="624" y="2064"/>
              <a:ext cx="0" cy="480"/>
            </a:xfrm>
            <a:prstGeom prst="line">
              <a:avLst/>
            </a:prstGeom>
            <a:ln w="38100" cap="flat" cmpd="sng">
              <a:solidFill>
                <a:schemeClr val="tx1"/>
              </a:solidFill>
              <a:prstDash val="solid"/>
              <a:headEnd type="none" w="med" len="med"/>
              <a:tailEnd type="none" w="med" len="med"/>
            </a:ln>
          </p:spPr>
        </p:sp>
        <p:sp>
          <p:nvSpPr>
            <p:cNvPr id="46" name="Line 83"/>
            <p:cNvSpPr/>
            <p:nvPr/>
          </p:nvSpPr>
          <p:spPr>
            <a:xfrm flipH="1" flipV="1">
              <a:off x="624" y="1632"/>
              <a:ext cx="0" cy="384"/>
            </a:xfrm>
            <a:prstGeom prst="line">
              <a:avLst/>
            </a:prstGeom>
            <a:ln w="38100" cap="flat" cmpd="sng">
              <a:solidFill>
                <a:schemeClr val="tx1"/>
              </a:solidFill>
              <a:prstDash val="solid"/>
              <a:headEnd type="none" w="med" len="med"/>
              <a:tailEnd type="none" w="med" len="med"/>
            </a:ln>
          </p:spPr>
        </p:sp>
        <p:sp>
          <p:nvSpPr>
            <p:cNvPr id="47" name="Line 84"/>
            <p:cNvSpPr/>
            <p:nvPr/>
          </p:nvSpPr>
          <p:spPr>
            <a:xfrm flipH="1" flipV="1">
              <a:off x="624" y="1152"/>
              <a:ext cx="0" cy="384"/>
            </a:xfrm>
            <a:prstGeom prst="line">
              <a:avLst/>
            </a:prstGeom>
            <a:ln w="38100" cap="flat" cmpd="sng">
              <a:solidFill>
                <a:schemeClr val="tx1"/>
              </a:solidFill>
              <a:prstDash val="solid"/>
              <a:headEnd type="none" w="med" len="med"/>
              <a:tailEnd type="none" w="med" len="med"/>
            </a:ln>
          </p:spPr>
        </p:sp>
        <p:sp>
          <p:nvSpPr>
            <p:cNvPr id="48" name="Line 85"/>
            <p:cNvSpPr/>
            <p:nvPr/>
          </p:nvSpPr>
          <p:spPr>
            <a:xfrm flipH="1" flipV="1">
              <a:off x="624" y="720"/>
              <a:ext cx="0" cy="384"/>
            </a:xfrm>
            <a:prstGeom prst="line">
              <a:avLst/>
            </a:prstGeom>
            <a:ln w="38100" cap="flat" cmpd="sng">
              <a:solidFill>
                <a:schemeClr val="tx1"/>
              </a:solidFill>
              <a:prstDash val="solid"/>
              <a:headEnd type="none" w="med" len="med"/>
              <a:tailEnd type="none" w="med" len="med"/>
            </a:ln>
          </p:spPr>
        </p:sp>
        <p:sp>
          <p:nvSpPr>
            <p:cNvPr id="49" name="Line 86"/>
            <p:cNvSpPr/>
            <p:nvPr/>
          </p:nvSpPr>
          <p:spPr>
            <a:xfrm flipH="1" flipV="1">
              <a:off x="624" y="288"/>
              <a:ext cx="0" cy="384"/>
            </a:xfrm>
            <a:prstGeom prst="line">
              <a:avLst/>
            </a:prstGeom>
            <a:ln w="38100" cap="flat" cmpd="sng">
              <a:solidFill>
                <a:schemeClr val="tx1"/>
              </a:solidFill>
              <a:prstDash val="solid"/>
              <a:headEnd type="none" w="med" len="med"/>
              <a:tailEnd type="none" w="med" len="med"/>
            </a:ln>
          </p:spPr>
        </p:sp>
        <p:pic>
          <p:nvPicPr>
            <p:cNvPr id="50" name="图片 49"/>
            <p:cNvPicPr/>
            <p:nvPr/>
          </p:nvPicPr>
          <p:blipFill>
            <a:blip r:embed="rId29"/>
            <a:stretch>
              <a:fillRect/>
            </a:stretch>
          </p:blipFill>
          <p:spPr>
            <a:xfrm>
              <a:off x="159" y="206"/>
              <a:ext cx="258" cy="370"/>
            </a:xfrm>
            <a:prstGeom prst="rect">
              <a:avLst/>
            </a:prstGeom>
            <a:noFill/>
            <a:ln w="38100">
              <a:noFill/>
              <a:miter/>
            </a:ln>
          </p:spPr>
        </p:pic>
      </p:gr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9.6.6 Topological Sorting - </a:t>
            </a:r>
            <a:r>
              <a:rPr lang="en-US" altLang="zh-CN" sz="3200" dirty="0">
                <a:cs typeface="Times New Roman" panose="02020503050405090304" pitchFamily="18" charset="0"/>
              </a:rPr>
              <a:t>Theorem</a:t>
            </a:r>
            <a:endParaRPr lang="en-US" altLang="zh-CN" sz="3200" dirty="0"/>
          </a:p>
        </p:txBody>
      </p:sp>
      <p:sp>
        <p:nvSpPr>
          <p:cNvPr id="91" name="文本框 90"/>
          <p:cNvSpPr txBox="1"/>
          <p:nvPr/>
        </p:nvSpPr>
        <p:spPr>
          <a:xfrm>
            <a:off x="304800" y="876155"/>
            <a:ext cx="11741426" cy="5102935"/>
          </a:xfrm>
          <a:prstGeom prst="rect">
            <a:avLst/>
          </a:prstGeom>
          <a:noFill/>
        </p:spPr>
        <p:txBody>
          <a:bodyPr wrap="square">
            <a:spAutoFit/>
          </a:bodyPr>
          <a:lstStyle/>
          <a:p>
            <a:r>
              <a:rPr lang="en-US" altLang="zh-CN" sz="2800" b="1" i="1" dirty="0"/>
              <a:t>Every finite nonempty poset (S</a:t>
            </a:r>
            <a:r>
              <a:rPr lang="en-US" altLang="zh-CN" sz="2800" b="1" i="1"/>
              <a:t>, </a:t>
            </a:r>
            <a:r>
              <a:rPr lang="en-US" altLang="zh-CN" sz="2800">
                <a:latin typeface="Arial Unicode MS" panose="020B0604020202020204" pitchFamily="34" charset="-122"/>
              </a:rPr>
              <a:t>≼</a:t>
            </a:r>
            <a:r>
              <a:rPr lang="en-US" altLang="zh-CN" sz="2800" b="1" i="1"/>
              <a:t>) </a:t>
            </a:r>
            <a:r>
              <a:rPr lang="en-US" altLang="zh-CN" sz="2800" b="1" i="1" dirty="0"/>
              <a:t>has at least one minimal element.</a:t>
            </a:r>
          </a:p>
          <a:p>
            <a:endParaRPr lang="en-US" altLang="zh-CN" sz="2800" b="1" i="1" dirty="0"/>
          </a:p>
          <a:p>
            <a:pPr>
              <a:lnSpc>
                <a:spcPct val="140000"/>
              </a:lnSpc>
            </a:pPr>
            <a:r>
              <a:rPr lang="en-US" altLang="zh-CN" sz="2400" b="1" dirty="0"/>
              <a:t>Proof: </a:t>
            </a:r>
          </a:p>
          <a:p>
            <a:pPr>
              <a:lnSpc>
                <a:spcPct val="150000"/>
              </a:lnSpc>
            </a:pPr>
            <a:r>
              <a:rPr lang="en-US" altLang="zh-CN" sz="2400" b="1" dirty="0"/>
              <a:t>Choose an element a</a:t>
            </a:r>
            <a:r>
              <a:rPr lang="en-US" altLang="zh-CN" sz="2400" b="1" baseline="-25000" dirty="0"/>
              <a:t>0</a:t>
            </a:r>
            <a:r>
              <a:rPr lang="en-US" altLang="zh-CN" sz="2400" b="1" dirty="0"/>
              <a:t> of S. If a</a:t>
            </a:r>
            <a:r>
              <a:rPr lang="en-US" altLang="zh-CN" sz="2400" b="1" baseline="-25000" dirty="0"/>
              <a:t>0</a:t>
            </a:r>
            <a:r>
              <a:rPr lang="en-US" altLang="zh-CN" sz="2400" b="1" dirty="0"/>
              <a:t> is not minimal, then there is an element a</a:t>
            </a:r>
            <a:r>
              <a:rPr lang="en-US" altLang="zh-CN" sz="2400" b="1" baseline="-25000" dirty="0"/>
              <a:t>1</a:t>
            </a:r>
            <a:r>
              <a:rPr lang="en-US" altLang="zh-CN" sz="2400" b="1" dirty="0"/>
              <a:t> with a</a:t>
            </a:r>
            <a:r>
              <a:rPr lang="en-US" altLang="zh-CN" sz="2400" b="1" baseline="-25000" dirty="0"/>
              <a:t>1</a:t>
            </a:r>
            <a:r>
              <a:rPr lang="en-US" altLang="zh-CN" sz="2400" b="1" dirty="0"/>
              <a:t> ≺ a</a:t>
            </a:r>
            <a:r>
              <a:rPr lang="en-US" altLang="zh-CN" sz="2400" b="1" baseline="-25000" dirty="0"/>
              <a:t>0</a:t>
            </a:r>
            <a:r>
              <a:rPr lang="en-US" altLang="zh-CN" sz="2400" b="1" dirty="0"/>
              <a:t>. If a</a:t>
            </a:r>
            <a:r>
              <a:rPr lang="en-US" altLang="zh-CN" sz="2400" b="1" baseline="-25000" dirty="0"/>
              <a:t>1</a:t>
            </a:r>
            <a:r>
              <a:rPr lang="en-US" altLang="zh-CN" sz="2400" b="1" dirty="0"/>
              <a:t> is not minimal, there is an element a2 with a</a:t>
            </a:r>
            <a:r>
              <a:rPr lang="en-US" altLang="zh-CN" sz="2400" b="1" baseline="-25000" dirty="0"/>
              <a:t>2</a:t>
            </a:r>
            <a:r>
              <a:rPr lang="en-US" altLang="zh-CN" sz="2400" b="1" dirty="0"/>
              <a:t> ≺ a</a:t>
            </a:r>
            <a:r>
              <a:rPr lang="en-US" altLang="zh-CN" sz="2400" b="1" baseline="-25000" dirty="0"/>
              <a:t>1</a:t>
            </a:r>
            <a:r>
              <a:rPr lang="en-US" altLang="zh-CN" sz="2400" b="1" dirty="0"/>
              <a:t>. Continue this process, so that if an is not minimal, there is an </a:t>
            </a:r>
            <a:r>
              <a:rPr lang="en-US" altLang="zh-CN" sz="2400" b="1"/>
              <a:t>element a</a:t>
            </a:r>
            <a:r>
              <a:rPr lang="en-US" altLang="zh-CN" sz="2400" b="1" baseline="-25000"/>
              <a:t>n</a:t>
            </a:r>
            <a:r>
              <a:rPr lang="en-US" altLang="zh-CN" sz="2400" b="1" baseline="-25000" dirty="0"/>
              <a:t>+1</a:t>
            </a:r>
            <a:r>
              <a:rPr lang="en-US" altLang="zh-CN" sz="2400" b="1" dirty="0"/>
              <a:t> </a:t>
            </a:r>
            <a:r>
              <a:rPr lang="en-US" altLang="zh-CN" sz="2400" b="1"/>
              <a:t>with a</a:t>
            </a:r>
            <a:r>
              <a:rPr lang="en-US" altLang="zh-CN" sz="2400" b="1" baseline="-25000"/>
              <a:t>n</a:t>
            </a:r>
            <a:r>
              <a:rPr lang="en-US" altLang="zh-CN" sz="2400" b="1" baseline="-25000" dirty="0"/>
              <a:t>+1 </a:t>
            </a:r>
            <a:r>
              <a:rPr lang="en-US" altLang="zh-CN" sz="2400" b="1" dirty="0"/>
              <a:t>≺ a</a:t>
            </a:r>
            <a:r>
              <a:rPr lang="en-US" altLang="zh-CN" sz="2400" b="1" baseline="-25000" dirty="0"/>
              <a:t>n</a:t>
            </a:r>
            <a:r>
              <a:rPr lang="en-US" altLang="zh-CN" sz="2400" b="1" dirty="0"/>
              <a:t>. Because there are only a finite number of elements in the poset, this process must end with a minimal element a</a:t>
            </a:r>
            <a:r>
              <a:rPr lang="en-US" altLang="zh-CN" sz="2400" b="1" baseline="-25000" dirty="0"/>
              <a:t>n</a:t>
            </a:r>
            <a:r>
              <a:rPr lang="en-US" altLang="zh-CN" sz="2400" b="1" dirty="0"/>
              <a:t>.</a:t>
            </a:r>
            <a:endParaRPr lang="en-US" altLang="zh-CN" sz="2800" b="1" i="1" dirty="0"/>
          </a:p>
          <a:p>
            <a:endParaRPr lang="en-US" altLang="zh-CN" sz="2800" b="1" i="1" dirty="0"/>
          </a:p>
          <a:p>
            <a:endParaRPr lang="zh-CN" altLang="en-US" sz="2800" b="1" i="1"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9.6.6 Topological Sorting – </a:t>
            </a:r>
            <a:r>
              <a:rPr lang="en-US" altLang="zh-CN" sz="3200" dirty="0">
                <a:cs typeface="Times New Roman" panose="02020503050405090304" pitchFamily="18" charset="0"/>
              </a:rPr>
              <a:t>Sort </a:t>
            </a:r>
            <a:r>
              <a:rPr lang="en-US" altLang="zh-CN" sz="3200" dirty="0"/>
              <a:t>Algorithm </a:t>
            </a:r>
          </a:p>
        </p:txBody>
      </p:sp>
      <p:sp>
        <p:nvSpPr>
          <p:cNvPr id="91" name="文本框 90"/>
          <p:cNvSpPr txBox="1"/>
          <p:nvPr/>
        </p:nvSpPr>
        <p:spPr>
          <a:xfrm>
            <a:off x="225287" y="1160590"/>
            <a:ext cx="11741426" cy="4536819"/>
          </a:xfrm>
          <a:prstGeom prst="rect">
            <a:avLst/>
          </a:prstGeom>
          <a:noFill/>
        </p:spPr>
        <p:txBody>
          <a:bodyPr wrap="square">
            <a:spAutoFit/>
          </a:bodyPr>
          <a:lstStyle/>
          <a:p>
            <a:pPr>
              <a:lnSpc>
                <a:spcPct val="150000"/>
              </a:lnSpc>
            </a:pPr>
            <a:r>
              <a:rPr lang="en-US" altLang="zh-CN" sz="2800" b="1" i="1" dirty="0"/>
              <a:t>procedure topological sort ((S, ≤): finite poset)</a:t>
            </a:r>
          </a:p>
          <a:p>
            <a:pPr>
              <a:lnSpc>
                <a:spcPct val="150000"/>
              </a:lnSpc>
            </a:pPr>
            <a:r>
              <a:rPr lang="en-US" altLang="zh-CN" sz="2800" b="1" i="1" dirty="0"/>
              <a:t>k := 1</a:t>
            </a:r>
          </a:p>
          <a:p>
            <a:pPr>
              <a:lnSpc>
                <a:spcPct val="150000"/>
              </a:lnSpc>
            </a:pPr>
            <a:r>
              <a:rPr lang="en-US" altLang="zh-CN" sz="2800" b="1" i="1" dirty="0"/>
              <a:t>while S ≠ ∅</a:t>
            </a:r>
          </a:p>
          <a:p>
            <a:pPr>
              <a:lnSpc>
                <a:spcPct val="150000"/>
              </a:lnSpc>
            </a:pPr>
            <a:r>
              <a:rPr lang="en-US" altLang="zh-CN" sz="2800" b="1" i="1" dirty="0" err="1"/>
              <a:t>ak</a:t>
            </a:r>
            <a:r>
              <a:rPr lang="en-US" altLang="zh-CN" sz="2800" b="1" i="1" dirty="0"/>
              <a:t> := a minimal element of S {such an element exists by Lemma 1}</a:t>
            </a:r>
          </a:p>
          <a:p>
            <a:pPr>
              <a:lnSpc>
                <a:spcPct val="150000"/>
              </a:lnSpc>
            </a:pPr>
            <a:r>
              <a:rPr lang="en-US" altLang="zh-CN" sz="2800" b="1" i="1" dirty="0"/>
              <a:t>S := S − {</a:t>
            </a:r>
            <a:r>
              <a:rPr lang="en-US" altLang="zh-CN" sz="2800" b="1" i="1" dirty="0" err="1"/>
              <a:t>ak</a:t>
            </a:r>
            <a:r>
              <a:rPr lang="en-US" altLang="zh-CN" sz="2800" b="1" i="1" dirty="0"/>
              <a:t>}</a:t>
            </a:r>
          </a:p>
          <a:p>
            <a:pPr>
              <a:lnSpc>
                <a:spcPct val="150000"/>
              </a:lnSpc>
            </a:pPr>
            <a:r>
              <a:rPr lang="en-US" altLang="zh-CN" sz="2800" b="1" i="1" dirty="0"/>
              <a:t>k := k + 1</a:t>
            </a:r>
          </a:p>
          <a:p>
            <a:pPr>
              <a:lnSpc>
                <a:spcPct val="150000"/>
              </a:lnSpc>
            </a:pPr>
            <a:r>
              <a:rPr lang="en-US" altLang="zh-CN" sz="2800" b="1" i="1" dirty="0"/>
              <a:t>return a1, a2,… , an {a1, a2,… , an is a compatible total ordering of S}</a:t>
            </a:r>
            <a:endParaRPr lang="zh-CN" altLang="en-US" sz="2800" b="1" i="1" dirty="0"/>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9.6.6 Topological Sorting</a:t>
            </a:r>
            <a:endParaRPr lang="en-US" altLang="zh-CN" sz="3200" dirty="0"/>
          </a:p>
        </p:txBody>
      </p:sp>
      <p:sp>
        <p:nvSpPr>
          <p:cNvPr id="91" name="Rectangle 3"/>
          <p:cNvSpPr txBox="1">
            <a:spLocks noChangeArrowheads="1"/>
          </p:cNvSpPr>
          <p:nvPr/>
        </p:nvSpPr>
        <p:spPr bwMode="auto">
          <a:xfrm>
            <a:off x="127271" y="739209"/>
            <a:ext cx="1122202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26:</a:t>
            </a:r>
          </a:p>
          <a:p>
            <a:pPr lvl="1">
              <a:lnSpc>
                <a:spcPct val="150000"/>
              </a:lnSpc>
              <a:buClrTx/>
              <a:buFont typeface="Wingdings" panose="05000000000000000000" pitchFamily="2" charset="2"/>
              <a:buChar char="l"/>
            </a:pPr>
            <a:r>
              <a:rPr lang="en-US" altLang="zh-CN" sz="2400" dirty="0"/>
              <a:t>Find a compatible total ordering for the poset ({1, 2, 4, 5, 12, 20}, ∣).</a:t>
            </a:r>
          </a:p>
          <a:p>
            <a:pPr>
              <a:lnSpc>
                <a:spcPct val="150000"/>
              </a:lnSpc>
              <a:buFont typeface="Wingdings" panose="05000000000000000000" pitchFamily="2" charset="2"/>
              <a:buChar char="l"/>
            </a:pPr>
            <a:r>
              <a:rPr lang="en-US" altLang="zh-CN" sz="2800" dirty="0"/>
              <a:t>Solution:</a:t>
            </a:r>
          </a:p>
          <a:p>
            <a:pPr lvl="1">
              <a:lnSpc>
                <a:spcPct val="150000"/>
              </a:lnSpc>
              <a:buClrTx/>
              <a:buFont typeface="Wingdings" panose="05000000000000000000" pitchFamily="2" charset="2"/>
              <a:buChar char="l"/>
            </a:pPr>
            <a:r>
              <a:rPr lang="en-US" altLang="zh-CN" sz="2400" dirty="0"/>
              <a:t>The first step is to choose a minimal element. This must be 1, because it is the only minimal element. </a:t>
            </a:r>
          </a:p>
          <a:p>
            <a:pPr lvl="1">
              <a:lnSpc>
                <a:spcPct val="150000"/>
              </a:lnSpc>
              <a:buClrTx/>
              <a:buFont typeface="Wingdings" panose="05000000000000000000" pitchFamily="2" charset="2"/>
              <a:buChar char="l"/>
            </a:pPr>
            <a:r>
              <a:rPr lang="en-US" altLang="zh-CN" sz="2400" dirty="0"/>
              <a:t>Next, select a minimal element of ({2, 4, 5, 12, 20}, ∣). There are two minimal elements in this </a:t>
            </a:r>
            <a:r>
              <a:rPr lang="en-US" altLang="zh-CN" sz="2400" dirty="0" err="1"/>
              <a:t>poset</a:t>
            </a:r>
            <a:r>
              <a:rPr lang="en-US" altLang="zh-CN" sz="2400" dirty="0"/>
              <a:t>, namely, 2 and 5. We select 5.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1478418"/>
          </a:xfrm>
          <a:prstGeom prst="rect">
            <a:avLst/>
          </a:prstGeom>
          <a:noFill/>
        </p:spPr>
        <p:txBody>
          <a:bodyPr wrap="square" rtlCol="0">
            <a:spAutoFit/>
          </a:bodyPr>
          <a:lstStyle/>
          <a:p>
            <a:pPr>
              <a:lnSpc>
                <a:spcPct val="150000"/>
              </a:lnSpc>
            </a:pPr>
            <a:r>
              <a:rPr lang="en-US" altLang="zh-CN" sz="3200"/>
              <a:t>9.6.6 Topological Sorting</a:t>
            </a:r>
            <a:endParaRPr lang="zh-CN" altLang="en-US" sz="3200"/>
          </a:p>
          <a:p>
            <a:pPr>
              <a:lnSpc>
                <a:spcPct val="150000"/>
              </a:lnSpc>
            </a:pPr>
            <a:endParaRPr lang="en-US" altLang="zh-CN" sz="3200" dirty="0"/>
          </a:p>
        </p:txBody>
      </p:sp>
      <p:sp>
        <p:nvSpPr>
          <p:cNvPr id="91" name="Rectangle 3"/>
          <p:cNvSpPr txBox="1">
            <a:spLocks noChangeArrowheads="1"/>
          </p:cNvSpPr>
          <p:nvPr/>
        </p:nvSpPr>
        <p:spPr bwMode="auto">
          <a:xfrm>
            <a:off x="127271" y="739209"/>
            <a:ext cx="1172407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Solution:</a:t>
            </a:r>
          </a:p>
          <a:p>
            <a:pPr lvl="1">
              <a:lnSpc>
                <a:spcPct val="150000"/>
              </a:lnSpc>
              <a:buClrTx/>
              <a:buFont typeface="Wingdings" panose="05000000000000000000" pitchFamily="2" charset="2"/>
              <a:buChar char="l"/>
            </a:pPr>
            <a:r>
              <a:rPr lang="en-US" altLang="zh-CN" sz="2400" dirty="0"/>
              <a:t>The remaining elements are {2, 4, 12, 20}.The only minimal element at this stage is 2. </a:t>
            </a:r>
          </a:p>
          <a:p>
            <a:pPr lvl="1">
              <a:lnSpc>
                <a:spcPct val="150000"/>
              </a:lnSpc>
              <a:buClrTx/>
              <a:buFont typeface="Wingdings" panose="05000000000000000000" pitchFamily="2" charset="2"/>
              <a:buChar char="l"/>
            </a:pPr>
            <a:r>
              <a:rPr lang="en-US" altLang="zh-CN" sz="2400" dirty="0"/>
              <a:t>Next, 4 is chosen because it is the only minimal element of ({4, 12, 20}, ∣). Because both 12 and 20 are minimal elements of ({12, 20}, ∣), either can be chosen next. </a:t>
            </a:r>
          </a:p>
          <a:p>
            <a:pPr lvl="1">
              <a:lnSpc>
                <a:spcPct val="150000"/>
              </a:lnSpc>
              <a:buClrTx/>
              <a:buFont typeface="Wingdings" panose="05000000000000000000" pitchFamily="2" charset="2"/>
              <a:buChar char="l"/>
            </a:pPr>
            <a:r>
              <a:rPr lang="en-US" altLang="zh-CN" sz="2400" dirty="0"/>
              <a:t>We select 20, which leaves 12 as the last element left. This produces the total ordering</a:t>
            </a:r>
          </a:p>
          <a:p>
            <a:pPr marL="457200" lvl="1" indent="0" algn="ctr">
              <a:lnSpc>
                <a:spcPct val="150000"/>
              </a:lnSpc>
              <a:buClrTx/>
              <a:buNone/>
            </a:pPr>
            <a:r>
              <a:rPr lang="en-US" altLang="zh-CN" sz="2400" dirty="0"/>
              <a:t>1 ≺ 5 ≺ 2 ≺ 4 ≺ 20 ≺ 12.</a:t>
            </a:r>
          </a:p>
          <a:p>
            <a:pPr lvl="1">
              <a:lnSpc>
                <a:spcPct val="150000"/>
              </a:lnSpc>
              <a:buClrTx/>
              <a:buFont typeface="Wingdings" panose="05000000000000000000" pitchFamily="2" charset="2"/>
              <a:buChar char="l"/>
            </a:pPr>
            <a:r>
              <a:rPr lang="en-US" altLang="zh-CN" sz="2400" dirty="0"/>
              <a:t>   The steps used by this sorting algorithm are displayed in Figure .</a:t>
            </a:r>
          </a:p>
          <a:p>
            <a:pPr lvl="1">
              <a:lnSpc>
                <a:spcPct val="150000"/>
              </a:lnSpc>
              <a:buClrTx/>
              <a:buFont typeface="Wingdings" panose="05000000000000000000" pitchFamily="2" charset="2"/>
              <a:buChar char="l"/>
            </a:pPr>
            <a:endParaRPr lang="en-US" altLang="zh-CN" sz="24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9.6.6 Topological Sorting</a:t>
            </a:r>
            <a:endParaRPr lang="en-US" altLang="zh-CN" sz="3200" dirty="0"/>
          </a:p>
        </p:txBody>
      </p:sp>
      <p:sp>
        <p:nvSpPr>
          <p:cNvPr id="91" name="Rectangle 3"/>
          <p:cNvSpPr txBox="1">
            <a:spLocks noChangeArrowheads="1"/>
          </p:cNvSpPr>
          <p:nvPr/>
        </p:nvSpPr>
        <p:spPr bwMode="auto">
          <a:xfrm>
            <a:off x="-281396" y="739754"/>
            <a:ext cx="11222020" cy="6713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lvl="1">
              <a:lnSpc>
                <a:spcPct val="150000"/>
              </a:lnSpc>
              <a:buClrTx/>
              <a:buFont typeface="Wingdings" panose="05000000000000000000" pitchFamily="2" charset="2"/>
              <a:buChar char="l"/>
            </a:pPr>
            <a:r>
              <a:rPr lang="en-US" altLang="zh-CN" dirty="0"/>
              <a:t>Solution:</a:t>
            </a:r>
          </a:p>
          <a:p>
            <a:pPr lvl="1">
              <a:lnSpc>
                <a:spcPct val="150000"/>
              </a:lnSpc>
              <a:buClrTx/>
              <a:buFont typeface="Wingdings" panose="05000000000000000000" pitchFamily="2" charset="2"/>
              <a:buChar char="l"/>
            </a:pPr>
            <a:endParaRPr lang="en-US" altLang="zh-CN" dirty="0"/>
          </a:p>
        </p:txBody>
      </p:sp>
      <p:pic>
        <p:nvPicPr>
          <p:cNvPr id="3" name="图片 2"/>
          <p:cNvPicPr>
            <a:picLocks noChangeAspect="1"/>
          </p:cNvPicPr>
          <p:nvPr/>
        </p:nvPicPr>
        <p:blipFill>
          <a:blip r:embed="rId3"/>
          <a:stretch>
            <a:fillRect/>
          </a:stretch>
        </p:blipFill>
        <p:spPr>
          <a:xfrm>
            <a:off x="1107940" y="1855304"/>
            <a:ext cx="9976120" cy="4275478"/>
          </a:xfrm>
          <a:prstGeom prst="rect">
            <a:avLst/>
          </a:prstGeom>
        </p:spPr>
      </p:pic>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8859072" y="2332383"/>
            <a:ext cx="3332928" cy="3332924"/>
          </a:xfrm>
          <a:prstGeom prst="rect">
            <a:avLst/>
          </a:prstGeom>
        </p:spPr>
      </p:pic>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9.6.6 Topological Sorting</a:t>
            </a:r>
            <a:endParaRPr lang="en-US" altLang="zh-CN" sz="3200" dirty="0"/>
          </a:p>
        </p:txBody>
      </p:sp>
      <p:sp>
        <p:nvSpPr>
          <p:cNvPr id="7" name="Rectangle 3"/>
          <p:cNvSpPr txBox="1">
            <a:spLocks noChangeArrowheads="1"/>
          </p:cNvSpPr>
          <p:nvPr/>
        </p:nvSpPr>
        <p:spPr bwMode="auto">
          <a:xfrm>
            <a:off x="270054" y="853942"/>
            <a:ext cx="8794433"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3"/>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27:</a:t>
            </a:r>
          </a:p>
          <a:p>
            <a:pPr lvl="1">
              <a:lnSpc>
                <a:spcPct val="150000"/>
              </a:lnSpc>
              <a:buClrTx/>
              <a:buFont typeface="Wingdings" panose="05000000000000000000" pitchFamily="2" charset="2"/>
              <a:buChar char="l"/>
            </a:pPr>
            <a:r>
              <a:rPr lang="en-US" altLang="zh-CN" sz="2400" dirty="0"/>
              <a:t>A development project at a computer company requires the completion of seven tasks. Some of these tasks can be started only after other tasks are finished. A partial ordering on tasks is set up by considering task X ≺ task Y if task Y cannot be started until task X has been completed. The Hasse diagram for the seven tasks, with respect to this partial ordering, is shown in Figure . Find an order in which these tasks can be carried out to complete the project.</a:t>
            </a:r>
          </a:p>
        </p:txBody>
      </p:sp>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9.6.6 Topological Sorting</a:t>
            </a:r>
            <a:endParaRPr lang="en-US" altLang="zh-CN" sz="3200" dirty="0"/>
          </a:p>
        </p:txBody>
      </p:sp>
      <p:sp>
        <p:nvSpPr>
          <p:cNvPr id="7" name="Rectangle 3"/>
          <p:cNvSpPr txBox="1">
            <a:spLocks noChangeArrowheads="1"/>
          </p:cNvSpPr>
          <p:nvPr/>
        </p:nvSpPr>
        <p:spPr bwMode="auto">
          <a:xfrm>
            <a:off x="-324125" y="735781"/>
            <a:ext cx="11590641"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lvl="1">
              <a:lnSpc>
                <a:spcPct val="150000"/>
              </a:lnSpc>
              <a:buClrTx/>
              <a:buFont typeface="Wingdings" panose="05000000000000000000" pitchFamily="2" charset="2"/>
              <a:buChar char="l"/>
            </a:pPr>
            <a:r>
              <a:rPr lang="en-US" altLang="zh-CN" dirty="0"/>
              <a:t>Solution</a:t>
            </a:r>
            <a:r>
              <a:rPr lang="en-US" altLang="zh-CN"/>
              <a:t>: </a:t>
            </a:r>
          </a:p>
          <a:p>
            <a:pPr lvl="2">
              <a:lnSpc>
                <a:spcPct val="150000"/>
              </a:lnSpc>
              <a:buClrTx/>
              <a:buFont typeface="Wingdings" panose="05000000000000000000" pitchFamily="2" charset="2"/>
              <a:buChar char="l"/>
            </a:pPr>
            <a:r>
              <a:rPr lang="en-US" altLang="zh-CN"/>
              <a:t>An </a:t>
            </a:r>
            <a:r>
              <a:rPr lang="en-US" altLang="zh-CN" dirty="0"/>
              <a:t>ordering of the seven tasks can be obtained by performing a topological sort. The steps of a sort are illustrated in Figure. The result of this sort, A ≺ C ≺ B ≺ E ≺ F ≺ D ≺ G, gives one possible order for the tasks.</a:t>
            </a:r>
          </a:p>
        </p:txBody>
      </p:sp>
      <p:pic>
        <p:nvPicPr>
          <p:cNvPr id="4" name="图片 3"/>
          <p:cNvPicPr>
            <a:picLocks noChangeAspect="1"/>
          </p:cNvPicPr>
          <p:nvPr/>
        </p:nvPicPr>
        <p:blipFill>
          <a:blip r:embed="rId3"/>
          <a:stretch>
            <a:fillRect/>
          </a:stretch>
        </p:blipFill>
        <p:spPr>
          <a:xfrm>
            <a:off x="1788830" y="3656725"/>
            <a:ext cx="8614340" cy="3201275"/>
          </a:xfrm>
          <a:prstGeom prst="rect">
            <a:avLst/>
          </a:prstGeom>
        </p:spPr>
      </p:pic>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2" y="1927249"/>
            <a:ext cx="11659857"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§9.6 – 12, 28, 36, 44</a:t>
            </a:r>
          </a:p>
          <a:p>
            <a:pPr marL="0" indent="0" eaLnBrk="1" hangingPunct="1">
              <a:lnSpc>
                <a:spcPct val="150000"/>
              </a:lnSpc>
              <a:buNone/>
            </a:pPr>
            <a:endParaRPr lang="en-US" altLang="zh-CN" dirty="0"/>
          </a:p>
        </p:txBody>
      </p:sp>
      <p:sp>
        <p:nvSpPr>
          <p:cNvPr id="3" name="文本框 2"/>
          <p:cNvSpPr txBox="1"/>
          <p:nvPr/>
        </p:nvSpPr>
        <p:spPr>
          <a:xfrm>
            <a:off x="2245360" y="979805"/>
            <a:ext cx="7804150" cy="706755"/>
          </a:xfrm>
          <a:prstGeom prst="rect">
            <a:avLst/>
          </a:prstGeom>
          <a:noFill/>
        </p:spPr>
        <p:txBody>
          <a:bodyPr wrap="square" rtlCol="0">
            <a:spAutoFit/>
          </a:bodyPr>
          <a:lstStyle/>
          <a:p>
            <a:pPr algn="ctr" eaLnBrk="1" hangingPunct="1"/>
            <a:r>
              <a:rPr lang="en-US" altLang="zh-CN" sz="4000" b="1" dirty="0">
                <a:sym typeface="+mn-ea"/>
              </a:rPr>
              <a:t>Homework</a:t>
            </a:r>
            <a:endParaRPr lang="en-US" altLang="zh-CN" sz="4000" b="1" dirty="0"/>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9.6 Partial Orderings</a:t>
            </a:r>
          </a:p>
        </p:txBody>
      </p:sp>
    </p:spTree>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Semigroup and Groups</a:t>
            </a:r>
          </a:p>
        </p:txBody>
      </p:sp>
      <p:sp>
        <p:nvSpPr>
          <p:cNvPr id="58" name="Rectangle 3"/>
          <p:cNvSpPr txBox="1">
            <a:spLocks noChangeArrowheads="1"/>
          </p:cNvSpPr>
          <p:nvPr/>
        </p:nvSpPr>
        <p:spPr bwMode="auto">
          <a:xfrm>
            <a:off x="371723" y="963624"/>
            <a:ext cx="11448554"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defRPr/>
            </a:pPr>
            <a:r>
              <a:rPr lang="en-US" altLang="zh-CN" dirty="0"/>
              <a:t>9.7 </a:t>
            </a:r>
            <a:r>
              <a:rPr lang="zh-CN" altLang="en-US" dirty="0"/>
              <a:t>二元运算</a:t>
            </a:r>
            <a:r>
              <a:rPr lang="en-US" altLang="zh-CN" dirty="0"/>
              <a:t>/Binary Operations Revisited</a:t>
            </a:r>
          </a:p>
          <a:p>
            <a:pPr eaLnBrk="1" hangingPunct="1">
              <a:lnSpc>
                <a:spcPct val="150000"/>
              </a:lnSpc>
              <a:defRPr/>
            </a:pPr>
            <a:r>
              <a:rPr lang="en-US" altLang="zh-CN" dirty="0"/>
              <a:t>9.8 </a:t>
            </a:r>
            <a:r>
              <a:rPr lang="zh-CN" altLang="en-US" dirty="0"/>
              <a:t>半群</a:t>
            </a:r>
            <a:r>
              <a:rPr lang="en-US" altLang="zh-CN" dirty="0"/>
              <a:t>/Semigroups</a:t>
            </a:r>
          </a:p>
          <a:p>
            <a:pPr eaLnBrk="1" hangingPunct="1">
              <a:lnSpc>
                <a:spcPct val="150000"/>
              </a:lnSpc>
              <a:defRPr/>
            </a:pPr>
            <a:r>
              <a:rPr lang="en-US" altLang="zh-CN" dirty="0"/>
              <a:t>9.9 </a:t>
            </a:r>
            <a:r>
              <a:rPr lang="zh-CN" altLang="en-US" dirty="0"/>
              <a:t>乘积半群与商半群</a:t>
            </a:r>
            <a:r>
              <a:rPr lang="en-US" altLang="zh-CN" dirty="0"/>
              <a:t>/Products and Quotients of Semigroups</a:t>
            </a:r>
          </a:p>
          <a:p>
            <a:pPr eaLnBrk="1" hangingPunct="1">
              <a:lnSpc>
                <a:spcPct val="150000"/>
              </a:lnSpc>
              <a:defRPr/>
            </a:pPr>
            <a:r>
              <a:rPr lang="en-US" altLang="zh-CN" dirty="0"/>
              <a:t>9.10 </a:t>
            </a:r>
            <a:r>
              <a:rPr lang="zh-CN" altLang="en-US" dirty="0"/>
              <a:t>群</a:t>
            </a:r>
            <a:r>
              <a:rPr lang="en-US" altLang="zh-CN" dirty="0"/>
              <a:t>/Groups </a:t>
            </a:r>
          </a:p>
          <a:p>
            <a:pPr eaLnBrk="1" hangingPunct="1">
              <a:lnSpc>
                <a:spcPct val="150000"/>
              </a:lnSpc>
              <a:defRPr/>
            </a:pPr>
            <a:r>
              <a:rPr lang="en-US" altLang="zh-CN" dirty="0"/>
              <a:t>9.11 </a:t>
            </a:r>
            <a:r>
              <a:rPr lang="zh-CN" altLang="en-US" dirty="0"/>
              <a:t>乘积群与商群</a:t>
            </a:r>
            <a:r>
              <a:rPr lang="en-US" altLang="zh-CN" dirty="0"/>
              <a:t>/Products and Quotients of Groups</a:t>
            </a:r>
          </a:p>
        </p:txBody>
      </p:sp>
    </p:spTree>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614205" y="1927249"/>
            <a:ext cx="10248151"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sz="2800" dirty="0"/>
              <a:t>A </a:t>
            </a:r>
            <a:r>
              <a:rPr lang="en-US" altLang="zh-CN" sz="2800" dirty="0">
                <a:solidFill>
                  <a:schemeClr val="accent1">
                    <a:lumMod val="50000"/>
                  </a:schemeClr>
                </a:solidFill>
              </a:rPr>
              <a:t>binary operation on a set A </a:t>
            </a:r>
            <a:r>
              <a:rPr lang="en-US" altLang="zh-CN" sz="2800" dirty="0"/>
              <a:t>is an everywhere defined function f:A</a:t>
            </a:r>
            <a:r>
              <a:rPr lang="en-US" altLang="zh-CN" sz="2800" dirty="0">
                <a:sym typeface="Symbol" panose="05050102010706020507" pitchFamily="18" charset="2"/>
              </a:rPr>
              <a:t>  </a:t>
            </a:r>
            <a:r>
              <a:rPr lang="en-US" altLang="zh-CN" sz="2800" dirty="0"/>
              <a:t>A </a:t>
            </a:r>
            <a:r>
              <a:rPr lang="en-US" altLang="zh-CN" sz="2800" dirty="0">
                <a:sym typeface="Symbol" panose="05050102010706020507" pitchFamily="18" charset="2"/>
              </a:rPr>
              <a:t> </a:t>
            </a:r>
            <a:r>
              <a:rPr lang="en-US" altLang="zh-CN" sz="2800" dirty="0"/>
              <a:t>A.</a:t>
            </a:r>
          </a:p>
          <a:p>
            <a:pPr eaLnBrk="1" hangingPunct="1">
              <a:lnSpc>
                <a:spcPct val="150000"/>
              </a:lnSpc>
            </a:pPr>
            <a:r>
              <a:rPr lang="en-US" altLang="zh-CN" sz="2800" dirty="0"/>
              <a:t>A binary operation must satisfy:</a:t>
            </a:r>
          </a:p>
          <a:p>
            <a:pPr lvl="1">
              <a:lnSpc>
                <a:spcPct val="150000"/>
              </a:lnSpc>
            </a:pPr>
            <a:r>
              <a:rPr lang="en-US" altLang="zh-CN" sz="2400" dirty="0"/>
              <a:t> f assigns an element f(</a:t>
            </a:r>
            <a:r>
              <a:rPr lang="en-US" altLang="zh-CN" sz="2400" dirty="0" err="1"/>
              <a:t>a,b</a:t>
            </a:r>
            <a:r>
              <a:rPr lang="en-US" altLang="zh-CN" sz="2400" dirty="0"/>
              <a:t>) of A to each ordered pair (</a:t>
            </a:r>
            <a:r>
              <a:rPr lang="en-US" altLang="zh-CN" sz="2400" dirty="0" err="1"/>
              <a:t>a,b</a:t>
            </a:r>
            <a:r>
              <a:rPr lang="en-US" altLang="zh-CN" sz="2400" dirty="0"/>
              <a:t>) in A</a:t>
            </a:r>
            <a:r>
              <a:rPr lang="en-US" altLang="zh-CN" sz="2400" dirty="0">
                <a:sym typeface="Symbol" panose="05050102010706020507" pitchFamily="18" charset="2"/>
              </a:rPr>
              <a:t>  </a:t>
            </a:r>
            <a:r>
              <a:rPr lang="en-US" altLang="zh-CN" sz="2400" dirty="0"/>
              <a:t>A.</a:t>
            </a:r>
          </a:p>
          <a:p>
            <a:pPr lvl="1">
              <a:lnSpc>
                <a:spcPct val="150000"/>
              </a:lnSpc>
            </a:pPr>
            <a:r>
              <a:rPr lang="en-US" altLang="zh-CN" sz="2800" dirty="0"/>
              <a:t>Since a binary operation is a function. Only one element of A is assigned to each ordered pair.</a:t>
            </a:r>
          </a:p>
        </p:txBody>
      </p:sp>
      <p:sp>
        <p:nvSpPr>
          <p:cNvPr id="3" name="文本框 2"/>
          <p:cNvSpPr txBox="1"/>
          <p:nvPr/>
        </p:nvSpPr>
        <p:spPr>
          <a:xfrm>
            <a:off x="2165684" y="979558"/>
            <a:ext cx="7860632" cy="707886"/>
          </a:xfrm>
          <a:prstGeom prst="rect">
            <a:avLst/>
          </a:prstGeom>
          <a:noFill/>
        </p:spPr>
        <p:txBody>
          <a:bodyPr wrap="square" rtlCol="0">
            <a:spAutoFit/>
          </a:bodyPr>
          <a:lstStyle/>
          <a:p>
            <a:pPr algn="ctr"/>
            <a:r>
              <a:rPr lang="en-US" altLang="zh-CN" sz="4000" b="1">
                <a:latin typeface="Times New Roman" panose="02020503050405090304" pitchFamily="18" charset="0"/>
              </a:rPr>
              <a:t>Binary operations(</a:t>
            </a:r>
            <a:r>
              <a:rPr lang="zh-CN" altLang="en-US" sz="4000" b="1">
                <a:latin typeface="Times New Roman" panose="02020503050405090304" pitchFamily="18" charset="0"/>
              </a:rPr>
              <a:t>二元运算</a:t>
            </a:r>
            <a:r>
              <a:rPr lang="en-US" altLang="zh-CN" sz="4000" b="1">
                <a:latin typeface="Times New Roman" panose="02020503050405090304" pitchFamily="18" charset="0"/>
              </a:rPr>
              <a:t>)</a:t>
            </a:r>
            <a:endParaRPr lang="zh-CN" altLang="en-US" sz="4000" b="1"/>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567765" y="1687444"/>
            <a:ext cx="11056470"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sz="2800" dirty="0"/>
              <a:t>It’s customary to denote binary operations by a symbol such as *, instead of  f, and to denote the element assigned to (a, b) by a*b [instead of *(a, b)].</a:t>
            </a:r>
          </a:p>
          <a:p>
            <a:pPr eaLnBrk="1" hangingPunct="1">
              <a:lnSpc>
                <a:spcPct val="150000"/>
              </a:lnSpc>
            </a:pPr>
            <a:r>
              <a:rPr lang="en-US" altLang="zh-CN" sz="2800" dirty="0"/>
              <a:t>A is </a:t>
            </a:r>
            <a:r>
              <a:rPr lang="en-US" altLang="zh-CN" sz="2800" dirty="0">
                <a:solidFill>
                  <a:srgbClr val="FF0000"/>
                </a:solidFill>
              </a:rPr>
              <a:t>closed(</a:t>
            </a:r>
            <a:r>
              <a:rPr lang="zh-CN" altLang="en-US" sz="2800" dirty="0">
                <a:solidFill>
                  <a:srgbClr val="FF0000"/>
                </a:solidFill>
              </a:rPr>
              <a:t>封闭的</a:t>
            </a:r>
            <a:r>
              <a:rPr lang="en-US" altLang="zh-CN" sz="2800" dirty="0">
                <a:solidFill>
                  <a:srgbClr val="FF0000"/>
                </a:solidFill>
              </a:rPr>
              <a:t>) </a:t>
            </a:r>
            <a:r>
              <a:rPr lang="en-US" altLang="zh-CN" sz="2800" dirty="0">
                <a:solidFill>
                  <a:schemeClr val="accent1">
                    <a:lumMod val="50000"/>
                  </a:schemeClr>
                </a:solidFill>
              </a:rPr>
              <a:t>under the operation *</a:t>
            </a:r>
            <a:r>
              <a:rPr lang="en-US" altLang="zh-CN" sz="2800" dirty="0"/>
              <a:t> , if a and b are elements in A, a*b</a:t>
            </a:r>
            <a:r>
              <a:rPr lang="en-US" altLang="zh-CN" sz="2800" dirty="0">
                <a:sym typeface="Symbol" panose="05050102010706020507" pitchFamily="18" charset="2"/>
              </a:rPr>
              <a:t>  </a:t>
            </a:r>
            <a:r>
              <a:rPr lang="en-US" altLang="zh-CN" sz="2800" dirty="0"/>
              <a:t>A. </a:t>
            </a:r>
          </a:p>
        </p:txBody>
      </p:sp>
      <p:sp>
        <p:nvSpPr>
          <p:cNvPr id="3" name="文本框 2"/>
          <p:cNvSpPr txBox="1"/>
          <p:nvPr/>
        </p:nvSpPr>
        <p:spPr>
          <a:xfrm>
            <a:off x="2165684" y="979558"/>
            <a:ext cx="7860632" cy="707886"/>
          </a:xfrm>
          <a:prstGeom prst="rect">
            <a:avLst/>
          </a:prstGeom>
          <a:noFill/>
        </p:spPr>
        <p:txBody>
          <a:bodyPr wrap="square" rtlCol="0">
            <a:spAutoFit/>
          </a:bodyPr>
          <a:lstStyle/>
          <a:p>
            <a:pPr algn="ctr"/>
            <a:r>
              <a:rPr lang="en-US" altLang="zh-CN" sz="4000" b="1">
                <a:latin typeface="Times New Roman" panose="02020503050405090304" pitchFamily="18" charset="0"/>
              </a:rPr>
              <a:t>Note</a:t>
            </a:r>
            <a:endParaRPr lang="zh-CN" altLang="en-US" sz="4000" b="1"/>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3" y="853942"/>
            <a:ext cx="11398483" cy="580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1:</a:t>
            </a:r>
          </a:p>
          <a:p>
            <a:pPr lvl="1">
              <a:lnSpc>
                <a:spcPct val="150000"/>
              </a:lnSpc>
              <a:buClrTx/>
              <a:buFont typeface="Wingdings" panose="05000000000000000000" pitchFamily="2" charset="2"/>
              <a:buChar char="l"/>
            </a:pPr>
            <a:r>
              <a:rPr lang="en-US" altLang="zh-CN" dirty="0"/>
              <a:t>Let A = Z. Define a*b as a + b. </a:t>
            </a:r>
          </a:p>
          <a:p>
            <a:pPr lvl="2">
              <a:lnSpc>
                <a:spcPct val="150000"/>
              </a:lnSpc>
              <a:buClrTx/>
              <a:buFont typeface="Wingdings" panose="05000000000000000000" pitchFamily="2" charset="2"/>
              <a:buChar char="l"/>
            </a:pPr>
            <a:r>
              <a:rPr lang="en-US" altLang="zh-CN" dirty="0"/>
              <a:t>* is a binary operation on Z.</a:t>
            </a:r>
          </a:p>
          <a:p>
            <a:pPr marL="914400" lvl="2" indent="0">
              <a:lnSpc>
                <a:spcPct val="150000"/>
              </a:lnSpc>
              <a:buClrTx/>
              <a:buNone/>
            </a:pPr>
            <a:endParaRPr lang="en-US" altLang="zh-CN" dirty="0"/>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3" y="853942"/>
            <a:ext cx="11398483" cy="580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2:</a:t>
            </a:r>
          </a:p>
          <a:p>
            <a:pPr lvl="1">
              <a:lnSpc>
                <a:spcPct val="150000"/>
              </a:lnSpc>
              <a:buClrTx/>
              <a:buFont typeface="Wingdings" panose="05000000000000000000" pitchFamily="2" charset="2"/>
              <a:buChar char="l"/>
            </a:pPr>
            <a:r>
              <a:rPr lang="pt-BR" altLang="zh-CN" dirty="0"/>
              <a:t>Let A = R . Define a*b as a/b.</a:t>
            </a:r>
          </a:p>
          <a:p>
            <a:pPr lvl="2">
              <a:lnSpc>
                <a:spcPct val="150000"/>
              </a:lnSpc>
              <a:buClrTx/>
              <a:buFont typeface="Wingdings" panose="05000000000000000000" pitchFamily="2" charset="2"/>
              <a:buChar char="l"/>
            </a:pPr>
            <a:r>
              <a:rPr lang="en-US" altLang="zh-CN" dirty="0"/>
              <a:t>* is not a binary operation, since it is not defined for every ordered pair of elements of A. </a:t>
            </a:r>
          </a:p>
          <a:p>
            <a:pPr lvl="2">
              <a:lnSpc>
                <a:spcPct val="150000"/>
              </a:lnSpc>
              <a:buClrTx/>
              <a:buFont typeface="Wingdings" panose="05000000000000000000" pitchFamily="2" charset="2"/>
              <a:buChar char="l"/>
            </a:pPr>
            <a:r>
              <a:rPr lang="en-US" altLang="zh-CN" dirty="0"/>
              <a:t>For example, 3*0 is not defined, since we can not divide by zero.</a:t>
            </a:r>
          </a:p>
          <a:p>
            <a:pPr marL="914400" lvl="2" indent="0">
              <a:lnSpc>
                <a:spcPct val="150000"/>
              </a:lnSpc>
              <a:buClrTx/>
              <a:buNone/>
            </a:pPr>
            <a:endParaRPr lang="en-US" altLang="zh-CN" dirty="0"/>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3" y="853942"/>
            <a:ext cx="11398483" cy="580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3:</a:t>
            </a:r>
          </a:p>
          <a:p>
            <a:pPr lvl="1">
              <a:lnSpc>
                <a:spcPct val="150000"/>
              </a:lnSpc>
              <a:buClrTx/>
              <a:buFont typeface="Wingdings" panose="05000000000000000000" pitchFamily="2" charset="2"/>
              <a:buChar char="l"/>
            </a:pPr>
            <a:r>
              <a:rPr lang="en-US" altLang="zh-CN" dirty="0"/>
              <a:t>Let A = Z</a:t>
            </a:r>
            <a:r>
              <a:rPr lang="en-US" altLang="zh-CN" baseline="30000" dirty="0"/>
              <a:t>+</a:t>
            </a:r>
            <a:r>
              <a:rPr lang="en-US" altLang="zh-CN" dirty="0"/>
              <a:t>. Define a*b as a-b. </a:t>
            </a:r>
          </a:p>
          <a:p>
            <a:pPr lvl="2">
              <a:lnSpc>
                <a:spcPct val="150000"/>
              </a:lnSpc>
              <a:buClrTx/>
              <a:buFont typeface="Wingdings" panose="05000000000000000000" pitchFamily="2" charset="2"/>
              <a:buChar char="l"/>
            </a:pPr>
            <a:r>
              <a:rPr lang="en-US" altLang="zh-CN" dirty="0"/>
              <a:t>* is not a binary operation since it does not assign an element of A to every ordered pair of elements of A; for example,2*5</a:t>
            </a:r>
            <a:r>
              <a:rPr lang="en-US" altLang="zh-CN" dirty="0">
                <a:sym typeface="Symbol" panose="05050102010706020507" pitchFamily="18" charset="2"/>
              </a:rPr>
              <a:t> </a:t>
            </a:r>
            <a:r>
              <a:rPr lang="en-US" altLang="zh-CN" dirty="0"/>
              <a:t> A.</a:t>
            </a:r>
          </a:p>
          <a:p>
            <a:pPr marL="914400" lvl="2" indent="0">
              <a:lnSpc>
                <a:spcPct val="150000"/>
              </a:lnSpc>
              <a:buClrTx/>
              <a:buNone/>
            </a:pPr>
            <a:endParaRPr lang="en-US" altLang="zh-CN" dirty="0"/>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3" y="853942"/>
            <a:ext cx="11398483" cy="580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4:</a:t>
            </a:r>
          </a:p>
          <a:p>
            <a:pPr lvl="1">
              <a:lnSpc>
                <a:spcPct val="150000"/>
              </a:lnSpc>
              <a:buClrTx/>
              <a:buFont typeface="Wingdings" panose="05000000000000000000" pitchFamily="2" charset="2"/>
              <a:buChar char="l"/>
            </a:pPr>
            <a:r>
              <a:rPr lang="en-US" altLang="zh-CN" dirty="0"/>
              <a:t>Let A = Z. Define a*b as a number less than both a and b. </a:t>
            </a:r>
          </a:p>
          <a:p>
            <a:pPr lvl="2">
              <a:lnSpc>
                <a:spcPct val="150000"/>
              </a:lnSpc>
              <a:buClrTx/>
              <a:buFont typeface="Wingdings" panose="05000000000000000000" pitchFamily="2" charset="2"/>
              <a:buChar char="l"/>
            </a:pPr>
            <a:r>
              <a:rPr lang="en-US" altLang="zh-CN" dirty="0"/>
              <a:t>* is not a binary operation, since it does not assign a unique element of A to each ordered pair of elements of A; for example, 8*6 could be 5, 4, 3, l, and so on. </a:t>
            </a:r>
          </a:p>
          <a:p>
            <a:pPr lvl="2">
              <a:lnSpc>
                <a:spcPct val="150000"/>
              </a:lnSpc>
              <a:buClrTx/>
              <a:buFont typeface="Wingdings" panose="05000000000000000000" pitchFamily="2" charset="2"/>
              <a:buChar char="l"/>
            </a:pPr>
            <a:r>
              <a:rPr lang="en-US" altLang="zh-CN" dirty="0"/>
              <a:t>in this case, * would be a relation </a:t>
            </a:r>
            <a:r>
              <a:rPr lang="en-US" altLang="zh-CN"/>
              <a:t>from A×A </a:t>
            </a:r>
            <a:r>
              <a:rPr lang="en-US" altLang="zh-CN" dirty="0"/>
              <a:t>to A, but not a function</a:t>
            </a:r>
          </a:p>
          <a:p>
            <a:pPr marL="914400" lvl="2" indent="0">
              <a:lnSpc>
                <a:spcPct val="150000"/>
              </a:lnSpc>
              <a:buClrTx/>
              <a:buNone/>
            </a:pPr>
            <a:endParaRPr lang="en-US" altLang="zh-CN" dirty="0"/>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3" y="853942"/>
            <a:ext cx="11398483" cy="580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5:</a:t>
            </a:r>
          </a:p>
          <a:p>
            <a:pPr lvl="1">
              <a:lnSpc>
                <a:spcPct val="150000"/>
              </a:lnSpc>
              <a:buClrTx/>
              <a:buFont typeface="Wingdings" panose="05000000000000000000" pitchFamily="2" charset="2"/>
              <a:buChar char="l"/>
            </a:pPr>
            <a:r>
              <a:rPr lang="en-US" altLang="zh-CN" dirty="0"/>
              <a:t>Let A = Z. Define a*b as max{a, b}.</a:t>
            </a:r>
          </a:p>
          <a:p>
            <a:pPr lvl="2">
              <a:lnSpc>
                <a:spcPct val="150000"/>
              </a:lnSpc>
              <a:buClrTx/>
              <a:buFont typeface="Wingdings" panose="05000000000000000000" pitchFamily="2" charset="2"/>
              <a:buChar char="l"/>
            </a:pPr>
            <a:r>
              <a:rPr lang="en-US" altLang="zh-CN" dirty="0"/>
              <a:t>* is a binary operation; for example,2*4 = 4, -3*(-5)=-3. </a:t>
            </a:r>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3" y="853942"/>
            <a:ext cx="11398483" cy="580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6:</a:t>
            </a:r>
          </a:p>
          <a:p>
            <a:pPr lvl="1">
              <a:lnSpc>
                <a:spcPct val="150000"/>
              </a:lnSpc>
              <a:buClrTx/>
              <a:buFont typeface="Wingdings" panose="05000000000000000000" pitchFamily="2" charset="2"/>
              <a:buChar char="l"/>
            </a:pPr>
            <a:r>
              <a:rPr lang="en-US" altLang="zh-CN" dirty="0"/>
              <a:t>Let A = P(S), for some set S. If V and W are subsets of S, define V*W as V∪W.</a:t>
            </a:r>
          </a:p>
          <a:p>
            <a:pPr lvl="2">
              <a:lnSpc>
                <a:spcPct val="150000"/>
              </a:lnSpc>
              <a:buClrTx/>
              <a:buFont typeface="Wingdings" panose="05000000000000000000" pitchFamily="2" charset="2"/>
              <a:buChar char="l"/>
            </a:pPr>
            <a:r>
              <a:rPr lang="en-US" altLang="zh-CN" dirty="0"/>
              <a:t>* is a binary operation on A.</a:t>
            </a:r>
          </a:p>
          <a:p>
            <a:pPr lvl="2">
              <a:lnSpc>
                <a:spcPct val="150000"/>
              </a:lnSpc>
              <a:buClrTx/>
              <a:buFont typeface="Wingdings" panose="05000000000000000000" pitchFamily="2" charset="2"/>
              <a:buChar char="l"/>
            </a:pPr>
            <a:r>
              <a:rPr lang="en-US" altLang="zh-CN" dirty="0"/>
              <a:t>if we define V *' W as V∪W, then *' is another binary operation on A.</a:t>
            </a:r>
          </a:p>
          <a:p>
            <a:pPr lvl="3">
              <a:lnSpc>
                <a:spcPct val="150000"/>
              </a:lnSpc>
              <a:buClrTx/>
              <a:buFont typeface="Wingdings" panose="05000000000000000000" pitchFamily="2" charset="2"/>
              <a:buChar char="l"/>
            </a:pPr>
            <a:r>
              <a:rPr lang="en-US" altLang="zh-CN" dirty="0"/>
              <a:t>Note: It’s possible to define many binary operations on the same set.</a:t>
            </a:r>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3" y="853942"/>
            <a:ext cx="11398483" cy="580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Example 7:</a:t>
            </a:r>
          </a:p>
          <a:p>
            <a:pPr lvl="1">
              <a:lnSpc>
                <a:spcPct val="150000"/>
              </a:lnSpc>
              <a:buClrTx/>
              <a:buFont typeface="Wingdings" panose="05000000000000000000" pitchFamily="2" charset="2"/>
              <a:buChar char="l"/>
            </a:pPr>
            <a:r>
              <a:rPr lang="en-US" altLang="zh-CN"/>
              <a:t>Let M be the set of all n×n Boolean matrices for a fixed n. Define A*B as A∨B</a:t>
            </a:r>
          </a:p>
          <a:p>
            <a:pPr lvl="2">
              <a:lnSpc>
                <a:spcPct val="150000"/>
              </a:lnSpc>
              <a:buClrTx/>
              <a:buFont typeface="Wingdings" panose="05000000000000000000" pitchFamily="2" charset="2"/>
              <a:buChar char="l"/>
            </a:pPr>
            <a:r>
              <a:rPr lang="en-US" altLang="zh-CN"/>
              <a:t>* is a binary operation.</a:t>
            </a:r>
          </a:p>
          <a:p>
            <a:pPr lvl="2">
              <a:lnSpc>
                <a:spcPct val="150000"/>
              </a:lnSpc>
              <a:buClrTx/>
              <a:buFont typeface="Wingdings" panose="05000000000000000000" pitchFamily="2" charset="2"/>
              <a:buChar char="l"/>
            </a:pPr>
            <a:r>
              <a:rPr lang="en-US" altLang="zh-CN"/>
              <a:t> This is also true of A∨B.</a:t>
            </a:r>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3" y="853942"/>
            <a:ext cx="11398483" cy="580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8:</a:t>
            </a:r>
          </a:p>
          <a:p>
            <a:pPr lvl="1">
              <a:lnSpc>
                <a:spcPct val="150000"/>
              </a:lnSpc>
              <a:buClrTx/>
              <a:buFont typeface="Wingdings" panose="05000000000000000000" pitchFamily="2" charset="2"/>
              <a:buChar char="l"/>
            </a:pPr>
            <a:r>
              <a:rPr lang="en-US" altLang="zh-CN" dirty="0"/>
              <a:t>Let L be a lattice. Define a*b as a∨b.</a:t>
            </a:r>
          </a:p>
          <a:p>
            <a:pPr lvl="2">
              <a:lnSpc>
                <a:spcPct val="150000"/>
              </a:lnSpc>
              <a:buClrTx/>
              <a:buFont typeface="Wingdings" panose="05000000000000000000" pitchFamily="2" charset="2"/>
              <a:buChar char="l"/>
            </a:pPr>
            <a:r>
              <a:rPr lang="en-US" altLang="zh-CN" dirty="0"/>
              <a:t>* is a binary operation on L.</a:t>
            </a:r>
          </a:p>
          <a:p>
            <a:pPr lvl="2">
              <a:lnSpc>
                <a:spcPct val="150000"/>
              </a:lnSpc>
              <a:buClrTx/>
              <a:buFont typeface="Wingdings" panose="05000000000000000000" pitchFamily="2" charset="2"/>
              <a:buChar char="l"/>
            </a:pPr>
            <a:r>
              <a:rPr lang="en-US" altLang="zh-CN" dirty="0"/>
              <a:t> This is also true of a∨b</a:t>
            </a:r>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567765" y="1687444"/>
            <a:ext cx="11056470"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sz="2800" dirty="0"/>
              <a:t>If </a:t>
            </a:r>
            <a:r>
              <a:rPr lang="en-US" altLang="zh-CN" sz="2800" i="1" dirty="0"/>
              <a:t>A</a:t>
            </a:r>
            <a:r>
              <a:rPr lang="en-US" altLang="zh-CN" sz="2800" dirty="0"/>
              <a:t> = {</a:t>
            </a:r>
            <a:r>
              <a:rPr lang="en-US" altLang="zh-CN" sz="2800" i="1" dirty="0"/>
              <a:t>a</a:t>
            </a:r>
            <a:r>
              <a:rPr lang="en-US" altLang="zh-CN" sz="2800" baseline="-25000" dirty="0"/>
              <a:t>l</a:t>
            </a:r>
            <a:r>
              <a:rPr lang="en-US" altLang="zh-CN" sz="2800" dirty="0"/>
              <a:t>, </a:t>
            </a:r>
            <a:r>
              <a:rPr lang="en-US" altLang="zh-CN" sz="2800" i="1" dirty="0"/>
              <a:t>a</a:t>
            </a:r>
            <a:r>
              <a:rPr lang="en-US" altLang="zh-CN" sz="2800" baseline="-25000" dirty="0"/>
              <a:t>2</a:t>
            </a:r>
            <a:r>
              <a:rPr lang="en-US" altLang="zh-CN" sz="2800" dirty="0"/>
              <a:t>,..., </a:t>
            </a:r>
            <a:r>
              <a:rPr lang="en-US" altLang="zh-CN" sz="2800" i="1" dirty="0"/>
              <a:t>a</a:t>
            </a:r>
            <a:r>
              <a:rPr lang="en-US" altLang="zh-CN" sz="2800" i="1" baseline="-25000" dirty="0"/>
              <a:t>n</a:t>
            </a:r>
            <a:r>
              <a:rPr lang="en-US" altLang="zh-CN" sz="2800" dirty="0"/>
              <a:t>} is a </a:t>
            </a:r>
            <a:r>
              <a:rPr lang="en-US" altLang="zh-CN" sz="2800" i="1">
                <a:solidFill>
                  <a:srgbClr val="FF0000"/>
                </a:solidFill>
              </a:rPr>
              <a:t>finite</a:t>
            </a:r>
            <a:r>
              <a:rPr lang="en-US" altLang="zh-CN" sz="2800">
                <a:solidFill>
                  <a:srgbClr val="FF0000"/>
                </a:solidFill>
              </a:rPr>
              <a:t> set</a:t>
            </a:r>
            <a:r>
              <a:rPr lang="zh-CN" altLang="en-US" sz="2800">
                <a:solidFill>
                  <a:srgbClr val="FF0000"/>
                </a:solidFill>
              </a:rPr>
              <a:t>（有限集合）</a:t>
            </a:r>
            <a:r>
              <a:rPr lang="en-US" altLang="zh-CN" sz="2800"/>
              <a:t>, </a:t>
            </a:r>
            <a:r>
              <a:rPr lang="en-US" altLang="zh-CN" sz="2800" dirty="0"/>
              <a:t>we can define a binary operation on </a:t>
            </a:r>
            <a:r>
              <a:rPr lang="en-US" altLang="zh-CN" sz="2800" i="1" dirty="0"/>
              <a:t>A</a:t>
            </a:r>
            <a:r>
              <a:rPr lang="en-US" altLang="zh-CN" sz="2800" dirty="0"/>
              <a:t> by means of a table</a:t>
            </a:r>
            <a:endParaRPr lang="en-US" altLang="zh-CN" sz="2800" i="1" baseline="-25000" dirty="0"/>
          </a:p>
        </p:txBody>
      </p:sp>
      <p:sp>
        <p:nvSpPr>
          <p:cNvPr id="3" name="文本框 2"/>
          <p:cNvSpPr txBox="1"/>
          <p:nvPr/>
        </p:nvSpPr>
        <p:spPr>
          <a:xfrm>
            <a:off x="2165684" y="979558"/>
            <a:ext cx="7860632" cy="707886"/>
          </a:xfrm>
          <a:prstGeom prst="rect">
            <a:avLst/>
          </a:prstGeom>
          <a:noFill/>
        </p:spPr>
        <p:txBody>
          <a:bodyPr wrap="square" rtlCol="0">
            <a:spAutoFit/>
          </a:bodyPr>
          <a:lstStyle/>
          <a:p>
            <a:pPr algn="ctr"/>
            <a:r>
              <a:rPr lang="en-US" altLang="zh-CN" sz="4000" b="1">
                <a:latin typeface="Times New Roman" panose="02020503050405090304" pitchFamily="18" charset="0"/>
              </a:rPr>
              <a:t>Tables – </a:t>
            </a:r>
            <a:r>
              <a:rPr lang="zh-CN" altLang="en-US" sz="4000" b="1">
                <a:latin typeface="Times New Roman" panose="02020503050405090304" pitchFamily="18" charset="0"/>
              </a:rPr>
              <a:t>运算表</a:t>
            </a:r>
            <a:endParaRPr lang="zh-CN" altLang="en-US" sz="4000" b="1"/>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pic>
        <p:nvPicPr>
          <p:cNvPr id="6" name="Picture 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722156" y="2836863"/>
            <a:ext cx="4032250" cy="348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3" y="853942"/>
            <a:ext cx="11398483" cy="580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9:</a:t>
            </a:r>
          </a:p>
          <a:p>
            <a:pPr lvl="1">
              <a:lnSpc>
                <a:spcPct val="150000"/>
              </a:lnSpc>
              <a:buClrTx/>
              <a:buFont typeface="Wingdings" panose="05000000000000000000" pitchFamily="2" charset="2"/>
              <a:buChar char="l"/>
            </a:pPr>
            <a:r>
              <a:rPr lang="en-US" altLang="zh-CN" dirty="0"/>
              <a:t>Let </a:t>
            </a:r>
          </a:p>
          <a:p>
            <a:pPr lvl="2">
              <a:lnSpc>
                <a:spcPct val="150000"/>
              </a:lnSpc>
              <a:buClrTx/>
              <a:buFont typeface="Wingdings" panose="05000000000000000000" pitchFamily="2" charset="2"/>
              <a:buChar char="l"/>
            </a:pPr>
            <a:r>
              <a:rPr lang="en-US" altLang="zh-CN" dirty="0"/>
              <a:t>A = {0, l }. </a:t>
            </a:r>
          </a:p>
          <a:p>
            <a:pPr lvl="1">
              <a:lnSpc>
                <a:spcPct val="150000"/>
              </a:lnSpc>
              <a:buClrTx/>
              <a:buFont typeface="Wingdings" panose="05000000000000000000" pitchFamily="2" charset="2"/>
              <a:buChar char="l"/>
            </a:pPr>
            <a:r>
              <a:rPr lang="en-US" altLang="zh-CN" dirty="0"/>
              <a:t>Define binary operations ∨ and ∧ by the following tables:</a:t>
            </a:r>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pic>
        <p:nvPicPr>
          <p:cNvPr id="5" name="Picture 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42631" y="4203700"/>
            <a:ext cx="6591300"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567765" y="1687444"/>
            <a:ext cx="11056470"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533400" indent="-533400" eaLnBrk="1" hangingPunct="1">
              <a:lnSpc>
                <a:spcPct val="150000"/>
              </a:lnSpc>
            </a:pPr>
            <a:r>
              <a:rPr lang="en-US" altLang="zh-CN" dirty="0"/>
              <a:t>If </a:t>
            </a:r>
            <a:r>
              <a:rPr lang="en-US" altLang="zh-CN" i="1" dirty="0"/>
              <a:t>A</a:t>
            </a:r>
            <a:r>
              <a:rPr lang="en-US" altLang="zh-CN" dirty="0"/>
              <a:t> = {</a:t>
            </a:r>
            <a:r>
              <a:rPr lang="en-US" altLang="zh-CN" i="1" dirty="0"/>
              <a:t>a</a:t>
            </a:r>
            <a:r>
              <a:rPr lang="en-US" altLang="zh-CN" dirty="0"/>
              <a:t>, </a:t>
            </a:r>
            <a:r>
              <a:rPr lang="en-US" altLang="zh-CN" i="1" dirty="0"/>
              <a:t>b</a:t>
            </a:r>
            <a:r>
              <a:rPr lang="en-US" altLang="zh-CN" dirty="0"/>
              <a:t>}, how many binary operations  can be defined on </a:t>
            </a:r>
            <a:r>
              <a:rPr lang="en-US" altLang="zh-CN" i="1" dirty="0"/>
              <a:t>A</a:t>
            </a:r>
            <a:r>
              <a:rPr lang="en-US" altLang="zh-CN" dirty="0"/>
              <a:t>. </a:t>
            </a:r>
          </a:p>
          <a:p>
            <a:pPr marL="914400" lvl="1" indent="-457200" eaLnBrk="1" hangingPunct="1">
              <a:lnSpc>
                <a:spcPct val="150000"/>
              </a:lnSpc>
            </a:pPr>
            <a:r>
              <a:rPr lang="en-US" altLang="zh-CN" dirty="0"/>
              <a:t>Every binary operation </a:t>
            </a:r>
            <a:r>
              <a:rPr lang="en-US" altLang="zh-CN" dirty="0">
                <a:sym typeface="MT Symbol" pitchFamily="82" charset="2"/>
              </a:rPr>
              <a:t>*</a:t>
            </a:r>
            <a:r>
              <a:rPr lang="en-US" altLang="zh-CN" dirty="0"/>
              <a:t> on </a:t>
            </a:r>
            <a:r>
              <a:rPr lang="en-US" altLang="zh-CN" i="1" dirty="0"/>
              <a:t>A</a:t>
            </a:r>
            <a:r>
              <a:rPr lang="en-US" altLang="zh-CN" dirty="0"/>
              <a:t> can be described by a table </a:t>
            </a:r>
          </a:p>
          <a:p>
            <a:pPr marL="533400" indent="-533400" eaLnBrk="1" hangingPunct="1">
              <a:lnSpc>
                <a:spcPct val="150000"/>
              </a:lnSpc>
            </a:pPr>
            <a:r>
              <a:rPr lang="en-US" altLang="zh-CN" dirty="0"/>
              <a:t>There are 2</a:t>
            </a:r>
            <a:r>
              <a:rPr lang="en-US" altLang="zh-CN" dirty="0">
                <a:latin typeface="宋体" pitchFamily="2" charset="-122"/>
                <a:sym typeface="MT Symbol" pitchFamily="82" charset="2"/>
              </a:rPr>
              <a:t>•</a:t>
            </a:r>
            <a:r>
              <a:rPr lang="en-US" altLang="zh-CN" dirty="0"/>
              <a:t>2</a:t>
            </a:r>
            <a:r>
              <a:rPr lang="en-US" altLang="zh-CN" dirty="0">
                <a:latin typeface="宋体" pitchFamily="2" charset="-122"/>
                <a:sym typeface="MT Symbol" pitchFamily="82" charset="2"/>
              </a:rPr>
              <a:t>•</a:t>
            </a:r>
            <a:r>
              <a:rPr lang="en-US" altLang="zh-CN" dirty="0"/>
              <a:t>2</a:t>
            </a:r>
            <a:r>
              <a:rPr lang="en-US" altLang="zh-CN" dirty="0">
                <a:latin typeface="宋体" pitchFamily="2" charset="-122"/>
                <a:sym typeface="MT Symbol" pitchFamily="82" charset="2"/>
              </a:rPr>
              <a:t>•</a:t>
            </a:r>
            <a:r>
              <a:rPr lang="en-US" altLang="zh-CN" dirty="0"/>
              <a:t>2 = 2</a:t>
            </a:r>
            <a:r>
              <a:rPr lang="en-US" altLang="zh-CN" baseline="30000" dirty="0"/>
              <a:t>4</a:t>
            </a:r>
            <a:r>
              <a:rPr lang="en-US" altLang="zh-CN" dirty="0"/>
              <a:t> or 16 ways to complete the table.</a:t>
            </a:r>
          </a:p>
        </p:txBody>
      </p:sp>
      <p:sp>
        <p:nvSpPr>
          <p:cNvPr id="3" name="文本框 2"/>
          <p:cNvSpPr txBox="1"/>
          <p:nvPr/>
        </p:nvSpPr>
        <p:spPr>
          <a:xfrm>
            <a:off x="2165684" y="979558"/>
            <a:ext cx="7860632" cy="707886"/>
          </a:xfrm>
          <a:prstGeom prst="rect">
            <a:avLst/>
          </a:prstGeom>
          <a:noFill/>
        </p:spPr>
        <p:txBody>
          <a:bodyPr wrap="square" rtlCol="0">
            <a:spAutoFit/>
          </a:bodyPr>
          <a:lstStyle/>
          <a:p>
            <a:pPr algn="ctr"/>
            <a:r>
              <a:rPr lang="en-US" altLang="zh-CN" sz="4000" b="1">
                <a:latin typeface="Times New Roman" panose="02020503050405090304" pitchFamily="18" charset="0"/>
              </a:rPr>
              <a:t>How many operations?</a:t>
            </a:r>
            <a:endParaRPr lang="zh-CN" altLang="en-US" sz="4000" b="1"/>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pic>
        <p:nvPicPr>
          <p:cNvPr id="6" name="Picture 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305181" y="5303745"/>
            <a:ext cx="167640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567765" y="1315118"/>
            <a:ext cx="11056470"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For all elements </a:t>
            </a:r>
            <a:r>
              <a:rPr lang="en-US" altLang="zh-CN" i="1" dirty="0"/>
              <a:t>a</a:t>
            </a:r>
            <a:r>
              <a:rPr lang="en-US" altLang="zh-CN" dirty="0"/>
              <a:t>, </a:t>
            </a:r>
            <a:r>
              <a:rPr lang="en-US" altLang="zh-CN" i="1" dirty="0"/>
              <a:t>b</a:t>
            </a:r>
            <a:r>
              <a:rPr lang="en-US" altLang="zh-CN" dirty="0"/>
              <a:t>, and </a:t>
            </a:r>
            <a:r>
              <a:rPr lang="en-US" altLang="zh-CN" i="1" dirty="0"/>
              <a:t>c</a:t>
            </a:r>
            <a:r>
              <a:rPr lang="en-US" altLang="zh-CN" dirty="0"/>
              <a:t> in </a:t>
            </a:r>
            <a:r>
              <a:rPr lang="en-US" altLang="zh-CN" i="1" dirty="0"/>
              <a:t>A</a:t>
            </a:r>
            <a:endParaRPr lang="en-US" altLang="zh-CN" dirty="0"/>
          </a:p>
          <a:p>
            <a:pPr eaLnBrk="1" hangingPunct="1">
              <a:lnSpc>
                <a:spcPct val="150000"/>
              </a:lnSpc>
            </a:pPr>
            <a:r>
              <a:rPr lang="en-US" altLang="zh-CN" dirty="0"/>
              <a:t>Commutative(</a:t>
            </a:r>
            <a:r>
              <a:rPr lang="zh-CN" altLang="en-US" dirty="0"/>
              <a:t>交换律</a:t>
            </a:r>
            <a:r>
              <a:rPr lang="en-US" altLang="zh-CN" dirty="0"/>
              <a:t>)</a:t>
            </a:r>
          </a:p>
          <a:p>
            <a:pPr lvl="1" eaLnBrk="1" hangingPunct="1">
              <a:lnSpc>
                <a:spcPct val="150000"/>
              </a:lnSpc>
            </a:pPr>
            <a:r>
              <a:rPr lang="en-US" altLang="zh-CN" i="1" dirty="0"/>
              <a:t>a</a:t>
            </a:r>
            <a:r>
              <a:rPr lang="en-US" altLang="zh-CN" dirty="0"/>
              <a:t>*</a:t>
            </a:r>
            <a:r>
              <a:rPr lang="en-US" altLang="zh-CN" i="1" dirty="0"/>
              <a:t>b</a:t>
            </a:r>
            <a:r>
              <a:rPr lang="en-US" altLang="zh-CN" dirty="0"/>
              <a:t> = </a:t>
            </a:r>
            <a:r>
              <a:rPr lang="en-US" altLang="zh-CN" i="1" dirty="0"/>
              <a:t>b</a:t>
            </a:r>
            <a:r>
              <a:rPr lang="en-US" altLang="zh-CN" dirty="0"/>
              <a:t>*</a:t>
            </a:r>
            <a:r>
              <a:rPr lang="en-US" altLang="zh-CN" i="1" dirty="0"/>
              <a:t>a</a:t>
            </a:r>
            <a:r>
              <a:rPr lang="en-US" altLang="zh-CN" dirty="0"/>
              <a:t> </a:t>
            </a:r>
          </a:p>
          <a:p>
            <a:pPr eaLnBrk="1" hangingPunct="1">
              <a:lnSpc>
                <a:spcPct val="150000"/>
              </a:lnSpc>
            </a:pPr>
            <a:r>
              <a:rPr lang="en-US" altLang="zh-CN" dirty="0"/>
              <a:t>Associative(</a:t>
            </a:r>
            <a:r>
              <a:rPr lang="zh-CN" altLang="en-US" dirty="0"/>
              <a:t>结合律</a:t>
            </a:r>
            <a:r>
              <a:rPr lang="en-US" altLang="zh-CN" dirty="0"/>
              <a:t>) </a:t>
            </a:r>
          </a:p>
          <a:p>
            <a:pPr lvl="1" eaLnBrk="1" hangingPunct="1">
              <a:lnSpc>
                <a:spcPct val="150000"/>
              </a:lnSpc>
            </a:pPr>
            <a:r>
              <a:rPr lang="en-US" altLang="zh-CN" i="1" dirty="0"/>
              <a:t>a</a:t>
            </a:r>
            <a:r>
              <a:rPr lang="en-US" altLang="zh-CN" dirty="0"/>
              <a:t>*(</a:t>
            </a:r>
            <a:r>
              <a:rPr lang="en-US" altLang="zh-CN" i="1" dirty="0"/>
              <a:t>b</a:t>
            </a:r>
            <a:r>
              <a:rPr lang="en-US" altLang="zh-CN" dirty="0"/>
              <a:t>*</a:t>
            </a:r>
            <a:r>
              <a:rPr lang="en-US" altLang="zh-CN" i="1" dirty="0"/>
              <a:t>c</a:t>
            </a:r>
            <a:r>
              <a:rPr lang="en-US" altLang="zh-CN" dirty="0"/>
              <a:t>) = (</a:t>
            </a:r>
            <a:r>
              <a:rPr lang="en-US" altLang="zh-CN" i="1" dirty="0"/>
              <a:t>a</a:t>
            </a:r>
            <a:r>
              <a:rPr lang="en-US" altLang="zh-CN" dirty="0"/>
              <a:t>*</a:t>
            </a:r>
            <a:r>
              <a:rPr lang="en-US" altLang="zh-CN" i="1" dirty="0"/>
              <a:t>b</a:t>
            </a:r>
            <a:r>
              <a:rPr lang="en-US" altLang="zh-CN" dirty="0"/>
              <a:t>)*</a:t>
            </a:r>
            <a:r>
              <a:rPr lang="en-US" altLang="zh-CN" i="1" dirty="0"/>
              <a:t>c</a:t>
            </a:r>
            <a:endParaRPr lang="en-US" altLang="zh-CN" dirty="0"/>
          </a:p>
          <a:p>
            <a:pPr eaLnBrk="1" hangingPunct="1">
              <a:lnSpc>
                <a:spcPct val="150000"/>
              </a:lnSpc>
            </a:pPr>
            <a:r>
              <a:rPr lang="en-US" altLang="zh-CN" dirty="0"/>
              <a:t>Idempotent(</a:t>
            </a:r>
            <a:r>
              <a:rPr lang="zh-CN" altLang="en-US" dirty="0"/>
              <a:t>等幂律</a:t>
            </a:r>
            <a:r>
              <a:rPr lang="en-US" altLang="zh-CN" dirty="0"/>
              <a:t>)</a:t>
            </a:r>
          </a:p>
          <a:p>
            <a:pPr lvl="1" eaLnBrk="1" hangingPunct="1">
              <a:lnSpc>
                <a:spcPct val="150000"/>
              </a:lnSpc>
            </a:pPr>
            <a:r>
              <a:rPr lang="en-US" altLang="zh-CN" i="1" dirty="0"/>
              <a:t>a</a:t>
            </a:r>
            <a:r>
              <a:rPr lang="en-US" altLang="zh-CN" dirty="0"/>
              <a:t>*</a:t>
            </a:r>
            <a:r>
              <a:rPr lang="en-US" altLang="zh-CN" i="1" dirty="0"/>
              <a:t>a</a:t>
            </a:r>
            <a:r>
              <a:rPr lang="en-US" altLang="zh-CN" dirty="0"/>
              <a:t> = </a:t>
            </a:r>
            <a:r>
              <a:rPr lang="en-US" altLang="zh-CN" i="1" dirty="0"/>
              <a:t>a</a:t>
            </a:r>
            <a:endParaRPr lang="zh-CN" altLang="zh-CN" dirty="0"/>
          </a:p>
        </p:txBody>
      </p:sp>
      <p:sp>
        <p:nvSpPr>
          <p:cNvPr id="3" name="文本框 2"/>
          <p:cNvSpPr txBox="1"/>
          <p:nvPr/>
        </p:nvSpPr>
        <p:spPr>
          <a:xfrm>
            <a:off x="2165684" y="739754"/>
            <a:ext cx="7860632" cy="707886"/>
          </a:xfrm>
          <a:prstGeom prst="rect">
            <a:avLst/>
          </a:prstGeom>
          <a:noFill/>
        </p:spPr>
        <p:txBody>
          <a:bodyPr wrap="square" rtlCol="0">
            <a:spAutoFit/>
          </a:bodyPr>
          <a:lstStyle/>
          <a:p>
            <a:pPr algn="ctr"/>
            <a:r>
              <a:rPr lang="en-US" altLang="zh-CN" sz="4000" b="1" dirty="0">
                <a:latin typeface="Times New Roman" panose="02020503050405090304" pitchFamily="18" charset="0"/>
              </a:rPr>
              <a:t>Properties of Binary Operations</a:t>
            </a:r>
            <a:endParaRPr lang="zh-CN" altLang="en-US" sz="4000" b="1" dirty="0"/>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567764" y="1687444"/>
            <a:ext cx="11335477"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A binary operation on a set A is said to be </a:t>
            </a:r>
            <a:r>
              <a:rPr lang="en-US" altLang="zh-CN" dirty="0">
                <a:solidFill>
                  <a:srgbClr val="FF0000"/>
                </a:solidFill>
              </a:rPr>
              <a:t>commutative </a:t>
            </a:r>
            <a:r>
              <a:rPr lang="zh-CN" altLang="en-US" dirty="0">
                <a:solidFill>
                  <a:srgbClr val="FF0000"/>
                </a:solidFill>
              </a:rPr>
              <a:t>（交换的）</a:t>
            </a:r>
            <a:r>
              <a:rPr lang="en-US" altLang="zh-CN" dirty="0"/>
              <a:t>if a*b = b*a for all elements a and b in A.</a:t>
            </a:r>
          </a:p>
          <a:p>
            <a:pPr eaLnBrk="1" hangingPunct="1">
              <a:lnSpc>
                <a:spcPct val="150000"/>
              </a:lnSpc>
            </a:pPr>
            <a:r>
              <a:rPr lang="en-US" altLang="zh-CN" dirty="0"/>
              <a:t>Example:</a:t>
            </a:r>
          </a:p>
          <a:p>
            <a:pPr lvl="1">
              <a:lnSpc>
                <a:spcPct val="150000"/>
              </a:lnSpc>
            </a:pPr>
            <a:r>
              <a:rPr lang="en-US" altLang="zh-CN" dirty="0"/>
              <a:t>The binary operation of addition on Z is commutative.</a:t>
            </a:r>
          </a:p>
          <a:p>
            <a:pPr lvl="1">
              <a:lnSpc>
                <a:spcPct val="150000"/>
              </a:lnSpc>
            </a:pPr>
            <a:r>
              <a:rPr lang="en-US" altLang="zh-CN" dirty="0"/>
              <a:t>The binary operation of subtraction on Z is not commutative, since2-3 ≠ 3-2.</a:t>
            </a:r>
          </a:p>
        </p:txBody>
      </p:sp>
      <p:sp>
        <p:nvSpPr>
          <p:cNvPr id="3" name="文本框 2"/>
          <p:cNvSpPr txBox="1"/>
          <p:nvPr/>
        </p:nvSpPr>
        <p:spPr>
          <a:xfrm>
            <a:off x="2165684" y="979558"/>
            <a:ext cx="7860632" cy="707886"/>
          </a:xfrm>
          <a:prstGeom prst="rect">
            <a:avLst/>
          </a:prstGeom>
          <a:noFill/>
        </p:spPr>
        <p:txBody>
          <a:bodyPr wrap="square" rtlCol="0">
            <a:spAutoFit/>
          </a:bodyPr>
          <a:lstStyle/>
          <a:p>
            <a:pPr algn="ctr"/>
            <a:r>
              <a:rPr lang="en-US" altLang="zh-CN" sz="4000" b="1">
                <a:latin typeface="Times New Roman" panose="02020503050405090304" pitchFamily="18" charset="0"/>
              </a:rPr>
              <a:t>Commutative - </a:t>
            </a:r>
            <a:r>
              <a:rPr lang="zh-CN" altLang="en-US" sz="4000" b="1">
                <a:latin typeface="Times New Roman" panose="02020503050405090304" pitchFamily="18" charset="0"/>
              </a:rPr>
              <a:t>交换律</a:t>
            </a:r>
            <a:endParaRPr lang="zh-CN" altLang="en-US" sz="4000" b="1"/>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567764" y="1687444"/>
            <a:ext cx="11335477"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A binary operation that is described by a table is commutative </a:t>
            </a:r>
          </a:p>
          <a:p>
            <a:pPr lvl="1" eaLnBrk="1" hangingPunct="1">
              <a:lnSpc>
                <a:spcPct val="150000"/>
              </a:lnSpc>
            </a:pPr>
            <a:r>
              <a:rPr lang="en-US" altLang="zh-CN" dirty="0"/>
              <a:t>if and only if </a:t>
            </a:r>
          </a:p>
          <a:p>
            <a:pPr eaLnBrk="1" hangingPunct="1">
              <a:lnSpc>
                <a:spcPct val="150000"/>
              </a:lnSpc>
            </a:pPr>
            <a:r>
              <a:rPr lang="en-US" altLang="zh-CN" dirty="0"/>
              <a:t>The entries in the table are symmetric with respect to the main diagonal.</a:t>
            </a:r>
            <a:endParaRPr lang="zh-CN" altLang="zh-CN" dirty="0"/>
          </a:p>
        </p:txBody>
      </p:sp>
      <p:sp>
        <p:nvSpPr>
          <p:cNvPr id="3" name="文本框 2"/>
          <p:cNvSpPr txBox="1"/>
          <p:nvPr/>
        </p:nvSpPr>
        <p:spPr>
          <a:xfrm>
            <a:off x="2165684" y="979558"/>
            <a:ext cx="7860632" cy="707886"/>
          </a:xfrm>
          <a:prstGeom prst="rect">
            <a:avLst/>
          </a:prstGeom>
          <a:noFill/>
        </p:spPr>
        <p:txBody>
          <a:bodyPr wrap="square" rtlCol="0">
            <a:spAutoFit/>
          </a:bodyPr>
          <a:lstStyle/>
          <a:p>
            <a:pPr algn="ctr"/>
            <a:r>
              <a:rPr lang="en-US" altLang="zh-CN" sz="4000" b="1">
                <a:latin typeface="Times New Roman" panose="02020503050405090304" pitchFamily="18" charset="0"/>
              </a:rPr>
              <a:t>Commutative - </a:t>
            </a:r>
            <a:r>
              <a:rPr lang="zh-CN" altLang="en-US" sz="4000" b="1">
                <a:latin typeface="Times New Roman" panose="02020503050405090304" pitchFamily="18" charset="0"/>
              </a:rPr>
              <a:t>交换律</a:t>
            </a:r>
            <a:endParaRPr lang="zh-CN" altLang="en-US" sz="4000" b="1"/>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3" y="853942"/>
            <a:ext cx="11398483" cy="580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12:</a:t>
            </a:r>
          </a:p>
          <a:p>
            <a:pPr lvl="1">
              <a:lnSpc>
                <a:spcPct val="150000"/>
              </a:lnSpc>
              <a:buClrTx/>
              <a:buFont typeface="Wingdings" panose="05000000000000000000" pitchFamily="2" charset="2"/>
              <a:buChar char="l"/>
            </a:pPr>
            <a:r>
              <a:rPr lang="en-US" altLang="zh-CN" dirty="0"/>
              <a:t>Which of the fol1owing binary operations on  </a:t>
            </a:r>
            <a:r>
              <a:rPr lang="en-US" altLang="zh-CN" i="1" dirty="0"/>
              <a:t>A</a:t>
            </a:r>
            <a:r>
              <a:rPr lang="en-US" altLang="zh-CN" dirty="0"/>
              <a:t> = {</a:t>
            </a:r>
            <a:r>
              <a:rPr lang="en-US" altLang="zh-CN" i="1" dirty="0"/>
              <a:t>a</a:t>
            </a:r>
            <a:r>
              <a:rPr lang="en-US" altLang="zh-CN" dirty="0"/>
              <a:t>, </a:t>
            </a:r>
            <a:r>
              <a:rPr lang="en-US" altLang="zh-CN" i="1" dirty="0"/>
              <a:t>b</a:t>
            </a:r>
            <a:r>
              <a:rPr lang="en-US" altLang="zh-CN" dirty="0"/>
              <a:t>, </a:t>
            </a:r>
            <a:r>
              <a:rPr lang="en-US" altLang="zh-CN" i="1" dirty="0"/>
              <a:t>c</a:t>
            </a:r>
            <a:r>
              <a:rPr lang="en-US" altLang="zh-CN" dirty="0"/>
              <a:t>, </a:t>
            </a:r>
            <a:r>
              <a:rPr lang="en-US" altLang="zh-CN" i="1" dirty="0"/>
              <a:t>d</a:t>
            </a:r>
            <a:r>
              <a:rPr lang="en-US" altLang="zh-CN" dirty="0"/>
              <a:t>} are commutative?</a:t>
            </a:r>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pic>
        <p:nvPicPr>
          <p:cNvPr id="6" name="Picture 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57929" y="3168315"/>
            <a:ext cx="7067550" cy="271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567764" y="1687444"/>
            <a:ext cx="11335477"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A binary operation * on a set A is said to be </a:t>
            </a:r>
            <a:r>
              <a:rPr lang="en-US" altLang="zh-CN" dirty="0">
                <a:solidFill>
                  <a:srgbClr val="FF0000"/>
                </a:solidFill>
              </a:rPr>
              <a:t>associative</a:t>
            </a:r>
            <a:r>
              <a:rPr lang="zh-CN" altLang="en-US" dirty="0">
                <a:solidFill>
                  <a:srgbClr val="FF0000"/>
                </a:solidFill>
              </a:rPr>
              <a:t>（结合的）</a:t>
            </a:r>
            <a:r>
              <a:rPr lang="en-US" altLang="zh-CN" dirty="0"/>
              <a:t> if a*(b*c) = (a*b)*c for all elements a, b, and c in A.</a:t>
            </a:r>
          </a:p>
          <a:p>
            <a:pPr eaLnBrk="1" hangingPunct="1">
              <a:lnSpc>
                <a:spcPct val="150000"/>
              </a:lnSpc>
            </a:pPr>
            <a:r>
              <a:rPr lang="en-US" altLang="zh-CN" dirty="0"/>
              <a:t>Example:</a:t>
            </a:r>
          </a:p>
          <a:p>
            <a:pPr lvl="1">
              <a:lnSpc>
                <a:spcPct val="150000"/>
              </a:lnSpc>
            </a:pPr>
            <a:r>
              <a:rPr lang="en-US" altLang="zh-CN" dirty="0"/>
              <a:t>The binary operation of addition on Z is associative.</a:t>
            </a:r>
          </a:p>
          <a:p>
            <a:pPr lvl="1">
              <a:lnSpc>
                <a:spcPct val="150000"/>
              </a:lnSpc>
            </a:pPr>
            <a:r>
              <a:rPr lang="en-US" altLang="zh-CN" dirty="0"/>
              <a:t>The binary operation of subtraction on Z is not associative, since2-(3-5) ≠ (2-3)-5.</a:t>
            </a:r>
          </a:p>
        </p:txBody>
      </p:sp>
      <p:sp>
        <p:nvSpPr>
          <p:cNvPr id="3" name="文本框 2"/>
          <p:cNvSpPr txBox="1"/>
          <p:nvPr/>
        </p:nvSpPr>
        <p:spPr>
          <a:xfrm>
            <a:off x="2165684" y="979558"/>
            <a:ext cx="7860632" cy="707886"/>
          </a:xfrm>
          <a:prstGeom prst="rect">
            <a:avLst/>
          </a:prstGeom>
          <a:noFill/>
        </p:spPr>
        <p:txBody>
          <a:bodyPr wrap="square" rtlCol="0">
            <a:spAutoFit/>
          </a:bodyPr>
          <a:lstStyle/>
          <a:p>
            <a:pPr algn="ctr"/>
            <a:r>
              <a:rPr lang="en-US" altLang="zh-CN" sz="4000" b="1">
                <a:latin typeface="Times New Roman" panose="02020503050405090304" pitchFamily="18" charset="0"/>
              </a:rPr>
              <a:t>Associative - </a:t>
            </a:r>
            <a:r>
              <a:rPr lang="zh-CN" altLang="en-US" sz="4000" b="1">
                <a:latin typeface="Times New Roman" panose="02020503050405090304" pitchFamily="18" charset="0"/>
              </a:rPr>
              <a:t>结合律</a:t>
            </a:r>
            <a:endParaRPr lang="zh-CN" altLang="en-US" sz="4000" b="1"/>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3" y="853942"/>
            <a:ext cx="11398483" cy="580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Example 15:</a:t>
            </a:r>
          </a:p>
          <a:p>
            <a:pPr lvl="1">
              <a:lnSpc>
                <a:spcPct val="150000"/>
              </a:lnSpc>
              <a:buClrTx/>
              <a:buFont typeface="Wingdings" panose="05000000000000000000" pitchFamily="2" charset="2"/>
              <a:buChar char="l"/>
            </a:pPr>
            <a:r>
              <a:rPr lang="en-US" altLang="zh-CN"/>
              <a:t>Let L be a lattice. The binary operation defined by a*b = a∧b is </a:t>
            </a:r>
          </a:p>
          <a:p>
            <a:pPr lvl="2">
              <a:lnSpc>
                <a:spcPct val="150000"/>
              </a:lnSpc>
              <a:buClrTx/>
              <a:buFont typeface="Wingdings" panose="05000000000000000000" pitchFamily="2" charset="2"/>
              <a:buChar char="l"/>
            </a:pPr>
            <a:r>
              <a:rPr lang="en-US" altLang="zh-CN">
                <a:solidFill>
                  <a:srgbClr val="FF0000"/>
                </a:solidFill>
              </a:rPr>
              <a:t>commutative</a:t>
            </a:r>
            <a:r>
              <a:rPr lang="en-US" altLang="zh-CN">
                <a:solidFill>
                  <a:schemeClr val="accent1">
                    <a:lumMod val="50000"/>
                  </a:schemeClr>
                </a:solidFill>
              </a:rPr>
              <a:t> </a:t>
            </a:r>
            <a:r>
              <a:rPr lang="en-US" altLang="zh-CN"/>
              <a:t>and </a:t>
            </a:r>
          </a:p>
          <a:p>
            <a:pPr lvl="2">
              <a:lnSpc>
                <a:spcPct val="150000"/>
              </a:lnSpc>
              <a:buClrTx/>
              <a:buFont typeface="Wingdings" panose="05000000000000000000" pitchFamily="2" charset="2"/>
              <a:buChar char="l"/>
            </a:pPr>
            <a:r>
              <a:rPr lang="en-US" altLang="zh-CN">
                <a:solidFill>
                  <a:srgbClr val="FF0000"/>
                </a:solidFill>
              </a:rPr>
              <a:t>associative.</a:t>
            </a:r>
            <a:r>
              <a:rPr lang="en-US" altLang="zh-CN"/>
              <a:t> </a:t>
            </a:r>
          </a:p>
          <a:p>
            <a:pPr lvl="2">
              <a:lnSpc>
                <a:spcPct val="150000"/>
              </a:lnSpc>
              <a:buClrTx/>
              <a:buFont typeface="Wingdings" panose="05000000000000000000" pitchFamily="2" charset="2"/>
              <a:buChar char="l"/>
            </a:pPr>
            <a:r>
              <a:rPr lang="en-US" altLang="zh-CN"/>
              <a:t>It also satisfies the </a:t>
            </a:r>
            <a:r>
              <a:rPr lang="en-US" altLang="zh-CN">
                <a:solidFill>
                  <a:srgbClr val="FF0000"/>
                </a:solidFill>
              </a:rPr>
              <a:t>idempotent</a:t>
            </a:r>
            <a:r>
              <a:rPr lang="zh-CN" altLang="en-US">
                <a:solidFill>
                  <a:srgbClr val="FF0000"/>
                </a:solidFill>
              </a:rPr>
              <a:t>（幂等）</a:t>
            </a:r>
            <a:r>
              <a:rPr lang="en-US" altLang="zh-CN">
                <a:solidFill>
                  <a:srgbClr val="FF0000"/>
                </a:solidFill>
              </a:rPr>
              <a:t> </a:t>
            </a:r>
            <a:r>
              <a:rPr lang="en-US" altLang="zh-CN"/>
              <a:t>property a∧a = a.</a:t>
            </a:r>
          </a:p>
          <a:p>
            <a:pPr lvl="1">
              <a:lnSpc>
                <a:spcPct val="150000"/>
              </a:lnSpc>
              <a:buClrTx/>
              <a:buFont typeface="Wingdings" panose="05000000000000000000" pitchFamily="2" charset="2"/>
              <a:buChar char="l"/>
            </a:pPr>
            <a:endParaRPr lang="en-US" altLang="zh-CN"/>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9754"/>
            <a:ext cx="11398483" cy="580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16:</a:t>
            </a:r>
          </a:p>
          <a:p>
            <a:pPr lvl="1">
              <a:lnSpc>
                <a:spcPct val="150000"/>
              </a:lnSpc>
              <a:buClrTx/>
              <a:buFont typeface="Wingdings" panose="05000000000000000000" pitchFamily="2" charset="2"/>
              <a:buChar char="l"/>
            </a:pPr>
            <a:r>
              <a:rPr lang="en-US" altLang="zh-CN" dirty="0"/>
              <a:t>Let * be a binary operation on a set A, and suppose that * satisfies the following properties for any a, b, and c in A:</a:t>
            </a:r>
          </a:p>
          <a:p>
            <a:pPr lvl="2">
              <a:lnSpc>
                <a:spcPct val="150000"/>
              </a:lnSpc>
              <a:buClrTx/>
              <a:buFont typeface="Wingdings" panose="05000000000000000000" pitchFamily="2" charset="2"/>
              <a:buChar char="l"/>
            </a:pPr>
            <a:r>
              <a:rPr lang="en-US" altLang="zh-CN" dirty="0"/>
              <a:t>a = a*a		</a:t>
            </a:r>
            <a:r>
              <a:rPr lang="en-US" altLang="zh-CN">
                <a:solidFill>
                  <a:srgbClr val="FF0000"/>
                </a:solidFill>
              </a:rPr>
              <a:t>Idempotent property</a:t>
            </a:r>
            <a:r>
              <a:rPr lang="zh-CN" altLang="en-US">
                <a:solidFill>
                  <a:srgbClr val="FF0000"/>
                </a:solidFill>
              </a:rPr>
              <a:t>（幂等）</a:t>
            </a:r>
            <a:endParaRPr lang="en-US" altLang="zh-CN" dirty="0">
              <a:solidFill>
                <a:srgbClr val="FF0000"/>
              </a:solidFill>
            </a:endParaRPr>
          </a:p>
          <a:p>
            <a:pPr lvl="2">
              <a:lnSpc>
                <a:spcPct val="150000"/>
              </a:lnSpc>
              <a:buClrTx/>
              <a:buFont typeface="Wingdings" panose="05000000000000000000" pitchFamily="2" charset="2"/>
              <a:buChar char="l"/>
            </a:pPr>
            <a:r>
              <a:rPr lang="en-US" altLang="zh-CN" dirty="0"/>
              <a:t>a*b = b*a		</a:t>
            </a:r>
            <a:r>
              <a:rPr lang="en-US" altLang="zh-CN" dirty="0">
                <a:solidFill>
                  <a:srgbClr val="FF0000"/>
                </a:solidFill>
              </a:rPr>
              <a:t>Commutative property</a:t>
            </a:r>
            <a:r>
              <a:rPr lang="zh-CN" altLang="en-US" dirty="0">
                <a:solidFill>
                  <a:srgbClr val="FF0000"/>
                </a:solidFill>
              </a:rPr>
              <a:t>（交换）</a:t>
            </a:r>
            <a:endParaRPr lang="en-US" altLang="zh-CN" dirty="0">
              <a:solidFill>
                <a:srgbClr val="FF0000"/>
              </a:solidFill>
            </a:endParaRPr>
          </a:p>
          <a:p>
            <a:pPr lvl="2">
              <a:lnSpc>
                <a:spcPct val="150000"/>
              </a:lnSpc>
              <a:buClrTx/>
              <a:buFont typeface="Wingdings" panose="05000000000000000000" pitchFamily="2" charset="2"/>
              <a:buChar char="l"/>
            </a:pPr>
            <a:r>
              <a:rPr lang="en-US" altLang="zh-CN" dirty="0"/>
              <a:t>a*(b*c) = (a*b)*c</a:t>
            </a:r>
            <a:r>
              <a:rPr lang="en-US" altLang="zh-CN"/>
              <a:t>	 </a:t>
            </a:r>
            <a:r>
              <a:rPr lang="en-US" altLang="zh-CN">
                <a:solidFill>
                  <a:srgbClr val="FF0000"/>
                </a:solidFill>
              </a:rPr>
              <a:t>Associative </a:t>
            </a:r>
            <a:r>
              <a:rPr lang="en-US" altLang="zh-CN" dirty="0">
                <a:solidFill>
                  <a:srgbClr val="FF0000"/>
                </a:solidFill>
              </a:rPr>
              <a:t>property</a:t>
            </a:r>
            <a:r>
              <a:rPr lang="zh-CN" altLang="en-US" dirty="0">
                <a:solidFill>
                  <a:srgbClr val="FF0000"/>
                </a:solidFill>
              </a:rPr>
              <a:t>（结合）</a:t>
            </a:r>
            <a:endParaRPr lang="en-US" altLang="zh-CN" dirty="0">
              <a:solidFill>
                <a:srgbClr val="FF0000"/>
              </a:solidFill>
            </a:endParaRPr>
          </a:p>
          <a:p>
            <a:pPr lvl="1">
              <a:lnSpc>
                <a:spcPct val="150000"/>
              </a:lnSpc>
              <a:buClrTx/>
              <a:buFont typeface="Wingdings" panose="05000000000000000000" pitchFamily="2" charset="2"/>
              <a:buChar char="l"/>
            </a:pPr>
            <a:endParaRPr lang="en-US" altLang="zh-CN" dirty="0"/>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3" y="853942"/>
            <a:ext cx="11398483" cy="580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16:</a:t>
            </a:r>
          </a:p>
          <a:p>
            <a:pPr lvl="1">
              <a:lnSpc>
                <a:spcPct val="150000"/>
              </a:lnSpc>
              <a:buClrTx/>
              <a:buFont typeface="Wingdings" panose="05000000000000000000" pitchFamily="2" charset="2"/>
              <a:buChar char="l"/>
            </a:pPr>
            <a:r>
              <a:rPr lang="en-US" altLang="zh-CN" dirty="0"/>
              <a:t>Define a relation </a:t>
            </a:r>
            <a:r>
              <a:rPr lang="en-US" altLang="zh-CN" dirty="0">
                <a:sym typeface="Symbol" panose="05050102010706020507" pitchFamily="18" charset="2"/>
              </a:rPr>
              <a:t></a:t>
            </a:r>
            <a:r>
              <a:rPr lang="en-US" altLang="zh-CN" dirty="0"/>
              <a:t> on A by</a:t>
            </a:r>
          </a:p>
          <a:p>
            <a:pPr lvl="2">
              <a:lnSpc>
                <a:spcPct val="150000"/>
              </a:lnSpc>
              <a:buClrTx/>
              <a:buFont typeface="Wingdings" panose="05000000000000000000" pitchFamily="2" charset="2"/>
              <a:buChar char="l"/>
            </a:pPr>
            <a:r>
              <a:rPr lang="en-US" altLang="zh-CN"/>
              <a:t>a </a:t>
            </a:r>
            <a:r>
              <a:rPr lang="en-US" altLang="zh-CN">
                <a:sym typeface="Symbol" panose="05050102010706020507" pitchFamily="18" charset="2"/>
              </a:rPr>
              <a:t></a:t>
            </a:r>
            <a:r>
              <a:rPr lang="en-US" altLang="zh-CN"/>
              <a:t> </a:t>
            </a:r>
            <a:r>
              <a:rPr lang="en-US" altLang="zh-CN" dirty="0"/>
              <a:t>b</a:t>
            </a:r>
          </a:p>
          <a:p>
            <a:pPr lvl="3">
              <a:lnSpc>
                <a:spcPct val="150000"/>
              </a:lnSpc>
              <a:buClrTx/>
              <a:buFont typeface="Wingdings" panose="05000000000000000000" pitchFamily="2" charset="2"/>
              <a:buChar char="l"/>
            </a:pPr>
            <a:r>
              <a:rPr lang="en-US" altLang="zh-CN" dirty="0"/>
              <a:t>if and only if </a:t>
            </a:r>
          </a:p>
          <a:p>
            <a:pPr lvl="2">
              <a:lnSpc>
                <a:spcPct val="150000"/>
              </a:lnSpc>
              <a:buClrTx/>
              <a:buFont typeface="Wingdings" panose="05000000000000000000" pitchFamily="2" charset="2"/>
              <a:buChar char="l"/>
            </a:pPr>
            <a:r>
              <a:rPr lang="en-US" altLang="zh-CN" dirty="0"/>
              <a:t>a = a*b.</a:t>
            </a:r>
          </a:p>
          <a:p>
            <a:pPr lvl="1">
              <a:lnSpc>
                <a:spcPct val="150000"/>
              </a:lnSpc>
              <a:buClrTx/>
              <a:buFont typeface="Wingdings" panose="05000000000000000000" pitchFamily="2" charset="2"/>
              <a:buChar char="l"/>
            </a:pPr>
            <a:r>
              <a:rPr lang="en-US" altLang="zh-CN" dirty="0"/>
              <a:t>Show that (A, </a:t>
            </a:r>
            <a:r>
              <a:rPr lang="en-US" altLang="zh-CN" dirty="0">
                <a:sym typeface="Symbol" panose="05050102010706020507" pitchFamily="18" charset="2"/>
              </a:rPr>
              <a:t></a:t>
            </a:r>
            <a:r>
              <a:rPr lang="en-US" altLang="zh-CN" dirty="0"/>
              <a:t> ) is a poset, and for all a, b in A, GLB(a, b) = a*b.</a:t>
            </a:r>
          </a:p>
          <a:p>
            <a:pPr lvl="1">
              <a:lnSpc>
                <a:spcPct val="150000"/>
              </a:lnSpc>
              <a:buClrTx/>
              <a:buFont typeface="Wingdings" panose="05000000000000000000" pitchFamily="2" charset="2"/>
              <a:buChar char="l"/>
            </a:pPr>
            <a:endParaRPr lang="en-US" altLang="zh-CN" dirty="0"/>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3" y="853942"/>
            <a:ext cx="11398483" cy="580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Example 16:</a:t>
            </a:r>
          </a:p>
          <a:p>
            <a:pPr lvl="1">
              <a:lnSpc>
                <a:spcPct val="150000"/>
              </a:lnSpc>
              <a:buClrTx/>
              <a:buFont typeface="Wingdings" panose="05000000000000000000" pitchFamily="2" charset="2"/>
              <a:buChar char="l"/>
            </a:pPr>
            <a:r>
              <a:rPr lang="en-US" altLang="zh-CN"/>
              <a:t>Solution</a:t>
            </a:r>
            <a:r>
              <a:rPr lang="zh-CN" altLang="en-US" dirty="0"/>
              <a:t>：</a:t>
            </a:r>
            <a:endParaRPr lang="en-US" altLang="zh-CN" dirty="0"/>
          </a:p>
          <a:p>
            <a:pPr lvl="2">
              <a:lnSpc>
                <a:spcPct val="150000"/>
              </a:lnSpc>
              <a:buClrTx/>
              <a:buFont typeface="Wingdings" panose="05000000000000000000" pitchFamily="2" charset="2"/>
              <a:buChar char="l"/>
            </a:pPr>
            <a:r>
              <a:rPr lang="en-US" altLang="zh-CN" dirty="0"/>
              <a:t>We must show that</a:t>
            </a:r>
          </a:p>
          <a:p>
            <a:pPr lvl="3">
              <a:lnSpc>
                <a:spcPct val="150000"/>
              </a:lnSpc>
              <a:buClrTx/>
              <a:buFont typeface="Wingdings" panose="05000000000000000000" pitchFamily="2" charset="2"/>
              <a:buChar char="l"/>
            </a:pPr>
            <a:r>
              <a:rPr lang="en-US" altLang="zh-CN" dirty="0">
                <a:sym typeface="Symbol" panose="05050102010706020507" pitchFamily="18" charset="2"/>
              </a:rPr>
              <a:t></a:t>
            </a:r>
            <a:r>
              <a:rPr lang="en-US" altLang="zh-CN" dirty="0"/>
              <a:t> is reflexive, antisymmetric and transitive.</a:t>
            </a:r>
          </a:p>
          <a:p>
            <a:pPr lvl="3">
              <a:lnSpc>
                <a:spcPct val="150000"/>
              </a:lnSpc>
              <a:buClrTx/>
              <a:buFont typeface="Wingdings" panose="05000000000000000000" pitchFamily="2" charset="2"/>
              <a:buChar char="l"/>
            </a:pPr>
            <a:r>
              <a:rPr lang="en-US" altLang="zh-CN" dirty="0"/>
              <a:t>a*b = a∧b for all a and b in </a:t>
            </a:r>
            <a:r>
              <a:rPr lang="en-US" altLang="zh-CN"/>
              <a:t>A. </a:t>
            </a:r>
          </a:p>
          <a:p>
            <a:pPr lvl="1">
              <a:lnSpc>
                <a:spcPct val="150000"/>
              </a:lnSpc>
              <a:buClrTx/>
              <a:buFont typeface="Wingdings" panose="05000000000000000000" pitchFamily="2" charset="2"/>
              <a:buChar char="l"/>
            </a:pPr>
            <a:endParaRPr lang="en-US" altLang="zh-CN" dirty="0"/>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3" y="853942"/>
            <a:ext cx="11398483" cy="580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16:</a:t>
            </a:r>
          </a:p>
          <a:p>
            <a:pPr lvl="1">
              <a:lnSpc>
                <a:spcPct val="150000"/>
              </a:lnSpc>
              <a:buClrTx/>
              <a:buFont typeface="Wingdings" panose="05000000000000000000" pitchFamily="2" charset="2"/>
              <a:buChar char="l"/>
            </a:pPr>
            <a:r>
              <a:rPr lang="en-US" altLang="zh-CN" dirty="0"/>
              <a:t>Solution</a:t>
            </a:r>
            <a:r>
              <a:rPr lang="zh-CN" altLang="en-US" dirty="0"/>
              <a:t>：</a:t>
            </a:r>
            <a:endParaRPr lang="en-US" altLang="zh-CN" dirty="0"/>
          </a:p>
          <a:p>
            <a:pPr lvl="2">
              <a:lnSpc>
                <a:spcPct val="150000"/>
              </a:lnSpc>
              <a:buClrTx/>
              <a:buFont typeface="Wingdings" panose="05000000000000000000" pitchFamily="2" charset="2"/>
              <a:buChar char="l"/>
            </a:pPr>
            <a:r>
              <a:rPr lang="en-US" altLang="zh-CN" dirty="0">
                <a:sym typeface="Symbol" panose="05050102010706020507" pitchFamily="18" charset="2"/>
              </a:rPr>
              <a:t></a:t>
            </a:r>
            <a:r>
              <a:rPr lang="en-US" altLang="zh-CN" dirty="0"/>
              <a:t> is reflexive</a:t>
            </a:r>
          </a:p>
          <a:p>
            <a:pPr lvl="3">
              <a:lnSpc>
                <a:spcPct val="150000"/>
              </a:lnSpc>
              <a:buClrTx/>
              <a:buFont typeface="Wingdings" panose="05000000000000000000" pitchFamily="2" charset="2"/>
              <a:buChar char="l"/>
            </a:pPr>
            <a:r>
              <a:rPr lang="en-US" altLang="zh-CN" dirty="0">
                <a:sym typeface="Symbol" panose="05050102010706020507" pitchFamily="18" charset="2"/>
              </a:rPr>
              <a:t>a  b if and only if a = a*b</a:t>
            </a:r>
          </a:p>
          <a:p>
            <a:pPr lvl="2">
              <a:lnSpc>
                <a:spcPct val="150000"/>
              </a:lnSpc>
              <a:buClrTx/>
              <a:buFont typeface="Wingdings" panose="05000000000000000000" pitchFamily="2" charset="2"/>
              <a:buChar char="l"/>
            </a:pPr>
            <a:r>
              <a:rPr lang="en-US" altLang="zh-CN" dirty="0">
                <a:sym typeface="Symbol" panose="05050102010706020507" pitchFamily="18" charset="2"/>
              </a:rPr>
              <a:t>Since a = a*a, </a:t>
            </a:r>
          </a:p>
          <a:p>
            <a:pPr lvl="3">
              <a:lnSpc>
                <a:spcPct val="150000"/>
              </a:lnSpc>
              <a:buClrTx/>
              <a:buFont typeface="Wingdings" panose="05000000000000000000" pitchFamily="2" charset="2"/>
              <a:buChar char="l"/>
            </a:pPr>
            <a:r>
              <a:rPr lang="en-US" altLang="zh-CN" dirty="0">
                <a:sym typeface="Symbol" panose="05050102010706020507" pitchFamily="18" charset="2"/>
              </a:rPr>
              <a:t>a  a for all a in A, and </a:t>
            </a:r>
          </a:p>
          <a:p>
            <a:pPr lvl="3">
              <a:lnSpc>
                <a:spcPct val="150000"/>
              </a:lnSpc>
              <a:buClrTx/>
              <a:buFont typeface="Wingdings" panose="05000000000000000000" pitchFamily="2" charset="2"/>
              <a:buChar char="l"/>
            </a:pPr>
            <a:r>
              <a:rPr lang="en-US" altLang="zh-CN" dirty="0">
                <a:sym typeface="Symbol" panose="05050102010706020507" pitchFamily="18" charset="2"/>
              </a:rPr>
              <a:t>  is reflexive.</a:t>
            </a:r>
          </a:p>
          <a:p>
            <a:pPr lvl="1">
              <a:lnSpc>
                <a:spcPct val="150000"/>
              </a:lnSpc>
              <a:buClrTx/>
              <a:buFont typeface="Wingdings" panose="05000000000000000000" pitchFamily="2" charset="2"/>
              <a:buChar char="l"/>
            </a:pPr>
            <a:endParaRPr lang="en-US" altLang="zh-CN" dirty="0"/>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3" y="853942"/>
            <a:ext cx="11398483" cy="580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Example 16:</a:t>
            </a:r>
          </a:p>
          <a:p>
            <a:pPr lvl="1">
              <a:lnSpc>
                <a:spcPct val="150000"/>
              </a:lnSpc>
              <a:buClrTx/>
              <a:buFont typeface="Wingdings" panose="05000000000000000000" pitchFamily="2" charset="2"/>
              <a:buChar char="l"/>
            </a:pPr>
            <a:r>
              <a:rPr lang="en-US" altLang="zh-CN"/>
              <a:t>Solution</a:t>
            </a:r>
            <a:r>
              <a:rPr lang="zh-CN" altLang="en-US"/>
              <a:t>：</a:t>
            </a:r>
            <a:endParaRPr lang="en-US" altLang="zh-CN"/>
          </a:p>
          <a:p>
            <a:pPr lvl="2">
              <a:lnSpc>
                <a:spcPct val="150000"/>
              </a:lnSpc>
              <a:buClrTx/>
              <a:buFont typeface="Wingdings" panose="05000000000000000000" pitchFamily="2" charset="2"/>
              <a:buChar char="l"/>
            </a:pPr>
            <a:r>
              <a:rPr lang="en-US" altLang="zh-CN">
                <a:sym typeface="Symbol" panose="05050102010706020507" pitchFamily="18" charset="2"/>
              </a:rPr>
              <a:t>  is antisymmetric</a:t>
            </a:r>
          </a:p>
          <a:p>
            <a:pPr lvl="3">
              <a:lnSpc>
                <a:spcPct val="150000"/>
              </a:lnSpc>
              <a:buClrTx/>
              <a:buFont typeface="Wingdings" panose="05000000000000000000" pitchFamily="2" charset="2"/>
              <a:buChar char="l"/>
            </a:pPr>
            <a:r>
              <a:rPr lang="en-US" altLang="zh-CN">
                <a:sym typeface="Symbol" panose="05050102010706020507" pitchFamily="18" charset="2"/>
              </a:rPr>
              <a:t>a  b if and only if a = a*b</a:t>
            </a:r>
          </a:p>
          <a:p>
            <a:pPr lvl="2">
              <a:lnSpc>
                <a:spcPct val="150000"/>
              </a:lnSpc>
              <a:buClrTx/>
              <a:buFont typeface="Wingdings" panose="05000000000000000000" pitchFamily="2" charset="2"/>
              <a:buChar char="l"/>
            </a:pPr>
            <a:r>
              <a:rPr lang="en-US" altLang="zh-CN">
                <a:sym typeface="Symbol" panose="05050102010706020507" pitchFamily="18" charset="2"/>
              </a:rPr>
              <a:t>Now suppose that </a:t>
            </a:r>
          </a:p>
          <a:p>
            <a:pPr lvl="3">
              <a:lnSpc>
                <a:spcPct val="150000"/>
              </a:lnSpc>
              <a:buClrTx/>
              <a:buFont typeface="Wingdings" panose="05000000000000000000" pitchFamily="2" charset="2"/>
              <a:buChar char="l"/>
            </a:pPr>
            <a:r>
              <a:rPr lang="en-US" altLang="zh-CN">
                <a:sym typeface="Symbol" panose="05050102010706020507" pitchFamily="18" charset="2"/>
              </a:rPr>
              <a:t>a  b and b  a. </a:t>
            </a:r>
          </a:p>
          <a:p>
            <a:pPr lvl="3">
              <a:lnSpc>
                <a:spcPct val="150000"/>
              </a:lnSpc>
              <a:buClrTx/>
              <a:buFont typeface="Wingdings" panose="05000000000000000000" pitchFamily="2" charset="2"/>
              <a:buChar char="l"/>
            </a:pPr>
            <a:r>
              <a:rPr lang="en-US" altLang="zh-CN">
                <a:sym typeface="Symbol" panose="05050102010706020507" pitchFamily="18" charset="2"/>
              </a:rPr>
              <a:t>Then, by definition and property 2, </a:t>
            </a:r>
          </a:p>
          <a:p>
            <a:pPr lvl="3">
              <a:lnSpc>
                <a:spcPct val="150000"/>
              </a:lnSpc>
              <a:buClrTx/>
              <a:buFont typeface="Wingdings" panose="05000000000000000000" pitchFamily="2" charset="2"/>
              <a:buChar char="l"/>
            </a:pPr>
            <a:r>
              <a:rPr lang="en-US" altLang="zh-CN">
                <a:sym typeface="Symbol" panose="05050102010706020507" pitchFamily="18" charset="2"/>
              </a:rPr>
              <a:t>a = a*b = b*a = b, </a:t>
            </a:r>
          </a:p>
          <a:p>
            <a:pPr lvl="3">
              <a:lnSpc>
                <a:spcPct val="150000"/>
              </a:lnSpc>
              <a:buClrTx/>
              <a:buFont typeface="Wingdings" panose="05000000000000000000" pitchFamily="2" charset="2"/>
              <a:buChar char="l"/>
            </a:pPr>
            <a:r>
              <a:rPr lang="en-US" altLang="zh-CN">
                <a:sym typeface="Symbol" panose="05050102010706020507" pitchFamily="18" charset="2"/>
              </a:rPr>
              <a:t>so a = b. </a:t>
            </a:r>
          </a:p>
          <a:p>
            <a:pPr lvl="3">
              <a:lnSpc>
                <a:spcPct val="150000"/>
              </a:lnSpc>
              <a:buClrTx/>
              <a:buFont typeface="Wingdings" panose="05000000000000000000" pitchFamily="2" charset="2"/>
              <a:buChar char="l"/>
            </a:pPr>
            <a:r>
              <a:rPr lang="en-US" altLang="zh-CN">
                <a:sym typeface="Symbol" panose="05050102010706020507" pitchFamily="18" charset="2"/>
              </a:rPr>
              <a:t>Thus  is antisymmetric.</a:t>
            </a:r>
          </a:p>
          <a:p>
            <a:pPr lvl="1">
              <a:lnSpc>
                <a:spcPct val="150000"/>
              </a:lnSpc>
              <a:buClrTx/>
              <a:buFont typeface="Wingdings" panose="05000000000000000000" pitchFamily="2" charset="2"/>
              <a:buChar char="l"/>
            </a:pPr>
            <a:endParaRPr lang="en-US" altLang="zh-CN"/>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9.7 Binary Operations Revisited</a:t>
            </a:r>
          </a:p>
        </p:txBody>
      </p:sp>
    </p:spTree>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3" y="853942"/>
            <a:ext cx="11398483" cy="580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Example 16:</a:t>
            </a:r>
          </a:p>
          <a:p>
            <a:pPr lvl="1">
              <a:lnSpc>
                <a:spcPct val="150000"/>
              </a:lnSpc>
              <a:buClrTx/>
              <a:buFont typeface="Wingdings" panose="05000000000000000000" pitchFamily="2" charset="2"/>
              <a:buChar char="l"/>
            </a:pPr>
            <a:r>
              <a:rPr lang="en-US" altLang="zh-CN"/>
              <a:t>Solution</a:t>
            </a:r>
            <a:r>
              <a:rPr lang="zh-CN" altLang="en-US"/>
              <a:t>：</a:t>
            </a:r>
            <a:endParaRPr lang="en-US" altLang="zh-CN"/>
          </a:p>
          <a:p>
            <a:pPr lvl="2">
              <a:lnSpc>
                <a:spcPct val="150000"/>
              </a:lnSpc>
              <a:buClrTx/>
              <a:buFont typeface="Wingdings" panose="05000000000000000000" pitchFamily="2" charset="2"/>
              <a:buChar char="l"/>
            </a:pPr>
            <a:r>
              <a:rPr lang="en-US" altLang="zh-CN">
                <a:sym typeface="Symbol" panose="05050102010706020507" pitchFamily="18" charset="2"/>
              </a:rPr>
              <a:t>  is transitive</a:t>
            </a:r>
          </a:p>
          <a:p>
            <a:pPr lvl="3">
              <a:lnSpc>
                <a:spcPct val="150000"/>
              </a:lnSpc>
              <a:buClrTx/>
              <a:buFont typeface="Wingdings" panose="05000000000000000000" pitchFamily="2" charset="2"/>
              <a:buChar char="l"/>
            </a:pPr>
            <a:r>
              <a:rPr lang="en-US" altLang="zh-CN">
                <a:sym typeface="Symbol" panose="05050102010706020507" pitchFamily="18" charset="2"/>
              </a:rPr>
              <a:t>a  b if and only if a = a*b</a:t>
            </a:r>
          </a:p>
          <a:p>
            <a:pPr lvl="2">
              <a:lnSpc>
                <a:spcPct val="150000"/>
              </a:lnSpc>
              <a:buClrTx/>
              <a:buFont typeface="Wingdings" panose="05000000000000000000" pitchFamily="2" charset="2"/>
              <a:buChar char="l"/>
            </a:pPr>
            <a:r>
              <a:rPr lang="en-US" altLang="zh-CN">
                <a:sym typeface="Symbol" panose="05050102010706020507" pitchFamily="18" charset="2"/>
              </a:rPr>
              <a:t>If a  b and b  c, </a:t>
            </a:r>
          </a:p>
          <a:p>
            <a:pPr lvl="3">
              <a:lnSpc>
                <a:spcPct val="150000"/>
              </a:lnSpc>
              <a:buClrTx/>
              <a:buFont typeface="Wingdings" panose="05000000000000000000" pitchFamily="2" charset="2"/>
              <a:buChar char="l"/>
            </a:pPr>
            <a:r>
              <a:rPr lang="en-US" altLang="zh-CN">
                <a:sym typeface="Symbol" panose="05050102010706020507" pitchFamily="18" charset="2"/>
              </a:rPr>
              <a:t>then a = a*b = a*(b*c) = (a*b)*c = a*c, </a:t>
            </a:r>
          </a:p>
          <a:p>
            <a:pPr lvl="3">
              <a:lnSpc>
                <a:spcPct val="150000"/>
              </a:lnSpc>
              <a:buClrTx/>
              <a:buFont typeface="Wingdings" panose="05000000000000000000" pitchFamily="2" charset="2"/>
              <a:buChar char="l"/>
            </a:pPr>
            <a:r>
              <a:rPr lang="en-US" altLang="zh-CN">
                <a:sym typeface="Symbol" panose="05050102010706020507" pitchFamily="18" charset="2"/>
              </a:rPr>
              <a:t>so a  c and </a:t>
            </a:r>
          </a:p>
          <a:p>
            <a:pPr lvl="3">
              <a:lnSpc>
                <a:spcPct val="150000"/>
              </a:lnSpc>
              <a:buClrTx/>
              <a:buFont typeface="Wingdings" panose="05000000000000000000" pitchFamily="2" charset="2"/>
              <a:buChar char="l"/>
            </a:pPr>
            <a:r>
              <a:rPr lang="en-US" altLang="zh-CN">
                <a:sym typeface="Symbol" panose="05050102010706020507" pitchFamily="18" charset="2"/>
              </a:rPr>
              <a:t>  is transitive.</a:t>
            </a:r>
          </a:p>
          <a:p>
            <a:pPr lvl="1">
              <a:lnSpc>
                <a:spcPct val="150000"/>
              </a:lnSpc>
              <a:buClrTx/>
              <a:buFont typeface="Wingdings" panose="05000000000000000000" pitchFamily="2" charset="2"/>
              <a:buChar char="l"/>
            </a:pPr>
            <a:endParaRPr lang="en-US" altLang="zh-CN"/>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3" y="853942"/>
            <a:ext cx="11398483" cy="580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Example 16:</a:t>
            </a:r>
          </a:p>
          <a:p>
            <a:pPr lvl="1">
              <a:lnSpc>
                <a:spcPct val="150000"/>
              </a:lnSpc>
              <a:buClrTx/>
              <a:buFont typeface="Wingdings" panose="05000000000000000000" pitchFamily="2" charset="2"/>
              <a:buChar char="l"/>
            </a:pPr>
            <a:r>
              <a:rPr lang="en-US" altLang="zh-CN"/>
              <a:t>Solution</a:t>
            </a:r>
            <a:r>
              <a:rPr lang="zh-CN" altLang="en-US"/>
              <a:t>：</a:t>
            </a:r>
            <a:endParaRPr lang="en-US" altLang="zh-CN"/>
          </a:p>
          <a:p>
            <a:pPr lvl="2">
              <a:lnSpc>
                <a:spcPct val="150000"/>
              </a:lnSpc>
              <a:buClrTx/>
              <a:buFont typeface="Wingdings" panose="05000000000000000000" pitchFamily="2" charset="2"/>
              <a:buChar char="l"/>
            </a:pPr>
            <a:r>
              <a:rPr lang="en-US" altLang="zh-CN" i="1"/>
              <a:t>a</a:t>
            </a:r>
            <a:r>
              <a:rPr lang="en-US" altLang="zh-CN"/>
              <a:t>*</a:t>
            </a:r>
            <a:r>
              <a:rPr lang="en-US" altLang="zh-CN" i="1"/>
              <a:t>b</a:t>
            </a:r>
            <a:r>
              <a:rPr lang="en-US" altLang="zh-CN"/>
              <a:t> = </a:t>
            </a:r>
            <a:r>
              <a:rPr lang="en-US" altLang="zh-CN" i="1"/>
              <a:t>a</a:t>
            </a:r>
            <a:r>
              <a:rPr lang="en-US" altLang="zh-CN">
                <a:latin typeface="宋体" pitchFamily="2" charset="-122"/>
                <a:sym typeface="MT Symbol" pitchFamily="82" charset="2"/>
              </a:rPr>
              <a:t>∧</a:t>
            </a:r>
            <a:r>
              <a:rPr lang="en-US" altLang="zh-CN" i="1"/>
              <a:t>b</a:t>
            </a:r>
            <a:r>
              <a:rPr lang="en-US" altLang="zh-CN"/>
              <a:t>, for all </a:t>
            </a:r>
            <a:r>
              <a:rPr lang="en-US" altLang="zh-CN" i="1"/>
              <a:t>a</a:t>
            </a:r>
            <a:r>
              <a:rPr lang="en-US" altLang="zh-CN"/>
              <a:t> and </a:t>
            </a:r>
            <a:r>
              <a:rPr lang="en-US" altLang="zh-CN" i="1"/>
              <a:t>b</a:t>
            </a:r>
            <a:r>
              <a:rPr lang="en-US" altLang="zh-CN"/>
              <a:t> in </a:t>
            </a:r>
            <a:r>
              <a:rPr lang="en-US" altLang="zh-CN" i="1"/>
              <a:t>A</a:t>
            </a:r>
          </a:p>
          <a:p>
            <a:pPr lvl="3">
              <a:lnSpc>
                <a:spcPct val="150000"/>
              </a:lnSpc>
              <a:buClrTx/>
              <a:buFont typeface="Wingdings" panose="05000000000000000000" pitchFamily="2" charset="2"/>
              <a:buChar char="l"/>
            </a:pPr>
            <a:r>
              <a:rPr lang="en-US" altLang="zh-CN">
                <a:sym typeface="Symbol" panose="05050102010706020507" pitchFamily="18" charset="2"/>
              </a:rPr>
              <a:t>a  b if and only if a = a*b</a:t>
            </a:r>
          </a:p>
          <a:p>
            <a:pPr lvl="2">
              <a:lnSpc>
                <a:spcPct val="150000"/>
              </a:lnSpc>
              <a:buClrTx/>
              <a:buFont typeface="Wingdings" panose="05000000000000000000" pitchFamily="2" charset="2"/>
              <a:buChar char="l"/>
            </a:pPr>
            <a:r>
              <a:rPr lang="en-US" altLang="zh-CN">
                <a:sym typeface="Symbol" panose="05050102010706020507" pitchFamily="18" charset="2"/>
              </a:rPr>
              <a:t>We have </a:t>
            </a:r>
          </a:p>
          <a:p>
            <a:pPr lvl="3">
              <a:lnSpc>
                <a:spcPct val="150000"/>
              </a:lnSpc>
              <a:buClrTx/>
              <a:buFont typeface="Wingdings" panose="05000000000000000000" pitchFamily="2" charset="2"/>
              <a:buChar char="l"/>
            </a:pPr>
            <a:r>
              <a:rPr lang="en-US" altLang="zh-CN">
                <a:sym typeface="Symbol" panose="05050102010706020507" pitchFamily="18" charset="2"/>
              </a:rPr>
              <a:t>a*b = a*(b*b) =(a*b)*b, </a:t>
            </a:r>
          </a:p>
          <a:p>
            <a:pPr lvl="3">
              <a:lnSpc>
                <a:spcPct val="150000"/>
              </a:lnSpc>
              <a:buClrTx/>
              <a:buFont typeface="Wingdings" panose="05000000000000000000" pitchFamily="2" charset="2"/>
              <a:buChar char="l"/>
            </a:pPr>
            <a:r>
              <a:rPr lang="en-US" altLang="zh-CN">
                <a:sym typeface="Symbol" panose="05050102010706020507" pitchFamily="18" charset="2"/>
              </a:rPr>
              <a:t>so a*b  b. </a:t>
            </a:r>
          </a:p>
          <a:p>
            <a:pPr lvl="3">
              <a:lnSpc>
                <a:spcPct val="150000"/>
              </a:lnSpc>
              <a:buClrTx/>
              <a:buFont typeface="Wingdings" panose="05000000000000000000" pitchFamily="2" charset="2"/>
              <a:buChar char="l"/>
            </a:pPr>
            <a:r>
              <a:rPr lang="en-US" altLang="zh-CN">
                <a:sym typeface="Symbol" panose="05050102010706020507" pitchFamily="18" charset="2"/>
              </a:rPr>
              <a:t>In a similar way a*b a. </a:t>
            </a:r>
          </a:p>
          <a:p>
            <a:pPr lvl="3">
              <a:lnSpc>
                <a:spcPct val="150000"/>
              </a:lnSpc>
              <a:buClrTx/>
              <a:buFont typeface="Wingdings" panose="05000000000000000000" pitchFamily="2" charset="2"/>
              <a:buChar char="l"/>
            </a:pPr>
            <a:r>
              <a:rPr lang="en-US" altLang="zh-CN">
                <a:sym typeface="Symbol" panose="05050102010706020507" pitchFamily="18" charset="2"/>
              </a:rPr>
              <a:t>so a*b is a lower bound for a and b.</a:t>
            </a:r>
          </a:p>
          <a:p>
            <a:pPr lvl="1">
              <a:lnSpc>
                <a:spcPct val="150000"/>
              </a:lnSpc>
              <a:buClrTx/>
              <a:buFont typeface="Wingdings" panose="05000000000000000000" pitchFamily="2" charset="2"/>
              <a:buChar char="l"/>
            </a:pPr>
            <a:endParaRPr lang="en-US" altLang="zh-CN"/>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3" y="853942"/>
            <a:ext cx="11398483" cy="580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Example 16:</a:t>
            </a:r>
          </a:p>
          <a:p>
            <a:pPr lvl="1">
              <a:lnSpc>
                <a:spcPct val="150000"/>
              </a:lnSpc>
              <a:buClrTx/>
              <a:buFont typeface="Wingdings" panose="05000000000000000000" pitchFamily="2" charset="2"/>
              <a:buChar char="l"/>
            </a:pPr>
            <a:r>
              <a:rPr lang="en-US" altLang="zh-CN"/>
              <a:t>Solution</a:t>
            </a:r>
            <a:r>
              <a:rPr lang="zh-CN" altLang="en-US"/>
              <a:t>：</a:t>
            </a:r>
            <a:endParaRPr lang="en-US" altLang="zh-CN"/>
          </a:p>
          <a:p>
            <a:pPr lvl="2">
              <a:lnSpc>
                <a:spcPct val="150000"/>
              </a:lnSpc>
              <a:buClrTx/>
              <a:buFont typeface="Wingdings" panose="05000000000000000000" pitchFamily="2" charset="2"/>
              <a:buChar char="l"/>
            </a:pPr>
            <a:r>
              <a:rPr lang="en-US" altLang="zh-CN">
                <a:sym typeface="Symbol" panose="05050102010706020507" pitchFamily="18" charset="2"/>
              </a:rPr>
              <a:t>Now, if c  a and c  b. </a:t>
            </a:r>
          </a:p>
          <a:p>
            <a:pPr lvl="3">
              <a:lnSpc>
                <a:spcPct val="150000"/>
              </a:lnSpc>
              <a:buClrTx/>
              <a:buFont typeface="Wingdings" panose="05000000000000000000" pitchFamily="2" charset="2"/>
              <a:buChar char="l"/>
            </a:pPr>
            <a:r>
              <a:rPr lang="en-US" altLang="zh-CN">
                <a:sym typeface="Symbol" panose="05050102010706020507" pitchFamily="18" charset="2"/>
              </a:rPr>
              <a:t>then c = c*a and c = c*b by definition. </a:t>
            </a:r>
          </a:p>
          <a:p>
            <a:pPr lvl="3">
              <a:lnSpc>
                <a:spcPct val="150000"/>
              </a:lnSpc>
              <a:buClrTx/>
              <a:buFont typeface="Wingdings" panose="05000000000000000000" pitchFamily="2" charset="2"/>
              <a:buChar char="l"/>
            </a:pPr>
            <a:r>
              <a:rPr lang="en-US" altLang="zh-CN">
                <a:sym typeface="Symbol" panose="05050102010706020507" pitchFamily="18" charset="2"/>
              </a:rPr>
              <a:t>Thus c = (c*a)*b = c*(a*b). </a:t>
            </a:r>
          </a:p>
          <a:p>
            <a:pPr lvl="3">
              <a:lnSpc>
                <a:spcPct val="150000"/>
              </a:lnSpc>
              <a:buClrTx/>
              <a:buFont typeface="Wingdings" panose="05000000000000000000" pitchFamily="2" charset="2"/>
              <a:buChar char="l"/>
            </a:pPr>
            <a:r>
              <a:rPr lang="en-US" altLang="zh-CN">
                <a:sym typeface="Symbol" panose="05050102010706020507" pitchFamily="18" charset="2"/>
              </a:rPr>
              <a:t>so c  a*b. </a:t>
            </a:r>
          </a:p>
          <a:p>
            <a:pPr lvl="3">
              <a:lnSpc>
                <a:spcPct val="150000"/>
              </a:lnSpc>
              <a:buClrTx/>
              <a:buFont typeface="Wingdings" panose="05000000000000000000" pitchFamily="2" charset="2"/>
              <a:buChar char="l"/>
            </a:pPr>
            <a:r>
              <a:rPr lang="en-US" altLang="zh-CN">
                <a:sym typeface="Symbol" panose="05050102010706020507" pitchFamily="18" charset="2"/>
              </a:rPr>
              <a:t>This shows that a*b is the greatest lower bound of a and b.</a:t>
            </a:r>
          </a:p>
          <a:p>
            <a:pPr lvl="1">
              <a:lnSpc>
                <a:spcPct val="150000"/>
              </a:lnSpc>
              <a:buClrTx/>
              <a:buFont typeface="Wingdings" panose="05000000000000000000" pitchFamily="2" charset="2"/>
              <a:buChar char="l"/>
            </a:pPr>
            <a:endParaRPr lang="en-US" altLang="zh-CN"/>
          </a:p>
        </p:txBody>
      </p:sp>
      <p:sp>
        <p:nvSpPr>
          <p:cNvPr id="4" name="文本框 3"/>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10046" y="1687444"/>
            <a:ext cx="11335477"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r>
              <a:rPr lang="en-US" altLang="zh-CN" dirty="0"/>
              <a:t>20 P323</a:t>
            </a:r>
          </a:p>
          <a:p>
            <a:pPr eaLnBrk="1" hangingPunct="1"/>
            <a:r>
              <a:rPr lang="en-US" altLang="zh-CN" dirty="0"/>
              <a:t>24, 28 P324</a:t>
            </a:r>
          </a:p>
        </p:txBody>
      </p:sp>
      <p:sp>
        <p:nvSpPr>
          <p:cNvPr id="3" name="文本框 2"/>
          <p:cNvSpPr txBox="1"/>
          <p:nvPr/>
        </p:nvSpPr>
        <p:spPr>
          <a:xfrm>
            <a:off x="2165684" y="979558"/>
            <a:ext cx="7860632" cy="707886"/>
          </a:xfrm>
          <a:prstGeom prst="rect">
            <a:avLst/>
          </a:prstGeom>
          <a:noFill/>
        </p:spPr>
        <p:txBody>
          <a:bodyPr wrap="square" rtlCol="0">
            <a:spAutoFit/>
          </a:bodyPr>
          <a:lstStyle/>
          <a:p>
            <a:pPr algn="ctr"/>
            <a:r>
              <a:rPr lang="en-US" altLang="zh-CN" sz="4000" b="1">
                <a:latin typeface="Times New Roman" panose="02020503050405090304" pitchFamily="18" charset="0"/>
              </a:rPr>
              <a:t>Homework</a:t>
            </a:r>
            <a:endParaRPr lang="zh-CN" altLang="en-US" sz="4000" b="1"/>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9.7 Binary Operations Revisited</a:t>
            </a:r>
            <a:endParaRPr lang="en-US" altLang="zh-CN" sz="3200" dirty="0"/>
          </a:p>
        </p:txBody>
      </p:sp>
    </p:spTree>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10046" y="0"/>
            <a:ext cx="11056470" cy="735394"/>
          </a:xfrm>
          <a:prstGeom prst="rect">
            <a:avLst/>
          </a:prstGeom>
          <a:noFill/>
        </p:spPr>
        <p:txBody>
          <a:bodyPr wrap="square" rtlCol="0">
            <a:spAutoFit/>
          </a:bodyPr>
          <a:lstStyle/>
          <a:p>
            <a:pPr>
              <a:lnSpc>
                <a:spcPct val="150000"/>
              </a:lnSpc>
            </a:pPr>
            <a:r>
              <a:rPr lang="en-US" altLang="zh-CN" sz="3200"/>
              <a:t>9.6 – 9.7</a:t>
            </a:r>
            <a:endParaRPr lang="en-US" altLang="zh-CN" sz="3200" dirty="0"/>
          </a:p>
        </p:txBody>
      </p:sp>
      <p:sp>
        <p:nvSpPr>
          <p:cNvPr id="7" name="Rectangle 3"/>
          <p:cNvSpPr txBox="1">
            <a:spLocks noChangeArrowheads="1"/>
          </p:cNvSpPr>
          <p:nvPr/>
        </p:nvSpPr>
        <p:spPr bwMode="auto">
          <a:xfrm>
            <a:off x="210045" y="1586240"/>
            <a:ext cx="5885955"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partial order</a:t>
            </a:r>
            <a:r>
              <a:rPr lang="zh-CN" altLang="en-US" sz="2800"/>
              <a:t>（偏序关系）</a:t>
            </a:r>
            <a:endParaRPr lang="en-US" altLang="zh-CN" sz="2800"/>
          </a:p>
          <a:p>
            <a:pPr>
              <a:lnSpc>
                <a:spcPct val="150000"/>
              </a:lnSpc>
              <a:buFont typeface="Wingdings" panose="05000000000000000000" pitchFamily="2" charset="2"/>
              <a:buChar char="l"/>
            </a:pPr>
            <a:r>
              <a:rPr lang="en-US" altLang="zh-CN" sz="2800"/>
              <a:t>poset</a:t>
            </a:r>
            <a:r>
              <a:rPr lang="zh-CN" altLang="en-US" sz="2800"/>
              <a:t> </a:t>
            </a:r>
            <a:r>
              <a:rPr lang="en-US" altLang="zh-CN" sz="2800"/>
              <a:t>/</a:t>
            </a:r>
            <a:r>
              <a:rPr lang="zh-CN" altLang="en-US" sz="2800"/>
              <a:t> </a:t>
            </a:r>
            <a:r>
              <a:rPr lang="en-US" altLang="zh-CN" sz="2800"/>
              <a:t>partially ordered set</a:t>
            </a:r>
            <a:r>
              <a:rPr lang="zh-CN" altLang="en-US" sz="2800"/>
              <a:t>（偏序集合）</a:t>
            </a:r>
            <a:endParaRPr lang="en-US" altLang="zh-CN" sz="2800"/>
          </a:p>
          <a:p>
            <a:pPr>
              <a:lnSpc>
                <a:spcPct val="150000"/>
              </a:lnSpc>
              <a:buFont typeface="Wingdings" panose="05000000000000000000" pitchFamily="2" charset="2"/>
              <a:buChar char="l"/>
            </a:pPr>
            <a:r>
              <a:rPr lang="en-US" altLang="zh-CN" sz="2800"/>
              <a:t>linear order</a:t>
            </a:r>
            <a:r>
              <a:rPr lang="zh-CN" altLang="en-US" sz="2800"/>
              <a:t>（线序关系）</a:t>
            </a:r>
            <a:endParaRPr lang="en-US" altLang="zh-CN" sz="2800"/>
          </a:p>
          <a:p>
            <a:pPr>
              <a:lnSpc>
                <a:spcPct val="150000"/>
              </a:lnSpc>
              <a:buFont typeface="Wingdings" panose="05000000000000000000" pitchFamily="2" charset="2"/>
              <a:buChar char="l"/>
            </a:pPr>
            <a:r>
              <a:rPr lang="en-US" altLang="zh-CN" sz="2800"/>
              <a:t>linearly ordered set</a:t>
            </a:r>
            <a:r>
              <a:rPr lang="zh-CN" altLang="en-US" sz="2800"/>
              <a:t>（线序集合）</a:t>
            </a:r>
            <a:endParaRPr lang="en-US" altLang="zh-CN" sz="2800"/>
          </a:p>
          <a:p>
            <a:pPr>
              <a:lnSpc>
                <a:spcPct val="150000"/>
              </a:lnSpc>
              <a:buFont typeface="Wingdings" panose="05000000000000000000" pitchFamily="2" charset="2"/>
              <a:buChar char="l"/>
            </a:pPr>
            <a:r>
              <a:rPr lang="en-US" altLang="zh-CN" sz="2800"/>
              <a:t>chain</a:t>
            </a:r>
            <a:r>
              <a:rPr lang="zh-CN" altLang="en-US" sz="2800"/>
              <a:t>（链）</a:t>
            </a:r>
            <a:endParaRPr lang="en-US" altLang="zh-CN" sz="2800"/>
          </a:p>
          <a:p>
            <a:pPr>
              <a:lnSpc>
                <a:spcPct val="150000"/>
              </a:lnSpc>
              <a:buFont typeface="Wingdings" panose="05000000000000000000" pitchFamily="2" charset="2"/>
              <a:buChar char="l"/>
            </a:pPr>
            <a:r>
              <a:rPr lang="en-US" altLang="zh-CN" sz="2800"/>
              <a:t>well order</a:t>
            </a:r>
            <a:r>
              <a:rPr lang="zh-CN" altLang="en-US" sz="2800"/>
              <a:t>（良序关系） </a:t>
            </a:r>
            <a:endParaRPr lang="en-US" altLang="zh-CN" sz="2800"/>
          </a:p>
          <a:p>
            <a:pPr>
              <a:lnSpc>
                <a:spcPct val="150000"/>
              </a:lnSpc>
              <a:buFont typeface="Wingdings" panose="05000000000000000000" pitchFamily="2" charset="2"/>
              <a:buChar char="l"/>
            </a:pPr>
            <a:endParaRPr lang="zh-CN" altLang="en-US" sz="2800"/>
          </a:p>
          <a:p>
            <a:pPr>
              <a:lnSpc>
                <a:spcPct val="150000"/>
              </a:lnSpc>
              <a:buFont typeface="Wingdings" panose="05000000000000000000" pitchFamily="2" charset="2"/>
              <a:buChar char="l"/>
            </a:pPr>
            <a:endParaRPr lang="zh-CN" altLang="en-US" sz="2800"/>
          </a:p>
        </p:txBody>
      </p:sp>
      <p:sp>
        <p:nvSpPr>
          <p:cNvPr id="8" name="文本框 7"/>
          <p:cNvSpPr txBox="1"/>
          <p:nvPr/>
        </p:nvSpPr>
        <p:spPr>
          <a:xfrm>
            <a:off x="2193925" y="879485"/>
            <a:ext cx="7804150" cy="706755"/>
          </a:xfrm>
          <a:prstGeom prst="rect">
            <a:avLst/>
          </a:prstGeom>
          <a:noFill/>
        </p:spPr>
        <p:txBody>
          <a:bodyPr wrap="square" rtlCol="0">
            <a:spAutoFit/>
          </a:bodyPr>
          <a:lstStyle/>
          <a:p>
            <a:pPr algn="ctr" eaLnBrk="1" hangingPunct="1"/>
            <a:r>
              <a:rPr lang="zh-CN" altLang="en-US" sz="4000" b="1">
                <a:sym typeface="+mn-ea"/>
              </a:rPr>
              <a:t>单词表</a:t>
            </a:r>
            <a:endParaRPr lang="en-US" altLang="zh-CN" sz="4000" b="1" dirty="0"/>
          </a:p>
        </p:txBody>
      </p:sp>
      <p:sp>
        <p:nvSpPr>
          <p:cNvPr id="6" name="Rectangle 3"/>
          <p:cNvSpPr txBox="1">
            <a:spLocks noChangeArrowheads="1"/>
          </p:cNvSpPr>
          <p:nvPr/>
        </p:nvSpPr>
        <p:spPr bwMode="auto">
          <a:xfrm>
            <a:off x="6095999" y="1586240"/>
            <a:ext cx="5885955"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lexicographic order</a:t>
            </a:r>
            <a:r>
              <a:rPr lang="zh-CN" altLang="en-US" sz="2800"/>
              <a:t>（词典顺序）</a:t>
            </a:r>
            <a:endParaRPr lang="en-US" altLang="zh-CN" sz="2800"/>
          </a:p>
          <a:p>
            <a:pPr>
              <a:lnSpc>
                <a:spcPct val="150000"/>
              </a:lnSpc>
              <a:buFont typeface="Wingdings" panose="05000000000000000000" pitchFamily="2" charset="2"/>
              <a:buChar char="l"/>
            </a:pPr>
            <a:r>
              <a:rPr lang="en-US" altLang="zh-CN" sz="2800"/>
              <a:t>maximal element</a:t>
            </a:r>
            <a:r>
              <a:rPr lang="zh-CN" altLang="en-US" sz="2800"/>
              <a:t>（极大元）</a:t>
            </a:r>
            <a:endParaRPr lang="en-US" altLang="zh-CN" sz="2800"/>
          </a:p>
          <a:p>
            <a:pPr>
              <a:lnSpc>
                <a:spcPct val="150000"/>
              </a:lnSpc>
              <a:buFont typeface="Wingdings" panose="05000000000000000000" pitchFamily="2" charset="2"/>
              <a:buChar char="l"/>
            </a:pPr>
            <a:r>
              <a:rPr lang="en-US" altLang="zh-CN" sz="2800"/>
              <a:t>minimal element</a:t>
            </a:r>
            <a:r>
              <a:rPr lang="zh-CN" altLang="en-US" sz="2800"/>
              <a:t>（极小元）</a:t>
            </a:r>
          </a:p>
          <a:p>
            <a:pPr>
              <a:lnSpc>
                <a:spcPct val="150000"/>
              </a:lnSpc>
              <a:buFont typeface="Wingdings" panose="05000000000000000000" pitchFamily="2" charset="2"/>
              <a:buChar char="l"/>
            </a:pPr>
            <a:r>
              <a:rPr lang="en-US" altLang="zh-CN" sz="2800"/>
              <a:t>greatest element</a:t>
            </a:r>
            <a:r>
              <a:rPr lang="zh-CN" altLang="en-US" sz="2800"/>
              <a:t>（最大元）</a:t>
            </a:r>
            <a:endParaRPr lang="en-US" altLang="zh-CN" sz="2800"/>
          </a:p>
          <a:p>
            <a:pPr>
              <a:lnSpc>
                <a:spcPct val="150000"/>
              </a:lnSpc>
              <a:buFont typeface="Wingdings" panose="05000000000000000000" pitchFamily="2" charset="2"/>
              <a:buChar char="l"/>
            </a:pPr>
            <a:r>
              <a:rPr lang="en-US" altLang="zh-CN" sz="2800"/>
              <a:t>unit element</a:t>
            </a:r>
            <a:r>
              <a:rPr lang="zh-CN" altLang="en-US" sz="2800"/>
              <a:t>（单位元）</a:t>
            </a:r>
          </a:p>
          <a:p>
            <a:pPr>
              <a:lnSpc>
                <a:spcPct val="150000"/>
              </a:lnSpc>
              <a:buFont typeface="Wingdings" panose="05000000000000000000" pitchFamily="2" charset="2"/>
              <a:buChar char="l"/>
            </a:pPr>
            <a:r>
              <a:rPr lang="en-US" altLang="zh-CN" sz="2800"/>
              <a:t>least element</a:t>
            </a:r>
            <a:r>
              <a:rPr lang="zh-CN" altLang="en-US" sz="2800"/>
              <a:t>（最小元）</a:t>
            </a:r>
            <a:endParaRPr lang="en-US" altLang="zh-CN" sz="2800"/>
          </a:p>
          <a:p>
            <a:pPr>
              <a:lnSpc>
                <a:spcPct val="150000"/>
              </a:lnSpc>
              <a:buFont typeface="Wingdings" panose="05000000000000000000" pitchFamily="2" charset="2"/>
              <a:buChar char="l"/>
            </a:pPr>
            <a:r>
              <a:rPr lang="en-US" altLang="zh-CN" sz="2800"/>
              <a:t>zero element</a:t>
            </a:r>
            <a:r>
              <a:rPr lang="zh-CN" altLang="en-US" sz="2800"/>
              <a:t>（零元）</a:t>
            </a:r>
          </a:p>
          <a:p>
            <a:pPr>
              <a:lnSpc>
                <a:spcPct val="150000"/>
              </a:lnSpc>
              <a:buFont typeface="Wingdings" panose="05000000000000000000" pitchFamily="2" charset="2"/>
              <a:buChar char="l"/>
            </a:pPr>
            <a:endParaRPr lang="zh-CN" altLang="en-US" sz="2800"/>
          </a:p>
          <a:p>
            <a:pPr>
              <a:lnSpc>
                <a:spcPct val="150000"/>
              </a:lnSpc>
              <a:buFont typeface="Wingdings" panose="05000000000000000000" pitchFamily="2" charset="2"/>
              <a:buChar char="l"/>
            </a:pPr>
            <a:endParaRPr lang="zh-CN" altLang="en-US" sz="2800"/>
          </a:p>
          <a:p>
            <a:pPr>
              <a:lnSpc>
                <a:spcPct val="150000"/>
              </a:lnSpc>
              <a:buFont typeface="Wingdings" panose="05000000000000000000" pitchFamily="2" charset="2"/>
              <a:buChar char="l"/>
            </a:pPr>
            <a:endParaRPr lang="zh-CN" altLang="en-US" sz="2800"/>
          </a:p>
        </p:txBody>
      </p:sp>
    </p:spTree>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10046" y="0"/>
            <a:ext cx="11056470" cy="735394"/>
          </a:xfrm>
          <a:prstGeom prst="rect">
            <a:avLst/>
          </a:prstGeom>
          <a:noFill/>
        </p:spPr>
        <p:txBody>
          <a:bodyPr wrap="square" rtlCol="0">
            <a:spAutoFit/>
          </a:bodyPr>
          <a:lstStyle/>
          <a:p>
            <a:pPr>
              <a:lnSpc>
                <a:spcPct val="150000"/>
              </a:lnSpc>
            </a:pPr>
            <a:r>
              <a:rPr lang="en-US" altLang="zh-CN" sz="3200"/>
              <a:t>9.6 – 9.7</a:t>
            </a:r>
            <a:endParaRPr lang="en-US" altLang="zh-CN" sz="3200" dirty="0"/>
          </a:p>
        </p:txBody>
      </p:sp>
      <p:sp>
        <p:nvSpPr>
          <p:cNvPr id="7" name="Rectangle 3"/>
          <p:cNvSpPr txBox="1">
            <a:spLocks noChangeArrowheads="1"/>
          </p:cNvSpPr>
          <p:nvPr/>
        </p:nvSpPr>
        <p:spPr bwMode="auto">
          <a:xfrm>
            <a:off x="210045" y="1586240"/>
            <a:ext cx="5885955"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upper bound</a:t>
            </a:r>
            <a:r>
              <a:rPr lang="zh-CN" altLang="en-US" sz="2800"/>
              <a:t>（上界） </a:t>
            </a:r>
            <a:endParaRPr lang="en-US" altLang="zh-CN" sz="2800"/>
          </a:p>
          <a:p>
            <a:pPr>
              <a:lnSpc>
                <a:spcPct val="150000"/>
              </a:lnSpc>
              <a:buFont typeface="Wingdings" panose="05000000000000000000" pitchFamily="2" charset="2"/>
              <a:buChar char="l"/>
            </a:pPr>
            <a:r>
              <a:rPr lang="en-US" altLang="zh-CN" sz="2800"/>
              <a:t>lower bound</a:t>
            </a:r>
            <a:r>
              <a:rPr lang="zh-CN" altLang="en-US" sz="2800"/>
              <a:t>（下界）</a:t>
            </a:r>
            <a:endParaRPr lang="en-US" altLang="zh-CN" sz="2800"/>
          </a:p>
          <a:p>
            <a:pPr>
              <a:lnSpc>
                <a:spcPct val="150000"/>
              </a:lnSpc>
              <a:buFont typeface="Wingdings" panose="05000000000000000000" pitchFamily="2" charset="2"/>
              <a:buChar char="l"/>
            </a:pPr>
            <a:r>
              <a:rPr lang="en-US" altLang="zh-CN" sz="2800"/>
              <a:t>least upper bound (LUB) </a:t>
            </a:r>
            <a:r>
              <a:rPr lang="zh-CN" altLang="en-US" sz="2800"/>
              <a:t>（最小上界）</a:t>
            </a:r>
            <a:endParaRPr lang="en-US" altLang="zh-CN" sz="2800"/>
          </a:p>
          <a:p>
            <a:pPr>
              <a:lnSpc>
                <a:spcPct val="150000"/>
              </a:lnSpc>
              <a:buFont typeface="Wingdings" panose="05000000000000000000" pitchFamily="2" charset="2"/>
              <a:buChar char="l"/>
            </a:pPr>
            <a:r>
              <a:rPr lang="en-US" altLang="zh-CN" sz="2800"/>
              <a:t>greatest lower bound (GLB) </a:t>
            </a:r>
            <a:r>
              <a:rPr lang="zh-CN" altLang="en-US" sz="2800"/>
              <a:t>（最大下界）</a:t>
            </a:r>
            <a:endParaRPr lang="en-US" altLang="zh-CN" sz="2800"/>
          </a:p>
          <a:p>
            <a:pPr>
              <a:lnSpc>
                <a:spcPct val="150000"/>
              </a:lnSpc>
              <a:buFont typeface="Wingdings" panose="05000000000000000000" pitchFamily="2" charset="2"/>
              <a:buChar char="l"/>
            </a:pPr>
            <a:r>
              <a:rPr lang="en-US" altLang="zh-CN" sz="2800"/>
              <a:t>lattice</a:t>
            </a:r>
            <a:r>
              <a:rPr lang="zh-CN" altLang="en-US" sz="2800"/>
              <a:t>（格）</a:t>
            </a:r>
          </a:p>
        </p:txBody>
      </p:sp>
      <p:sp>
        <p:nvSpPr>
          <p:cNvPr id="8" name="文本框 7"/>
          <p:cNvSpPr txBox="1"/>
          <p:nvPr/>
        </p:nvSpPr>
        <p:spPr>
          <a:xfrm>
            <a:off x="2193925" y="879485"/>
            <a:ext cx="7804150" cy="706755"/>
          </a:xfrm>
          <a:prstGeom prst="rect">
            <a:avLst/>
          </a:prstGeom>
          <a:noFill/>
        </p:spPr>
        <p:txBody>
          <a:bodyPr wrap="square" rtlCol="0">
            <a:spAutoFit/>
          </a:bodyPr>
          <a:lstStyle/>
          <a:p>
            <a:pPr algn="ctr" eaLnBrk="1" hangingPunct="1"/>
            <a:r>
              <a:rPr lang="zh-CN" altLang="en-US" sz="4000" b="1">
                <a:sym typeface="+mn-ea"/>
              </a:rPr>
              <a:t>单词表</a:t>
            </a:r>
            <a:endParaRPr lang="en-US" altLang="zh-CN" sz="4000" b="1" dirty="0"/>
          </a:p>
        </p:txBody>
      </p:sp>
      <p:sp>
        <p:nvSpPr>
          <p:cNvPr id="6" name="Rectangle 3"/>
          <p:cNvSpPr txBox="1">
            <a:spLocks noChangeArrowheads="1"/>
          </p:cNvSpPr>
          <p:nvPr/>
        </p:nvSpPr>
        <p:spPr bwMode="auto">
          <a:xfrm>
            <a:off x="6095999" y="1586240"/>
            <a:ext cx="5885955"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Idempotent Properties</a:t>
            </a:r>
            <a:r>
              <a:rPr lang="zh-CN" altLang="en-US" sz="2800"/>
              <a:t>（幂等律）</a:t>
            </a:r>
          </a:p>
          <a:p>
            <a:pPr>
              <a:lnSpc>
                <a:spcPct val="150000"/>
              </a:lnSpc>
              <a:buFont typeface="Wingdings" panose="05000000000000000000" pitchFamily="2" charset="2"/>
              <a:buChar char="l"/>
            </a:pPr>
            <a:r>
              <a:rPr lang="en-US" altLang="zh-CN" sz="2800"/>
              <a:t>Commutative Properties</a:t>
            </a:r>
            <a:r>
              <a:rPr lang="zh-CN" altLang="en-US" sz="2800"/>
              <a:t>（交换律）</a:t>
            </a:r>
            <a:endParaRPr lang="en-US" altLang="zh-CN" sz="2800"/>
          </a:p>
          <a:p>
            <a:pPr>
              <a:lnSpc>
                <a:spcPct val="150000"/>
              </a:lnSpc>
              <a:buFont typeface="Wingdings" panose="05000000000000000000" pitchFamily="2" charset="2"/>
              <a:buChar char="l"/>
            </a:pPr>
            <a:r>
              <a:rPr lang="en-US" altLang="zh-CN" sz="2800"/>
              <a:t>Associative Properties</a:t>
            </a:r>
            <a:r>
              <a:rPr lang="zh-CN" altLang="en-US" sz="2800"/>
              <a:t>（结合律）</a:t>
            </a:r>
            <a:endParaRPr lang="en-US" altLang="zh-CN" sz="2800"/>
          </a:p>
          <a:p>
            <a:pPr>
              <a:lnSpc>
                <a:spcPct val="150000"/>
              </a:lnSpc>
              <a:buFont typeface="Wingdings" panose="05000000000000000000" pitchFamily="2" charset="2"/>
              <a:buChar char="l"/>
            </a:pPr>
            <a:r>
              <a:rPr lang="it-IT" altLang="zh-CN" sz="2800"/>
              <a:t>topological sorting</a:t>
            </a:r>
            <a:r>
              <a:rPr lang="zh-CN" altLang="it-IT" sz="2800"/>
              <a:t>（拓扑排序）</a:t>
            </a:r>
          </a:p>
          <a:p>
            <a:pPr>
              <a:lnSpc>
                <a:spcPct val="150000"/>
              </a:lnSpc>
              <a:buFont typeface="Wingdings" panose="05000000000000000000" pitchFamily="2" charset="2"/>
              <a:buChar char="l"/>
            </a:pPr>
            <a:r>
              <a:rPr lang="en-US" altLang="zh-CN" sz="2800"/>
              <a:t>binary operations(</a:t>
            </a:r>
            <a:r>
              <a:rPr lang="zh-CN" altLang="en-US" sz="2800"/>
              <a:t>二元运算</a:t>
            </a:r>
            <a:r>
              <a:rPr lang="en-US" altLang="zh-CN" sz="2800"/>
              <a:t>)</a:t>
            </a:r>
          </a:p>
          <a:p>
            <a:pPr>
              <a:lnSpc>
                <a:spcPct val="150000"/>
              </a:lnSpc>
              <a:buFont typeface="Wingdings" panose="05000000000000000000" pitchFamily="2" charset="2"/>
              <a:buChar char="l"/>
            </a:pPr>
            <a:endParaRPr lang="zh-CN" altLang="en-US" sz="2800"/>
          </a:p>
          <a:p>
            <a:pPr>
              <a:lnSpc>
                <a:spcPct val="150000"/>
              </a:lnSpc>
              <a:buFont typeface="Wingdings" panose="05000000000000000000" pitchFamily="2" charset="2"/>
              <a:buChar char="l"/>
            </a:pPr>
            <a:endParaRPr lang="zh-CN" altLang="en-US" sz="2800"/>
          </a:p>
          <a:p>
            <a:pPr>
              <a:lnSpc>
                <a:spcPct val="150000"/>
              </a:lnSpc>
              <a:buFont typeface="Wingdings" panose="05000000000000000000" pitchFamily="2" charset="2"/>
              <a:buChar char="l"/>
            </a:pPr>
            <a:endParaRPr lang="zh-CN" altLang="en-US" sz="2800"/>
          </a:p>
        </p:txBody>
      </p:sp>
    </p:spTree>
  </p:cSld>
  <p:clrMapOvr>
    <a:masterClrMapping/>
  </p:clrMapOvr>
  <p:transition>
    <p:fade/>
  </p:transition>
</p:sld>
</file>

<file path=ppt/theme/theme1.xml><?xml version="1.0" encoding="utf-8"?>
<a:theme xmlns:a="http://schemas.openxmlformats.org/drawingml/2006/main" name="嘉迪">
  <a:themeElements>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我的培训模板2">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extraClrScheme>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我的培训模板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我的培训模板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我的培训模板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我的培训模板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我的培训模板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我的培训模板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我的培训模板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我的培训模板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我的培训模板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我的培训模板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我的培训模板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嘉迪</Template>
  <TotalTime>0</TotalTime>
  <Words>7459</Words>
  <Application>Microsoft Office PowerPoint</Application>
  <PresentationFormat>宽屏</PresentationFormat>
  <Paragraphs>535</Paragraphs>
  <Slides>95</Slides>
  <Notes>1</Notes>
  <HiddenSlides>1</HiddenSlides>
  <MMClips>0</MMClips>
  <ScaleCrop>false</ScaleCrop>
  <HeadingPairs>
    <vt:vector size="8" baseType="variant">
      <vt:variant>
        <vt:lpstr>已用的字体</vt:lpstr>
      </vt:variant>
      <vt:variant>
        <vt:i4>13</vt:i4>
      </vt:variant>
      <vt:variant>
        <vt:lpstr>主题</vt:lpstr>
      </vt:variant>
      <vt:variant>
        <vt:i4>2</vt:i4>
      </vt:variant>
      <vt:variant>
        <vt:lpstr>嵌入 OLE 服务器</vt:lpstr>
      </vt:variant>
      <vt:variant>
        <vt:i4>1</vt:i4>
      </vt:variant>
      <vt:variant>
        <vt:lpstr>幻灯片标题</vt:lpstr>
      </vt:variant>
      <vt:variant>
        <vt:i4>95</vt:i4>
      </vt:variant>
    </vt:vector>
  </HeadingPairs>
  <TitlesOfParts>
    <vt:vector size="111" baseType="lpstr">
      <vt:lpstr>Arial Unicode MS</vt:lpstr>
      <vt:lpstr>Microsoft JhengHei</vt:lpstr>
      <vt:lpstr>MT Symbol</vt:lpstr>
      <vt:lpstr>等线</vt:lpstr>
      <vt:lpstr>等线 Light</vt:lpstr>
      <vt:lpstr>宋体</vt:lpstr>
      <vt:lpstr>Arial</vt:lpstr>
      <vt:lpstr>Calibri</vt:lpstr>
      <vt:lpstr>Symbol</vt:lpstr>
      <vt:lpstr>Tahoma</vt:lpstr>
      <vt:lpstr>Times New Roman</vt:lpstr>
      <vt:lpstr>Wingdings</vt:lpstr>
      <vt:lpstr>Wingdings 2</vt:lpstr>
      <vt:lpstr>嘉迪</vt:lpstr>
      <vt:lpstr>自定义设计方案</vt:lpstr>
      <vt:lpstr>Equation</vt:lpstr>
      <vt:lpstr>离散数学及其应用 Discrete Mathematics and Its Applications （Eighth  Edition/Kenneth H.Rosen）  郭少勇 (syguo@bupt.edu.cn) 北京邮电大学 2024.9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metarnet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跨界数据创新</dc:title>
  <dc:creator>张龙</dc:creator>
  <cp:lastModifiedBy>Shaoyong Guo</cp:lastModifiedBy>
  <cp:revision>2048</cp:revision>
  <dcterms:created xsi:type="dcterms:W3CDTF">2024-09-26T14:31:09Z</dcterms:created>
  <dcterms:modified xsi:type="dcterms:W3CDTF">2025-10-11T03:14:46Z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CEE855D6EC0646A5AC487CE6141A24AE</vt:lpwstr>
  </property>
  <property fmtid="{D5CDD505-2E9C-101B-9397-08002B2CF9AE}" pid="3" name="KSOProductBuildVer">
    <vt:lpwstr>2052-6.7.1.8828</vt:lpwstr>
  </property>
</Properties>
</file>