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  <p:sldMasterId id="2147483662" r:id="rId2"/>
    <p:sldMasterId id="2147483676" r:id="rId3"/>
  </p:sldMasterIdLst>
  <p:notesMasterIdLst>
    <p:notesMasterId r:id="rId39"/>
  </p:notesMasterIdLst>
  <p:handoutMasterIdLst>
    <p:handoutMasterId r:id="rId40"/>
  </p:handoutMasterIdLst>
  <p:sldIdLst>
    <p:sldId id="266" r:id="rId4"/>
    <p:sldId id="790" r:id="rId5"/>
    <p:sldId id="791" r:id="rId6"/>
    <p:sldId id="792" r:id="rId7"/>
    <p:sldId id="793" r:id="rId8"/>
    <p:sldId id="794" r:id="rId9"/>
    <p:sldId id="795" r:id="rId10"/>
    <p:sldId id="1244" r:id="rId11"/>
    <p:sldId id="440" r:id="rId12"/>
    <p:sldId id="589" r:id="rId13"/>
    <p:sldId id="590" r:id="rId14"/>
    <p:sldId id="564" r:id="rId15"/>
    <p:sldId id="1010" r:id="rId16"/>
    <p:sldId id="1011" r:id="rId17"/>
    <p:sldId id="835" r:id="rId18"/>
    <p:sldId id="544" r:id="rId19"/>
    <p:sldId id="1012" r:id="rId20"/>
    <p:sldId id="519" r:id="rId21"/>
    <p:sldId id="1013" r:id="rId22"/>
    <p:sldId id="1014" r:id="rId23"/>
    <p:sldId id="1015" r:id="rId24"/>
    <p:sldId id="1016" r:id="rId25"/>
    <p:sldId id="1245" r:id="rId26"/>
    <p:sldId id="1017" r:id="rId27"/>
    <p:sldId id="1018" r:id="rId28"/>
    <p:sldId id="1023" r:id="rId29"/>
    <p:sldId id="1024" r:id="rId30"/>
    <p:sldId id="1019" r:id="rId31"/>
    <p:sldId id="1025" r:id="rId32"/>
    <p:sldId id="1020" r:id="rId33"/>
    <p:sldId id="1021" r:id="rId34"/>
    <p:sldId id="1022" r:id="rId35"/>
    <p:sldId id="979" r:id="rId36"/>
    <p:sldId id="980" r:id="rId37"/>
    <p:sldId id="981" r:id="rId38"/>
  </p:sldIdLst>
  <p:sldSz cx="12192000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BB4FAAA-8E59-40C0-B1AA-50162B12F497}">
          <p14:sldIdLst>
            <p14:sldId id="266"/>
          </p14:sldIdLst>
        </p14:section>
        <p14:section name="默认节" id="{388BEBE0-C237-4909-8D12-3393CF062B2D}">
          <p14:sldIdLst>
            <p14:sldId id="790"/>
            <p14:sldId id="791"/>
            <p14:sldId id="792"/>
            <p14:sldId id="793"/>
            <p14:sldId id="794"/>
            <p14:sldId id="795"/>
            <p14:sldId id="1244"/>
            <p14:sldId id="440"/>
            <p14:sldId id="589"/>
            <p14:sldId id="590"/>
            <p14:sldId id="564"/>
            <p14:sldId id="1010"/>
            <p14:sldId id="1011"/>
            <p14:sldId id="835"/>
            <p14:sldId id="544"/>
            <p14:sldId id="1012"/>
            <p14:sldId id="519"/>
            <p14:sldId id="1013"/>
            <p14:sldId id="1014"/>
            <p14:sldId id="1015"/>
            <p14:sldId id="1016"/>
            <p14:sldId id="1245"/>
            <p14:sldId id="1017"/>
            <p14:sldId id="1018"/>
            <p14:sldId id="1023"/>
            <p14:sldId id="1024"/>
            <p14:sldId id="1019"/>
            <p14:sldId id="1025"/>
            <p14:sldId id="1020"/>
            <p14:sldId id="1021"/>
            <p14:sldId id="1022"/>
            <p14:sldId id="979"/>
            <p14:sldId id="980"/>
            <p14:sldId id="9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37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83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00FF00"/>
    <a:srgbClr val="0000FF"/>
    <a:srgbClr val="FF0000"/>
    <a:srgbClr val="0033CC"/>
    <a:srgbClr val="FFFF99"/>
    <a:srgbClr val="FF99FF"/>
    <a:srgbClr val="00FFCC"/>
    <a:srgbClr val="00737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03" autoAdjust="0"/>
    <p:restoredTop sz="92907" autoAdjust="0"/>
  </p:normalViewPr>
  <p:slideViewPr>
    <p:cSldViewPr snapToGrid="0" showGuides="1">
      <p:cViewPr varScale="1">
        <p:scale>
          <a:sx n="85" d="100"/>
          <a:sy n="85" d="100"/>
        </p:scale>
        <p:origin x="441" y="42"/>
      </p:cViewPr>
      <p:guideLst>
        <p:guide orient="horz" pos="2200"/>
        <p:guide pos="379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760" y="-78"/>
      </p:cViewPr>
      <p:guideLst>
        <p:guide orient="horz" pos="3283"/>
        <p:guide pos="22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69E6C644-74FC-4D44-AB81-2709554C9147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B048ACB8-82BB-45CD-9FE9-610CE3440B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F556F344-34FD-4E14-B679-9401DE38C7AF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CF81660A-873B-4A21-B820-86EACE2D5F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9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 defTabSz="403860"/>
            <a:fld id="{DFF13921-433A-452C-8781-0C688C459168}" type="slidenum">
              <a:rPr lang="en-US" altLang="zh-CN">
                <a:latin typeface="Times New Roman" panose="02020603050405020304" pitchFamily="18" charset="0"/>
              </a:rPr>
              <a:t>1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6627" name="Text Box 1"/>
          <p:cNvSpPr txBox="1">
            <a:spLocks noChangeArrowheads="1"/>
          </p:cNvSpPr>
          <p:nvPr/>
        </p:nvSpPr>
        <p:spPr bwMode="auto">
          <a:xfrm>
            <a:off x="4017769" y="9722503"/>
            <a:ext cx="3077059" cy="507551"/>
          </a:xfrm>
          <a:prstGeom prst="rect">
            <a:avLst/>
          </a:prstGeom>
          <a:noFill/>
          <a:ln w="9525">
            <a:noFill/>
            <a:round/>
          </a:ln>
        </p:spPr>
        <p:txBody>
          <a:bodyPr lIns="0" tIns="0" rIns="0" bIns="0" anchor="b"/>
          <a:lstStyle/>
          <a:p>
            <a:pPr algn="r">
              <a:lnSpc>
                <a:spcPct val="95000"/>
              </a:lnSpc>
              <a:tabLst>
                <a:tab pos="0" algn="l"/>
                <a:tab pos="424815" algn="l"/>
                <a:tab pos="851535" algn="l"/>
                <a:tab pos="1278255" algn="l"/>
                <a:tab pos="1704975" algn="l"/>
                <a:tab pos="2131060" algn="l"/>
                <a:tab pos="2557780" algn="l"/>
                <a:tab pos="2984500" algn="l"/>
                <a:tab pos="3411220" algn="l"/>
                <a:tab pos="3837940" algn="l"/>
                <a:tab pos="4264660" algn="l"/>
                <a:tab pos="4691380" algn="l"/>
                <a:tab pos="5118100" algn="l"/>
                <a:tab pos="5544185" algn="l"/>
                <a:tab pos="5970905" algn="l"/>
                <a:tab pos="6397625" algn="l"/>
                <a:tab pos="6824345" algn="l"/>
                <a:tab pos="7251065" algn="l"/>
                <a:tab pos="7677785" algn="l"/>
                <a:tab pos="8104505" algn="l"/>
                <a:tab pos="8531225" algn="l"/>
              </a:tabLst>
            </a:pPr>
            <a:fld id="{71E9B9DE-4EE6-446A-B153-879FB46C5256}" type="slidenum">
              <a:rPr lang="en-US" altLang="zh-CN" sz="13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fld>
            <a:endParaRPr lang="en-US" altLang="zh-CN" sz="13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8113" y="777875"/>
            <a:ext cx="6819900" cy="38369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662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709632" y="4861252"/>
            <a:ext cx="5680036" cy="4605955"/>
          </a:xfrm>
          <a:noFill/>
        </p:spPr>
        <p:txBody>
          <a:bodyPr wrap="none" anchor="ctr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A432C8-69A7-458B-9684-2BFA64B31948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6" descr="logo-2.png"/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175299" y="31523"/>
            <a:ext cx="708025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C:\Users\Administrator\Desktop\u=75086232,1868931616&amp;fm=26&amp;gp=0.jpg"/>
          <p:cNvPicPr>
            <a:picLocks noChangeArrowheads="1"/>
          </p:cNvPicPr>
          <p:nvPr userDrawn="1"/>
        </p:nvPicPr>
        <p:blipFill>
          <a:blip r:embed="rId3" cstate="screen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397424" y="31523"/>
            <a:ext cx="684213" cy="684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 userDrawn="1"/>
        </p:nvCxnSpPr>
        <p:spPr>
          <a:xfrm>
            <a:off x="65309" y="757647"/>
            <a:ext cx="1206000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33D019-A32C-4EAD-B8E6-DBDA699692FD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EBA98F-560C-4997-81C4-81D4D9187EAB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0972B2-CA5C-437D-87D0-8081271A9E4B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CD4847-11EF-4466-A8AD-85CDB7B49118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68457A-3AB9-4880-8A0C-9F8524491207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0454185" y="5841242"/>
            <a:ext cx="1555845" cy="791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E976D3-5B7F-4300-ABED-C91F1B2AE209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DC1E59-17DD-41CE-97CA-624A472382D4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C057FC-95B6-4D89-AFDA-ABA33EE921E5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549AC-EB31-477F-92A9-B1988E232878}" type="datetime2">
              <a:rPr lang="en-US" smtClean="0"/>
              <a:t>Tuesday, October 28,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 userDrawn="1"/>
        </p:nvCxnSpPr>
        <p:spPr bwMode="auto">
          <a:xfrm>
            <a:off x="-12293" y="707306"/>
            <a:ext cx="12204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</a:ln>
        </p:spPr>
      </p:cxnSp>
      <p:sp>
        <p:nvSpPr>
          <p:cNvPr id="11" name="TextBox 10"/>
          <p:cNvSpPr txBox="1"/>
          <p:nvPr userDrawn="1"/>
        </p:nvSpPr>
        <p:spPr>
          <a:xfrm>
            <a:off x="11612880" y="6492240"/>
            <a:ext cx="57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8F815E2C-4410-4FF6-BE00-35D2EB204A6F}" type="slidenum">
              <a:rPr lang="zh-CN" altLang="en-US" sz="1600" smtClean="0"/>
              <a:t>‹#›</a:t>
            </a:fld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45696" y="82730"/>
            <a:ext cx="2572490" cy="5291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641" y="273629"/>
            <a:ext cx="10968959" cy="11434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xfrm>
            <a:off x="60864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xfrm>
            <a:off x="4170240" y="6247376"/>
            <a:ext cx="3863040" cy="47093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xfrm>
            <a:off x="8741761" y="6247376"/>
            <a:ext cx="2837760" cy="470930"/>
          </a:xfrm>
        </p:spPr>
        <p:txBody>
          <a:bodyPr/>
          <a:lstStyle>
            <a:lvl1pPr>
              <a:defRPr/>
            </a:lvl1pPr>
          </a:lstStyle>
          <a:p>
            <a:fld id="{E0BD98EA-90B5-4CC6-89A6-2E9085E50F5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Tuesday, October 28,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Tuesday, October 28,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80" y="274638"/>
            <a:ext cx="109726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80" y="1600201"/>
            <a:ext cx="109726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 第二级</a:t>
            </a:r>
          </a:p>
          <a:p>
            <a:pPr lvl="2"/>
            <a:r>
              <a:rPr lang="zh-CN" altLang="en-US"/>
              <a:t> 第三级</a:t>
            </a:r>
          </a:p>
          <a:p>
            <a:pPr lvl="3"/>
            <a:r>
              <a:rPr lang="zh-CN" altLang="en-US"/>
              <a:t> 第四级</a:t>
            </a:r>
          </a:p>
          <a:p>
            <a:pPr lvl="4"/>
            <a:r>
              <a:rPr lang="zh-CN" altLang="en-US"/>
              <a:t> 第五级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8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80CB818-7379-467D-8E76-EF9D9074A26C}" type="datetime2">
              <a:rPr lang="en-US" smtClean="0"/>
              <a:t>Tuesday, October 28, 2025</a:t>
            </a:fld>
            <a:endParaRPr lang="en-US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43" y="6245225"/>
            <a:ext cx="385971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150" y="6245225"/>
            <a:ext cx="284517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0CFEC368-1D7A-4F81-ABF6-AE0E36BAF64C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1907"/>
        </a:buClr>
        <a:buFont typeface="Wingdings" panose="05000000000000000000" pitchFamily="2" charset="2"/>
        <a:buChar char="r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3038F"/>
        </a:buClr>
        <a:buFont typeface="Wingdings" panose="05000000000000000000" pitchFamily="2" charset="2"/>
        <a:buChar char="¦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2CB22C"/>
        </a:buClr>
        <a:buFont typeface="Wingdings" panose="05000000000000000000" pitchFamily="2" charset="2"/>
        <a:buChar char="v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ò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909501"/>
            <a:ext cx="10972800" cy="5445125"/>
          </a:xfrm>
        </p:spPr>
        <p:txBody>
          <a:bodyPr tIns="36948"/>
          <a:lstStyle/>
          <a:p>
            <a:pPr>
              <a:lnSpc>
                <a:spcPct val="150000"/>
              </a:lnSpc>
              <a:tabLst>
                <a:tab pos="0" algn="l"/>
                <a:tab pos="423545" algn="l"/>
                <a:tab pos="850900" algn="l"/>
                <a:tab pos="1277620" algn="l"/>
                <a:tab pos="1704975" algn="l"/>
                <a:tab pos="2131695" algn="l"/>
                <a:tab pos="2559050" algn="l"/>
                <a:tab pos="2985770" algn="l"/>
                <a:tab pos="3413125" algn="l"/>
                <a:tab pos="3839845" algn="l"/>
                <a:tab pos="4267200" algn="l"/>
                <a:tab pos="4693920" algn="l"/>
                <a:tab pos="5121275" algn="l"/>
                <a:tab pos="5547995" algn="l"/>
                <a:tab pos="5975350" algn="l"/>
                <a:tab pos="6402070" algn="l"/>
                <a:tab pos="6829425" algn="l"/>
                <a:tab pos="7254875" algn="l"/>
                <a:tab pos="7681595" algn="l"/>
                <a:tab pos="8108950" algn="l"/>
                <a:tab pos="8535670" algn="l"/>
              </a:tabLst>
            </a:pPr>
            <a:r>
              <a:rPr lang="zh-CN" altLang="en-US" sz="3200" b="1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离散数学及其</a:t>
            </a:r>
            <a:r>
              <a:rPr lang="zh-CN" altLang="en-US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应用</a:t>
            </a:r>
            <a:br>
              <a:rPr lang="en-US" altLang="zh-CN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CN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Discrete Mathematics and Its Applications</a:t>
            </a:r>
            <a:br>
              <a:rPr lang="en-US" altLang="zh-CN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CN" altLang="en-US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CN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Eighth  Edition/Kenneth </a:t>
            </a:r>
            <a:r>
              <a:rPr lang="en-US" altLang="zh-CN" sz="3200" b="1" dirty="0" err="1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H.Rosen</a:t>
            </a:r>
            <a:r>
              <a:rPr lang="zh-CN" altLang="en-US" sz="32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br>
              <a:rPr lang="en-US" altLang="zh-CN" sz="38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br>
              <a:rPr lang="en-US" altLang="zh-CN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郭少勇 </a:t>
            </a:r>
            <a:r>
              <a:rPr lang="en-US" altLang="zh-CN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(syguo@bupt.edu.cn)</a:t>
            </a:r>
            <a:br>
              <a:rPr lang="en-US" altLang="zh-CN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北京邮电大学</a:t>
            </a:r>
            <a:br>
              <a:rPr lang="en-US" altLang="zh-CN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2025.10</a:t>
            </a:r>
            <a:endParaRPr lang="en-US" altLang="zh-CN" b="1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9.1 </a:t>
            </a:r>
            <a:r>
              <a:rPr lang="en-US" altLang="zh-CN" sz="3200" kern="0"/>
              <a:t>Relations and Their Properties</a:t>
            </a:r>
            <a:endParaRPr lang="en-US" altLang="zh-CN" sz="3200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398531" y="980473"/>
            <a:ext cx="10973763" cy="576655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2400" kern="0" dirty="0"/>
              <a:t>Ordered pair</a:t>
            </a:r>
            <a:r>
              <a:rPr lang="zh-CN" altLang="en-US" sz="2400" kern="0" dirty="0"/>
              <a:t>（有序对）</a:t>
            </a:r>
            <a:endParaRPr lang="en-US" altLang="zh-CN" sz="2400" kern="0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2400" kern="0" dirty="0">
                <a:solidFill>
                  <a:srgbClr val="003399"/>
                </a:solidFill>
              </a:rPr>
              <a:t>Cartesian product</a:t>
            </a:r>
            <a:r>
              <a:rPr lang="zh-CN" altLang="en-US" sz="2400" kern="0" dirty="0">
                <a:solidFill>
                  <a:srgbClr val="003399"/>
                </a:solidFill>
              </a:rPr>
              <a:t>（笛卡尔积）</a:t>
            </a:r>
            <a:endParaRPr lang="en-US" altLang="zh-CN" sz="2400" kern="0" dirty="0">
              <a:solidFill>
                <a:srgbClr val="003399"/>
              </a:solidFill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2400" kern="0" dirty="0"/>
              <a:t>Partitions</a:t>
            </a:r>
            <a:r>
              <a:rPr lang="zh-CN" altLang="en-US" sz="2400" kern="0" dirty="0"/>
              <a:t>（划分）</a:t>
            </a:r>
            <a:endParaRPr lang="en-US" altLang="zh-CN" sz="2400" kern="0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2400" kern="0" dirty="0"/>
              <a:t>Definition</a:t>
            </a: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en-US" altLang="zh-CN" sz="1800" kern="0" dirty="0"/>
              <a:t>Let </a:t>
            </a:r>
            <a:r>
              <a:rPr lang="en-US" altLang="zh-CN" sz="1800" i="1" kern="0" dirty="0"/>
              <a:t>A</a:t>
            </a:r>
            <a:r>
              <a:rPr lang="en-US" altLang="zh-CN" sz="1800" kern="0" dirty="0"/>
              <a:t> and </a:t>
            </a:r>
            <a:r>
              <a:rPr lang="en-US" altLang="zh-CN" sz="1800" i="1" kern="0" dirty="0"/>
              <a:t>B</a:t>
            </a:r>
            <a:r>
              <a:rPr lang="en-US" altLang="zh-CN" sz="1800" kern="0" dirty="0"/>
              <a:t> be nonempty sets. A </a:t>
            </a:r>
            <a:r>
              <a:rPr lang="en-US" altLang="zh-CN" sz="1800" i="1" kern="0" dirty="0">
                <a:solidFill>
                  <a:schemeClr val="hlink"/>
                </a:solidFill>
              </a:rPr>
              <a:t>relation R from A to B</a:t>
            </a:r>
            <a:r>
              <a:rPr lang="en-US" altLang="zh-CN" sz="1800" kern="0" dirty="0"/>
              <a:t> is a subset of </a:t>
            </a:r>
            <a:r>
              <a:rPr lang="en-US" altLang="zh-CN" sz="1800" i="1" kern="0" dirty="0"/>
              <a:t>A</a:t>
            </a:r>
            <a:r>
              <a:rPr lang="en-US" altLang="zh-CN" sz="1800" kern="0" dirty="0"/>
              <a:t> </a:t>
            </a:r>
            <a:r>
              <a:rPr lang="zh-CN" altLang="en-US" sz="1800" kern="0" dirty="0">
                <a:sym typeface="Symbol" panose="05050102010706020507" pitchFamily="18" charset="2"/>
              </a:rPr>
              <a:t></a:t>
            </a:r>
            <a:r>
              <a:rPr lang="en-US" altLang="zh-CN" sz="1800" kern="0" dirty="0"/>
              <a:t> </a:t>
            </a:r>
            <a:r>
              <a:rPr lang="en-US" altLang="zh-CN" sz="1800" i="1" kern="0" dirty="0"/>
              <a:t>B</a:t>
            </a:r>
            <a:r>
              <a:rPr lang="en-US" altLang="zh-CN" sz="1800" kern="0" dirty="0"/>
              <a:t>. 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2400" kern="0" dirty="0"/>
              <a:t>Sets Arising from Relations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2400" kern="0" dirty="0"/>
              <a:t>Special Properties of Binary Relations</a:t>
            </a: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en-US" altLang="zh-CN" sz="1800" i="1" kern="0" dirty="0">
                <a:solidFill>
                  <a:schemeClr val="hlink"/>
                </a:solidFill>
              </a:rPr>
              <a:t>Reflexive</a:t>
            </a:r>
            <a:r>
              <a:rPr lang="en-US" altLang="zh-CN" sz="1800" kern="0" dirty="0"/>
              <a:t> and </a:t>
            </a:r>
            <a:r>
              <a:rPr lang="en-US" altLang="zh-CN" sz="1800" i="1" kern="0" dirty="0">
                <a:solidFill>
                  <a:schemeClr val="hlink"/>
                </a:solidFill>
              </a:rPr>
              <a:t>Irreflexive</a:t>
            </a:r>
            <a:r>
              <a:rPr lang="zh-CN" altLang="en-US" sz="1800" kern="0" dirty="0"/>
              <a:t>（自反、反自反）</a:t>
            </a:r>
            <a:endParaRPr lang="zh-CN" altLang="en-US" sz="1800" i="1" kern="0" dirty="0"/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en-US" altLang="zh-CN" sz="1800" i="1" kern="0" dirty="0">
                <a:solidFill>
                  <a:schemeClr val="hlink"/>
                </a:solidFill>
              </a:rPr>
              <a:t>Symmetric</a:t>
            </a:r>
            <a:r>
              <a:rPr lang="en-US" altLang="zh-CN" sz="1800" kern="0" dirty="0"/>
              <a:t>, </a:t>
            </a:r>
            <a:r>
              <a:rPr lang="en-US" altLang="zh-CN" sz="1800" i="1" kern="0" dirty="0">
                <a:solidFill>
                  <a:schemeClr val="hlink"/>
                </a:solidFill>
              </a:rPr>
              <a:t>Asymmetric</a:t>
            </a:r>
            <a:r>
              <a:rPr lang="en-US" altLang="zh-CN" sz="1800" kern="0" dirty="0"/>
              <a:t>, and </a:t>
            </a:r>
            <a:r>
              <a:rPr lang="en-US" altLang="zh-CN" sz="1800" i="1" kern="0" dirty="0">
                <a:solidFill>
                  <a:schemeClr val="hlink"/>
                </a:solidFill>
              </a:rPr>
              <a:t>Antisymmetric</a:t>
            </a:r>
            <a:r>
              <a:rPr lang="zh-CN" altLang="en-US" sz="1800" kern="0" dirty="0"/>
              <a:t>（对称、非对称、反对称）</a:t>
            </a:r>
            <a:endParaRPr lang="zh-CN" altLang="en-US" sz="1800" i="1" kern="0" dirty="0"/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en-US" altLang="zh-CN" sz="1800" i="1" kern="0" dirty="0">
                <a:solidFill>
                  <a:schemeClr val="hlink"/>
                </a:solidFill>
              </a:rPr>
              <a:t>Transitive</a:t>
            </a:r>
            <a:r>
              <a:rPr lang="zh-CN" altLang="en-US" sz="1800" kern="0" dirty="0"/>
              <a:t>（传递）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en-US" altLang="zh-CN" sz="2400" kern="0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zh-CN" altLang="en-US" sz="2400" kern="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9.2 </a:t>
            </a:r>
            <a:r>
              <a:rPr lang="en-US" altLang="zh-CN" sz="3200" kern="0"/>
              <a:t>n-ary Relations and Their Applications</a:t>
            </a:r>
            <a:endParaRPr lang="en-US" altLang="zh-CN" sz="3200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210045" y="949910"/>
            <a:ext cx="11863586" cy="582375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en-US" altLang="zh-CN" sz="2400" kern="0"/>
              <a:t>Combing relations</a:t>
            </a:r>
          </a:p>
          <a:p>
            <a:pPr lvl="1">
              <a:lnSpc>
                <a:spcPct val="160000"/>
              </a:lnSpc>
              <a:spcBef>
                <a:spcPts val="0"/>
              </a:spcBef>
            </a:pPr>
            <a:r>
              <a:rPr lang="en-US" altLang="zh-CN" sz="2400" i="1" kern="0"/>
              <a:t>R</a:t>
            </a:r>
            <a:r>
              <a:rPr lang="en-US" altLang="zh-CN" sz="2400" kern="0" baseline="-25000"/>
              <a:t>2</a:t>
            </a:r>
            <a:r>
              <a:rPr lang="en-US" altLang="zh-CN" sz="2400" kern="0"/>
              <a:t> </a:t>
            </a:r>
            <a:r>
              <a:rPr lang="en-US" altLang="zh-CN" sz="2400" kern="0">
                <a:latin typeface="Symbol" panose="05050102010706020507" pitchFamily="18" charset="2"/>
              </a:rPr>
              <a:t>È </a:t>
            </a:r>
            <a:r>
              <a:rPr lang="en-US" altLang="zh-CN" sz="2400" i="1" kern="0"/>
              <a:t>R</a:t>
            </a:r>
            <a:r>
              <a:rPr lang="en-US" altLang="zh-CN" sz="2400" kern="0" baseline="-25000"/>
              <a:t>1</a:t>
            </a:r>
          </a:p>
          <a:p>
            <a:pPr lvl="1">
              <a:lnSpc>
                <a:spcPct val="160000"/>
              </a:lnSpc>
              <a:spcBef>
                <a:spcPts val="0"/>
              </a:spcBef>
            </a:pPr>
            <a:r>
              <a:rPr lang="en-US" altLang="zh-CN" sz="2400" i="1" kern="0"/>
              <a:t>R</a:t>
            </a:r>
            <a:r>
              <a:rPr lang="en-US" altLang="zh-CN" sz="2400" kern="0" baseline="-25000"/>
              <a:t>2</a:t>
            </a:r>
            <a:r>
              <a:rPr lang="en-US" altLang="zh-CN" sz="2400" kern="0"/>
              <a:t> </a:t>
            </a:r>
            <a:r>
              <a:rPr lang="en-US" altLang="zh-CN" sz="2400" kern="0">
                <a:latin typeface="Symbol" panose="05050102010706020507" pitchFamily="18" charset="2"/>
              </a:rPr>
              <a:t>Ç </a:t>
            </a:r>
            <a:r>
              <a:rPr lang="en-US" altLang="zh-CN" sz="2400" i="1" kern="0"/>
              <a:t>R</a:t>
            </a:r>
            <a:r>
              <a:rPr lang="en-US" altLang="zh-CN" sz="2400" kern="0" baseline="-25000"/>
              <a:t>1</a:t>
            </a:r>
          </a:p>
          <a:p>
            <a:pPr lvl="1">
              <a:lnSpc>
                <a:spcPct val="160000"/>
              </a:lnSpc>
              <a:spcBef>
                <a:spcPts val="0"/>
              </a:spcBef>
            </a:pPr>
            <a:r>
              <a:rPr lang="en-US" altLang="zh-CN" sz="2400" i="1" kern="0"/>
              <a:t>R</a:t>
            </a:r>
            <a:r>
              <a:rPr lang="en-US" altLang="zh-CN" sz="2400" kern="0" baseline="-25000"/>
              <a:t>2</a:t>
            </a:r>
            <a:r>
              <a:rPr lang="en-US" altLang="zh-CN" sz="2400" kern="0"/>
              <a:t> </a:t>
            </a:r>
            <a:r>
              <a:rPr lang="en-US" altLang="zh-CN" sz="2400" kern="0">
                <a:latin typeface="Symbol" panose="05050102010706020507" pitchFamily="18" charset="2"/>
              </a:rPr>
              <a:t>- </a:t>
            </a:r>
            <a:r>
              <a:rPr lang="en-US" altLang="zh-CN" sz="2400" i="1" kern="0"/>
              <a:t>R</a:t>
            </a:r>
            <a:r>
              <a:rPr lang="en-US" altLang="zh-CN" sz="2400" kern="0" baseline="-25000"/>
              <a:t>1</a:t>
            </a:r>
          </a:p>
          <a:p>
            <a:pPr lvl="1">
              <a:lnSpc>
                <a:spcPct val="160000"/>
              </a:lnSpc>
              <a:spcBef>
                <a:spcPts val="0"/>
              </a:spcBef>
            </a:pPr>
            <a:r>
              <a:rPr lang="en-US" altLang="zh-CN" sz="2400" i="1" kern="0"/>
              <a:t>R</a:t>
            </a:r>
            <a:r>
              <a:rPr lang="en-US" altLang="zh-CN" sz="2400" kern="0" baseline="-25000"/>
              <a:t>2</a:t>
            </a:r>
            <a:r>
              <a:rPr lang="en-US" altLang="zh-CN" sz="2400" kern="0"/>
              <a:t> </a:t>
            </a:r>
            <a:r>
              <a:rPr lang="en-US" altLang="zh-CN" sz="2400" kern="0">
                <a:latin typeface="Symbol" panose="05050102010706020507" pitchFamily="18" charset="2"/>
              </a:rPr>
              <a:t>Å </a:t>
            </a:r>
            <a:r>
              <a:rPr lang="en-US" altLang="zh-CN" sz="2400" i="1" kern="0"/>
              <a:t>R</a:t>
            </a:r>
            <a:r>
              <a:rPr lang="en-US" altLang="zh-CN" sz="2400" kern="0" baseline="-25000"/>
              <a:t>1</a:t>
            </a:r>
          </a:p>
          <a:p>
            <a:pPr lvl="1">
              <a:lnSpc>
                <a:spcPct val="160000"/>
              </a:lnSpc>
              <a:spcBef>
                <a:spcPts val="0"/>
              </a:spcBef>
            </a:pPr>
            <a:r>
              <a:rPr lang="en-US" altLang="zh-CN" sz="2400" i="1" kern="0"/>
              <a:t>R</a:t>
            </a:r>
            <a:r>
              <a:rPr lang="en-US" altLang="zh-CN" sz="2400" kern="0" baseline="-25000"/>
              <a:t>1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en-US" altLang="zh-CN" sz="2400" kern="0"/>
              <a:t>Composition</a:t>
            </a:r>
            <a:endParaRPr lang="en-US" altLang="zh-CN" sz="2400" kern="0" baseline="-25000"/>
          </a:p>
          <a:p>
            <a:pPr lvl="1">
              <a:lnSpc>
                <a:spcPct val="160000"/>
              </a:lnSpc>
              <a:spcBef>
                <a:spcPts val="0"/>
              </a:spcBef>
            </a:pPr>
            <a:r>
              <a:rPr lang="en-US" altLang="zh-CN" sz="2400" kern="0"/>
              <a:t>Suppose </a:t>
            </a:r>
            <a:r>
              <a:rPr lang="en-US" altLang="zh-CN" sz="2400" i="1" kern="0"/>
              <a:t>A</a:t>
            </a:r>
            <a:r>
              <a:rPr lang="en-US" altLang="zh-CN" sz="2400" kern="0"/>
              <a:t>, </a:t>
            </a:r>
            <a:r>
              <a:rPr lang="en-US" altLang="zh-CN" sz="2400" i="1" kern="0"/>
              <a:t>B</a:t>
            </a:r>
            <a:r>
              <a:rPr lang="en-US" altLang="zh-CN" sz="2400" kern="0"/>
              <a:t>, and </a:t>
            </a:r>
            <a:r>
              <a:rPr lang="en-US" altLang="zh-CN" sz="2400" i="1" kern="0"/>
              <a:t>C</a:t>
            </a:r>
            <a:r>
              <a:rPr lang="en-US" altLang="zh-CN" sz="2400" kern="0"/>
              <a:t> are sets, </a:t>
            </a:r>
            <a:r>
              <a:rPr lang="en-US" altLang="zh-CN" sz="2400" i="1" kern="0"/>
              <a:t>R</a:t>
            </a:r>
            <a:r>
              <a:rPr lang="en-US" altLang="zh-CN" sz="2400" kern="0"/>
              <a:t> is a relation from </a:t>
            </a:r>
            <a:r>
              <a:rPr lang="en-US" altLang="zh-CN" sz="2400" i="1" kern="0"/>
              <a:t>A</a:t>
            </a:r>
            <a:r>
              <a:rPr lang="en-US" altLang="zh-CN" sz="2400" kern="0"/>
              <a:t> to </a:t>
            </a:r>
            <a:r>
              <a:rPr lang="en-US" altLang="zh-CN" sz="2400" i="1" kern="0"/>
              <a:t>B</a:t>
            </a:r>
            <a:r>
              <a:rPr lang="en-US" altLang="zh-CN" sz="2400" kern="0"/>
              <a:t>, and </a:t>
            </a:r>
            <a:r>
              <a:rPr lang="en-US" altLang="zh-CN" sz="2400" i="1" kern="0"/>
              <a:t>S</a:t>
            </a:r>
            <a:r>
              <a:rPr lang="en-US" altLang="zh-CN" sz="2400" kern="0"/>
              <a:t> is a relation from </a:t>
            </a:r>
            <a:r>
              <a:rPr lang="en-US" altLang="zh-CN" sz="2400" i="1" kern="0"/>
              <a:t>B</a:t>
            </a:r>
            <a:r>
              <a:rPr lang="en-US" altLang="zh-CN" sz="2400" kern="0"/>
              <a:t> to </a:t>
            </a:r>
            <a:r>
              <a:rPr lang="en-US" altLang="zh-CN" sz="2400" i="1" kern="0"/>
              <a:t>C</a:t>
            </a:r>
            <a:r>
              <a:rPr lang="en-US" altLang="zh-CN" sz="2400" kern="0"/>
              <a:t>. </a:t>
            </a:r>
          </a:p>
          <a:p>
            <a:pPr lvl="1">
              <a:lnSpc>
                <a:spcPct val="160000"/>
              </a:lnSpc>
              <a:spcBef>
                <a:spcPts val="0"/>
              </a:spcBef>
            </a:pPr>
            <a:r>
              <a:rPr lang="en-US" altLang="zh-CN" sz="2400" kern="0"/>
              <a:t>The </a:t>
            </a:r>
            <a:r>
              <a:rPr lang="en-US" altLang="zh-CN" sz="2400" i="1" kern="0">
                <a:solidFill>
                  <a:schemeClr val="hlink"/>
                </a:solidFill>
              </a:rPr>
              <a:t>composition of R and S</a:t>
            </a:r>
            <a:r>
              <a:rPr lang="en-US" altLang="zh-CN" sz="2400" kern="0"/>
              <a:t>, written as </a:t>
            </a:r>
            <a:r>
              <a:rPr lang="en-US" altLang="zh-CN" sz="2400" i="1" kern="0"/>
              <a:t>S</a:t>
            </a:r>
            <a:r>
              <a:rPr lang="en-US" altLang="zh-CN" sz="2400" kern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sz="2400" i="1" kern="0"/>
              <a:t>R</a:t>
            </a:r>
            <a:r>
              <a:rPr lang="en-US" altLang="zh-CN" sz="2400" kern="0"/>
              <a:t>, is a relation from </a:t>
            </a:r>
            <a:r>
              <a:rPr lang="en-US" altLang="zh-CN" sz="2400" i="1" kern="0"/>
              <a:t>A</a:t>
            </a:r>
            <a:r>
              <a:rPr lang="en-US" altLang="zh-CN" sz="2400" kern="0"/>
              <a:t> to </a:t>
            </a:r>
            <a:r>
              <a:rPr lang="en-US" altLang="zh-CN" sz="2400" i="1" kern="0"/>
              <a:t>C</a:t>
            </a:r>
            <a:r>
              <a:rPr lang="en-US" altLang="zh-CN" sz="2400" kern="0"/>
              <a:t> and defined as: </a:t>
            </a:r>
          </a:p>
          <a:p>
            <a:pPr lvl="1">
              <a:lnSpc>
                <a:spcPct val="160000"/>
              </a:lnSpc>
              <a:spcBef>
                <a:spcPts val="0"/>
              </a:spcBef>
            </a:pPr>
            <a:r>
              <a:rPr lang="en-US" altLang="zh-CN" sz="2400" kern="0"/>
              <a:t>if  </a:t>
            </a:r>
            <a:r>
              <a:rPr lang="en-US" altLang="zh-CN" sz="2400" i="1" kern="0"/>
              <a:t>a</a:t>
            </a:r>
            <a:r>
              <a:rPr lang="en-US" altLang="zh-CN" sz="2400" kern="0"/>
              <a:t> is in </a:t>
            </a:r>
            <a:r>
              <a:rPr lang="en-US" altLang="zh-CN" sz="2400" i="1" kern="0"/>
              <a:t>A </a:t>
            </a:r>
            <a:r>
              <a:rPr lang="en-US" altLang="zh-CN" sz="2400" kern="0"/>
              <a:t>and </a:t>
            </a:r>
            <a:r>
              <a:rPr lang="en-US" altLang="zh-CN" sz="2400" i="1" kern="0"/>
              <a:t>c</a:t>
            </a:r>
            <a:r>
              <a:rPr lang="en-US" altLang="zh-CN" sz="2400" kern="0"/>
              <a:t> is in</a:t>
            </a:r>
            <a:r>
              <a:rPr lang="en-US" altLang="zh-CN" sz="2400" i="1" kern="0"/>
              <a:t> C</a:t>
            </a:r>
            <a:r>
              <a:rPr lang="en-US" altLang="zh-CN" sz="2400" kern="0"/>
              <a:t>, then </a:t>
            </a:r>
            <a:r>
              <a:rPr lang="en-US" altLang="zh-CN" sz="2400" i="1" kern="0"/>
              <a:t>a S</a:t>
            </a:r>
            <a:r>
              <a:rPr lang="en-US" altLang="zh-CN" sz="2400" kern="0">
                <a:latin typeface="Euclid" panose="02020503060505020303" pitchFamily="18" charset="0"/>
                <a:sym typeface="Euclid Extra" panose="02050502000505020303" pitchFamily="18" charset="2"/>
              </a:rPr>
              <a:t></a:t>
            </a:r>
            <a:r>
              <a:rPr lang="en-US" altLang="zh-CN" sz="2400" i="1" kern="0"/>
              <a:t>R c </a:t>
            </a:r>
            <a:r>
              <a:rPr lang="en-US" altLang="zh-CN" sz="2400" kern="0"/>
              <a:t>if and only if for some </a:t>
            </a:r>
            <a:r>
              <a:rPr lang="en-US" altLang="zh-CN" sz="2400" i="1" kern="0"/>
              <a:t>b</a:t>
            </a:r>
            <a:r>
              <a:rPr lang="en-US" altLang="zh-CN" sz="2400" kern="0"/>
              <a:t> in </a:t>
            </a:r>
            <a:r>
              <a:rPr lang="en-US" altLang="zh-CN" sz="2400" i="1" kern="0"/>
              <a:t>B</a:t>
            </a:r>
            <a:r>
              <a:rPr lang="en-US" altLang="zh-CN" sz="2400" kern="0"/>
              <a:t>, </a:t>
            </a:r>
            <a:r>
              <a:rPr lang="en-US" altLang="zh-CN" sz="2400" i="1" kern="0"/>
              <a:t>a R b</a:t>
            </a:r>
            <a:r>
              <a:rPr lang="en-US" altLang="zh-CN" sz="2400" kern="0"/>
              <a:t> and </a:t>
            </a:r>
            <a:r>
              <a:rPr lang="en-US" altLang="zh-CN" sz="2400" i="1" kern="0"/>
              <a:t>b S c</a:t>
            </a:r>
            <a:r>
              <a:rPr lang="en-US" altLang="zh-CN" sz="2400" kern="0"/>
              <a:t>.</a:t>
            </a:r>
            <a:endParaRPr lang="zh-CN" altLang="en-US" sz="2400" kern="0" baseline="-25000"/>
          </a:p>
          <a:p>
            <a:pPr lvl="1">
              <a:lnSpc>
                <a:spcPct val="160000"/>
              </a:lnSpc>
              <a:spcBef>
                <a:spcPts val="0"/>
              </a:spcBef>
            </a:pPr>
            <a:endParaRPr lang="zh-CN" altLang="en-US" sz="2400" kern="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9.3 </a:t>
            </a:r>
            <a:r>
              <a:rPr lang="en-US" altLang="zh-CN" sz="3200" kern="0"/>
              <a:t>Representing Relations </a:t>
            </a:r>
            <a:endParaRPr lang="en-US" altLang="zh-CN" sz="3200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210046" y="834501"/>
            <a:ext cx="11981954" cy="592584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altLang="zh-CN" sz="2400" kern="0" dirty="0"/>
              <a:t>With a zero-one matrix.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altLang="zh-CN" sz="2400" kern="0" dirty="0"/>
              <a:t>With a directed graph.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altLang="zh-CN" sz="2400" i="1" kern="0" dirty="0" err="1">
                <a:solidFill>
                  <a:srgbClr val="C00000"/>
                </a:solidFill>
              </a:rPr>
              <a:t>Reflexive</a:t>
            </a:r>
            <a:r>
              <a:rPr lang="en-US" altLang="zh-CN" sz="2400" kern="0" dirty="0" err="1">
                <a:solidFill>
                  <a:srgbClr val="C00000"/>
                </a:solidFill>
              </a:rPr>
              <a:t>,</a:t>
            </a:r>
            <a:r>
              <a:rPr lang="en-US" altLang="zh-CN" sz="2400" i="1" kern="0" dirty="0" err="1">
                <a:solidFill>
                  <a:srgbClr val="C00000"/>
                </a:solidFill>
              </a:rPr>
              <a:t>irreflexive</a:t>
            </a:r>
            <a:r>
              <a:rPr lang="zh-CN" altLang="en-US" sz="2400" i="1" kern="0" dirty="0">
                <a:solidFill>
                  <a:srgbClr val="C00000"/>
                </a:solidFill>
              </a:rPr>
              <a:t>（</a:t>
            </a:r>
            <a:r>
              <a:rPr lang="zh-CN" altLang="en-US" sz="2400" kern="0" dirty="0">
                <a:solidFill>
                  <a:srgbClr val="C00000"/>
                </a:solidFill>
              </a:rPr>
              <a:t>自反、反自反）</a:t>
            </a:r>
            <a:r>
              <a:rPr lang="en-US" altLang="zh-CN" sz="2400" kern="0" dirty="0">
                <a:solidFill>
                  <a:srgbClr val="C00000"/>
                </a:solidFill>
              </a:rPr>
              <a:t>,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altLang="zh-CN" sz="2400" kern="0" dirty="0">
                <a:solidFill>
                  <a:srgbClr val="C00000"/>
                </a:solidFill>
              </a:rPr>
              <a:t>s</a:t>
            </a:r>
            <a:r>
              <a:rPr lang="en-US" altLang="zh-CN" sz="2400" i="1" kern="0" dirty="0">
                <a:solidFill>
                  <a:srgbClr val="C00000"/>
                </a:solidFill>
              </a:rPr>
              <a:t>ymmetric, asymmetric, and antisymmetric </a:t>
            </a:r>
            <a:r>
              <a:rPr lang="zh-CN" altLang="en-US" sz="2400" i="1" kern="0" dirty="0">
                <a:solidFill>
                  <a:srgbClr val="C00000"/>
                </a:solidFill>
              </a:rPr>
              <a:t>（</a:t>
            </a:r>
            <a:r>
              <a:rPr lang="zh-CN" altLang="en-US" sz="2400" kern="0" dirty="0">
                <a:solidFill>
                  <a:srgbClr val="C00000"/>
                </a:solidFill>
              </a:rPr>
              <a:t>对称、非对称、反对称</a:t>
            </a:r>
            <a:r>
              <a:rPr lang="zh-CN" altLang="en-US" sz="2400" i="1" kern="0" dirty="0">
                <a:solidFill>
                  <a:srgbClr val="C00000"/>
                </a:solidFill>
              </a:rPr>
              <a:t>）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altLang="zh-CN" sz="2400" i="1" kern="0" dirty="0">
                <a:solidFill>
                  <a:srgbClr val="C00000"/>
                </a:solidFill>
                <a:sym typeface="+mn-ea"/>
              </a:rPr>
              <a:t>transitive</a:t>
            </a:r>
            <a:r>
              <a:rPr lang="zh-CN" altLang="en-US" sz="2400" i="1" kern="0" dirty="0">
                <a:solidFill>
                  <a:srgbClr val="C00000"/>
                </a:solidFill>
                <a:sym typeface="+mn-ea"/>
              </a:rPr>
              <a:t>（传递）</a:t>
            </a:r>
            <a:endParaRPr lang="en-US" altLang="zh-CN" sz="2400" i="1" kern="0" dirty="0">
              <a:solidFill>
                <a:srgbClr val="C00000"/>
              </a:solidFill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2400" kern="0" dirty="0"/>
              <a:t>The complement?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2400" kern="0" dirty="0"/>
              <a:t>The relative complement?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US" altLang="zh-CN" sz="2400" kern="0" dirty="0"/>
              <a:t>The symmetric difference?</a:t>
            </a:r>
            <a:endParaRPr lang="zh-CN" altLang="en-US" sz="2400" kern="0" dirty="0"/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altLang="zh-CN" sz="2400" kern="0" dirty="0"/>
              <a:t>Combining Connection Matrices</a:t>
            </a:r>
          </a:p>
          <a:p>
            <a:pPr lvl="1" algn="just">
              <a:lnSpc>
                <a:spcPct val="170000"/>
              </a:lnSpc>
              <a:spcBef>
                <a:spcPts val="0"/>
              </a:spcBef>
            </a:pPr>
            <a:r>
              <a:rPr lang="en-US" altLang="zh-CN" sz="1600" kern="0" dirty="0"/>
              <a:t>Join</a:t>
            </a:r>
          </a:p>
          <a:p>
            <a:pPr lvl="1" algn="just">
              <a:lnSpc>
                <a:spcPct val="170000"/>
              </a:lnSpc>
              <a:spcBef>
                <a:spcPts val="0"/>
              </a:spcBef>
            </a:pPr>
            <a:r>
              <a:rPr lang="en-US" altLang="zh-CN" sz="1600" kern="0" dirty="0"/>
              <a:t> meet</a:t>
            </a:r>
          </a:p>
          <a:p>
            <a:pPr lvl="1" algn="just">
              <a:lnSpc>
                <a:spcPct val="170000"/>
              </a:lnSpc>
              <a:spcBef>
                <a:spcPts val="0"/>
              </a:spcBef>
            </a:pPr>
            <a:r>
              <a:rPr lang="en-US" altLang="zh-CN" sz="1600" kern="0" dirty="0"/>
              <a:t> Composite of relations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zh-CN" altLang="en-US" sz="24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963795" y="3060700"/>
                <a:ext cx="6303010" cy="9220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zh-CN" altLang="en-US" b="1" i="1" kern="0" dirty="0">
                    <a:solidFill>
                      <a:schemeClr val="hlink"/>
                    </a:solidFill>
                    <a:sym typeface="+mn-ea"/>
                  </a:rPr>
                  <a:t>例题</a:t>
                </a:r>
                <a:r>
                  <a:rPr lang="en-US" altLang="zh-CN" b="1" i="1" kern="0" dirty="0">
                    <a:solidFill>
                      <a:schemeClr val="hlink"/>
                    </a:solidFill>
                    <a:sym typeface="+mn-ea"/>
                  </a:rPr>
                  <a:t>-</a:t>
                </a:r>
                <a:r>
                  <a:rPr lang="zh-CN" altLang="en-US" b="1" i="1" kern="0" dirty="0">
                    <a:solidFill>
                      <a:schemeClr val="hlink"/>
                    </a:solidFill>
                    <a:sym typeface="+mn-ea"/>
                  </a:rPr>
                  <a:t>用矩阵表示关系：</a:t>
                </a:r>
                <a:r>
                  <a:rPr lang="en-US" altLang="zh-CN" b="1" i="1" kern="0" dirty="0">
                    <a:solidFill>
                      <a:schemeClr val="hlink"/>
                    </a:solidFill>
                    <a:sym typeface="+mn-ea"/>
                  </a:rPr>
                  <a:t>A={1,2,3},B={1,2},R</a:t>
                </a:r>
                <a:r>
                  <a:rPr lang="zh-CN" altLang="en-US" b="1" i="1" kern="0" dirty="0">
                    <a:solidFill>
                      <a:schemeClr val="hlink"/>
                    </a:solidFill>
                    <a:sym typeface="+mn-ea"/>
                  </a:rPr>
                  <a:t>是从</a:t>
                </a:r>
                <a:r>
                  <a:rPr lang="en-US" altLang="zh-CN" b="1" i="1" kern="0" dirty="0">
                    <a:solidFill>
                      <a:schemeClr val="hlink"/>
                    </a:solidFill>
                    <a:sym typeface="+mn-ea"/>
                  </a:rPr>
                  <a:t>A</a:t>
                </a:r>
                <a:r>
                  <a:rPr lang="zh-CN" altLang="en-US" b="1" i="1" kern="0" dirty="0">
                    <a:solidFill>
                      <a:schemeClr val="hlink"/>
                    </a:solidFill>
                    <a:sym typeface="+mn-ea"/>
                  </a:rPr>
                  <a:t>到</a:t>
                </a:r>
                <a:r>
                  <a:rPr lang="en-US" altLang="zh-CN" b="1" i="1" kern="0" dirty="0">
                    <a:solidFill>
                      <a:schemeClr val="hlink"/>
                    </a:solidFill>
                    <a:sym typeface="+mn-ea"/>
                  </a:rPr>
                  <a:t>B</a:t>
                </a:r>
                <a:r>
                  <a:rPr lang="zh-CN" altLang="en-US" b="1" i="1" kern="0" dirty="0">
                    <a:solidFill>
                      <a:schemeClr val="hlink"/>
                    </a:solidFill>
                    <a:sym typeface="+mn-ea"/>
                  </a:rPr>
                  <a:t>的关系，如果</a:t>
                </a:r>
                <a:r>
                  <a:rPr lang="en-US" altLang="zh-CN" b="1" i="1" kern="0" dirty="0">
                    <a:solidFill>
                      <a:schemeClr val="hlink"/>
                    </a:solidFill>
                    <a:sym typeface="+mn-ea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b="1" i="1" kern="0" dirty="0">
                        <a:solidFill>
                          <a:schemeClr val="hlink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  <a:sym typeface="+mn-ea"/>
                      </a:rPr>
                      <m:t>∈</m:t>
                    </m:r>
                    <m:r>
                      <a:rPr lang="en-US" altLang="zh-CN" b="1" i="1" kern="0" dirty="0">
                        <a:solidFill>
                          <a:schemeClr val="hlink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  <a:sym typeface="+mn-ea"/>
                      </a:rPr>
                      <m:t>𝑨</m:t>
                    </m:r>
                    <m:r>
                      <a:rPr lang="en-US" altLang="zh-CN" b="1" i="1" kern="0" dirty="0">
                        <a:solidFill>
                          <a:schemeClr val="hlink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  <a:sym typeface="+mn-ea"/>
                      </a:rPr>
                      <m:t>,</m:t>
                    </m:r>
                    <m:r>
                      <a:rPr lang="en-US" altLang="zh-CN" b="1" i="1" kern="0" dirty="0">
                        <a:solidFill>
                          <a:schemeClr val="hlink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  <a:sym typeface="+mn-ea"/>
                      </a:rPr>
                      <m:t>𝒃</m:t>
                    </m:r>
                    <m:r>
                      <a:rPr lang="en-US" altLang="zh-CN" b="1" i="1" kern="0" dirty="0">
                        <a:solidFill>
                          <a:schemeClr val="hlink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  <a:sym typeface="+mn-ea"/>
                      </a:rPr>
                      <m:t>∈</m:t>
                    </m:r>
                    <m:r>
                      <a:rPr lang="en-US" altLang="zh-CN" b="1" i="1" kern="0" dirty="0">
                        <a:solidFill>
                          <a:schemeClr val="hlink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DejaVu Math TeX Gyre" panose="02000503000000000000" charset="0"/>
                        <a:sym typeface="+mn-ea"/>
                      </a:rPr>
                      <m:t>𝑩</m:t>
                    </m:r>
                  </m:oMath>
                </a14:m>
                <a:r>
                  <a:rPr lang="zh-CN" altLang="en-US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且</a:t>
                </a:r>
                <a:r>
                  <a:rPr lang="en-US" altLang="zh-CN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a&gt;b</a:t>
                </a:r>
                <a:r>
                  <a:rPr lang="zh-CN" altLang="en-US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，则</a:t>
                </a:r>
                <a:r>
                  <a:rPr lang="en-US" altLang="zh-CN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R</a:t>
                </a:r>
                <a:r>
                  <a:rPr lang="zh-CN" altLang="en-US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包含</a:t>
                </a:r>
                <a:r>
                  <a:rPr lang="en-US" altLang="zh-CN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(a,b)</a:t>
                </a:r>
                <a:r>
                  <a:rPr lang="zh-CN" altLang="en-US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，若</a:t>
                </a:r>
                <a:r>
                  <a:rPr lang="en-US" altLang="zh-CN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a</a:t>
                </a:r>
                <a:r>
                  <a:rPr lang="en-US" altLang="zh-CN" b="1" i="1" kern="0" baseline="-2500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1</a:t>
                </a:r>
                <a:r>
                  <a:rPr lang="en-US" altLang="zh-CN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=1,a</a:t>
                </a:r>
                <a:r>
                  <a:rPr lang="en-US" altLang="zh-CN" b="1" i="1" kern="0" baseline="-2500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2</a:t>
                </a:r>
                <a:r>
                  <a:rPr lang="en-US" altLang="zh-CN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=2,a</a:t>
                </a:r>
                <a:r>
                  <a:rPr lang="en-US" altLang="zh-CN" b="1" i="1" kern="0" baseline="-2500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3</a:t>
                </a:r>
                <a:r>
                  <a:rPr lang="en-US" altLang="zh-CN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=3,b</a:t>
                </a:r>
                <a:r>
                  <a:rPr lang="en-US" altLang="zh-CN" b="1" i="1" kern="0" baseline="-2500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1</a:t>
                </a:r>
                <a:r>
                  <a:rPr lang="en-US" altLang="zh-CN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=1,b</a:t>
                </a:r>
                <a:r>
                  <a:rPr lang="en-US" altLang="zh-CN" b="1" i="1" kern="0" baseline="-2500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2</a:t>
                </a:r>
                <a:r>
                  <a:rPr lang="en-US" altLang="zh-CN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=2</a:t>
                </a:r>
                <a:r>
                  <a:rPr lang="zh-CN" altLang="en-US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，则表示</a:t>
                </a:r>
                <a:r>
                  <a:rPr lang="en-US" altLang="zh-CN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R</a:t>
                </a:r>
                <a:r>
                  <a:rPr lang="zh-CN" altLang="en-US" b="1" i="1" kern="0" dirty="0">
                    <a:solidFill>
                      <a:schemeClr val="hlink"/>
                    </a:solidFill>
                    <a:latin typeface="DejaVu Math TeX Gyre" panose="02000503000000000000" charset="0"/>
                    <a:ea typeface="宋体" panose="02010600030101010101" pitchFamily="2" charset="-122"/>
                    <a:cs typeface="DejaVu Math TeX Gyre" panose="02000503000000000000" charset="0"/>
                    <a:sym typeface="+mn-ea"/>
                  </a:rPr>
                  <a:t>的矩阵是：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795" y="3060700"/>
                <a:ext cx="6303010" cy="9220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795" y="3982720"/>
            <a:ext cx="3110865" cy="19443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9.4 </a:t>
            </a:r>
            <a:r>
              <a:rPr lang="en-US" altLang="zh-CN" sz="3200" kern="0"/>
              <a:t>Closures of Relations </a:t>
            </a:r>
            <a:endParaRPr lang="en-US" altLang="zh-CN" sz="3200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142043" y="825623"/>
            <a:ext cx="11745157" cy="4483224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i="1" kern="0" dirty="0">
                <a:solidFill>
                  <a:schemeClr val="hlink"/>
                </a:solidFill>
              </a:rPr>
              <a:t>reflexive closure</a:t>
            </a:r>
            <a:r>
              <a:rPr lang="en-US" altLang="zh-CN" kern="0" dirty="0"/>
              <a:t> </a:t>
            </a:r>
            <a:r>
              <a:rPr lang="en-US" altLang="zh-CN" kern="0" dirty="0">
                <a:solidFill>
                  <a:schemeClr val="hlink"/>
                </a:solidFill>
              </a:rPr>
              <a:t>r(</a:t>
            </a:r>
            <a:r>
              <a:rPr lang="en-US" altLang="zh-CN" i="1" kern="0" dirty="0">
                <a:solidFill>
                  <a:schemeClr val="hlink"/>
                </a:solidFill>
              </a:rPr>
              <a:t>R</a:t>
            </a:r>
            <a:r>
              <a:rPr lang="en-US" altLang="zh-CN" kern="0" dirty="0">
                <a:solidFill>
                  <a:schemeClr val="hlink"/>
                </a:solidFill>
              </a:rPr>
              <a:t>)</a:t>
            </a:r>
            <a:r>
              <a:rPr lang="zh-CN" altLang="en-US" kern="0" dirty="0">
                <a:solidFill>
                  <a:schemeClr val="hlink"/>
                </a:solidFill>
              </a:rPr>
              <a:t>（自反闭包）</a:t>
            </a:r>
            <a:endParaRPr lang="en-US" altLang="zh-CN" kern="0" dirty="0"/>
          </a:p>
          <a:p>
            <a:pPr lvl="1"/>
            <a:r>
              <a:rPr lang="en-US" altLang="zh-CN" i="1" kern="0" dirty="0"/>
              <a:t>R</a:t>
            </a:r>
            <a:r>
              <a:rPr lang="en-US" altLang="zh-CN" kern="0" dirty="0">
                <a:latin typeface="Symbol" panose="05050102010706020507" pitchFamily="18" charset="2"/>
              </a:rPr>
              <a:t>ÈD</a:t>
            </a:r>
            <a:endParaRPr lang="en-US" altLang="zh-CN" kern="0" dirty="0"/>
          </a:p>
          <a:p>
            <a:pPr lvl="1"/>
            <a:r>
              <a:rPr lang="en-US" altLang="zh-CN" kern="0" dirty="0"/>
              <a:t>Add loops to all vertices on the digraph representation of </a:t>
            </a:r>
            <a:r>
              <a:rPr lang="en-US" altLang="zh-CN" i="1" kern="0" dirty="0"/>
              <a:t>R</a:t>
            </a:r>
            <a:r>
              <a:rPr lang="en-US" altLang="zh-CN" kern="0" dirty="0"/>
              <a:t>.</a:t>
            </a:r>
          </a:p>
          <a:p>
            <a:pPr lvl="1"/>
            <a:r>
              <a:rPr lang="en-US" altLang="zh-CN" kern="0" dirty="0"/>
              <a:t>Put 1’s on the diagonal of the connection matrix of </a:t>
            </a:r>
            <a:r>
              <a:rPr lang="en-US" altLang="zh-CN" i="1" kern="0" dirty="0"/>
              <a:t>R.</a:t>
            </a:r>
            <a:endParaRPr lang="zh-CN" altLang="en-US" kern="0" dirty="0"/>
          </a:p>
          <a:p>
            <a:r>
              <a:rPr lang="en-US" altLang="zh-CN" i="1" kern="0" dirty="0">
                <a:solidFill>
                  <a:schemeClr val="hlink"/>
                </a:solidFill>
              </a:rPr>
              <a:t>symmetric closure </a:t>
            </a:r>
            <a:r>
              <a:rPr lang="en-US" altLang="zh-CN" kern="0" dirty="0">
                <a:solidFill>
                  <a:schemeClr val="hlink"/>
                </a:solidFill>
              </a:rPr>
              <a:t>s(</a:t>
            </a:r>
            <a:r>
              <a:rPr lang="en-US" altLang="zh-CN" i="1" kern="0" dirty="0">
                <a:solidFill>
                  <a:schemeClr val="hlink"/>
                </a:solidFill>
              </a:rPr>
              <a:t>R</a:t>
            </a:r>
            <a:r>
              <a:rPr lang="en-US" altLang="zh-CN" kern="0" dirty="0">
                <a:solidFill>
                  <a:schemeClr val="hlink"/>
                </a:solidFill>
              </a:rPr>
              <a:t>)</a:t>
            </a:r>
            <a:r>
              <a:rPr lang="zh-CN" altLang="en-US" kern="0" dirty="0">
                <a:solidFill>
                  <a:schemeClr val="hlink"/>
                </a:solidFill>
              </a:rPr>
              <a:t>（对称闭包）</a:t>
            </a:r>
            <a:endParaRPr lang="en-US" altLang="zh-CN" kern="0" dirty="0"/>
          </a:p>
          <a:p>
            <a:pPr lvl="1"/>
            <a:r>
              <a:rPr lang="en-US" altLang="zh-CN" i="1" kern="0" dirty="0"/>
              <a:t>R</a:t>
            </a:r>
            <a:r>
              <a:rPr lang="en-US" altLang="zh-CN" kern="0" dirty="0">
                <a:latin typeface="Symbol" panose="05050102010706020507" pitchFamily="18" charset="2"/>
              </a:rPr>
              <a:t>È</a:t>
            </a:r>
            <a:r>
              <a:rPr lang="en-US" altLang="zh-CN" i="1" kern="0" dirty="0"/>
              <a:t>R</a:t>
            </a:r>
            <a:r>
              <a:rPr lang="en-US" altLang="zh-CN" kern="0" baseline="30000" dirty="0">
                <a:latin typeface="Symbol" panose="05050102010706020507" pitchFamily="18" charset="2"/>
              </a:rPr>
              <a:t>-</a:t>
            </a:r>
            <a:r>
              <a:rPr lang="en-US" altLang="zh-CN" kern="0" baseline="30000" dirty="0"/>
              <a:t>1</a:t>
            </a:r>
            <a:endParaRPr lang="en-US" altLang="zh-CN" kern="0" dirty="0"/>
          </a:p>
          <a:p>
            <a:pPr lvl="1"/>
            <a:r>
              <a:rPr lang="en-US" altLang="zh-CN" kern="0" dirty="0"/>
              <a:t>add arcs in the opposite direction.</a:t>
            </a:r>
          </a:p>
          <a:p>
            <a:r>
              <a:rPr lang="en-US" altLang="zh-CN" u="sng" kern="0" dirty="0"/>
              <a:t> </a:t>
            </a:r>
            <a:r>
              <a:rPr lang="en-US" altLang="zh-CN" i="1" u="sng" kern="0" dirty="0">
                <a:solidFill>
                  <a:schemeClr val="hlink"/>
                </a:solidFill>
              </a:rPr>
              <a:t>transitive closure</a:t>
            </a:r>
            <a:r>
              <a:rPr lang="zh-CN" altLang="en-US" i="1" u="sng" kern="0" dirty="0">
                <a:solidFill>
                  <a:schemeClr val="hlink"/>
                </a:solidFill>
              </a:rPr>
              <a:t>（传递闭包）</a:t>
            </a:r>
            <a:endParaRPr lang="en-US" altLang="zh-CN" u="sng" kern="0" dirty="0"/>
          </a:p>
          <a:p>
            <a:pPr lvl="1"/>
            <a:r>
              <a:rPr lang="en-US" altLang="zh-CN" kern="0" dirty="0"/>
              <a:t>if there is a path from </a:t>
            </a:r>
            <a:r>
              <a:rPr lang="en-US" altLang="zh-CN" i="1" kern="0" dirty="0"/>
              <a:t>a</a:t>
            </a:r>
            <a:r>
              <a:rPr lang="en-US" altLang="zh-CN" kern="0" dirty="0"/>
              <a:t> to </a:t>
            </a:r>
            <a:r>
              <a:rPr lang="en-US" altLang="zh-CN" i="1" kern="0" dirty="0"/>
              <a:t>b</a:t>
            </a:r>
            <a:r>
              <a:rPr lang="en-US" altLang="zh-CN" kern="0" dirty="0"/>
              <a:t>, add an arc from </a:t>
            </a:r>
            <a:r>
              <a:rPr lang="en-US" altLang="zh-CN" i="1" kern="0" dirty="0"/>
              <a:t>a</a:t>
            </a:r>
            <a:r>
              <a:rPr lang="en-US" altLang="zh-CN" kern="0" dirty="0"/>
              <a:t> to </a:t>
            </a:r>
            <a:r>
              <a:rPr lang="en-US" altLang="zh-CN" i="1" kern="0" dirty="0"/>
              <a:t>b</a:t>
            </a:r>
            <a:r>
              <a:rPr lang="en-US" altLang="zh-CN" kern="0" dirty="0"/>
              <a:t>.</a:t>
            </a:r>
          </a:p>
          <a:p>
            <a:pPr lvl="1"/>
            <a:r>
              <a:rPr lang="en-US" altLang="zh-CN" i="1" kern="0" dirty="0">
                <a:solidFill>
                  <a:schemeClr val="hlink"/>
                </a:solidFill>
              </a:rPr>
              <a:t>R</a:t>
            </a:r>
            <a:r>
              <a:rPr lang="en-US" altLang="zh-CN" i="1" kern="0" baseline="30000" dirty="0">
                <a:solidFill>
                  <a:schemeClr val="hlink"/>
                </a:solidFill>
              </a:rPr>
              <a:t>n</a:t>
            </a:r>
            <a:r>
              <a:rPr lang="en-US" altLang="zh-CN" kern="0" dirty="0"/>
              <a:t> : </a:t>
            </a:r>
            <a:r>
              <a:rPr lang="en-US" altLang="zh-CN" i="1" kern="0" dirty="0"/>
              <a:t>x</a:t>
            </a:r>
            <a:r>
              <a:rPr lang="en-US" altLang="zh-CN" kern="0" dirty="0"/>
              <a:t> </a:t>
            </a:r>
            <a:r>
              <a:rPr lang="en-US" altLang="zh-CN" i="1" kern="0" dirty="0"/>
              <a:t>R</a:t>
            </a:r>
            <a:r>
              <a:rPr lang="en-US" altLang="zh-CN" i="1" kern="0" baseline="30000" dirty="0"/>
              <a:t>n</a:t>
            </a:r>
            <a:r>
              <a:rPr lang="en-US" altLang="zh-CN" kern="0" dirty="0"/>
              <a:t> </a:t>
            </a:r>
            <a:r>
              <a:rPr lang="en-US" altLang="zh-CN" i="1" kern="0" dirty="0"/>
              <a:t>y</a:t>
            </a:r>
            <a:r>
              <a:rPr lang="en-US" altLang="zh-CN" kern="0" dirty="0"/>
              <a:t> means that there is a path of length </a:t>
            </a:r>
            <a:r>
              <a:rPr lang="en-US" altLang="zh-CN" i="1" kern="0" dirty="0"/>
              <a:t>n</a:t>
            </a:r>
            <a:r>
              <a:rPr lang="en-US" altLang="zh-CN" kern="0" dirty="0"/>
              <a:t> from </a:t>
            </a:r>
            <a:r>
              <a:rPr lang="en-US" altLang="zh-CN" i="1" kern="0" dirty="0"/>
              <a:t>x</a:t>
            </a:r>
            <a:r>
              <a:rPr lang="en-US" altLang="zh-CN" kern="0" dirty="0"/>
              <a:t> to </a:t>
            </a:r>
            <a:r>
              <a:rPr lang="en-US" altLang="zh-CN" i="1" kern="0" dirty="0"/>
              <a:t>y</a:t>
            </a:r>
            <a:r>
              <a:rPr lang="en-US" altLang="zh-CN" kern="0" dirty="0"/>
              <a:t> in </a:t>
            </a:r>
            <a:r>
              <a:rPr lang="en-US" altLang="zh-CN" i="1" kern="0" dirty="0"/>
              <a:t>R</a:t>
            </a:r>
            <a:r>
              <a:rPr lang="en-US" altLang="zh-CN" kern="0" dirty="0"/>
              <a:t>.</a:t>
            </a:r>
          </a:p>
          <a:p>
            <a:pPr lvl="1"/>
            <a:r>
              <a:rPr lang="en-US" altLang="zh-CN" kern="0" dirty="0"/>
              <a:t>The </a:t>
            </a:r>
            <a:r>
              <a:rPr lang="en-US" altLang="zh-CN" i="1" kern="0" dirty="0">
                <a:solidFill>
                  <a:srgbClr val="FF0000"/>
                </a:solidFill>
              </a:rPr>
              <a:t>connectivity relation R</a:t>
            </a:r>
            <a:r>
              <a:rPr lang="en-US" altLang="zh-CN" kern="0" baseline="30000" dirty="0">
                <a:solidFill>
                  <a:srgbClr val="FF0000"/>
                </a:solidFill>
              </a:rPr>
              <a:t>∗</a:t>
            </a:r>
            <a:r>
              <a:rPr lang="en-US" altLang="zh-CN" kern="0" dirty="0"/>
              <a:t> consists of the pairs (</a:t>
            </a:r>
            <a:r>
              <a:rPr lang="en-US" altLang="zh-CN" i="1" kern="0" dirty="0"/>
              <a:t>a, b</a:t>
            </a:r>
            <a:r>
              <a:rPr lang="en-US" altLang="zh-CN" kern="0" dirty="0"/>
              <a:t>) such</a:t>
            </a:r>
            <a:br>
              <a:rPr lang="en-US" altLang="zh-CN" kern="0" dirty="0"/>
            </a:br>
            <a:r>
              <a:rPr lang="en-US" altLang="zh-CN" kern="0" dirty="0"/>
              <a:t>that there is a path of length at least one from </a:t>
            </a:r>
            <a:r>
              <a:rPr lang="en-US" altLang="zh-CN" i="1" kern="0" dirty="0"/>
              <a:t>a </a:t>
            </a:r>
            <a:r>
              <a:rPr lang="en-US" altLang="zh-CN" kern="0" dirty="0"/>
              <a:t>to </a:t>
            </a:r>
            <a:r>
              <a:rPr lang="en-US" altLang="zh-CN" i="1" kern="0" dirty="0"/>
              <a:t>b </a:t>
            </a:r>
            <a:r>
              <a:rPr lang="en-US" altLang="zh-CN" kern="0" dirty="0"/>
              <a:t>in </a:t>
            </a:r>
            <a:r>
              <a:rPr lang="en-US" altLang="zh-CN" i="1" kern="0" dirty="0"/>
              <a:t>R</a:t>
            </a:r>
            <a:r>
              <a:rPr lang="en-US" altLang="zh-CN" kern="0" dirty="0"/>
              <a:t>. </a:t>
            </a:r>
          </a:p>
          <a:p>
            <a:pPr lvl="1"/>
            <a:endParaRPr lang="zh-CN" altLang="en-US" kern="0" dirty="0"/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724478" y="5585589"/>
          <a:ext cx="4235097" cy="803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73300" imgH="431800" progId="Equation.DSMT4">
                  <p:embed/>
                </p:oleObj>
              </mc:Choice>
              <mc:Fallback>
                <p:oleObj name="Equation" r:id="rId3" imgW="22733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478" y="5585589"/>
                        <a:ext cx="4235097" cy="803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5738281" y="5630635"/>
          <a:ext cx="3712438" cy="86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54200" imgH="431800" progId="Equation.DSMT4">
                  <p:embed/>
                </p:oleObj>
              </mc:Choice>
              <mc:Fallback>
                <p:oleObj name="Equation" r:id="rId5" imgW="18542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8281" y="5630635"/>
                        <a:ext cx="3712438" cy="86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9.4 </a:t>
            </a:r>
            <a:r>
              <a:rPr lang="en-US" altLang="zh-CN" sz="3200" kern="0"/>
              <a:t>Closures of Relations </a:t>
            </a:r>
            <a:endParaRPr lang="en-US" altLang="zh-CN" sz="3200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210046" y="843379"/>
            <a:ext cx="11694909" cy="5823751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kern="0" dirty="0" err="1"/>
              <a:t>Warshall’s</a:t>
            </a:r>
            <a:r>
              <a:rPr lang="en-US" altLang="zh-CN" kern="0" dirty="0"/>
              <a:t> Algorithm</a:t>
            </a:r>
          </a:p>
          <a:p>
            <a:r>
              <a:rPr lang="en-US" altLang="zh-CN" i="1" kern="0" dirty="0" err="1"/>
              <a:t>W</a:t>
            </a:r>
            <a:r>
              <a:rPr lang="en-US" altLang="zh-CN" i="1" kern="0" baseline="-25000" dirty="0" err="1"/>
              <a:t>k</a:t>
            </a:r>
            <a:r>
              <a:rPr lang="en-US" altLang="zh-CN" kern="0" dirty="0"/>
              <a:t>: a Boolean matrix, for 1</a:t>
            </a:r>
            <a:r>
              <a:rPr lang="zh-CN" altLang="en-US" kern="0" dirty="0">
                <a:sym typeface="Symbol" panose="05050102010706020507" pitchFamily="18" charset="2"/>
              </a:rPr>
              <a:t></a:t>
            </a:r>
            <a:r>
              <a:rPr lang="en-US" altLang="zh-CN" i="1" kern="0" dirty="0"/>
              <a:t>k</a:t>
            </a:r>
            <a:r>
              <a:rPr lang="zh-CN" altLang="en-US" kern="0" dirty="0">
                <a:sym typeface="Symbol" panose="05050102010706020507" pitchFamily="18" charset="2"/>
              </a:rPr>
              <a:t></a:t>
            </a:r>
            <a:r>
              <a:rPr lang="en-US" altLang="zh-CN" i="1" kern="0" dirty="0"/>
              <a:t>n</a:t>
            </a:r>
          </a:p>
          <a:p>
            <a:pPr lvl="1"/>
            <a:r>
              <a:rPr lang="en-US" altLang="zh-CN" i="1" kern="0" dirty="0" err="1"/>
              <a:t>W</a:t>
            </a:r>
            <a:r>
              <a:rPr lang="en-US" altLang="zh-CN" i="1" kern="0" baseline="-25000" dirty="0" err="1"/>
              <a:t>k</a:t>
            </a:r>
            <a:r>
              <a:rPr lang="en-US" altLang="zh-CN" kern="0" dirty="0"/>
              <a:t> has a 1 in position </a:t>
            </a:r>
            <a:r>
              <a:rPr lang="en-US" altLang="zh-CN" i="1" kern="0" dirty="0" err="1"/>
              <a:t>i</a:t>
            </a:r>
            <a:r>
              <a:rPr lang="en-US" altLang="zh-CN" kern="0" dirty="0"/>
              <a:t>, </a:t>
            </a:r>
            <a:r>
              <a:rPr lang="en-US" altLang="zh-CN" i="1" kern="0" dirty="0"/>
              <a:t>j</a:t>
            </a:r>
            <a:endParaRPr lang="en-US" altLang="zh-CN" kern="0" dirty="0"/>
          </a:p>
          <a:p>
            <a:pPr lvl="2"/>
            <a:r>
              <a:rPr lang="en-US" altLang="zh-CN" kern="0" dirty="0"/>
              <a:t>If and only if</a:t>
            </a:r>
          </a:p>
          <a:p>
            <a:pPr lvl="1"/>
            <a:r>
              <a:rPr lang="en-US" altLang="zh-CN" kern="0" dirty="0"/>
              <a:t>there is a path from </a:t>
            </a:r>
            <a:r>
              <a:rPr lang="en-US" altLang="zh-CN" i="1" kern="0" dirty="0"/>
              <a:t>a</a:t>
            </a:r>
            <a:r>
              <a:rPr lang="en-US" altLang="zh-CN" i="1" kern="0" baseline="-25000" dirty="0"/>
              <a:t>i</a:t>
            </a:r>
            <a:r>
              <a:rPr lang="en-US" altLang="zh-CN" kern="0" dirty="0"/>
              <a:t> to </a:t>
            </a:r>
            <a:r>
              <a:rPr lang="en-US" altLang="zh-CN" i="1" kern="0" dirty="0" err="1"/>
              <a:t>a</a:t>
            </a:r>
            <a:r>
              <a:rPr lang="en-US" altLang="zh-CN" i="1" kern="0" baseline="-25000" dirty="0" err="1"/>
              <a:t>j</a:t>
            </a:r>
            <a:r>
              <a:rPr lang="en-US" altLang="zh-CN" kern="0" dirty="0"/>
              <a:t> in </a:t>
            </a:r>
            <a:r>
              <a:rPr lang="en-US" altLang="zh-CN" i="1" kern="0" dirty="0"/>
              <a:t>R</a:t>
            </a:r>
            <a:r>
              <a:rPr lang="en-US" altLang="zh-CN" kern="0" dirty="0"/>
              <a:t> whose interior vertices, if any, come from the set {</a:t>
            </a:r>
            <a:r>
              <a:rPr lang="en-US" altLang="zh-CN" i="1" kern="0" dirty="0"/>
              <a:t>a</a:t>
            </a:r>
            <a:r>
              <a:rPr lang="en-US" altLang="zh-CN" kern="0" baseline="-25000" dirty="0"/>
              <a:t>1</a:t>
            </a:r>
            <a:r>
              <a:rPr lang="en-US" altLang="zh-CN" kern="0" dirty="0"/>
              <a:t>, </a:t>
            </a:r>
            <a:r>
              <a:rPr lang="en-US" altLang="zh-CN" i="1" kern="0" dirty="0"/>
              <a:t>a</a:t>
            </a:r>
            <a:r>
              <a:rPr lang="en-US" altLang="zh-CN" kern="0" baseline="-25000" dirty="0"/>
              <a:t>2</a:t>
            </a:r>
            <a:r>
              <a:rPr lang="en-US" altLang="zh-CN" kern="0" dirty="0"/>
              <a:t>,…, </a:t>
            </a:r>
            <a:r>
              <a:rPr lang="en-US" altLang="zh-CN" i="1" kern="0" dirty="0" err="1"/>
              <a:t>a</a:t>
            </a:r>
            <a:r>
              <a:rPr lang="en-US" altLang="zh-CN" i="1" kern="0" baseline="-25000" dirty="0" err="1"/>
              <a:t>k</a:t>
            </a:r>
            <a:r>
              <a:rPr lang="en-US" altLang="zh-CN" kern="0" dirty="0"/>
              <a:t>}</a:t>
            </a:r>
          </a:p>
          <a:p>
            <a:r>
              <a:rPr lang="en-US" altLang="zh-CN" i="1" kern="0" dirty="0"/>
              <a:t>W</a:t>
            </a:r>
            <a:r>
              <a:rPr lang="en-US" altLang="zh-CN" i="1" kern="0" baseline="-25000" dirty="0"/>
              <a:t>0</a:t>
            </a:r>
            <a:r>
              <a:rPr lang="en-US" altLang="zh-CN" i="1" kern="0" dirty="0"/>
              <a:t> = M</a:t>
            </a:r>
            <a:r>
              <a:rPr lang="en-US" altLang="zh-CN" i="1" kern="0" baseline="-25000" dirty="0"/>
              <a:t>R</a:t>
            </a:r>
            <a:endParaRPr lang="en-US" altLang="zh-CN" i="1" kern="0" dirty="0"/>
          </a:p>
          <a:p>
            <a:r>
              <a:rPr lang="en-US" altLang="zh-CN" i="1" kern="0" dirty="0" err="1"/>
              <a:t>W</a:t>
            </a:r>
            <a:r>
              <a:rPr lang="en-US" altLang="zh-CN" i="1" kern="0" baseline="-25000" dirty="0" err="1"/>
              <a:t>n</a:t>
            </a:r>
            <a:r>
              <a:rPr lang="en-US" altLang="zh-CN" i="1" kern="0" dirty="0"/>
              <a:t> = </a:t>
            </a:r>
            <a:endParaRPr lang="en-US" altLang="zh-CN" i="1" kern="0" baseline="30000" dirty="0"/>
          </a:p>
          <a:p>
            <a:r>
              <a:rPr lang="en-US" altLang="zh-CN" i="1" kern="0" dirty="0"/>
              <a:t>W</a:t>
            </a:r>
            <a:r>
              <a:rPr lang="en-US" altLang="zh-CN" i="1" kern="0" baseline="-25000" dirty="0"/>
              <a:t>0</a:t>
            </a:r>
            <a:r>
              <a:rPr lang="en-US" altLang="zh-CN" kern="0" dirty="0"/>
              <a:t>,</a:t>
            </a:r>
            <a:r>
              <a:rPr lang="en-US" altLang="zh-CN" i="1" kern="0" dirty="0"/>
              <a:t> W</a:t>
            </a:r>
            <a:r>
              <a:rPr lang="en-US" altLang="zh-CN" i="1" kern="0" baseline="-25000" dirty="0"/>
              <a:t>1 </a:t>
            </a:r>
            <a:r>
              <a:rPr lang="en-US" altLang="zh-CN" kern="0" dirty="0"/>
              <a:t>,</a:t>
            </a:r>
            <a:r>
              <a:rPr lang="en-US" altLang="zh-CN" i="1" kern="0" dirty="0"/>
              <a:t> W</a:t>
            </a:r>
            <a:r>
              <a:rPr lang="en-US" altLang="zh-CN" i="1" kern="0" baseline="-25000" dirty="0"/>
              <a:t>2 </a:t>
            </a:r>
            <a:r>
              <a:rPr lang="en-US" altLang="zh-CN" kern="0" dirty="0"/>
              <a:t>,</a:t>
            </a:r>
            <a:r>
              <a:rPr lang="en-US" altLang="zh-CN" i="1" kern="0" dirty="0"/>
              <a:t> …</a:t>
            </a:r>
            <a:r>
              <a:rPr lang="en-US" altLang="zh-CN" i="1" kern="0" baseline="-25000" dirty="0"/>
              <a:t> </a:t>
            </a:r>
            <a:r>
              <a:rPr lang="en-US" altLang="zh-CN" kern="0" dirty="0"/>
              <a:t>,</a:t>
            </a:r>
            <a:r>
              <a:rPr lang="en-US" altLang="zh-CN" i="1" kern="0" dirty="0"/>
              <a:t> </a:t>
            </a:r>
            <a:r>
              <a:rPr lang="en-US" altLang="zh-CN" i="1" kern="0" dirty="0" err="1"/>
              <a:t>W</a:t>
            </a:r>
            <a:r>
              <a:rPr lang="en-US" altLang="zh-CN" i="1" kern="0" baseline="-25000" dirty="0" err="1"/>
              <a:t>n</a:t>
            </a:r>
            <a:endParaRPr lang="en-US" altLang="zh-CN" i="1" kern="0" baseline="-25000" dirty="0"/>
          </a:p>
          <a:p>
            <a:r>
              <a:rPr lang="en-US" altLang="zh-CN" i="1" kern="0" dirty="0">
                <a:solidFill>
                  <a:schemeClr val="hlink"/>
                </a:solidFill>
              </a:rPr>
              <a:t>Step1</a:t>
            </a:r>
            <a:r>
              <a:rPr lang="en-US" altLang="zh-CN" kern="0" dirty="0"/>
              <a:t>: </a:t>
            </a:r>
          </a:p>
          <a:p>
            <a:pPr lvl="1"/>
            <a:r>
              <a:rPr lang="en-US" altLang="zh-CN" kern="0" dirty="0"/>
              <a:t>First transfer to </a:t>
            </a:r>
            <a:r>
              <a:rPr lang="en-US" altLang="zh-CN" i="1" kern="0" dirty="0" err="1"/>
              <a:t>W</a:t>
            </a:r>
            <a:r>
              <a:rPr lang="en-US" altLang="zh-CN" i="1" kern="0" baseline="-25000" dirty="0" err="1"/>
              <a:t>k</a:t>
            </a:r>
            <a:r>
              <a:rPr lang="en-US" altLang="zh-CN" kern="0" dirty="0"/>
              <a:t> all 1’s in </a:t>
            </a:r>
            <a:r>
              <a:rPr lang="en-US" altLang="zh-CN" i="1" kern="0" dirty="0"/>
              <a:t>W</a:t>
            </a:r>
            <a:r>
              <a:rPr lang="en-US" altLang="zh-CN" i="1" kern="0" baseline="-25000" dirty="0"/>
              <a:t>k</a:t>
            </a:r>
            <a:r>
              <a:rPr lang="en-US" altLang="zh-CN" kern="0" baseline="-25000" dirty="0"/>
              <a:t>-1</a:t>
            </a:r>
            <a:r>
              <a:rPr lang="en-US" altLang="zh-CN" kern="0" dirty="0"/>
              <a:t>.</a:t>
            </a:r>
          </a:p>
          <a:p>
            <a:r>
              <a:rPr lang="en-US" altLang="zh-CN" i="1" kern="0" dirty="0">
                <a:solidFill>
                  <a:schemeClr val="hlink"/>
                </a:solidFill>
              </a:rPr>
              <a:t>Step2</a:t>
            </a:r>
            <a:r>
              <a:rPr lang="en-US" altLang="zh-CN" kern="0" dirty="0"/>
              <a:t>: </a:t>
            </a:r>
          </a:p>
          <a:p>
            <a:pPr lvl="1"/>
            <a:r>
              <a:rPr lang="en-US" altLang="zh-CN" kern="0" dirty="0"/>
              <a:t>List the locations </a:t>
            </a:r>
            <a:r>
              <a:rPr lang="en-US" altLang="zh-CN" i="1" kern="0" dirty="0"/>
              <a:t>p</a:t>
            </a:r>
            <a:r>
              <a:rPr lang="en-US" altLang="zh-CN" kern="0" baseline="-25000" dirty="0"/>
              <a:t>1</a:t>
            </a:r>
            <a:r>
              <a:rPr lang="en-US" altLang="zh-CN" kern="0" dirty="0"/>
              <a:t>, </a:t>
            </a:r>
            <a:r>
              <a:rPr lang="en-US" altLang="zh-CN" i="1" kern="0" dirty="0"/>
              <a:t>p</a:t>
            </a:r>
            <a:r>
              <a:rPr lang="en-US" altLang="zh-CN" kern="0" baseline="-25000" dirty="0"/>
              <a:t>2</a:t>
            </a:r>
            <a:r>
              <a:rPr lang="en-US" altLang="zh-CN" kern="0" dirty="0"/>
              <a:t>, …, in column </a:t>
            </a:r>
            <a:r>
              <a:rPr lang="en-US" altLang="zh-CN" i="1" kern="0" dirty="0"/>
              <a:t>k</a:t>
            </a:r>
            <a:r>
              <a:rPr lang="en-US" altLang="zh-CN" kern="0" dirty="0"/>
              <a:t> of </a:t>
            </a:r>
            <a:r>
              <a:rPr lang="en-US" altLang="zh-CN" i="1" kern="0" dirty="0"/>
              <a:t>W</a:t>
            </a:r>
            <a:r>
              <a:rPr lang="en-US" altLang="zh-CN" i="1" kern="0" baseline="-25000" dirty="0"/>
              <a:t>k</a:t>
            </a:r>
            <a:r>
              <a:rPr lang="en-US" altLang="zh-CN" kern="0" baseline="-25000" dirty="0"/>
              <a:t>-1</a:t>
            </a:r>
            <a:r>
              <a:rPr lang="en-US" altLang="zh-CN" kern="0" dirty="0"/>
              <a:t>, where the entry is 1 </a:t>
            </a:r>
          </a:p>
          <a:p>
            <a:pPr lvl="1"/>
            <a:r>
              <a:rPr lang="en-US" altLang="zh-CN" kern="0" dirty="0"/>
              <a:t>List the locations </a:t>
            </a:r>
            <a:r>
              <a:rPr lang="en-US" altLang="zh-CN" i="1" kern="0" dirty="0"/>
              <a:t>q</a:t>
            </a:r>
            <a:r>
              <a:rPr lang="en-US" altLang="zh-CN" kern="0" baseline="-25000" dirty="0"/>
              <a:t>1</a:t>
            </a:r>
            <a:r>
              <a:rPr lang="en-US" altLang="zh-CN" kern="0" dirty="0"/>
              <a:t>, </a:t>
            </a:r>
            <a:r>
              <a:rPr lang="en-US" altLang="zh-CN" i="1" kern="0" dirty="0"/>
              <a:t>q</a:t>
            </a:r>
            <a:r>
              <a:rPr lang="en-US" altLang="zh-CN" kern="0" baseline="-25000" dirty="0"/>
              <a:t>2</a:t>
            </a:r>
            <a:r>
              <a:rPr lang="en-US" altLang="zh-CN" kern="0" dirty="0"/>
              <a:t>, …, in row </a:t>
            </a:r>
            <a:r>
              <a:rPr lang="en-US" altLang="zh-CN" i="1" kern="0" dirty="0"/>
              <a:t>k</a:t>
            </a:r>
            <a:r>
              <a:rPr lang="en-US" altLang="zh-CN" kern="0" dirty="0"/>
              <a:t> of </a:t>
            </a:r>
            <a:r>
              <a:rPr lang="en-US" altLang="zh-CN" i="1" kern="0" dirty="0"/>
              <a:t>W</a:t>
            </a:r>
            <a:r>
              <a:rPr lang="en-US" altLang="zh-CN" i="1" kern="0" baseline="-25000" dirty="0"/>
              <a:t>k</a:t>
            </a:r>
            <a:r>
              <a:rPr lang="en-US" altLang="zh-CN" kern="0" baseline="-25000" dirty="0"/>
              <a:t>-1</a:t>
            </a:r>
            <a:r>
              <a:rPr lang="en-US" altLang="zh-CN" kern="0" dirty="0"/>
              <a:t>, where the entry is 1</a:t>
            </a:r>
          </a:p>
          <a:p>
            <a:r>
              <a:rPr lang="en-US" altLang="zh-CN" i="1" kern="0" dirty="0">
                <a:solidFill>
                  <a:schemeClr val="hlink"/>
                </a:solidFill>
              </a:rPr>
              <a:t>Step3</a:t>
            </a:r>
            <a:r>
              <a:rPr lang="en-US" altLang="zh-CN" kern="0" dirty="0"/>
              <a:t>: </a:t>
            </a:r>
          </a:p>
          <a:p>
            <a:pPr lvl="1"/>
            <a:r>
              <a:rPr lang="en-US" altLang="zh-CN" kern="0" dirty="0"/>
              <a:t>Put 1’s in all the positions </a:t>
            </a:r>
            <a:r>
              <a:rPr lang="en-US" altLang="zh-CN" i="1" kern="0" dirty="0"/>
              <a:t>p</a:t>
            </a:r>
            <a:r>
              <a:rPr lang="en-US" altLang="zh-CN" i="1" kern="0" baseline="-25000" dirty="0"/>
              <a:t>i</a:t>
            </a:r>
            <a:r>
              <a:rPr lang="en-US" altLang="zh-CN" kern="0" dirty="0"/>
              <a:t>, </a:t>
            </a:r>
            <a:r>
              <a:rPr lang="en-US" altLang="zh-CN" i="1" kern="0" dirty="0" err="1"/>
              <a:t>q</a:t>
            </a:r>
            <a:r>
              <a:rPr lang="en-US" altLang="zh-CN" i="1" kern="0" baseline="-25000" dirty="0" err="1"/>
              <a:t>j</a:t>
            </a:r>
            <a:r>
              <a:rPr lang="en-US" altLang="zh-CN" kern="0" dirty="0"/>
              <a:t> of </a:t>
            </a:r>
            <a:r>
              <a:rPr lang="en-US" altLang="zh-CN" i="1" kern="0" dirty="0" err="1"/>
              <a:t>W</a:t>
            </a:r>
            <a:r>
              <a:rPr lang="en-US" altLang="zh-CN" i="1" kern="0" baseline="-25000" dirty="0" err="1"/>
              <a:t>k</a:t>
            </a:r>
            <a:r>
              <a:rPr lang="en-US" altLang="zh-CN" kern="0" dirty="0"/>
              <a:t> (if they are not already there)</a:t>
            </a:r>
          </a:p>
          <a:p>
            <a:endParaRPr lang="zh-CN" altLang="en-US" kern="0" dirty="0"/>
          </a:p>
          <a:p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9.5 </a:t>
            </a:r>
            <a:r>
              <a:rPr lang="en-US" altLang="zh-CN" sz="3200" kern="0"/>
              <a:t>Equivalence Relations</a:t>
            </a:r>
            <a:endParaRPr lang="en-US" altLang="zh-CN" sz="3200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210046" y="816747"/>
            <a:ext cx="11570622" cy="571721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kern="0" dirty="0"/>
              <a:t>A relation </a:t>
            </a:r>
            <a:r>
              <a:rPr lang="en-US" altLang="zh-CN" i="1" kern="0" dirty="0"/>
              <a:t>R </a:t>
            </a:r>
            <a:r>
              <a:rPr lang="en-US" altLang="zh-CN" kern="0" dirty="0"/>
              <a:t>on a set </a:t>
            </a:r>
            <a:r>
              <a:rPr lang="en-US" altLang="zh-CN" i="1" kern="0" dirty="0"/>
              <a:t>A </a:t>
            </a:r>
            <a:r>
              <a:rPr lang="en-US" altLang="zh-CN" kern="0" dirty="0"/>
              <a:t>is an </a:t>
            </a:r>
            <a:r>
              <a:rPr lang="en-US" altLang="zh-CN" i="1" kern="0" dirty="0">
                <a:solidFill>
                  <a:schemeClr val="hlink"/>
                </a:solidFill>
              </a:rPr>
              <a:t>equivalence relation</a:t>
            </a:r>
            <a:r>
              <a:rPr lang="en-US" altLang="zh-CN" i="1" kern="0" dirty="0"/>
              <a:t> </a:t>
            </a:r>
            <a:r>
              <a:rPr lang="en-US" altLang="zh-CN" kern="0" dirty="0"/>
              <a:t>(</a:t>
            </a:r>
            <a:r>
              <a:rPr lang="zh-CN" altLang="en-US" kern="0" dirty="0"/>
              <a:t>等价关系</a:t>
            </a:r>
            <a:r>
              <a:rPr lang="en-US" altLang="zh-CN" kern="0" dirty="0"/>
              <a:t>) </a:t>
            </a:r>
            <a:r>
              <a:rPr lang="en-US" altLang="zh-CN" kern="0" dirty="0" err="1"/>
              <a:t>iff</a:t>
            </a:r>
            <a:r>
              <a:rPr lang="en-US" altLang="zh-CN" kern="0" dirty="0"/>
              <a:t> </a:t>
            </a:r>
            <a:r>
              <a:rPr lang="en-US" altLang="zh-CN" i="1" kern="0" dirty="0"/>
              <a:t>R </a:t>
            </a:r>
            <a:r>
              <a:rPr lang="en-US" altLang="zh-CN" kern="0" dirty="0"/>
              <a:t>is</a:t>
            </a:r>
          </a:p>
          <a:p>
            <a:pPr lvl="1"/>
            <a:r>
              <a:rPr lang="en-US" altLang="zh-CN" i="1" kern="0" dirty="0"/>
              <a:t>Reflexive</a:t>
            </a:r>
            <a:r>
              <a:rPr lang="zh-CN" altLang="en-US" i="1" kern="0" dirty="0"/>
              <a:t>（自反）</a:t>
            </a:r>
            <a:endParaRPr lang="en-US" altLang="zh-CN" i="1" kern="0" dirty="0"/>
          </a:p>
          <a:p>
            <a:pPr lvl="1"/>
            <a:r>
              <a:rPr lang="en-US" altLang="zh-CN" i="1" kern="0" dirty="0"/>
              <a:t>Symmetric</a:t>
            </a:r>
            <a:r>
              <a:rPr lang="zh-CN" altLang="en-US" i="1" kern="0" dirty="0"/>
              <a:t>（对称）</a:t>
            </a:r>
            <a:endParaRPr lang="en-US" altLang="zh-CN" i="1" kern="0" dirty="0"/>
          </a:p>
          <a:p>
            <a:pPr lvl="1"/>
            <a:r>
              <a:rPr lang="en-US" altLang="zh-CN" i="1" kern="0" dirty="0"/>
              <a:t>Transitive</a:t>
            </a:r>
            <a:r>
              <a:rPr lang="zh-CN" altLang="en-US" i="1" kern="0" dirty="0"/>
              <a:t>（传递）</a:t>
            </a:r>
            <a:endParaRPr lang="en-US" altLang="zh-CN" i="1" kern="0" dirty="0"/>
          </a:p>
          <a:p>
            <a:r>
              <a:rPr lang="en-US" altLang="zh-CN" i="1" kern="0" dirty="0">
                <a:solidFill>
                  <a:schemeClr val="hlink"/>
                </a:solidFill>
              </a:rPr>
              <a:t>equivalence class</a:t>
            </a:r>
            <a:r>
              <a:rPr lang="zh-CN" altLang="en-US" i="1" kern="0" dirty="0">
                <a:solidFill>
                  <a:schemeClr val="hlink"/>
                </a:solidFill>
              </a:rPr>
              <a:t>（等价类）</a:t>
            </a:r>
            <a:endParaRPr lang="en-US" altLang="zh-CN" i="1" kern="0" dirty="0">
              <a:solidFill>
                <a:schemeClr val="hlink"/>
              </a:solidFill>
            </a:endParaRPr>
          </a:p>
          <a:p>
            <a:r>
              <a:rPr lang="en-US" altLang="zh-CN" kern="0" dirty="0"/>
              <a:t>Let </a:t>
            </a:r>
            <a:r>
              <a:rPr lang="en-US" altLang="zh-CN" kern="0" dirty="0">
                <a:latin typeface="Euclid Math One" panose="05050601010101010101" pitchFamily="18" charset="2"/>
              </a:rPr>
              <a:t>P</a:t>
            </a:r>
            <a:r>
              <a:rPr lang="en-US" altLang="zh-CN" kern="0" dirty="0"/>
              <a:t> be a partition of a set </a:t>
            </a:r>
            <a:r>
              <a:rPr lang="en-US" altLang="zh-CN" i="1" kern="0" dirty="0"/>
              <a:t>A</a:t>
            </a:r>
            <a:r>
              <a:rPr lang="en-US" altLang="zh-CN" kern="0" dirty="0"/>
              <a:t>. Define the relation </a:t>
            </a:r>
            <a:r>
              <a:rPr lang="en-US" altLang="zh-CN" i="1" kern="0" dirty="0"/>
              <a:t>R</a:t>
            </a:r>
            <a:r>
              <a:rPr lang="en-US" altLang="zh-CN" kern="0" dirty="0"/>
              <a:t> on </a:t>
            </a:r>
            <a:r>
              <a:rPr lang="en-US" altLang="zh-CN" i="1" kern="0" dirty="0"/>
              <a:t>A</a:t>
            </a:r>
            <a:r>
              <a:rPr lang="en-US" altLang="zh-CN" kern="0" dirty="0"/>
              <a:t> as follows:</a:t>
            </a:r>
          </a:p>
          <a:p>
            <a:pPr lvl="1"/>
            <a:r>
              <a:rPr lang="en-US" altLang="zh-CN" i="1" kern="0" dirty="0"/>
              <a:t>a R b  </a:t>
            </a:r>
            <a:r>
              <a:rPr lang="en-US" altLang="zh-CN" kern="0" dirty="0"/>
              <a:t>If and only if  </a:t>
            </a:r>
            <a:r>
              <a:rPr lang="en-US" altLang="zh-CN" i="1" kern="0" dirty="0"/>
              <a:t>a</a:t>
            </a:r>
            <a:r>
              <a:rPr lang="en-US" altLang="zh-CN" kern="0" dirty="0"/>
              <a:t> and </a:t>
            </a:r>
            <a:r>
              <a:rPr lang="en-US" altLang="zh-CN" i="1" kern="0" dirty="0"/>
              <a:t>b</a:t>
            </a:r>
            <a:r>
              <a:rPr lang="en-US" altLang="zh-CN" kern="0" dirty="0"/>
              <a:t> are members of the same block.</a:t>
            </a:r>
          </a:p>
          <a:p>
            <a:r>
              <a:rPr lang="en-US" altLang="zh-CN" kern="0" dirty="0"/>
              <a:t>Then </a:t>
            </a:r>
            <a:r>
              <a:rPr lang="en-US" altLang="zh-CN" i="1" kern="0" dirty="0"/>
              <a:t>R</a:t>
            </a:r>
            <a:r>
              <a:rPr lang="en-US" altLang="zh-CN" kern="0" dirty="0"/>
              <a:t> is an equivalence relation on </a:t>
            </a:r>
            <a:r>
              <a:rPr lang="en-US" altLang="zh-CN" i="1" kern="0" dirty="0"/>
              <a:t>A</a:t>
            </a:r>
          </a:p>
          <a:p>
            <a:endParaRPr lang="en-US" altLang="zh-CN" i="1" kern="0" dirty="0"/>
          </a:p>
          <a:p>
            <a:r>
              <a:rPr lang="en-US" altLang="zh-CN" kern="0" dirty="0"/>
              <a:t>Let </a:t>
            </a:r>
            <a:r>
              <a:rPr lang="en-US" altLang="zh-CN" i="1" kern="0" dirty="0"/>
              <a:t>R</a:t>
            </a:r>
            <a:r>
              <a:rPr lang="en-US" altLang="zh-CN" kern="0" dirty="0"/>
              <a:t> be an equivalence relation on </a:t>
            </a:r>
            <a:r>
              <a:rPr lang="en-US" altLang="zh-CN" i="1" kern="0" dirty="0"/>
              <a:t>A</a:t>
            </a:r>
            <a:r>
              <a:rPr lang="en-US" altLang="zh-CN" kern="0" dirty="0"/>
              <a:t>, and let </a:t>
            </a:r>
            <a:r>
              <a:rPr lang="en-US" altLang="zh-CN" kern="0" dirty="0">
                <a:latin typeface="Euclid Math One" panose="05050601010101010101" pitchFamily="18" charset="2"/>
              </a:rPr>
              <a:t>P</a:t>
            </a:r>
            <a:r>
              <a:rPr lang="en-US" altLang="zh-CN" kern="0" dirty="0"/>
              <a:t> be the collection of all distinct relative sets </a:t>
            </a:r>
            <a:r>
              <a:rPr lang="en-US" altLang="zh-CN" i="1" kern="0" dirty="0"/>
              <a:t>R</a:t>
            </a:r>
            <a:r>
              <a:rPr lang="en-US" altLang="zh-CN" kern="0" dirty="0"/>
              <a:t>(</a:t>
            </a:r>
            <a:r>
              <a:rPr lang="en-US" altLang="zh-CN" i="1" kern="0" dirty="0"/>
              <a:t>a</a:t>
            </a:r>
            <a:r>
              <a:rPr lang="en-US" altLang="zh-CN" kern="0" dirty="0"/>
              <a:t>) for </a:t>
            </a:r>
            <a:r>
              <a:rPr lang="en-US" altLang="zh-CN" i="1" kern="0" dirty="0"/>
              <a:t>a</a:t>
            </a:r>
            <a:r>
              <a:rPr lang="en-US" altLang="zh-CN" kern="0" dirty="0"/>
              <a:t> in </a:t>
            </a:r>
            <a:r>
              <a:rPr lang="en-US" altLang="zh-CN" i="1" kern="0" dirty="0"/>
              <a:t>A</a:t>
            </a:r>
            <a:r>
              <a:rPr lang="en-US" altLang="zh-CN" kern="0" dirty="0"/>
              <a:t>. </a:t>
            </a:r>
          </a:p>
          <a:p>
            <a:r>
              <a:rPr lang="en-US" altLang="zh-CN" kern="0" dirty="0"/>
              <a:t>Then </a:t>
            </a:r>
            <a:r>
              <a:rPr lang="en-US" altLang="zh-CN" kern="0" dirty="0">
                <a:latin typeface="Euclid Math One" panose="05050601010101010101" pitchFamily="18" charset="2"/>
              </a:rPr>
              <a:t>P</a:t>
            </a:r>
            <a:r>
              <a:rPr lang="en-US" altLang="zh-CN" kern="0" dirty="0"/>
              <a:t> is a partition of </a:t>
            </a:r>
            <a:r>
              <a:rPr lang="en-US" altLang="zh-CN" i="1" kern="0" dirty="0"/>
              <a:t>A</a:t>
            </a:r>
            <a:r>
              <a:rPr lang="en-US" altLang="zh-CN" kern="0" dirty="0"/>
              <a:t>, and </a:t>
            </a:r>
            <a:r>
              <a:rPr lang="en-US" altLang="zh-CN" i="1" kern="0" dirty="0"/>
              <a:t>R</a:t>
            </a:r>
            <a:r>
              <a:rPr lang="en-US" altLang="zh-CN" kern="0" dirty="0"/>
              <a:t> is the equivalence relation determined by </a:t>
            </a:r>
            <a:r>
              <a:rPr lang="en-US" altLang="zh-CN" kern="0" dirty="0">
                <a:latin typeface="Euclid Math One" panose="05050601010101010101" pitchFamily="18" charset="2"/>
              </a:rPr>
              <a:t>P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/>
              <a:t>9.5 </a:t>
            </a:r>
            <a:r>
              <a:rPr lang="en-US" altLang="zh-CN" sz="3200" kern="0"/>
              <a:t>Equivalence Relations</a:t>
            </a:r>
            <a:endParaRPr lang="en-US" altLang="zh-CN" sz="3200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210046" y="816747"/>
            <a:ext cx="11570622" cy="571721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sz="2400" kern="0" dirty="0">
                <a:solidFill>
                  <a:schemeClr val="hlin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例题-</a:t>
            </a:r>
            <a:r>
              <a:rPr lang="en-US" altLang="zh-CN" sz="2400" kern="0" dirty="0">
                <a:sym typeface="+mn-ea"/>
              </a:rPr>
              <a:t>设R是定义在实数集上的关系，满足aRb当且仅当a-b是整数。R是等价关系吗?</a:t>
            </a:r>
          </a:p>
          <a:p>
            <a:r>
              <a:rPr sz="2400" kern="0" dirty="0">
                <a:solidFill>
                  <a:schemeClr val="hlin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</a:t>
            </a:r>
            <a:r>
              <a:rPr lang="zh-CN" sz="2400" kern="0" dirty="0">
                <a:solidFill>
                  <a:schemeClr val="hlin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</a:p>
          <a:p>
            <a:r>
              <a:rPr sz="2400" kern="0" dirty="0">
                <a:solidFill>
                  <a:schemeClr val="hlin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因为对所有的实数a,a—a=0是整数，即对所有的实数a,有aRa,因此R是自反的。</a:t>
            </a:r>
          </a:p>
          <a:p>
            <a:r>
              <a:rPr sz="2400" kern="0" dirty="0">
                <a:solidFill>
                  <a:schemeClr val="hlin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假设aRb,那么a-b是整数，所以b-a也是整数。因此有bRa。由此，R是对称的。</a:t>
            </a:r>
          </a:p>
          <a:p>
            <a:r>
              <a:rPr sz="2400" kern="0" dirty="0">
                <a:solidFill>
                  <a:schemeClr val="hlin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如果aRb且bRc,那么a-b和b-c是整数，所以a-c=(a-b)+(b-c)也是整数。因此aRc。所以，R是传递的。</a:t>
            </a:r>
          </a:p>
          <a:p>
            <a:r>
              <a:rPr sz="2400" kern="0" dirty="0">
                <a:solidFill>
                  <a:schemeClr val="hlin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综上所述，R是等价关系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715095"/>
            <a:ext cx="11913128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800" dirty="0"/>
              <a:t>A relation </a:t>
            </a:r>
            <a:r>
              <a:rPr lang="en-US" altLang="zh-CN" sz="2800" i="1" dirty="0"/>
              <a:t>R</a:t>
            </a:r>
            <a:r>
              <a:rPr lang="en-US" altLang="zh-CN" sz="2800" dirty="0"/>
              <a:t> on a set </a:t>
            </a:r>
            <a:r>
              <a:rPr lang="en-US" altLang="zh-CN" sz="2800" i="1" dirty="0"/>
              <a:t>A</a:t>
            </a:r>
            <a:r>
              <a:rPr lang="en-US" altLang="zh-CN" sz="2800" dirty="0"/>
              <a:t> is called a </a:t>
            </a:r>
            <a:r>
              <a:rPr lang="en-US" altLang="zh-CN" sz="2800" i="1" dirty="0">
                <a:solidFill>
                  <a:schemeClr val="hlink"/>
                </a:solidFill>
              </a:rPr>
              <a:t>partial order</a:t>
            </a:r>
            <a:r>
              <a:rPr lang="zh-CN" altLang="en-US" sz="2800" i="1" dirty="0">
                <a:solidFill>
                  <a:schemeClr val="hlink"/>
                </a:solidFill>
              </a:rPr>
              <a:t>（偏序）</a:t>
            </a:r>
            <a:r>
              <a:rPr lang="en-US" altLang="zh-CN" sz="2800" dirty="0"/>
              <a:t> if </a:t>
            </a:r>
            <a:r>
              <a:rPr lang="en-US" altLang="zh-CN" sz="2800" i="1" dirty="0"/>
              <a:t>R</a:t>
            </a:r>
            <a:r>
              <a:rPr lang="en-US" altLang="zh-CN" sz="2800" dirty="0"/>
              <a:t> is reflexive（</a:t>
            </a:r>
            <a:r>
              <a:rPr lang="zh-CN" altLang="en-US" sz="2800" dirty="0"/>
              <a:t>自反）, </a:t>
            </a:r>
            <a:r>
              <a:rPr lang="en-US" altLang="zh-CN" sz="2800" dirty="0"/>
              <a:t>antisymmetric（</a:t>
            </a:r>
            <a:r>
              <a:rPr lang="zh-CN" altLang="en-US" sz="2800" dirty="0"/>
              <a:t>反对称）, </a:t>
            </a:r>
            <a:r>
              <a:rPr lang="en-US" altLang="zh-CN" sz="2800" dirty="0"/>
              <a:t>and transitive（</a:t>
            </a:r>
            <a:r>
              <a:rPr lang="zh-CN" altLang="en-US" sz="2800" dirty="0"/>
              <a:t>传递）</a:t>
            </a:r>
            <a:endParaRPr lang="en-US" altLang="zh-CN" sz="2800" dirty="0"/>
          </a:p>
          <a:p>
            <a:pPr lvl="1"/>
            <a:r>
              <a:rPr lang="en-US" altLang="zh-CN" sz="2400" dirty="0"/>
              <a:t>If every pair of elements in a </a:t>
            </a:r>
            <a:r>
              <a:rPr lang="en-US" altLang="zh-CN" sz="2400" dirty="0" err="1"/>
              <a:t>poset</a:t>
            </a:r>
            <a:r>
              <a:rPr lang="en-US" altLang="zh-CN" sz="2400" dirty="0"/>
              <a:t> </a:t>
            </a:r>
            <a:r>
              <a:rPr lang="en-US" altLang="zh-CN" sz="2400" i="1" dirty="0"/>
              <a:t>A</a:t>
            </a:r>
            <a:r>
              <a:rPr lang="en-US" altLang="zh-CN" sz="2400" dirty="0"/>
              <a:t> is comparable, we say that </a:t>
            </a:r>
            <a:r>
              <a:rPr lang="en-US" altLang="zh-CN" sz="2400" i="1" dirty="0"/>
              <a:t>A</a:t>
            </a:r>
            <a:r>
              <a:rPr lang="en-US" altLang="zh-CN" sz="2400" dirty="0"/>
              <a:t> is a </a:t>
            </a:r>
            <a:r>
              <a:rPr lang="en-US" altLang="zh-CN" sz="2400" i="1" dirty="0">
                <a:solidFill>
                  <a:schemeClr val="hlink"/>
                </a:solidFill>
              </a:rPr>
              <a:t>linearly ordered </a:t>
            </a:r>
            <a:r>
              <a:rPr lang="en-US" altLang="zh-CN" sz="2400" i="1" dirty="0" err="1">
                <a:solidFill>
                  <a:schemeClr val="hlink"/>
                </a:solidFill>
              </a:rPr>
              <a:t>set（or</a:t>
            </a:r>
            <a:r>
              <a:rPr lang="en-US" altLang="zh-CN" sz="2400" i="1" dirty="0">
                <a:solidFill>
                  <a:schemeClr val="hlink"/>
                </a:solidFill>
              </a:rPr>
              <a:t> totally ordered)</a:t>
            </a:r>
            <a:r>
              <a:rPr lang="zh-CN" altLang="en-US" sz="2400" i="1" dirty="0">
                <a:solidFill>
                  <a:schemeClr val="hlink"/>
                </a:solidFill>
              </a:rPr>
              <a:t>（线序</a:t>
            </a:r>
            <a:r>
              <a:rPr lang="en-US" altLang="zh-CN" sz="2400" i="1" dirty="0">
                <a:solidFill>
                  <a:schemeClr val="hlink"/>
                </a:solidFill>
              </a:rPr>
              <a:t>/</a:t>
            </a:r>
            <a:r>
              <a:rPr lang="zh-CN" altLang="en-US" sz="2400" i="1" dirty="0">
                <a:solidFill>
                  <a:schemeClr val="hlink"/>
                </a:solidFill>
              </a:rPr>
              <a:t>全序）</a:t>
            </a:r>
            <a:r>
              <a:rPr lang="en-US" altLang="zh-CN" sz="2400" dirty="0"/>
              <a:t>, and the partial order is called a </a:t>
            </a:r>
            <a:r>
              <a:rPr lang="en-US" altLang="zh-CN" sz="2400" i="1" dirty="0">
                <a:solidFill>
                  <a:schemeClr val="hlink"/>
                </a:solidFill>
              </a:rPr>
              <a:t>linear order.</a:t>
            </a:r>
            <a:r>
              <a:rPr lang="zh-CN" altLang="en-US" sz="2400" dirty="0"/>
              <a:t> </a:t>
            </a:r>
            <a:r>
              <a:rPr lang="en-US" altLang="zh-CN" sz="2400" dirty="0"/>
              <a:t>We also say that A is a </a:t>
            </a:r>
            <a:r>
              <a:rPr lang="en-US" altLang="zh-CN" sz="2400" i="1" dirty="0">
                <a:solidFill>
                  <a:schemeClr val="hlink"/>
                </a:solidFill>
              </a:rPr>
              <a:t>chain</a:t>
            </a:r>
            <a:r>
              <a:rPr lang="zh-CN" altLang="en-US" sz="2400" dirty="0"/>
              <a:t>.</a:t>
            </a:r>
          </a:p>
          <a:p>
            <a:pPr lvl="1"/>
            <a:r>
              <a:rPr lang="en-US" altLang="zh-CN" sz="2400" dirty="0"/>
              <a:t>A relation</a:t>
            </a:r>
            <a:r>
              <a:rPr lang="en-US" altLang="zh-CN" sz="2400" i="1" dirty="0"/>
              <a:t> R </a:t>
            </a:r>
            <a:r>
              <a:rPr lang="en-US" altLang="zh-CN" sz="2400" dirty="0"/>
              <a:t>on</a:t>
            </a:r>
            <a:r>
              <a:rPr lang="en-US" altLang="zh-CN" sz="2400" i="1" dirty="0"/>
              <a:t> </a:t>
            </a:r>
            <a:r>
              <a:rPr lang="en-US" altLang="zh-CN" sz="2400" dirty="0"/>
              <a:t>a set</a:t>
            </a:r>
            <a:r>
              <a:rPr lang="en-US" altLang="zh-CN" sz="2400" i="1" dirty="0"/>
              <a:t> A </a:t>
            </a:r>
            <a:r>
              <a:rPr lang="en-US" altLang="zh-CN" sz="2400" dirty="0"/>
              <a:t>is called </a:t>
            </a:r>
            <a:r>
              <a:rPr lang="en-US" altLang="zh-CN" sz="2400" i="1" dirty="0" err="1">
                <a:solidFill>
                  <a:schemeClr val="hlink"/>
                </a:solidFill>
              </a:rPr>
              <a:t>quasiorder</a:t>
            </a:r>
            <a:r>
              <a:rPr lang="zh-CN" altLang="en-US" sz="2400" i="1" dirty="0">
                <a:solidFill>
                  <a:schemeClr val="hlink"/>
                </a:solidFill>
              </a:rPr>
              <a:t>（先序）</a:t>
            </a:r>
            <a:r>
              <a:rPr lang="en-US" altLang="zh-CN" sz="2400" dirty="0"/>
              <a:t> if it is </a:t>
            </a:r>
            <a:r>
              <a:rPr lang="en-US" altLang="zh-CN" sz="2400" i="1" dirty="0">
                <a:solidFill>
                  <a:schemeClr val="folHlink"/>
                </a:solidFill>
              </a:rPr>
              <a:t>transitive</a:t>
            </a:r>
            <a:r>
              <a:rPr lang="en-US" altLang="zh-CN" sz="2400" dirty="0"/>
              <a:t> and </a:t>
            </a:r>
            <a:r>
              <a:rPr lang="en-US" altLang="zh-CN" sz="2400" i="1" dirty="0">
                <a:solidFill>
                  <a:schemeClr val="folHlink"/>
                </a:solidFill>
              </a:rPr>
              <a:t>irreflexive</a:t>
            </a:r>
            <a:r>
              <a:rPr lang="en-US" altLang="zh-CN" sz="2400" dirty="0"/>
              <a:t>.</a:t>
            </a:r>
          </a:p>
          <a:p>
            <a:pPr lvl="1"/>
            <a:r>
              <a:rPr lang="en-US" altLang="zh-CN" sz="2400" dirty="0"/>
              <a:t>If (A,</a:t>
            </a:r>
            <a:r>
              <a:rPr lang="en-US" altLang="zh-CN" sz="2400" dirty="0">
                <a:sym typeface="Symbol" panose="05050102010706020507" pitchFamily="18" charset="2"/>
              </a:rPr>
              <a:t></a:t>
            </a:r>
            <a:r>
              <a:rPr lang="en-US" altLang="zh-CN" sz="2400" dirty="0"/>
              <a:t>) and (B,</a:t>
            </a:r>
            <a:r>
              <a:rPr lang="en-US" altLang="zh-CN" sz="2400" dirty="0">
                <a:sym typeface="Symbol" panose="05050102010706020507" pitchFamily="18" charset="2"/>
              </a:rPr>
              <a:t></a:t>
            </a:r>
            <a:r>
              <a:rPr lang="en-US" altLang="zh-CN" sz="2400" dirty="0"/>
              <a:t>) are </a:t>
            </a:r>
            <a:r>
              <a:rPr lang="en-US" altLang="zh-CN" sz="2400" dirty="0" err="1"/>
              <a:t>posets,then</a:t>
            </a:r>
            <a:r>
              <a:rPr lang="en-US" altLang="zh-CN" sz="2400" dirty="0"/>
              <a:t> (A</a:t>
            </a:r>
            <a:r>
              <a:rPr lang="en-US" altLang="zh-CN" sz="2400" dirty="0">
                <a:sym typeface="Symbol" panose="05050102010706020507" pitchFamily="18" charset="2"/>
              </a:rPr>
              <a:t>B</a:t>
            </a:r>
            <a:r>
              <a:rPr lang="en-US" altLang="zh-CN" sz="2400" dirty="0"/>
              <a:t>,</a:t>
            </a:r>
            <a:r>
              <a:rPr lang="en-US" altLang="zh-CN" sz="2400" dirty="0">
                <a:sym typeface="Symbol" panose="05050102010706020507" pitchFamily="18" charset="2"/>
              </a:rPr>
              <a:t></a:t>
            </a:r>
            <a:r>
              <a:rPr lang="en-US" altLang="zh-CN" sz="2400" dirty="0"/>
              <a:t>) is a </a:t>
            </a:r>
            <a:r>
              <a:rPr lang="en-US" altLang="zh-CN" sz="2400" dirty="0" err="1"/>
              <a:t>poset,with</a:t>
            </a:r>
            <a:r>
              <a:rPr lang="en-US" altLang="zh-CN" sz="2400" dirty="0"/>
              <a:t> partial order </a:t>
            </a:r>
            <a:r>
              <a:rPr lang="en-US" altLang="zh-CN" sz="2400" dirty="0">
                <a:sym typeface="Symbol" panose="05050102010706020507" pitchFamily="18" charset="2"/>
              </a:rPr>
              <a:t> define by </a:t>
            </a:r>
          </a:p>
          <a:p>
            <a:pPr marL="457200" lvl="1" indent="0">
              <a:buNone/>
            </a:pPr>
            <a:r>
              <a:rPr lang="en-US" altLang="zh-CN" sz="2400" dirty="0"/>
              <a:t>     This ordering is called </a:t>
            </a:r>
            <a:r>
              <a:rPr lang="en-US" altLang="zh-CN" sz="2400" i="1" dirty="0">
                <a:solidFill>
                  <a:schemeClr val="hlink"/>
                </a:solidFill>
              </a:rPr>
              <a:t>product partial order</a:t>
            </a:r>
            <a:r>
              <a:rPr lang="zh-CN" altLang="en-US" sz="2400" i="1" dirty="0">
                <a:solidFill>
                  <a:schemeClr val="hlink"/>
                </a:solidFill>
              </a:rPr>
              <a:t>（积偏序）</a:t>
            </a:r>
            <a:endParaRPr lang="en-US" altLang="zh-CN" sz="2400" dirty="0"/>
          </a:p>
          <a:p>
            <a:pPr lvl="1"/>
            <a:r>
              <a:rPr lang="en-US" altLang="zh-CN" sz="2400" dirty="0"/>
              <a:t>If (A,</a:t>
            </a:r>
            <a:r>
              <a:rPr lang="en-US" altLang="zh-CN" sz="2400" dirty="0">
                <a:sym typeface="Symbol" panose="05050102010706020507" pitchFamily="18" charset="2"/>
              </a:rPr>
              <a:t></a:t>
            </a:r>
            <a:r>
              <a:rPr lang="en-US" altLang="zh-CN" sz="2400" dirty="0"/>
              <a:t>) and (B,</a:t>
            </a:r>
            <a:r>
              <a:rPr lang="en-US" altLang="zh-CN" sz="2400" dirty="0">
                <a:sym typeface="Symbol" panose="05050102010706020507" pitchFamily="18" charset="2"/>
              </a:rPr>
              <a:t></a:t>
            </a:r>
            <a:r>
              <a:rPr lang="en-US" altLang="zh-CN" sz="2400" dirty="0"/>
              <a:t>) are </a:t>
            </a:r>
            <a:r>
              <a:rPr lang="en-US" altLang="zh-CN" sz="2400" dirty="0" err="1"/>
              <a:t>posets,then</a:t>
            </a:r>
            <a:r>
              <a:rPr lang="en-US" altLang="zh-CN" sz="2400" dirty="0"/>
              <a:t> (A</a:t>
            </a:r>
            <a:r>
              <a:rPr lang="en-US" altLang="zh-CN" sz="2400" dirty="0">
                <a:sym typeface="Symbol" panose="05050102010706020507" pitchFamily="18" charset="2"/>
              </a:rPr>
              <a:t>B</a:t>
            </a:r>
            <a:r>
              <a:rPr lang="en-US" altLang="zh-CN" sz="2400" dirty="0"/>
              <a:t>,   ) is a </a:t>
            </a:r>
            <a:r>
              <a:rPr lang="en-US" altLang="zh-CN" sz="2400" dirty="0" err="1"/>
              <a:t>poset,with</a:t>
            </a:r>
            <a:r>
              <a:rPr lang="en-US" altLang="zh-CN" sz="2400" dirty="0"/>
              <a:t> partial order     </a:t>
            </a:r>
            <a:r>
              <a:rPr lang="en-US" altLang="zh-CN" sz="2400" dirty="0">
                <a:sym typeface="Symbol" panose="05050102010706020507" pitchFamily="18" charset="2"/>
              </a:rPr>
              <a:t> define by 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     This ordering is called </a:t>
            </a:r>
            <a:r>
              <a:rPr lang="en-US" altLang="zh-CN" sz="2400" i="1" dirty="0">
                <a:solidFill>
                  <a:schemeClr val="hlink"/>
                </a:solidFill>
              </a:rPr>
              <a:t>lexicographic</a:t>
            </a:r>
            <a:r>
              <a:rPr lang="zh-CN" altLang="en-US" sz="2400" i="1" dirty="0">
                <a:solidFill>
                  <a:schemeClr val="hlink"/>
                </a:solidFill>
              </a:rPr>
              <a:t>（字典式的）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/>
              <a:t>or </a:t>
            </a:r>
            <a:r>
              <a:rPr lang="en-US" altLang="zh-CN" sz="2400" i="1" dirty="0">
                <a:solidFill>
                  <a:schemeClr val="hlink"/>
                </a:solidFill>
              </a:rPr>
              <a:t>“dictionary” order</a:t>
            </a:r>
            <a:r>
              <a:rPr lang="zh-CN" altLang="en-US" sz="2400" i="1" dirty="0">
                <a:solidFill>
                  <a:schemeClr val="hlink"/>
                </a:solidFill>
              </a:rPr>
              <a:t>（字典顺序）</a:t>
            </a:r>
            <a:r>
              <a:rPr lang="en-US" altLang="zh-CN" sz="2400" dirty="0"/>
              <a:t>. </a:t>
            </a:r>
            <a:endParaRPr lang="zh-CN" altLang="en-US" sz="2400" dirty="0"/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sz="2400" dirty="0">
              <a:ea typeface="Arial Unicode MS" panose="020B0604020202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0046" y="0"/>
            <a:ext cx="11056470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9.6 Partial Orderings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607663" y="4048125"/>
          <a:ext cx="532288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7912000" imgH="4876800" progId="Equation.DSMT4">
                  <p:embed/>
                </p:oleObj>
              </mc:Choice>
              <mc:Fallback>
                <p:oleObj name="Equation" r:id="rId3" imgW="57912000" imgH="4876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7663" y="4048125"/>
                        <a:ext cx="5322887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2512413" y="5297539"/>
          <a:ext cx="4569377" cy="400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5473600" imgH="4876800" progId="Equation.DSMT4">
                  <p:embed/>
                </p:oleObj>
              </mc:Choice>
              <mc:Fallback>
                <p:oleObj name="Equation" r:id="rId5" imgW="55473600" imgH="4876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2413" y="5297539"/>
                        <a:ext cx="4569377" cy="400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9.6 Partial Orderings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1166018"/>
            <a:ext cx="11448554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 err="1">
                <a:solidFill>
                  <a:srgbClr val="FF0000"/>
                </a:solidFill>
              </a:rPr>
              <a:t>Hasse</a:t>
            </a:r>
            <a:r>
              <a:rPr lang="en-US" altLang="zh-CN" dirty="0">
                <a:solidFill>
                  <a:srgbClr val="FF0000"/>
                </a:solidFill>
              </a:rPr>
              <a:t> Diagram</a:t>
            </a:r>
            <a:r>
              <a:rPr lang="zh-CN" altLang="en-US" dirty="0">
                <a:solidFill>
                  <a:srgbClr val="FF0000"/>
                </a:solidFill>
              </a:rPr>
              <a:t>（哈赛图）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is the digraph of a partial order on a finite set </a:t>
            </a:r>
            <a:r>
              <a:rPr lang="en-US" altLang="zh-CN" i="1" dirty="0"/>
              <a:t>A</a:t>
            </a:r>
            <a:r>
              <a:rPr lang="en-US" altLang="zh-CN" dirty="0"/>
              <a:t> that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deletes all self-cycles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eliminates all edges that are implied by the transitive property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draws the digraph with all edges pointing upward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Topological Sorting</a:t>
            </a:r>
            <a:r>
              <a:rPr lang="zh-CN" altLang="en-US" dirty="0">
                <a:solidFill>
                  <a:srgbClr val="FF0000"/>
                </a:solidFill>
              </a:rPr>
              <a:t>（拓扑排序）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Isomorphism</a:t>
            </a:r>
            <a:r>
              <a:rPr lang="zh-CN" altLang="en-US" dirty="0">
                <a:solidFill>
                  <a:srgbClr val="FF0000"/>
                </a:solidFill>
              </a:rPr>
              <a:t>（同构）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Principle of Correspondence</a:t>
            </a:r>
            <a:r>
              <a:rPr lang="zh-CN" altLang="en-US" dirty="0">
                <a:solidFill>
                  <a:srgbClr val="FF0000"/>
                </a:solidFill>
              </a:rPr>
              <a:t>（对应原理）</a:t>
            </a:r>
          </a:p>
          <a:p>
            <a:pPr marL="457200" lvl="1" indent="0" eaLnBrk="1" hangingPunct="1">
              <a:lnSpc>
                <a:spcPct val="150000"/>
              </a:lnSpc>
              <a:buNone/>
            </a:pP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sz="2800" dirty="0">
              <a:ea typeface="Arial Unicode MS" panose="020B0604020202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u="sng" dirty="0">
                <a:solidFill>
                  <a:srgbClr val="FF0000"/>
                </a:solidFill>
              </a:rPr>
              <a:t>9.6 Partial Orderings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0046" y="957223"/>
            <a:ext cx="11448554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i="1" dirty="0"/>
              <a:t>maximal element</a:t>
            </a:r>
            <a:r>
              <a:rPr lang="zh-CN" altLang="en-US" i="1" dirty="0"/>
              <a:t>（极大元）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i="1" dirty="0"/>
              <a:t>minimal element</a:t>
            </a:r>
            <a:r>
              <a:rPr lang="zh-CN" altLang="en-US" i="1" dirty="0"/>
              <a:t>（极小元）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i="1" dirty="0"/>
              <a:t>greatest element</a:t>
            </a:r>
            <a:r>
              <a:rPr lang="zh-CN" altLang="en-US" i="1" dirty="0"/>
              <a:t>（最大元）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denoted by </a:t>
            </a:r>
            <a:r>
              <a:rPr lang="en-US" altLang="zh-CN" i="1" dirty="0"/>
              <a:t>I</a:t>
            </a:r>
            <a:r>
              <a:rPr lang="en-US" altLang="zh-CN" dirty="0"/>
              <a:t> and often called the </a:t>
            </a:r>
            <a:r>
              <a:rPr lang="en-US" altLang="zh-CN" i="1" dirty="0"/>
              <a:t>unit element</a:t>
            </a:r>
            <a:r>
              <a:rPr lang="zh-CN" altLang="en-US" i="1" dirty="0"/>
              <a:t>（单位元）</a:t>
            </a:r>
            <a:endParaRPr lang="zh-CN" altLang="en-US" dirty="0"/>
          </a:p>
          <a:p>
            <a:pPr eaLnBrk="1" hangingPunct="1">
              <a:lnSpc>
                <a:spcPct val="150000"/>
              </a:lnSpc>
            </a:pPr>
            <a:r>
              <a:rPr lang="en-US" altLang="zh-CN" i="1" dirty="0"/>
              <a:t>least element</a:t>
            </a:r>
            <a:r>
              <a:rPr lang="zh-CN" altLang="en-US" i="1" dirty="0"/>
              <a:t>（最小元）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dirty="0"/>
              <a:t>denoted by </a:t>
            </a:r>
            <a:r>
              <a:rPr lang="en-US" altLang="zh-CN" i="1" dirty="0"/>
              <a:t>0</a:t>
            </a:r>
            <a:r>
              <a:rPr lang="en-US" altLang="zh-CN" dirty="0"/>
              <a:t> and often called the </a:t>
            </a:r>
            <a:r>
              <a:rPr lang="en-US" altLang="zh-CN" i="1" dirty="0"/>
              <a:t>zero element</a:t>
            </a:r>
            <a:r>
              <a:rPr lang="zh-CN" altLang="en-US" i="1" dirty="0"/>
              <a:t>（零元）</a:t>
            </a:r>
            <a:endParaRPr lang="zh-CN" altLang="en-US" b="1" u="sng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9.6 Partial Orderings</a:t>
            </a:r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-42160" y="951491"/>
            <a:ext cx="12276319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altLang="zh-CN" sz="2400" dirty="0"/>
              <a:t>An element </a:t>
            </a:r>
            <a:r>
              <a:rPr lang="en-US" altLang="zh-CN" sz="2400" i="1" dirty="0"/>
              <a:t>a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 A</a:t>
            </a:r>
            <a:r>
              <a:rPr lang="en-US" altLang="zh-CN" sz="2400" dirty="0"/>
              <a:t> is called a </a:t>
            </a:r>
            <a:r>
              <a:rPr lang="en-US" altLang="zh-CN" sz="2400" i="1" dirty="0">
                <a:solidFill>
                  <a:schemeClr val="hlink"/>
                </a:solidFill>
              </a:rPr>
              <a:t>upper bound（</a:t>
            </a:r>
            <a:r>
              <a:rPr lang="zh-CN" altLang="en-US" sz="2400" i="1" dirty="0">
                <a:solidFill>
                  <a:schemeClr val="hlink"/>
                </a:solidFill>
              </a:rPr>
              <a:t>上界）</a:t>
            </a:r>
            <a:r>
              <a:rPr lang="zh-CN" altLang="en-US" sz="2400" dirty="0"/>
              <a:t> </a:t>
            </a:r>
            <a:r>
              <a:rPr lang="en-US" altLang="zh-CN" sz="2400" dirty="0"/>
              <a:t>of </a:t>
            </a:r>
            <a:r>
              <a:rPr lang="en-US" altLang="zh-CN" sz="2400" i="1" dirty="0"/>
              <a:t>B</a:t>
            </a:r>
            <a:r>
              <a:rPr lang="en-US" altLang="zh-CN" sz="2400" dirty="0"/>
              <a:t>  if </a:t>
            </a:r>
            <a:r>
              <a:rPr lang="en-US" altLang="zh-CN" sz="2400" i="1" dirty="0" err="1"/>
              <a:t>b</a:t>
            </a:r>
            <a:r>
              <a:rPr lang="en-US" altLang="zh-CN" sz="2400" dirty="0" err="1"/>
              <a:t>≤</a:t>
            </a:r>
            <a:r>
              <a:rPr lang="en-US" altLang="zh-CN" sz="2400" i="1" dirty="0" err="1"/>
              <a:t>a</a:t>
            </a:r>
            <a:r>
              <a:rPr lang="en-US" altLang="zh-CN" sz="2400" dirty="0"/>
              <a:t> for all </a:t>
            </a:r>
            <a:r>
              <a:rPr lang="en-US" altLang="zh-CN" sz="2400" i="1" dirty="0"/>
              <a:t>b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 B</a:t>
            </a:r>
            <a:r>
              <a:rPr lang="en-US" altLang="zh-CN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An element </a:t>
            </a:r>
            <a:r>
              <a:rPr lang="en-US" altLang="zh-CN" sz="2400" i="1" dirty="0"/>
              <a:t>a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 A</a:t>
            </a:r>
            <a:r>
              <a:rPr lang="en-US" altLang="zh-CN" sz="2400" dirty="0"/>
              <a:t> is called a </a:t>
            </a:r>
            <a:r>
              <a:rPr lang="en-US" altLang="zh-CN" sz="2400" i="1" dirty="0">
                <a:solidFill>
                  <a:schemeClr val="hlink"/>
                </a:solidFill>
              </a:rPr>
              <a:t>lower bound（</a:t>
            </a:r>
            <a:r>
              <a:rPr lang="zh-CN" altLang="en-US" sz="2400" i="1" dirty="0">
                <a:solidFill>
                  <a:schemeClr val="hlink"/>
                </a:solidFill>
              </a:rPr>
              <a:t>下界）</a:t>
            </a:r>
            <a:r>
              <a:rPr lang="en-US" altLang="zh-CN" sz="2400" dirty="0"/>
              <a:t>of </a:t>
            </a:r>
            <a:r>
              <a:rPr lang="en-US" altLang="zh-CN" sz="2400" i="1" dirty="0"/>
              <a:t>B</a:t>
            </a:r>
            <a:r>
              <a:rPr lang="en-US" altLang="zh-CN" sz="2400" dirty="0"/>
              <a:t>  if 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≤</a:t>
            </a:r>
            <a:r>
              <a:rPr lang="en-US" altLang="zh-CN" sz="2400" i="1" dirty="0" err="1"/>
              <a:t>b</a:t>
            </a:r>
            <a:r>
              <a:rPr lang="en-US" altLang="zh-CN" sz="2400" dirty="0"/>
              <a:t> for all </a:t>
            </a:r>
            <a:r>
              <a:rPr lang="en-US" altLang="zh-CN" sz="2400" i="1" dirty="0"/>
              <a:t>b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 B</a:t>
            </a:r>
            <a:r>
              <a:rPr lang="en-US" altLang="zh-CN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An element </a:t>
            </a:r>
            <a:r>
              <a:rPr lang="en-US" altLang="zh-CN" sz="2400" i="1" dirty="0"/>
              <a:t>a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 A</a:t>
            </a:r>
            <a:r>
              <a:rPr lang="en-US" altLang="zh-CN" sz="2400" dirty="0"/>
              <a:t> is called a </a:t>
            </a:r>
            <a:r>
              <a:rPr lang="en-US" altLang="zh-CN" sz="2400" i="1" dirty="0">
                <a:solidFill>
                  <a:schemeClr val="hlink"/>
                </a:solidFill>
              </a:rPr>
              <a:t>least upper bound</a:t>
            </a:r>
            <a:r>
              <a:rPr lang="en-US" altLang="zh-CN" sz="2400" dirty="0"/>
              <a:t> (LUB) of </a:t>
            </a:r>
            <a:r>
              <a:rPr lang="en-US" altLang="zh-CN" sz="2400" i="1" dirty="0"/>
              <a:t>B</a:t>
            </a:r>
            <a:r>
              <a:rPr lang="en-US" altLang="zh-CN" sz="2400" dirty="0"/>
              <a:t>  if </a:t>
            </a:r>
            <a:r>
              <a:rPr lang="en-US" altLang="zh-CN" sz="2400" i="1" dirty="0"/>
              <a:t>a</a:t>
            </a:r>
            <a:r>
              <a:rPr lang="en-US" altLang="zh-CN" sz="2400" dirty="0"/>
              <a:t> is an upper bound of </a:t>
            </a:r>
            <a:r>
              <a:rPr lang="en-US" altLang="zh-CN" sz="2400" i="1" dirty="0"/>
              <a:t>B</a:t>
            </a:r>
            <a:r>
              <a:rPr lang="en-US" altLang="zh-CN" sz="2400" dirty="0"/>
              <a:t>  and  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≤</a:t>
            </a:r>
            <a:r>
              <a:rPr lang="en-US" altLang="zh-CN" sz="2400" i="1" dirty="0" err="1"/>
              <a:t>a</a:t>
            </a:r>
            <a:r>
              <a:rPr lang="en-US" altLang="zh-CN" sz="2400" i="1" dirty="0"/>
              <a:t>’</a:t>
            </a:r>
            <a:r>
              <a:rPr lang="en-US" altLang="zh-CN" sz="2400" dirty="0"/>
              <a:t>, whenever </a:t>
            </a:r>
            <a:r>
              <a:rPr lang="en-US" altLang="zh-CN" sz="2400" i="1" dirty="0"/>
              <a:t>a’</a:t>
            </a:r>
            <a:r>
              <a:rPr lang="en-US" altLang="zh-CN" sz="2400" dirty="0"/>
              <a:t> is an upper bound of </a:t>
            </a:r>
            <a:r>
              <a:rPr lang="en-US" altLang="zh-CN" sz="2400" i="1" dirty="0"/>
              <a:t>B</a:t>
            </a:r>
            <a:r>
              <a:rPr lang="en-US" altLang="zh-CN" sz="24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An element </a:t>
            </a:r>
            <a:r>
              <a:rPr lang="en-US" altLang="zh-CN" sz="2400" i="1" dirty="0"/>
              <a:t>a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 A</a:t>
            </a:r>
            <a:r>
              <a:rPr lang="en-US" altLang="zh-CN" sz="2400" dirty="0"/>
              <a:t> is called a </a:t>
            </a:r>
            <a:r>
              <a:rPr lang="en-US" altLang="zh-CN" sz="2400" i="1" dirty="0">
                <a:solidFill>
                  <a:schemeClr val="hlink"/>
                </a:solidFill>
              </a:rPr>
              <a:t>greatest lower bound</a:t>
            </a:r>
            <a:r>
              <a:rPr lang="en-US" altLang="zh-CN" sz="2400" dirty="0"/>
              <a:t> (GLB) of </a:t>
            </a:r>
            <a:r>
              <a:rPr lang="en-US" altLang="zh-CN" sz="2400" i="1" dirty="0"/>
              <a:t>B</a:t>
            </a:r>
            <a:r>
              <a:rPr lang="en-US" altLang="zh-CN" sz="2400" dirty="0"/>
              <a:t>  if </a:t>
            </a:r>
            <a:r>
              <a:rPr lang="en-US" altLang="zh-CN" sz="2400" i="1" dirty="0"/>
              <a:t>a</a:t>
            </a:r>
            <a:r>
              <a:rPr lang="en-US" altLang="zh-CN" sz="2400" dirty="0"/>
              <a:t> is an lower bound of </a:t>
            </a:r>
            <a:r>
              <a:rPr lang="en-US" altLang="zh-CN" sz="2400" i="1" dirty="0"/>
              <a:t>B</a:t>
            </a:r>
            <a:r>
              <a:rPr lang="en-US" altLang="zh-CN" sz="2400" dirty="0"/>
              <a:t>  and  </a:t>
            </a:r>
            <a:r>
              <a:rPr lang="en-US" altLang="zh-CN" sz="2400" i="1" dirty="0" err="1"/>
              <a:t>a’</a:t>
            </a:r>
            <a:r>
              <a:rPr lang="en-US" altLang="zh-CN" sz="2400" dirty="0" err="1"/>
              <a:t>≤</a:t>
            </a:r>
            <a:r>
              <a:rPr lang="en-US" altLang="zh-CN" sz="2400" i="1" dirty="0" err="1"/>
              <a:t>a</a:t>
            </a:r>
            <a:r>
              <a:rPr lang="en-US" altLang="zh-CN" sz="2400" dirty="0"/>
              <a:t>, whenever </a:t>
            </a:r>
            <a:r>
              <a:rPr lang="en-US" altLang="zh-CN" sz="2400" i="1" dirty="0"/>
              <a:t>a’</a:t>
            </a:r>
            <a:r>
              <a:rPr lang="en-US" altLang="zh-CN" sz="2400" dirty="0"/>
              <a:t> is an lower bound of </a:t>
            </a:r>
            <a:r>
              <a:rPr lang="en-US" altLang="zh-CN" sz="2400" i="1" dirty="0"/>
              <a:t>B</a:t>
            </a:r>
            <a:r>
              <a:rPr lang="en-US" altLang="zh-CN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en-US" altLang="zh-CN" sz="2800" u="sng" dirty="0">
                <a:solidFill>
                  <a:srgbClr val="FF0000"/>
                </a:solidFill>
              </a:rPr>
              <a:t>Lattice</a:t>
            </a:r>
            <a:r>
              <a:rPr lang="zh-CN" altLang="en-US" sz="2800" u="sng" dirty="0">
                <a:solidFill>
                  <a:srgbClr val="FF0000"/>
                </a:solidFill>
              </a:rPr>
              <a:t>（格）</a:t>
            </a:r>
            <a:endParaRPr lang="en-US" altLang="zh-CN" sz="2800" u="sng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Sublattice</a:t>
            </a:r>
            <a:r>
              <a:rPr lang="zh-CN" altLang="en-US" sz="2400" dirty="0"/>
              <a:t>（子格）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en-US" altLang="zh-CN" sz="2400" i="1" dirty="0">
                <a:solidFill>
                  <a:schemeClr val="hlink"/>
                </a:solidFill>
              </a:rPr>
              <a:t>Isomorphic Lattices</a:t>
            </a:r>
            <a:r>
              <a:rPr lang="zh-CN" altLang="en-US" sz="2400" i="1" dirty="0">
                <a:solidFill>
                  <a:schemeClr val="hlink"/>
                </a:solidFill>
              </a:rPr>
              <a:t>（同构格）</a:t>
            </a:r>
            <a:endParaRPr lang="zh-CN" altLang="en-US" sz="2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9281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Mathematical structure</a:t>
            </a:r>
          </a:p>
        </p:txBody>
      </p:sp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99282" y="648992"/>
            <a:ext cx="12092718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A collection of objects with operations defined on them and the accompanying properties form a 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mathematical structure</a:t>
            </a:r>
            <a:r>
              <a:rPr lang="en-US" altLang="zh-CN" sz="2800" dirty="0">
                <a:latin typeface="Times New Roman" panose="02020603050405020304" pitchFamily="18" charset="0"/>
              </a:rPr>
              <a:t> or 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system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A structure is 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closed with respect to</a:t>
            </a:r>
            <a:r>
              <a:rPr lang="en-US" altLang="zh-CN" sz="2800" dirty="0">
                <a:latin typeface="Times New Roman" panose="02020603050405020304" pitchFamily="18" charset="0"/>
              </a:rPr>
              <a:t> an operation if that operation always produces another member of the collection of objects.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If 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, where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</a:t>
            </a:r>
            <a:r>
              <a:rPr lang="en-US" altLang="zh-CN" sz="2800" dirty="0">
                <a:latin typeface="Times New Roman" panose="02020603050405020304" pitchFamily="18" charset="0"/>
              </a:rPr>
              <a:t>   is some binary operation,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is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commutative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交换的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If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is a binary operation, then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is associative or has the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associative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可结合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</a:rPr>
              <a:t> property  if  (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i="1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400" i="1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</a:rPr>
              <a:t> =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If a mathematical structure has two binary operations, say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and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sz="2800" dirty="0">
                <a:latin typeface="Times New Roman" panose="02020603050405020304" pitchFamily="18" charset="0"/>
              </a:rPr>
              <a:t>, a distributive property has the following pattern:  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</a:rPr>
              <a:t>)= (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9281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Mathematical structure</a:t>
            </a:r>
          </a:p>
        </p:txBody>
      </p:sp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99282" y="963624"/>
            <a:ext cx="12092718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800" dirty="0">
                <a:latin typeface="Times New Roman" panose="02020603050405020304" pitchFamily="18" charset="0"/>
              </a:rPr>
              <a:t>If the unary operation is * and the binary operations are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and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sz="2800" dirty="0">
                <a:latin typeface="Times New Roman" panose="02020603050405020304" pitchFamily="18" charset="0"/>
              </a:rPr>
              <a:t>. then 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De Morgan‘s laws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（德摩根律）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are </a:t>
            </a:r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(x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y)* =x*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sz="2800" dirty="0">
                <a:latin typeface="Times New Roman" panose="02020603050405020304" pitchFamily="18" charset="0"/>
              </a:rPr>
              <a:t> y* and (x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</a:t>
            </a:r>
            <a:r>
              <a:rPr lang="en-US" altLang="zh-CN" sz="2800" dirty="0">
                <a:latin typeface="Times New Roman" panose="02020603050405020304" pitchFamily="18" charset="0"/>
              </a:rPr>
              <a:t> y)* =x* 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y*.</a:t>
            </a:r>
          </a:p>
          <a:p>
            <a:r>
              <a:rPr lang="en-US" altLang="zh-CN" sz="2800" dirty="0">
                <a:latin typeface="Times New Roman" panose="02020603050405020304" pitchFamily="18" charset="0"/>
              </a:rPr>
              <a:t>A structure with a binary operation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may contain a distinguished object </a:t>
            </a:r>
            <a:r>
              <a:rPr lang="en-US" altLang="zh-CN" sz="2800" i="1" dirty="0">
                <a:latin typeface="Times New Roman" panose="02020603050405020304" pitchFamily="18" charset="0"/>
              </a:rPr>
              <a:t>e</a:t>
            </a:r>
            <a:r>
              <a:rPr lang="en-US" altLang="zh-CN" sz="2800" dirty="0">
                <a:latin typeface="Times New Roman" panose="02020603050405020304" pitchFamily="18" charset="0"/>
              </a:rPr>
              <a:t>, with the property 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e</a:t>
            </a:r>
            <a:r>
              <a:rPr lang="en-US" altLang="zh-CN" sz="2800" dirty="0">
                <a:latin typeface="Times New Roman" panose="02020603050405020304" pitchFamily="18" charset="0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</a:rPr>
              <a:t>e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 for all 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 in the collection. We call </a:t>
            </a:r>
            <a:r>
              <a:rPr lang="en-US" altLang="zh-CN" sz="2800" i="1" dirty="0">
                <a:latin typeface="Times New Roman" panose="02020603050405020304" pitchFamily="18" charset="0"/>
              </a:rPr>
              <a:t>e</a:t>
            </a:r>
            <a:r>
              <a:rPr lang="en-US" altLang="zh-CN" sz="2800" dirty="0">
                <a:latin typeface="Times New Roman" panose="02020603050405020304" pitchFamily="18" charset="0"/>
              </a:rPr>
              <a:t> an identity for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zh-CN" sz="2800" dirty="0">
                <a:latin typeface="Times New Roman" panose="02020603050405020304" pitchFamily="18" charset="0"/>
              </a:rPr>
              <a:t>If a binary operation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has an identity </a:t>
            </a:r>
            <a:r>
              <a:rPr lang="en-US" altLang="zh-CN" sz="2800" i="1" dirty="0">
                <a:latin typeface="Times New Roman" panose="02020603050405020304" pitchFamily="18" charset="0"/>
              </a:rPr>
              <a:t>e</a:t>
            </a:r>
            <a:r>
              <a:rPr lang="en-US" altLang="zh-CN" sz="2800" dirty="0">
                <a:latin typeface="Times New Roman" panose="02020603050405020304" pitchFamily="18" charset="0"/>
              </a:rPr>
              <a:t>, we say </a:t>
            </a:r>
            <a:r>
              <a:rPr lang="en-US" altLang="zh-CN" sz="2800" i="1" dirty="0">
                <a:latin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</a:rPr>
              <a:t> is a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dirty="0">
                <a:latin typeface="Times New Roman" panose="02020603050405020304" pitchFamily="18" charset="0"/>
              </a:rPr>
              <a:t> -inverse of 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 if </a:t>
            </a:r>
            <a:r>
              <a:rPr lang="en-US" altLang="zh-CN" sz="2800" i="1" dirty="0">
                <a:latin typeface="Times New Roman" panose="02020603050405020304" pitchFamily="18" charset="0"/>
              </a:rPr>
              <a:t>x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i="1" dirty="0">
                <a:latin typeface="Times New Roman" panose="02020603050405020304" pitchFamily="18" charset="0"/>
              </a:rPr>
              <a:t> y</a:t>
            </a:r>
            <a:r>
              <a:rPr lang="en-US" altLang="zh-CN" sz="2800" dirty="0">
                <a:latin typeface="Times New Roman" panose="02020603050405020304" pitchFamily="18" charset="0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</a:rPr>
              <a:t>y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</a:t>
            </a:r>
            <a:r>
              <a:rPr lang="en-US" altLang="zh-CN" sz="2800" i="1" dirty="0">
                <a:latin typeface="Times New Roman" panose="02020603050405020304" pitchFamily="18" charset="0"/>
              </a:rPr>
              <a:t> x</a:t>
            </a:r>
            <a:r>
              <a:rPr lang="en-US" altLang="zh-CN" sz="2800" dirty="0">
                <a:latin typeface="Times New Roman" panose="02020603050405020304" pitchFamily="18" charset="0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</a:rPr>
              <a:t>e</a:t>
            </a:r>
            <a:r>
              <a:rPr lang="en-US" altLang="zh-CN" sz="2800" dirty="0">
                <a:latin typeface="Times New Roman" panose="02020603050405020304" pitchFamily="18" charset="0"/>
              </a:rPr>
              <a:t>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operation on a set </a:t>
            </a:r>
            <a:r>
              <a:rPr lang="en-US" altLang="zh-CN" sz="2800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everywhere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defined function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f:A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9281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Semigroup</a:t>
            </a:r>
            <a:r>
              <a:rPr lang="zh-CN" altLang="en-US" sz="3200" dirty="0"/>
              <a:t>（半群）</a:t>
            </a:r>
            <a:endParaRPr lang="en-US" altLang="zh-CN" sz="3200" dirty="0"/>
          </a:p>
        </p:txBody>
      </p:sp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324193" y="1071778"/>
            <a:ext cx="11602335" cy="5289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000" dirty="0"/>
              <a:t>A </a:t>
            </a:r>
            <a:r>
              <a:rPr lang="en-US" altLang="zh-CN" sz="2000" i="1" dirty="0">
                <a:solidFill>
                  <a:srgbClr val="FF3300"/>
                </a:solidFill>
              </a:rPr>
              <a:t>semigroup</a:t>
            </a:r>
            <a:r>
              <a:rPr lang="en-US" altLang="zh-CN" sz="2000" dirty="0"/>
              <a:t> is a </a:t>
            </a:r>
            <a:r>
              <a:rPr lang="en-US" altLang="zh-CN" sz="2000" i="1" dirty="0">
                <a:solidFill>
                  <a:schemeClr val="hlink"/>
                </a:solidFill>
              </a:rPr>
              <a:t>nonempty</a:t>
            </a:r>
            <a:r>
              <a:rPr lang="en-US" altLang="zh-CN" sz="2000" dirty="0"/>
              <a:t> </a:t>
            </a:r>
            <a:r>
              <a:rPr lang="zh-CN" altLang="en-US" sz="2000" dirty="0"/>
              <a:t>（非空）</a:t>
            </a:r>
            <a:r>
              <a:rPr lang="en-US" altLang="zh-CN" sz="2000" dirty="0"/>
              <a:t>set </a:t>
            </a:r>
            <a:r>
              <a:rPr lang="en-US" altLang="zh-CN" sz="2000" i="1" dirty="0"/>
              <a:t>S</a:t>
            </a:r>
            <a:r>
              <a:rPr lang="en-US" altLang="zh-CN" sz="2000" dirty="0"/>
              <a:t> together with an associative binary operation * defined on </a:t>
            </a:r>
            <a:r>
              <a:rPr lang="en-US" altLang="zh-CN" sz="2000" i="1" dirty="0"/>
              <a:t>S</a:t>
            </a:r>
            <a:r>
              <a:rPr lang="en-US" altLang="zh-CN" sz="2000" dirty="0"/>
              <a:t>. </a:t>
            </a:r>
          </a:p>
          <a:p>
            <a:r>
              <a:rPr lang="en-US" altLang="zh-CN" sz="2000" dirty="0"/>
              <a:t>The semigroup (A*, </a:t>
            </a:r>
            <a:r>
              <a:rPr lang="en-US" altLang="zh-CN" sz="2000" dirty="0">
                <a:sym typeface="Symbol" panose="05050102010706020507" pitchFamily="18" charset="2"/>
              </a:rPr>
              <a:t></a:t>
            </a:r>
            <a:r>
              <a:rPr lang="en-US" altLang="zh-CN" sz="2000" dirty="0"/>
              <a:t> ) is called the </a:t>
            </a:r>
            <a:r>
              <a:rPr lang="en-US" altLang="zh-CN" sz="2000" i="1" dirty="0">
                <a:solidFill>
                  <a:srgbClr val="FF3300"/>
                </a:solidFill>
              </a:rPr>
              <a:t>free semigroup(</a:t>
            </a:r>
            <a:r>
              <a:rPr lang="zh-CN" altLang="en-US" sz="2000" i="1" dirty="0">
                <a:solidFill>
                  <a:srgbClr val="FF3300"/>
                </a:solidFill>
              </a:rPr>
              <a:t>自由半群</a:t>
            </a:r>
            <a:r>
              <a:rPr lang="en-US" altLang="zh-CN" sz="2000" i="1" dirty="0">
                <a:solidFill>
                  <a:srgbClr val="FF3300"/>
                </a:solidFill>
              </a:rPr>
              <a:t>) generated by A</a:t>
            </a:r>
            <a:r>
              <a:rPr lang="en-US" altLang="zh-CN" sz="2000" i="1" dirty="0"/>
              <a:t>.</a:t>
            </a:r>
          </a:p>
          <a:p>
            <a:r>
              <a:rPr lang="en-US" altLang="zh-CN" sz="2000" dirty="0"/>
              <a:t>An element </a:t>
            </a:r>
            <a:r>
              <a:rPr lang="en-US" altLang="zh-CN" sz="2000" i="1" dirty="0"/>
              <a:t>e</a:t>
            </a:r>
            <a:r>
              <a:rPr lang="en-US" altLang="zh-CN" sz="2000" dirty="0"/>
              <a:t> in a semigroup (</a:t>
            </a:r>
            <a:r>
              <a:rPr lang="en-US" altLang="zh-CN" sz="2000" i="1" dirty="0"/>
              <a:t>S</a:t>
            </a:r>
            <a:r>
              <a:rPr lang="en-US" altLang="zh-CN" sz="2000" dirty="0"/>
              <a:t>, *) is called an</a:t>
            </a:r>
          </a:p>
          <a:p>
            <a:r>
              <a:rPr lang="en-US" altLang="zh-CN" sz="2000" dirty="0"/>
              <a:t> </a:t>
            </a:r>
            <a:r>
              <a:rPr lang="en-US" altLang="zh-CN" sz="2000" i="1" dirty="0">
                <a:solidFill>
                  <a:srgbClr val="FF3300"/>
                </a:solidFill>
              </a:rPr>
              <a:t>identity</a:t>
            </a:r>
            <a:r>
              <a:rPr lang="en-US" altLang="zh-CN" sz="2000" dirty="0"/>
              <a:t> element</a:t>
            </a:r>
            <a:r>
              <a:rPr lang="zh-CN" altLang="en-US" sz="2000" dirty="0"/>
              <a:t>（单位元）</a:t>
            </a:r>
            <a:r>
              <a:rPr lang="en-US" altLang="zh-CN" sz="2000" dirty="0"/>
              <a:t> if </a:t>
            </a:r>
            <a:r>
              <a:rPr lang="en-US" altLang="zh-CN" sz="2000" i="1" dirty="0"/>
              <a:t>e</a:t>
            </a:r>
            <a:r>
              <a:rPr lang="en-US" altLang="zh-CN" sz="2000" dirty="0"/>
              <a:t>*</a:t>
            </a:r>
            <a:r>
              <a:rPr lang="en-US" altLang="zh-CN" sz="2000" i="1" dirty="0"/>
              <a:t>a</a:t>
            </a:r>
            <a:r>
              <a:rPr lang="en-US" altLang="zh-CN" sz="2000" dirty="0"/>
              <a:t> = </a:t>
            </a:r>
            <a:r>
              <a:rPr lang="en-US" altLang="zh-CN" sz="2000" i="1" dirty="0"/>
              <a:t>a</a:t>
            </a:r>
            <a:r>
              <a:rPr lang="en-US" altLang="zh-CN" sz="2000" dirty="0"/>
              <a:t>*</a:t>
            </a:r>
            <a:r>
              <a:rPr lang="en-US" altLang="zh-CN" sz="2000" i="1" dirty="0"/>
              <a:t>e</a:t>
            </a:r>
            <a:r>
              <a:rPr lang="en-US" altLang="zh-CN" sz="2000" dirty="0"/>
              <a:t> = </a:t>
            </a:r>
            <a:r>
              <a:rPr lang="en-US" altLang="zh-CN" sz="2000" i="1" dirty="0"/>
              <a:t>a</a:t>
            </a:r>
            <a:r>
              <a:rPr lang="en-US" altLang="zh-CN" sz="2000" dirty="0"/>
              <a:t> for all </a:t>
            </a:r>
            <a:r>
              <a:rPr lang="en-US" altLang="zh-CN" sz="2000" i="1" dirty="0"/>
              <a:t>a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</a:t>
            </a:r>
            <a:r>
              <a:rPr lang="en-US" altLang="zh-CN" sz="2000" dirty="0"/>
              <a:t>S.</a:t>
            </a:r>
          </a:p>
          <a:p>
            <a:r>
              <a:rPr lang="en-US" altLang="zh-CN" sz="2000" dirty="0"/>
              <a:t>A </a:t>
            </a:r>
            <a:r>
              <a:rPr lang="en-US" altLang="zh-CN" sz="2000" i="1" dirty="0">
                <a:solidFill>
                  <a:srgbClr val="FF3300"/>
                </a:solidFill>
              </a:rPr>
              <a:t>monoid</a:t>
            </a:r>
            <a:r>
              <a:rPr lang="zh-CN" altLang="en-US" sz="2000" i="1" dirty="0">
                <a:solidFill>
                  <a:srgbClr val="FF3300"/>
                </a:solidFill>
              </a:rPr>
              <a:t>（独异点）</a:t>
            </a:r>
            <a:r>
              <a:rPr lang="en-US" altLang="zh-CN" sz="2000" dirty="0"/>
              <a:t> is a semigroup (S, *) </a:t>
            </a:r>
          </a:p>
          <a:p>
            <a:pPr marL="0" indent="0">
              <a:buNone/>
            </a:pPr>
            <a:r>
              <a:rPr lang="en-US" altLang="zh-CN" sz="2000" dirty="0"/>
              <a:t>that has an identity.</a:t>
            </a:r>
          </a:p>
          <a:p>
            <a:r>
              <a:rPr lang="zh-CN" altLang="zh-CN" sz="2000" dirty="0"/>
              <a:t>Subsemigroup</a:t>
            </a:r>
            <a:endParaRPr lang="en-US" altLang="zh-CN" sz="2000" dirty="0"/>
          </a:p>
          <a:p>
            <a:r>
              <a:rPr lang="zh-CN" altLang="zh-CN" sz="2000" dirty="0"/>
              <a:t>Submonoid</a:t>
            </a:r>
            <a:endParaRPr lang="zh-CN" altLang="en-US" sz="2000" dirty="0"/>
          </a:p>
          <a:p>
            <a:r>
              <a:rPr lang="en-US" altLang="zh-CN" sz="2000" dirty="0"/>
              <a:t>Let  (</a:t>
            </a:r>
            <a:r>
              <a:rPr lang="en-US" altLang="zh-CN" sz="2000" i="1" dirty="0"/>
              <a:t>S</a:t>
            </a:r>
            <a:r>
              <a:rPr lang="en-US" altLang="zh-CN" sz="2000" dirty="0"/>
              <a:t>, *) and (</a:t>
            </a:r>
            <a:r>
              <a:rPr lang="en-US" altLang="zh-CN" sz="2000" i="1" dirty="0"/>
              <a:t>T</a:t>
            </a:r>
            <a:r>
              <a:rPr lang="en-US" altLang="zh-CN" sz="2000" dirty="0"/>
              <a:t>, *‘) be two semigroups. A function </a:t>
            </a:r>
            <a:r>
              <a:rPr lang="en-US" altLang="zh-CN" sz="2000" i="1" dirty="0"/>
              <a:t>f </a:t>
            </a:r>
            <a:r>
              <a:rPr lang="en-US" altLang="zh-CN" sz="2000" dirty="0"/>
              <a:t>: </a:t>
            </a:r>
            <a:r>
              <a:rPr lang="en-US" altLang="zh-CN" sz="2000" i="1" dirty="0"/>
              <a:t>S</a:t>
            </a:r>
            <a:r>
              <a:rPr lang="en-US" altLang="zh-CN" sz="2000" dirty="0">
                <a:cs typeface="Times New Roman" panose="02020603050405020304" pitchFamily="18" charset="0"/>
                <a:sym typeface="MT Symbol" panose="05050102010706020507" pitchFamily="18" charset="2"/>
              </a:rPr>
              <a:t>→</a:t>
            </a:r>
            <a:r>
              <a:rPr lang="en-US" altLang="zh-CN" sz="2000" i="1" dirty="0"/>
              <a:t>T </a:t>
            </a:r>
            <a:r>
              <a:rPr lang="en-US" altLang="zh-CN" sz="2000" dirty="0"/>
              <a:t>is called an </a:t>
            </a:r>
            <a:r>
              <a:rPr lang="en-US" altLang="zh-CN" sz="2000" i="1" u="sng" dirty="0">
                <a:solidFill>
                  <a:srgbClr val="FF0000"/>
                </a:solidFill>
              </a:rPr>
              <a:t>isomorphism</a:t>
            </a:r>
            <a:r>
              <a:rPr lang="zh-CN" altLang="en-US" sz="2000" i="1" u="sng" dirty="0">
                <a:solidFill>
                  <a:srgbClr val="FF0000"/>
                </a:solidFill>
              </a:rPr>
              <a:t>（同构）</a:t>
            </a:r>
            <a:r>
              <a:rPr lang="en-US" altLang="zh-CN" sz="2000" u="sng" dirty="0">
                <a:solidFill>
                  <a:srgbClr val="FF0000"/>
                </a:solidFill>
              </a:rPr>
              <a:t> </a:t>
            </a:r>
            <a:r>
              <a:rPr lang="en-US" altLang="zh-CN" sz="2000" dirty="0"/>
              <a:t>from (</a:t>
            </a:r>
            <a:r>
              <a:rPr lang="en-US" altLang="zh-CN" sz="2000" i="1" dirty="0"/>
              <a:t>S</a:t>
            </a:r>
            <a:r>
              <a:rPr lang="en-US" altLang="zh-CN" sz="2000" dirty="0"/>
              <a:t>, *) to (</a:t>
            </a:r>
            <a:r>
              <a:rPr lang="en-US" altLang="zh-CN" sz="2000" i="1" dirty="0"/>
              <a:t>T</a:t>
            </a:r>
            <a:r>
              <a:rPr lang="en-US" altLang="zh-CN" sz="2000" dirty="0"/>
              <a:t>, *') if</a:t>
            </a:r>
          </a:p>
          <a:p>
            <a:pPr lvl="1"/>
            <a:r>
              <a:rPr lang="en-US" altLang="zh-CN" sz="1600" dirty="0"/>
              <a:t>  it is a one-to-one correspondence from </a:t>
            </a:r>
            <a:r>
              <a:rPr lang="en-US" altLang="zh-CN" sz="1600" i="1" dirty="0"/>
              <a:t>S</a:t>
            </a:r>
            <a:r>
              <a:rPr lang="en-US" altLang="zh-CN" sz="1600" dirty="0"/>
              <a:t> to </a:t>
            </a:r>
            <a:r>
              <a:rPr lang="en-US" altLang="zh-CN" sz="1600" i="1" dirty="0"/>
              <a:t>T</a:t>
            </a:r>
          </a:p>
          <a:p>
            <a:pPr lvl="1"/>
            <a:r>
              <a:rPr lang="en-US" altLang="zh-CN" sz="1600" dirty="0"/>
              <a:t> and </a:t>
            </a:r>
            <a:r>
              <a:rPr lang="en-US" altLang="zh-CN" sz="1600" i="1" dirty="0"/>
              <a:t>f</a:t>
            </a:r>
            <a:r>
              <a:rPr lang="en-US" altLang="zh-CN" sz="1600" dirty="0"/>
              <a:t>(</a:t>
            </a:r>
            <a:r>
              <a:rPr lang="en-US" altLang="zh-CN" sz="1600" i="1" dirty="0"/>
              <a:t>a</a:t>
            </a:r>
            <a:r>
              <a:rPr lang="en-US" altLang="zh-CN" sz="1600" dirty="0"/>
              <a:t>*</a:t>
            </a:r>
            <a:r>
              <a:rPr lang="en-US" altLang="zh-CN" sz="1600" i="1" dirty="0"/>
              <a:t>b</a:t>
            </a:r>
            <a:r>
              <a:rPr lang="en-US" altLang="zh-CN" sz="1600" dirty="0"/>
              <a:t>) = </a:t>
            </a:r>
            <a:r>
              <a:rPr lang="en-US" altLang="zh-CN" sz="1600" i="1" dirty="0"/>
              <a:t>f</a:t>
            </a:r>
            <a:r>
              <a:rPr lang="en-US" altLang="zh-CN" sz="1600" dirty="0"/>
              <a:t>(</a:t>
            </a:r>
            <a:r>
              <a:rPr lang="en-US" altLang="zh-CN" sz="1600" i="1" dirty="0"/>
              <a:t>a</a:t>
            </a:r>
            <a:r>
              <a:rPr lang="en-US" altLang="zh-CN" sz="1600" dirty="0"/>
              <a:t>)*'</a:t>
            </a:r>
            <a:r>
              <a:rPr lang="en-US" altLang="zh-CN" sz="1600" i="1" dirty="0"/>
              <a:t>f</a:t>
            </a:r>
            <a:r>
              <a:rPr lang="en-US" altLang="zh-CN" sz="1600" dirty="0"/>
              <a:t>(</a:t>
            </a:r>
            <a:r>
              <a:rPr lang="en-US" altLang="zh-CN" sz="1600" i="1" dirty="0"/>
              <a:t>b</a:t>
            </a:r>
            <a:r>
              <a:rPr lang="en-US" altLang="zh-CN" sz="1600" dirty="0"/>
              <a:t>) for all </a:t>
            </a:r>
            <a:r>
              <a:rPr lang="en-US" altLang="zh-CN" sz="1600" i="1" dirty="0"/>
              <a:t>a</a:t>
            </a:r>
            <a:r>
              <a:rPr lang="en-US" altLang="zh-CN" sz="1600" dirty="0"/>
              <a:t> and </a:t>
            </a:r>
            <a:r>
              <a:rPr lang="en-US" altLang="zh-CN" sz="1600" i="1" dirty="0"/>
              <a:t>b</a:t>
            </a:r>
            <a:r>
              <a:rPr lang="en-US" altLang="zh-CN" sz="1600" dirty="0"/>
              <a:t> in </a:t>
            </a:r>
            <a:r>
              <a:rPr lang="en-US" altLang="zh-CN" sz="1600" i="1" dirty="0"/>
              <a:t>S</a:t>
            </a:r>
            <a:r>
              <a:rPr lang="en-US" altLang="zh-CN" sz="1600" dirty="0"/>
              <a:t>.</a:t>
            </a:r>
          </a:p>
          <a:p>
            <a:r>
              <a:rPr lang="en-US" altLang="zh-CN" sz="2000" dirty="0"/>
              <a:t>Let  (</a:t>
            </a:r>
            <a:r>
              <a:rPr lang="en-US" altLang="zh-CN" sz="2000" i="1" dirty="0"/>
              <a:t>S</a:t>
            </a:r>
            <a:r>
              <a:rPr lang="en-US" altLang="zh-CN" sz="2000" dirty="0"/>
              <a:t>, *) and (</a:t>
            </a:r>
            <a:r>
              <a:rPr lang="en-US" altLang="zh-CN" sz="2000" i="1" dirty="0"/>
              <a:t>T</a:t>
            </a:r>
            <a:r>
              <a:rPr lang="en-US" altLang="zh-CN" sz="2000" dirty="0"/>
              <a:t>, *‘) be two semigroups. An everywhere-defined function </a:t>
            </a:r>
            <a:r>
              <a:rPr lang="en-US" altLang="zh-CN" sz="2000" i="1" dirty="0"/>
              <a:t>f</a:t>
            </a:r>
            <a:r>
              <a:rPr lang="en-US" altLang="zh-CN" sz="2000" dirty="0"/>
              <a:t> :</a:t>
            </a:r>
            <a:r>
              <a:rPr lang="en-US" altLang="zh-CN" sz="2000" i="1" dirty="0"/>
              <a:t>S</a:t>
            </a:r>
            <a:r>
              <a:rPr lang="en-US" altLang="zh-CN" sz="2000" dirty="0">
                <a:cs typeface="Times New Roman" panose="02020603050405020304" pitchFamily="18" charset="0"/>
                <a:sym typeface="MT Symbol" panose="05050102010706020507" pitchFamily="18" charset="2"/>
              </a:rPr>
              <a:t>→</a:t>
            </a:r>
            <a:r>
              <a:rPr lang="en-US" altLang="zh-CN" sz="2000" dirty="0"/>
              <a:t> </a:t>
            </a:r>
            <a:r>
              <a:rPr lang="en-US" altLang="zh-CN" sz="2000" i="1" dirty="0"/>
              <a:t>T</a:t>
            </a:r>
            <a:r>
              <a:rPr lang="en-US" altLang="zh-CN" sz="2000" dirty="0"/>
              <a:t>  is called a </a:t>
            </a:r>
            <a:r>
              <a:rPr lang="en-US" altLang="zh-CN" sz="2000" i="1" dirty="0">
                <a:solidFill>
                  <a:srgbClr val="FF3300"/>
                </a:solidFill>
              </a:rPr>
              <a:t>homomorphism</a:t>
            </a:r>
            <a:r>
              <a:rPr lang="zh-CN" altLang="en-US" sz="2000" i="1" dirty="0">
                <a:solidFill>
                  <a:srgbClr val="FF3300"/>
                </a:solidFill>
              </a:rPr>
              <a:t>（同态）</a:t>
            </a:r>
            <a:r>
              <a:rPr lang="en-US" altLang="zh-CN" sz="2000" dirty="0"/>
              <a:t> from (</a:t>
            </a:r>
            <a:r>
              <a:rPr lang="en-US" altLang="zh-CN" sz="2000" i="1" dirty="0"/>
              <a:t>S</a:t>
            </a:r>
            <a:r>
              <a:rPr lang="en-US" altLang="zh-CN" sz="2000" dirty="0"/>
              <a:t>, *) to (</a:t>
            </a:r>
            <a:r>
              <a:rPr lang="en-US" altLang="zh-CN" sz="2000" i="1" dirty="0"/>
              <a:t>T</a:t>
            </a:r>
            <a:r>
              <a:rPr lang="en-US" altLang="zh-CN" sz="2000" dirty="0"/>
              <a:t>, *')</a:t>
            </a:r>
          </a:p>
          <a:p>
            <a:pPr lvl="1"/>
            <a:r>
              <a:rPr lang="en-US" altLang="zh-CN" sz="1600" dirty="0"/>
              <a:t> If </a:t>
            </a:r>
            <a:r>
              <a:rPr lang="en-US" altLang="zh-CN" sz="1600" i="1" dirty="0"/>
              <a:t>f</a:t>
            </a:r>
            <a:r>
              <a:rPr lang="en-US" altLang="zh-CN" sz="1600" dirty="0"/>
              <a:t>(</a:t>
            </a:r>
            <a:r>
              <a:rPr lang="en-US" altLang="zh-CN" sz="1600" i="1" dirty="0"/>
              <a:t>a</a:t>
            </a:r>
            <a:r>
              <a:rPr lang="en-US" altLang="zh-CN" sz="1600" dirty="0"/>
              <a:t>*</a:t>
            </a:r>
            <a:r>
              <a:rPr lang="en-US" altLang="zh-CN" sz="1600" i="1" dirty="0"/>
              <a:t>b</a:t>
            </a:r>
            <a:r>
              <a:rPr lang="en-US" altLang="zh-CN" sz="1600" dirty="0"/>
              <a:t>) = </a:t>
            </a:r>
            <a:r>
              <a:rPr lang="en-US" altLang="zh-CN" sz="1600" i="1" dirty="0"/>
              <a:t>f</a:t>
            </a:r>
            <a:r>
              <a:rPr lang="en-US" altLang="zh-CN" sz="1600" dirty="0"/>
              <a:t>(</a:t>
            </a:r>
            <a:r>
              <a:rPr lang="en-US" altLang="zh-CN" sz="1600" i="1" dirty="0"/>
              <a:t>a</a:t>
            </a:r>
            <a:r>
              <a:rPr lang="en-US" altLang="zh-CN" sz="1600" dirty="0"/>
              <a:t>) *' </a:t>
            </a:r>
            <a:r>
              <a:rPr lang="en-US" altLang="zh-CN" sz="1600" i="1" dirty="0"/>
              <a:t>f</a:t>
            </a:r>
            <a:r>
              <a:rPr lang="en-US" altLang="zh-CN" sz="1600" dirty="0"/>
              <a:t>(</a:t>
            </a:r>
            <a:r>
              <a:rPr lang="en-US" altLang="zh-CN" sz="1600" i="1" dirty="0"/>
              <a:t>b</a:t>
            </a:r>
            <a:r>
              <a:rPr lang="en-US" altLang="zh-CN" sz="1600" dirty="0"/>
              <a:t>) for all </a:t>
            </a:r>
            <a:r>
              <a:rPr lang="en-US" altLang="zh-CN" sz="1600" i="1" dirty="0"/>
              <a:t>a</a:t>
            </a:r>
            <a:r>
              <a:rPr lang="en-US" altLang="zh-CN" sz="1600" dirty="0"/>
              <a:t> and </a:t>
            </a:r>
            <a:r>
              <a:rPr lang="en-US" altLang="zh-CN" sz="1600" i="1" dirty="0"/>
              <a:t>b</a:t>
            </a:r>
            <a:r>
              <a:rPr lang="en-US" altLang="zh-CN" sz="1600" dirty="0"/>
              <a:t> in S. </a:t>
            </a:r>
          </a:p>
          <a:p>
            <a:pPr lvl="1"/>
            <a:r>
              <a:rPr lang="en-US" altLang="zh-CN" sz="1600" dirty="0"/>
              <a:t>If </a:t>
            </a:r>
            <a:r>
              <a:rPr lang="en-US" altLang="zh-CN" sz="1600" i="1" dirty="0"/>
              <a:t>f</a:t>
            </a:r>
            <a:r>
              <a:rPr lang="en-US" altLang="zh-CN" sz="1600" dirty="0"/>
              <a:t>  is also onto, we say that </a:t>
            </a:r>
            <a:r>
              <a:rPr lang="en-US" altLang="zh-CN" sz="1600" i="1" dirty="0"/>
              <a:t>T</a:t>
            </a:r>
            <a:r>
              <a:rPr lang="en-US" altLang="zh-CN" sz="1600" dirty="0"/>
              <a:t> is a </a:t>
            </a:r>
            <a:r>
              <a:rPr lang="en-US" altLang="zh-CN" sz="1600" i="1" dirty="0">
                <a:solidFill>
                  <a:schemeClr val="hlink"/>
                </a:solidFill>
              </a:rPr>
              <a:t>homomorphic</a:t>
            </a:r>
            <a:r>
              <a:rPr lang="en-US" altLang="zh-CN" sz="1600" dirty="0">
                <a:solidFill>
                  <a:schemeClr val="hlink"/>
                </a:solidFill>
              </a:rPr>
              <a:t> </a:t>
            </a:r>
            <a:r>
              <a:rPr lang="en-US" altLang="zh-CN" sz="1600" i="1" dirty="0">
                <a:solidFill>
                  <a:schemeClr val="hlink"/>
                </a:solidFill>
              </a:rPr>
              <a:t>image</a:t>
            </a:r>
            <a:r>
              <a:rPr lang="en-US" altLang="zh-CN" sz="1600" dirty="0">
                <a:solidFill>
                  <a:schemeClr val="hlink"/>
                </a:solidFill>
              </a:rPr>
              <a:t>(</a:t>
            </a:r>
            <a:r>
              <a:rPr lang="zh-CN" altLang="en-US" sz="1600" dirty="0">
                <a:solidFill>
                  <a:schemeClr val="hlink"/>
                </a:solidFill>
              </a:rPr>
              <a:t>同态像</a:t>
            </a:r>
            <a:r>
              <a:rPr lang="en-US" altLang="zh-CN" sz="1600" dirty="0">
                <a:solidFill>
                  <a:schemeClr val="hlink"/>
                </a:solidFill>
              </a:rPr>
              <a:t>)</a:t>
            </a:r>
            <a:r>
              <a:rPr lang="en-US" altLang="zh-CN" sz="1600" dirty="0"/>
              <a:t> of </a:t>
            </a:r>
            <a:r>
              <a:rPr lang="en-US" altLang="zh-CN" sz="1600" i="1" dirty="0"/>
              <a:t>S</a:t>
            </a:r>
            <a:r>
              <a:rPr lang="en-US" altLang="zh-CN" sz="1600" dirty="0"/>
              <a:t>.</a:t>
            </a:r>
            <a:endParaRPr lang="zh-CN" altLang="en-US" sz="1600" dirty="0"/>
          </a:p>
        </p:txBody>
      </p:sp>
      <p:pic>
        <p:nvPicPr>
          <p:cNvPr id="3" name="图片 2" descr="/Users/theone/Library/Containers/com.kingsoft.wpsoffice.mac/Data/tmp/photoedit2/20231227183937/temp.pngtemp"/>
          <p:cNvPicPr>
            <a:picLocks noChangeAspect="1"/>
          </p:cNvPicPr>
          <p:nvPr/>
        </p:nvPicPr>
        <p:blipFill>
          <a:blip r:embed="rId3"/>
          <a:srcRect l="40539" t="21459" r="5493"/>
          <a:stretch>
            <a:fillRect/>
          </a:stretch>
        </p:blipFill>
        <p:spPr>
          <a:xfrm>
            <a:off x="8013065" y="2616835"/>
            <a:ext cx="3622675" cy="16236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450455" y="2290445"/>
            <a:ext cx="47415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chemeClr val="hlin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例题-用下表定义了一个半群或幺半群吗？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0046" y="1093715"/>
            <a:ext cx="11913128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/>
              <a:t>If (</a:t>
            </a:r>
            <a:r>
              <a:rPr lang="en-US" altLang="zh-CN" sz="2000" i="1" dirty="0"/>
              <a:t>S</a:t>
            </a:r>
            <a:r>
              <a:rPr lang="en-US" altLang="zh-CN" sz="2000" dirty="0"/>
              <a:t>, *) and (</a:t>
            </a:r>
            <a:r>
              <a:rPr lang="en-US" altLang="zh-CN" sz="2000" i="1" dirty="0"/>
              <a:t>T</a:t>
            </a:r>
            <a:r>
              <a:rPr lang="en-US" altLang="zh-CN" sz="2000" dirty="0"/>
              <a:t>, *') are semigroups, then    (</a:t>
            </a:r>
            <a:r>
              <a:rPr lang="en-US" altLang="zh-CN" sz="2000" i="1" dirty="0"/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</a:t>
            </a:r>
            <a:r>
              <a:rPr lang="en-US" altLang="zh-CN" sz="2000" i="1" dirty="0"/>
              <a:t>T</a:t>
            </a:r>
            <a:r>
              <a:rPr lang="en-US" altLang="zh-CN" sz="2000" dirty="0"/>
              <a:t>, *") is a semigroup, where *" is defined by (</a:t>
            </a:r>
            <a:r>
              <a:rPr lang="en-US" altLang="zh-CN" sz="2000" i="1" dirty="0"/>
              <a:t>s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 </a:t>
            </a:r>
            <a:r>
              <a:rPr lang="en-US" altLang="zh-CN" sz="2000" i="1" dirty="0" err="1"/>
              <a:t>t</a:t>
            </a:r>
            <a:r>
              <a:rPr lang="en-US" altLang="zh-CN" sz="2000" baseline="-25000" dirty="0" err="1"/>
              <a:t>l</a:t>
            </a:r>
            <a:r>
              <a:rPr lang="en-US" altLang="zh-CN" sz="2000" dirty="0"/>
              <a:t>)*"(</a:t>
            </a:r>
            <a:r>
              <a:rPr lang="en-US" altLang="zh-CN" sz="2000" i="1" dirty="0"/>
              <a:t>s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 </a:t>
            </a:r>
            <a:r>
              <a:rPr lang="en-US" altLang="zh-CN" sz="2000" i="1" dirty="0"/>
              <a:t>t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) = (</a:t>
            </a:r>
            <a:r>
              <a:rPr lang="en-US" altLang="zh-CN" sz="2000" i="1" dirty="0" err="1"/>
              <a:t>s</a:t>
            </a:r>
            <a:r>
              <a:rPr lang="en-US" altLang="zh-CN" sz="2000" baseline="-25000" dirty="0" err="1"/>
              <a:t>l</a:t>
            </a:r>
            <a:r>
              <a:rPr lang="en-US" altLang="zh-CN" sz="2000" dirty="0"/>
              <a:t>*</a:t>
            </a:r>
            <a:r>
              <a:rPr lang="en-US" altLang="zh-CN" sz="2000" i="1" dirty="0"/>
              <a:t>s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  </a:t>
            </a:r>
            <a:r>
              <a:rPr lang="en-US" altLang="zh-CN" sz="2000" i="1" dirty="0" err="1"/>
              <a:t>t</a:t>
            </a:r>
            <a:r>
              <a:rPr lang="en-US" altLang="zh-CN" sz="2000" baseline="-25000" dirty="0" err="1"/>
              <a:t>l</a:t>
            </a:r>
            <a:r>
              <a:rPr lang="en-US" altLang="zh-CN" sz="2000" dirty="0"/>
              <a:t>*'</a:t>
            </a:r>
            <a:r>
              <a:rPr lang="en-US" altLang="zh-CN" sz="2000" i="1" dirty="0"/>
              <a:t>t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if </a:t>
            </a:r>
            <a:r>
              <a:rPr lang="en-US" altLang="zh-CN" sz="2000" i="1" dirty="0"/>
              <a:t>S</a:t>
            </a:r>
            <a:r>
              <a:rPr lang="en-US" altLang="zh-CN" sz="2000" dirty="0"/>
              <a:t> and </a:t>
            </a:r>
            <a:r>
              <a:rPr lang="en-US" altLang="zh-CN" sz="2000" i="1" dirty="0"/>
              <a:t>T</a:t>
            </a:r>
            <a:r>
              <a:rPr lang="en-US" altLang="zh-CN" sz="2000" dirty="0"/>
              <a:t> are monoids with identities </a:t>
            </a:r>
            <a:r>
              <a:rPr lang="en-US" altLang="zh-CN" sz="2000" i="1" dirty="0" err="1"/>
              <a:t>e</a:t>
            </a:r>
            <a:r>
              <a:rPr lang="en-US" altLang="zh-CN" sz="2000" i="1" baseline="-25000" dirty="0" err="1"/>
              <a:t>S</a:t>
            </a:r>
            <a:r>
              <a:rPr lang="en-US" altLang="zh-CN" sz="2000" dirty="0"/>
              <a:t> and </a:t>
            </a:r>
            <a:r>
              <a:rPr lang="en-US" altLang="zh-CN" sz="2000" i="1" dirty="0" err="1"/>
              <a:t>e</a:t>
            </a:r>
            <a:r>
              <a:rPr lang="en-US" altLang="zh-CN" sz="2000" i="1" baseline="-25000" dirty="0" err="1"/>
              <a:t>T</a:t>
            </a:r>
            <a:r>
              <a:rPr lang="en-US" altLang="zh-CN" sz="2000" dirty="0"/>
              <a:t>, respectively then </a:t>
            </a:r>
            <a:r>
              <a:rPr lang="en-US" altLang="zh-CN" sz="2000" i="1" dirty="0"/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</a:t>
            </a:r>
            <a:r>
              <a:rPr lang="en-US" altLang="zh-CN" sz="2000" i="1" dirty="0"/>
              <a:t>T</a:t>
            </a:r>
            <a:r>
              <a:rPr lang="en-US" altLang="zh-CN" sz="2000" dirty="0"/>
              <a:t> is a monoid with identity (</a:t>
            </a:r>
            <a:r>
              <a:rPr lang="en-US" altLang="zh-CN" sz="2000" i="1" dirty="0" err="1"/>
              <a:t>e</a:t>
            </a:r>
            <a:r>
              <a:rPr lang="en-US" altLang="zh-CN" sz="2000" i="1" baseline="-25000" dirty="0" err="1"/>
              <a:t>S</a:t>
            </a:r>
            <a:r>
              <a:rPr lang="en-US" altLang="zh-CN" sz="2000" dirty="0"/>
              <a:t>, </a:t>
            </a:r>
            <a:r>
              <a:rPr lang="en-US" altLang="zh-CN" sz="2000" i="1" dirty="0" err="1"/>
              <a:t>e</a:t>
            </a:r>
            <a:r>
              <a:rPr lang="en-US" altLang="zh-CN" sz="2000" i="1" baseline="-25000" dirty="0" err="1"/>
              <a:t>T</a:t>
            </a:r>
            <a:r>
              <a:rPr lang="en-US" altLang="zh-CN" sz="2000" dirty="0"/>
              <a:t>).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An equivalence relation </a:t>
            </a:r>
            <a:r>
              <a:rPr lang="en-US" altLang="zh-CN" sz="2000" i="1" dirty="0"/>
              <a:t>R</a:t>
            </a:r>
            <a:r>
              <a:rPr lang="en-US" altLang="zh-CN" sz="2000" dirty="0"/>
              <a:t> on the semigroup (</a:t>
            </a:r>
            <a:r>
              <a:rPr lang="en-US" altLang="zh-CN" sz="2000" i="1" dirty="0"/>
              <a:t>S</a:t>
            </a:r>
            <a:r>
              <a:rPr lang="en-US" altLang="zh-CN" sz="2000" dirty="0"/>
              <a:t>, *) is called </a:t>
            </a:r>
            <a:r>
              <a:rPr lang="en-US" altLang="zh-CN" sz="2000" u="sng" dirty="0">
                <a:solidFill>
                  <a:srgbClr val="FF0000"/>
                </a:solidFill>
              </a:rPr>
              <a:t>a </a:t>
            </a:r>
            <a:r>
              <a:rPr lang="en-US" altLang="zh-CN" sz="2000" i="1" u="sng" dirty="0">
                <a:solidFill>
                  <a:srgbClr val="FF0000"/>
                </a:solidFill>
              </a:rPr>
              <a:t>congruence</a:t>
            </a:r>
            <a:r>
              <a:rPr lang="en-US" altLang="zh-CN" sz="2000" u="sng" dirty="0">
                <a:solidFill>
                  <a:srgbClr val="FF0000"/>
                </a:solidFill>
              </a:rPr>
              <a:t> </a:t>
            </a:r>
            <a:r>
              <a:rPr lang="en-US" altLang="zh-CN" sz="2000" i="1" u="sng" dirty="0">
                <a:solidFill>
                  <a:srgbClr val="FF0000"/>
                </a:solidFill>
              </a:rPr>
              <a:t>relation</a:t>
            </a:r>
            <a:r>
              <a:rPr lang="zh-CN" altLang="en-US" sz="2000" i="1" u="sng" dirty="0">
                <a:solidFill>
                  <a:srgbClr val="FF0000"/>
                </a:solidFill>
              </a:rPr>
              <a:t>（同余关系）</a:t>
            </a:r>
            <a:r>
              <a:rPr lang="en-US" altLang="zh-CN" sz="2000" u="sng" dirty="0">
                <a:solidFill>
                  <a:srgbClr val="FF0000"/>
                </a:solidFill>
              </a:rPr>
              <a:t> </a:t>
            </a:r>
            <a:r>
              <a:rPr lang="en-US" altLang="zh-CN" sz="2000" dirty="0"/>
              <a:t>if </a:t>
            </a:r>
            <a:r>
              <a:rPr lang="en-US" altLang="zh-CN" sz="2000" i="1" dirty="0"/>
              <a:t>a R a'</a:t>
            </a:r>
            <a:r>
              <a:rPr lang="en-US" altLang="zh-CN" sz="2000" dirty="0"/>
              <a:t> and </a:t>
            </a:r>
            <a:r>
              <a:rPr lang="en-US" altLang="zh-CN" sz="2000" i="1" dirty="0"/>
              <a:t>b R b'</a:t>
            </a:r>
            <a:r>
              <a:rPr lang="en-US" altLang="zh-CN" sz="2000" dirty="0"/>
              <a:t> Imply (</a:t>
            </a:r>
            <a:r>
              <a:rPr lang="en-US" altLang="zh-CN" sz="2000" i="1" dirty="0"/>
              <a:t>a</a:t>
            </a:r>
            <a:r>
              <a:rPr lang="en-US" altLang="zh-CN" sz="2000" dirty="0"/>
              <a:t>*</a:t>
            </a:r>
            <a:r>
              <a:rPr lang="en-US" altLang="zh-CN" sz="2000" i="1" dirty="0"/>
              <a:t>b</a:t>
            </a:r>
            <a:r>
              <a:rPr lang="en-US" altLang="zh-CN" sz="2000" dirty="0"/>
              <a:t>)</a:t>
            </a:r>
            <a:r>
              <a:rPr lang="en-US" altLang="zh-CN" sz="2000" i="1" dirty="0"/>
              <a:t> R </a:t>
            </a:r>
            <a:r>
              <a:rPr lang="en-US" altLang="zh-CN" sz="2000" dirty="0"/>
              <a:t>(</a:t>
            </a:r>
            <a:r>
              <a:rPr lang="en-US" altLang="zh-CN" sz="2000" i="1" dirty="0"/>
              <a:t>a'</a:t>
            </a:r>
            <a:r>
              <a:rPr lang="en-US" altLang="zh-CN" sz="2000" dirty="0"/>
              <a:t>*</a:t>
            </a:r>
            <a:r>
              <a:rPr lang="en-US" altLang="zh-CN" sz="2000" i="1" dirty="0"/>
              <a:t>b'</a:t>
            </a:r>
            <a:r>
              <a:rPr lang="en-US" altLang="zh-CN" sz="2000" dirty="0"/>
              <a:t>)</a:t>
            </a:r>
            <a:endParaRPr lang="en-US" altLang="zh-CN" sz="2000" i="1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Let </a:t>
            </a:r>
            <a:r>
              <a:rPr lang="en-US" altLang="zh-CN" sz="2000" i="1" dirty="0"/>
              <a:t>R</a:t>
            </a:r>
            <a:r>
              <a:rPr lang="en-US" altLang="zh-CN" sz="2000" dirty="0"/>
              <a:t> be a congruence relation on the semigroup (</a:t>
            </a:r>
            <a:r>
              <a:rPr lang="en-US" altLang="zh-CN" sz="2000" i="1" dirty="0"/>
              <a:t>S</a:t>
            </a:r>
            <a:r>
              <a:rPr lang="en-US" altLang="zh-CN" sz="2000" dirty="0"/>
              <a:t>, *). Consider the relation </a:t>
            </a:r>
            <a:r>
              <a:rPr lang="en-US" altLang="zh-CN" sz="2000" dirty="0">
                <a:sym typeface="Euclid Math One" panose="05050601010101010101" pitchFamily="18" charset="2"/>
              </a:rPr>
              <a:t>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/>
              <a:t>from S/</a:t>
            </a:r>
            <a:r>
              <a:rPr lang="en-US" altLang="zh-CN" sz="2000" i="1" dirty="0"/>
              <a:t>R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</a:t>
            </a:r>
            <a:r>
              <a:rPr lang="en-US" altLang="zh-CN" sz="2000" dirty="0"/>
              <a:t> S/</a:t>
            </a:r>
            <a:r>
              <a:rPr lang="en-US" altLang="zh-CN" sz="2000" i="1" dirty="0"/>
              <a:t>R</a:t>
            </a:r>
            <a:r>
              <a:rPr lang="en-US" altLang="zh-CN" sz="2000" dirty="0"/>
              <a:t> to S/</a:t>
            </a:r>
            <a:r>
              <a:rPr lang="en-US" altLang="zh-CN" sz="2000" i="1" dirty="0"/>
              <a:t>R</a:t>
            </a:r>
            <a:r>
              <a:rPr lang="en-US" altLang="zh-CN" sz="2000" dirty="0"/>
              <a:t> in which the ordered pair ([</a:t>
            </a:r>
            <a:r>
              <a:rPr lang="en-US" altLang="zh-CN" sz="2000" i="1" dirty="0"/>
              <a:t>a</a:t>
            </a:r>
            <a:r>
              <a:rPr lang="en-US" altLang="zh-CN" sz="2000" dirty="0"/>
              <a:t>], [</a:t>
            </a:r>
            <a:r>
              <a:rPr lang="en-US" altLang="zh-CN" sz="2000" i="1" dirty="0"/>
              <a:t>b</a:t>
            </a:r>
            <a:r>
              <a:rPr lang="en-US" altLang="zh-CN" sz="2000" dirty="0"/>
              <a:t>]) is, for </a:t>
            </a:r>
            <a:r>
              <a:rPr lang="en-US" altLang="zh-CN" sz="2000" i="1" dirty="0"/>
              <a:t>a</a:t>
            </a:r>
            <a:r>
              <a:rPr lang="en-US" altLang="zh-CN" sz="2000" dirty="0"/>
              <a:t> and </a:t>
            </a:r>
            <a:r>
              <a:rPr lang="en-US" altLang="zh-CN" sz="2000" i="1" dirty="0"/>
              <a:t>b</a:t>
            </a:r>
            <a:r>
              <a:rPr lang="en-US" altLang="zh-CN" sz="2000" dirty="0"/>
              <a:t> in </a:t>
            </a:r>
            <a:r>
              <a:rPr lang="en-US" altLang="zh-CN" sz="2000" i="1" dirty="0"/>
              <a:t>S</a:t>
            </a:r>
            <a:r>
              <a:rPr lang="en-US" altLang="zh-CN" sz="2000" dirty="0"/>
              <a:t>, related to [</a:t>
            </a:r>
            <a:r>
              <a:rPr lang="en-US" altLang="zh-CN" sz="2000" i="1" dirty="0"/>
              <a:t>a</a:t>
            </a:r>
            <a:r>
              <a:rPr lang="en-US" altLang="zh-CN" sz="2000" dirty="0"/>
              <a:t>*</a:t>
            </a:r>
            <a:r>
              <a:rPr lang="en-US" altLang="zh-CN" sz="2000" i="1" dirty="0"/>
              <a:t>b</a:t>
            </a:r>
            <a:r>
              <a:rPr lang="en-US" altLang="zh-CN" sz="2000" dirty="0"/>
              <a:t>].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ym typeface="Euclid Math One" panose="05050601010101010101" pitchFamily="18" charset="2"/>
              </a:rPr>
              <a:t>(</a:t>
            </a:r>
            <a:r>
              <a:rPr lang="en-US" altLang="zh-CN" sz="1800" dirty="0"/>
              <a:t>[</a:t>
            </a:r>
            <a:r>
              <a:rPr lang="en-US" altLang="zh-CN" sz="1800" i="1" dirty="0"/>
              <a:t>a</a:t>
            </a:r>
            <a:r>
              <a:rPr lang="en-US" altLang="zh-CN" sz="1800" dirty="0"/>
              <a:t>], [</a:t>
            </a:r>
            <a:r>
              <a:rPr lang="en-US" altLang="zh-CN" sz="1800" i="1" dirty="0"/>
              <a:t>b</a:t>
            </a:r>
            <a:r>
              <a:rPr lang="en-US" altLang="zh-CN" sz="1800" dirty="0"/>
              <a:t>]) = [</a:t>
            </a:r>
            <a:r>
              <a:rPr lang="en-US" altLang="zh-CN" sz="1800" i="1" dirty="0"/>
              <a:t>a</a:t>
            </a:r>
            <a:r>
              <a:rPr lang="en-US" altLang="zh-CN" sz="1800" dirty="0"/>
              <a:t>]</a:t>
            </a:r>
            <a:r>
              <a:rPr lang="en-US" altLang="zh-CN" sz="1800" dirty="0">
                <a:sym typeface="Euclid Math One" panose="05050601010101010101" pitchFamily="18" charset="2"/>
              </a:rPr>
              <a:t></a:t>
            </a:r>
            <a:r>
              <a:rPr lang="en-US" altLang="zh-CN" sz="1800" dirty="0"/>
              <a:t>[</a:t>
            </a:r>
            <a:r>
              <a:rPr lang="en-US" altLang="zh-CN" sz="1800" i="1" dirty="0"/>
              <a:t>b</a:t>
            </a:r>
            <a:r>
              <a:rPr lang="en-US" altLang="zh-CN" sz="1800" dirty="0"/>
              <a:t>] = [</a:t>
            </a:r>
            <a:r>
              <a:rPr lang="en-US" altLang="zh-CN" sz="1800" i="1" dirty="0"/>
              <a:t>a</a:t>
            </a:r>
            <a:r>
              <a:rPr lang="en-US" altLang="zh-CN" sz="1800" dirty="0"/>
              <a:t>*</a:t>
            </a:r>
            <a:r>
              <a:rPr lang="en-US" altLang="zh-CN" sz="1800" i="1" dirty="0"/>
              <a:t>b</a:t>
            </a:r>
            <a:r>
              <a:rPr lang="en-US" altLang="zh-CN" sz="1800" dirty="0"/>
              <a:t>], is a function from S/</a:t>
            </a:r>
            <a:r>
              <a:rPr lang="en-US" altLang="zh-CN" sz="1800" i="1" dirty="0"/>
              <a:t>R</a:t>
            </a:r>
            <a:r>
              <a:rPr lang="en-US" altLang="zh-CN" sz="1800" dirty="0">
                <a:sym typeface="Symbol" panose="05050102010706020507" pitchFamily="18" charset="2"/>
              </a:rPr>
              <a:t></a:t>
            </a:r>
            <a:r>
              <a:rPr lang="en-US" altLang="zh-CN" sz="1800" dirty="0"/>
              <a:t>S/</a:t>
            </a:r>
            <a:r>
              <a:rPr lang="en-US" altLang="zh-CN" sz="1800" i="1" dirty="0"/>
              <a:t>R</a:t>
            </a:r>
            <a:r>
              <a:rPr lang="en-US" altLang="zh-CN" sz="1800" dirty="0"/>
              <a:t> to S/</a:t>
            </a:r>
            <a:r>
              <a:rPr lang="en-US" altLang="zh-CN" sz="1800" i="1" dirty="0"/>
              <a:t>R</a:t>
            </a:r>
            <a:endParaRPr lang="en-US" altLang="zh-CN" sz="1800" dirty="0"/>
          </a:p>
          <a:p>
            <a:pPr lvl="1">
              <a:lnSpc>
                <a:spcPct val="150000"/>
              </a:lnSpc>
            </a:pPr>
            <a:r>
              <a:rPr lang="en-US" altLang="zh-CN" sz="1800" dirty="0"/>
              <a:t>(S/</a:t>
            </a:r>
            <a:r>
              <a:rPr lang="en-US" altLang="zh-CN" sz="1800" i="1" dirty="0"/>
              <a:t>R</a:t>
            </a:r>
            <a:r>
              <a:rPr lang="en-US" altLang="zh-CN" sz="1800" dirty="0"/>
              <a:t>, </a:t>
            </a:r>
            <a:r>
              <a:rPr lang="en-US" altLang="zh-CN" sz="1800" dirty="0">
                <a:sym typeface="Euclid Math One" panose="05050601010101010101" pitchFamily="18" charset="2"/>
              </a:rPr>
              <a:t></a:t>
            </a:r>
            <a:r>
              <a:rPr lang="en-US" altLang="zh-CN" sz="1800" dirty="0"/>
              <a:t>) is a semigroup. S/</a:t>
            </a:r>
            <a:r>
              <a:rPr lang="en-US" altLang="zh-CN" sz="1800" i="1" dirty="0"/>
              <a:t>R</a:t>
            </a:r>
            <a:r>
              <a:rPr lang="en-US" altLang="zh-CN" sz="1800" dirty="0"/>
              <a:t> is called the </a:t>
            </a:r>
            <a:r>
              <a:rPr lang="en-US" altLang="zh-CN" sz="1800" i="1" dirty="0">
                <a:solidFill>
                  <a:srgbClr val="FF3300"/>
                </a:solidFill>
              </a:rPr>
              <a:t>quotient semigroup</a:t>
            </a:r>
            <a:r>
              <a:rPr lang="en-US" altLang="zh-CN" sz="1800" dirty="0">
                <a:solidFill>
                  <a:srgbClr val="FF3300"/>
                </a:solidFill>
              </a:rPr>
              <a:t>(</a:t>
            </a:r>
            <a:r>
              <a:rPr lang="zh-CN" altLang="en-US" sz="1800" dirty="0">
                <a:solidFill>
                  <a:srgbClr val="FF3300"/>
                </a:solidFill>
              </a:rPr>
              <a:t>商半群</a:t>
            </a:r>
            <a:r>
              <a:rPr lang="en-US" altLang="zh-CN" sz="1800" dirty="0">
                <a:solidFill>
                  <a:srgbClr val="FF3300"/>
                </a:solidFill>
              </a:rPr>
              <a:t>)</a:t>
            </a:r>
            <a:r>
              <a:rPr lang="en-US" altLang="zh-CN" sz="1800" dirty="0"/>
              <a:t> or </a:t>
            </a:r>
            <a:r>
              <a:rPr lang="en-US" altLang="zh-CN" sz="1800" i="1" dirty="0">
                <a:solidFill>
                  <a:srgbClr val="FF3300"/>
                </a:solidFill>
              </a:rPr>
              <a:t>factor semigroup</a:t>
            </a:r>
            <a:r>
              <a:rPr lang="zh-CN" altLang="en-US" sz="1800" i="1" dirty="0">
                <a:solidFill>
                  <a:srgbClr val="FF3300"/>
                </a:solidFill>
              </a:rPr>
              <a:t>（因子半群）</a:t>
            </a:r>
            <a:endParaRPr lang="zh-CN" altLang="zh-CN" sz="1800" i="1" dirty="0">
              <a:solidFill>
                <a:srgbClr val="FF3300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Products and Quotients of Semigroups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0046" y="1093715"/>
            <a:ext cx="11913128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dirty="0"/>
              <a:t>Let </a:t>
            </a:r>
            <a:r>
              <a:rPr lang="en-US" altLang="zh-CN" sz="2400" i="1" dirty="0"/>
              <a:t>R</a:t>
            </a:r>
            <a:r>
              <a:rPr lang="en-US" altLang="zh-CN" sz="2400" dirty="0"/>
              <a:t> be a congruence relation on the monoid (</a:t>
            </a:r>
            <a:r>
              <a:rPr lang="en-US" altLang="zh-CN" sz="2400" i="1" dirty="0"/>
              <a:t>S</a:t>
            </a:r>
            <a:r>
              <a:rPr lang="en-US" altLang="zh-CN" sz="2400" dirty="0"/>
              <a:t>, *). If we define the operation </a:t>
            </a:r>
            <a:r>
              <a:rPr lang="en-US" altLang="zh-CN" sz="2400" dirty="0">
                <a:sym typeface="Euclid Math One" panose="05050601010101010101" pitchFamily="18" charset="2"/>
              </a:rPr>
              <a:t></a:t>
            </a:r>
            <a:r>
              <a:rPr lang="en-US" altLang="zh-CN" sz="2400" dirty="0"/>
              <a:t> in S/</a:t>
            </a:r>
            <a:r>
              <a:rPr lang="en-US" altLang="zh-CN" sz="2400" i="1" dirty="0"/>
              <a:t>R</a:t>
            </a:r>
            <a:r>
              <a:rPr lang="en-US" altLang="zh-CN" sz="2400" dirty="0"/>
              <a:t> by [</a:t>
            </a:r>
            <a:r>
              <a:rPr lang="en-US" altLang="zh-CN" sz="2400" i="1" dirty="0"/>
              <a:t>a</a:t>
            </a:r>
            <a:r>
              <a:rPr lang="en-US" altLang="zh-CN" sz="2400" dirty="0"/>
              <a:t>]</a:t>
            </a:r>
            <a:r>
              <a:rPr lang="en-US" altLang="zh-CN" sz="2400" dirty="0">
                <a:sym typeface="Euclid Math One" panose="05050601010101010101" pitchFamily="18" charset="2"/>
              </a:rPr>
              <a:t></a:t>
            </a:r>
            <a:r>
              <a:rPr lang="en-US" altLang="zh-CN" sz="2400" dirty="0"/>
              <a:t>[</a:t>
            </a:r>
            <a:r>
              <a:rPr lang="en-US" altLang="zh-CN" sz="2400" i="1" dirty="0"/>
              <a:t>b</a:t>
            </a:r>
            <a:r>
              <a:rPr lang="en-US" altLang="zh-CN" sz="2400" dirty="0"/>
              <a:t>] = [</a:t>
            </a:r>
            <a:r>
              <a:rPr lang="en-US" altLang="zh-CN" sz="2400" i="1" dirty="0"/>
              <a:t>a</a:t>
            </a:r>
            <a:r>
              <a:rPr lang="en-US" altLang="zh-CN" sz="2400" dirty="0"/>
              <a:t>*</a:t>
            </a:r>
            <a:r>
              <a:rPr lang="en-US" altLang="zh-CN" sz="2400" i="1" dirty="0"/>
              <a:t>b</a:t>
            </a:r>
            <a:r>
              <a:rPr lang="en-US" altLang="zh-CN" sz="2400" dirty="0"/>
              <a:t>], then (</a:t>
            </a:r>
            <a:r>
              <a:rPr lang="en-US" altLang="zh-CN" sz="2400" i="1" dirty="0"/>
              <a:t>S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Euclid Math One" panose="05050601010101010101" pitchFamily="18" charset="2"/>
              </a:rPr>
              <a:t></a:t>
            </a:r>
            <a:r>
              <a:rPr lang="en-US" altLang="zh-CN" sz="2400" dirty="0"/>
              <a:t>) is a monoid.</a:t>
            </a:r>
          </a:p>
          <a:p>
            <a:r>
              <a:rPr lang="en-US" altLang="zh-CN" sz="2400" dirty="0"/>
              <a:t>Let </a:t>
            </a:r>
            <a:r>
              <a:rPr lang="en-US" altLang="zh-CN" sz="2400" i="1" dirty="0"/>
              <a:t>R</a:t>
            </a:r>
            <a:r>
              <a:rPr lang="en-US" altLang="zh-CN" sz="2400" dirty="0"/>
              <a:t> be a congruence relation on a semigroup (</a:t>
            </a:r>
            <a:r>
              <a:rPr lang="en-US" altLang="zh-CN" sz="2400" i="1" dirty="0"/>
              <a:t>S</a:t>
            </a:r>
            <a:r>
              <a:rPr lang="en-US" altLang="zh-CN" sz="2400" dirty="0"/>
              <a:t>, *), and (</a:t>
            </a:r>
            <a:r>
              <a:rPr lang="en-US" altLang="zh-CN" sz="2400" i="1" dirty="0"/>
              <a:t>S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Euclid Math One" panose="05050601010101010101" pitchFamily="18" charset="2"/>
              </a:rPr>
              <a:t></a:t>
            </a:r>
            <a:r>
              <a:rPr lang="en-US" altLang="zh-CN" sz="2400" dirty="0"/>
              <a:t>) be the corresponding quotient semigroup. Then the function </a:t>
            </a:r>
            <a:r>
              <a:rPr lang="en-US" altLang="zh-CN" sz="2400" i="1" dirty="0" err="1"/>
              <a:t>f</a:t>
            </a:r>
            <a:r>
              <a:rPr lang="en-US" altLang="zh-CN" sz="2400" baseline="-25000" dirty="0" err="1"/>
              <a:t>R</a:t>
            </a:r>
            <a:r>
              <a:rPr lang="en-US" altLang="zh-CN" sz="2400" dirty="0"/>
              <a:t>: </a:t>
            </a:r>
            <a:r>
              <a:rPr lang="en-US" altLang="zh-CN" sz="2400" i="1" dirty="0"/>
              <a:t>S</a:t>
            </a:r>
            <a:r>
              <a:rPr lang="en-US" altLang="zh-CN" sz="2400" dirty="0">
                <a:cs typeface="Times New Roman" panose="02020603050405020304" pitchFamily="18" charset="0"/>
                <a:sym typeface="MT Symbol" panose="05050102010706020507" pitchFamily="18" charset="2"/>
              </a:rPr>
              <a:t>→</a:t>
            </a:r>
            <a:r>
              <a:rPr lang="en-US" altLang="zh-CN" sz="2400" i="1" dirty="0"/>
              <a:t>S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 defined by </a:t>
            </a:r>
            <a:r>
              <a:rPr lang="en-US" altLang="zh-CN" sz="2400" i="1" dirty="0" err="1"/>
              <a:t>f</a:t>
            </a:r>
            <a:r>
              <a:rPr lang="en-US" altLang="zh-CN" sz="2400" i="1" baseline="-25000" dirty="0" err="1"/>
              <a:t>R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 = [</a:t>
            </a:r>
            <a:r>
              <a:rPr lang="en-US" altLang="zh-CN" sz="2400" i="1" dirty="0"/>
              <a:t>a</a:t>
            </a:r>
            <a:r>
              <a:rPr lang="en-US" altLang="zh-CN" sz="2400" dirty="0"/>
              <a:t>] is an onto homomorphism, called the </a:t>
            </a:r>
            <a:r>
              <a:rPr lang="en-US" altLang="zh-CN" sz="2400" i="1" dirty="0">
                <a:solidFill>
                  <a:srgbClr val="FF3300"/>
                </a:solidFill>
              </a:rPr>
              <a:t>natural homomorphism</a:t>
            </a:r>
            <a:r>
              <a:rPr lang="en-US" altLang="zh-CN" sz="2400" dirty="0">
                <a:solidFill>
                  <a:srgbClr val="FF3300"/>
                </a:solidFill>
              </a:rPr>
              <a:t>(</a:t>
            </a:r>
            <a:r>
              <a:rPr lang="zh-CN" altLang="en-US" sz="2400" i="1" dirty="0">
                <a:solidFill>
                  <a:srgbClr val="FF3300"/>
                </a:solidFill>
              </a:rPr>
              <a:t>自然同态</a:t>
            </a:r>
            <a:r>
              <a:rPr lang="en-US" altLang="zh-CN" sz="2400" dirty="0">
                <a:solidFill>
                  <a:srgbClr val="FF3300"/>
                </a:solidFill>
              </a:rPr>
              <a:t>).</a:t>
            </a:r>
          </a:p>
          <a:p>
            <a:r>
              <a:rPr lang="en-US" altLang="zh-CN" sz="2400" dirty="0"/>
              <a:t>Let</a:t>
            </a:r>
          </a:p>
          <a:p>
            <a:pPr lvl="1"/>
            <a:r>
              <a:rPr lang="en-US" altLang="zh-CN" sz="2000" i="1" dirty="0"/>
              <a:t>f</a:t>
            </a:r>
            <a:r>
              <a:rPr lang="en-US" altLang="zh-CN" sz="2000" dirty="0"/>
              <a:t>: </a:t>
            </a:r>
            <a:r>
              <a:rPr lang="en-US" altLang="zh-CN" sz="2000" i="1" dirty="0"/>
              <a:t>S</a:t>
            </a:r>
            <a:r>
              <a:rPr lang="en-US" altLang="zh-CN" sz="2000" dirty="0">
                <a:cs typeface="Times New Roman" panose="02020603050405020304" pitchFamily="18" charset="0"/>
                <a:sym typeface="MT Symbol" panose="05050102010706020507" pitchFamily="18" charset="2"/>
              </a:rPr>
              <a:t>→</a:t>
            </a:r>
            <a:r>
              <a:rPr lang="en-US" altLang="zh-CN" sz="2000" i="1" dirty="0"/>
              <a:t>T</a:t>
            </a:r>
            <a:r>
              <a:rPr lang="en-US" altLang="zh-CN" sz="2000" dirty="0"/>
              <a:t> be a homomorphism of the semigroup (</a:t>
            </a:r>
            <a:r>
              <a:rPr lang="en-US" altLang="zh-CN" sz="2000" i="1" dirty="0"/>
              <a:t>S</a:t>
            </a:r>
            <a:r>
              <a:rPr lang="en-US" altLang="zh-CN" sz="2000" dirty="0"/>
              <a:t>, *) </a:t>
            </a:r>
            <a:r>
              <a:rPr lang="en-US" altLang="zh-CN" sz="2000" i="1" dirty="0">
                <a:solidFill>
                  <a:schemeClr val="hlink"/>
                </a:solidFill>
              </a:rPr>
              <a:t>onto</a:t>
            </a:r>
            <a:r>
              <a:rPr lang="zh-CN" altLang="en-US" sz="2000" i="1" dirty="0">
                <a:solidFill>
                  <a:schemeClr val="hlink"/>
                </a:solidFill>
              </a:rPr>
              <a:t>（满射）</a:t>
            </a:r>
            <a:r>
              <a:rPr lang="en-US" altLang="zh-CN" sz="2000" dirty="0"/>
              <a:t> the semigroup (</a:t>
            </a:r>
            <a:r>
              <a:rPr lang="en-US" altLang="zh-CN" sz="2000" i="1" dirty="0"/>
              <a:t>T</a:t>
            </a:r>
            <a:r>
              <a:rPr lang="en-US" altLang="zh-CN" sz="2000" dirty="0"/>
              <a:t>, *'). </a:t>
            </a:r>
          </a:p>
          <a:p>
            <a:pPr lvl="1"/>
            <a:r>
              <a:rPr lang="en-US" altLang="zh-CN" sz="2000" i="1" dirty="0"/>
              <a:t>R</a:t>
            </a:r>
            <a:r>
              <a:rPr lang="en-US" altLang="zh-CN" sz="2000" dirty="0"/>
              <a:t> be the relation on </a:t>
            </a:r>
            <a:r>
              <a:rPr lang="en-US" altLang="zh-CN" sz="2000" i="1" dirty="0"/>
              <a:t>S</a:t>
            </a:r>
            <a:r>
              <a:rPr lang="en-US" altLang="zh-CN" sz="2000" dirty="0"/>
              <a:t> defined by </a:t>
            </a:r>
            <a:r>
              <a:rPr lang="en-US" altLang="zh-CN" sz="2000" i="1" dirty="0"/>
              <a:t>a</a:t>
            </a:r>
            <a:r>
              <a:rPr lang="en-US" altLang="zh-CN" sz="2000" dirty="0"/>
              <a:t> </a:t>
            </a:r>
            <a:r>
              <a:rPr lang="en-US" altLang="zh-CN" sz="2000" i="1" dirty="0"/>
              <a:t>R</a:t>
            </a:r>
            <a:r>
              <a:rPr lang="en-US" altLang="zh-CN" sz="2000" dirty="0"/>
              <a:t> </a:t>
            </a:r>
            <a:r>
              <a:rPr lang="en-US" altLang="zh-CN" sz="2000" i="1" dirty="0"/>
              <a:t>b</a:t>
            </a:r>
            <a:r>
              <a:rPr lang="en-US" altLang="zh-CN" sz="2000" dirty="0"/>
              <a:t> </a:t>
            </a:r>
            <a:r>
              <a:rPr lang="en-US" altLang="zh-CN" sz="2000" i="1" dirty="0">
                <a:solidFill>
                  <a:schemeClr val="hlink"/>
                </a:solidFill>
              </a:rPr>
              <a:t>if and only if</a:t>
            </a:r>
            <a:r>
              <a:rPr lang="en-US" altLang="zh-CN" sz="2000" dirty="0"/>
              <a:t> </a:t>
            </a:r>
            <a:r>
              <a:rPr lang="en-US" altLang="zh-CN" sz="2000" i="1" dirty="0"/>
              <a:t>f</a:t>
            </a:r>
            <a:r>
              <a:rPr lang="en-US" altLang="zh-CN" sz="2000" dirty="0"/>
              <a:t>(</a:t>
            </a:r>
            <a:r>
              <a:rPr lang="en-US" altLang="zh-CN" sz="2000" i="1" dirty="0"/>
              <a:t>a</a:t>
            </a:r>
            <a:r>
              <a:rPr lang="en-US" altLang="zh-CN" sz="2000" dirty="0"/>
              <a:t>) =</a:t>
            </a:r>
            <a:r>
              <a:rPr lang="en-US" altLang="zh-CN" sz="2000" i="1" dirty="0"/>
              <a:t> f</a:t>
            </a:r>
            <a:r>
              <a:rPr lang="en-US" altLang="zh-CN" sz="2000" dirty="0"/>
              <a:t>(</a:t>
            </a:r>
            <a:r>
              <a:rPr lang="en-US" altLang="zh-CN" sz="2000" i="1" dirty="0"/>
              <a:t>b</a:t>
            </a:r>
            <a:r>
              <a:rPr lang="en-US" altLang="zh-CN" sz="2000" dirty="0"/>
              <a:t>), for </a:t>
            </a:r>
            <a:r>
              <a:rPr lang="en-US" altLang="zh-CN" sz="2000" i="1" dirty="0"/>
              <a:t>a</a:t>
            </a:r>
            <a:r>
              <a:rPr lang="en-US" altLang="zh-CN" sz="2000" dirty="0"/>
              <a:t> and </a:t>
            </a:r>
            <a:r>
              <a:rPr lang="en-US" altLang="zh-CN" sz="2000" i="1" dirty="0"/>
              <a:t>b</a:t>
            </a:r>
            <a:r>
              <a:rPr lang="en-US" altLang="zh-CN" sz="2000" dirty="0"/>
              <a:t> in </a:t>
            </a:r>
            <a:r>
              <a:rPr lang="en-US" altLang="zh-CN" sz="2000" i="1" dirty="0"/>
              <a:t>S</a:t>
            </a:r>
            <a:r>
              <a:rPr lang="en-US" altLang="zh-CN" sz="2000" dirty="0"/>
              <a:t>. </a:t>
            </a:r>
          </a:p>
          <a:p>
            <a:r>
              <a:rPr lang="en-US" altLang="zh-CN" sz="2400" dirty="0"/>
              <a:t>Then </a:t>
            </a:r>
          </a:p>
          <a:p>
            <a:pPr lvl="1"/>
            <a:r>
              <a:rPr lang="en-US" altLang="zh-CN" sz="2000" i="1" dirty="0"/>
              <a:t>R</a:t>
            </a:r>
            <a:r>
              <a:rPr lang="en-US" altLang="zh-CN" sz="2000" dirty="0"/>
              <a:t> is a congruence relation.</a:t>
            </a:r>
          </a:p>
          <a:p>
            <a:pPr lvl="1"/>
            <a:r>
              <a:rPr lang="en-US" altLang="zh-CN" sz="2000" dirty="0"/>
              <a:t>(</a:t>
            </a:r>
            <a:r>
              <a:rPr lang="en-US" altLang="zh-CN" sz="2000" i="1" dirty="0"/>
              <a:t>T</a:t>
            </a:r>
            <a:r>
              <a:rPr lang="en-US" altLang="zh-CN" sz="2000" dirty="0"/>
              <a:t>, *‘) and the quotient semigroup (</a:t>
            </a:r>
            <a:r>
              <a:rPr lang="en-US" altLang="zh-CN" sz="2000" i="1" dirty="0"/>
              <a:t>S</a:t>
            </a:r>
            <a:r>
              <a:rPr lang="en-US" altLang="zh-CN" sz="2000" dirty="0"/>
              <a:t>/</a:t>
            </a:r>
            <a:r>
              <a:rPr lang="en-US" altLang="zh-CN" sz="2000" i="1" dirty="0"/>
              <a:t>R</a:t>
            </a:r>
            <a:r>
              <a:rPr lang="en-US" altLang="zh-CN" sz="2000" dirty="0"/>
              <a:t>, </a:t>
            </a:r>
            <a:r>
              <a:rPr lang="en-US" altLang="zh-CN" sz="2000" dirty="0">
                <a:sym typeface="Euclid Math One" panose="05050601010101010101" pitchFamily="18" charset="2"/>
              </a:rPr>
              <a:t></a:t>
            </a:r>
            <a:r>
              <a:rPr lang="en-US" altLang="zh-CN" sz="2000" dirty="0"/>
              <a:t>) are isomorphic</a:t>
            </a:r>
            <a:r>
              <a:rPr lang="zh-CN" altLang="en-US" sz="2000" dirty="0"/>
              <a:t>（同构）</a:t>
            </a:r>
            <a:r>
              <a:rPr lang="en-US" altLang="zh-CN" sz="2000" dirty="0"/>
              <a:t>.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Products and Quotients of Semigroups</a:t>
            </a:r>
          </a:p>
        </p:txBody>
      </p:sp>
      <p:grpSp>
        <p:nvGrpSpPr>
          <p:cNvPr id="16" name="Group 9"/>
          <p:cNvGrpSpPr/>
          <p:nvPr/>
        </p:nvGrpSpPr>
        <p:grpSpPr bwMode="auto">
          <a:xfrm>
            <a:off x="9472037" y="4856307"/>
            <a:ext cx="2101128" cy="1784639"/>
            <a:chOff x="1670" y="1389"/>
            <a:chExt cx="1876" cy="1902"/>
          </a:xfrm>
        </p:grpSpPr>
        <p:sp>
          <p:nvSpPr>
            <p:cNvPr id="17" name="Line 10"/>
            <p:cNvSpPr>
              <a:spLocks noChangeShapeType="1"/>
            </p:cNvSpPr>
            <p:nvPr/>
          </p:nvSpPr>
          <p:spPr bwMode="auto">
            <a:xfrm>
              <a:off x="1927" y="1706"/>
              <a:ext cx="1361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1"/>
            <p:cNvSpPr>
              <a:spLocks noChangeShapeType="1"/>
            </p:cNvSpPr>
            <p:nvPr/>
          </p:nvSpPr>
          <p:spPr bwMode="auto">
            <a:xfrm>
              <a:off x="1882" y="1888"/>
              <a:ext cx="636" cy="1044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2"/>
            <p:cNvSpPr>
              <a:spLocks noChangeShapeType="1"/>
            </p:cNvSpPr>
            <p:nvPr/>
          </p:nvSpPr>
          <p:spPr bwMode="auto">
            <a:xfrm flipV="1">
              <a:off x="2744" y="1842"/>
              <a:ext cx="590" cy="1044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 type="arrow" w="lg" len="lg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1670" y="1600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anose="02010609030101010101" pitchFamily="49" charset="-122"/>
                </a:rPr>
                <a:t>S</a:t>
              </a:r>
            </a:p>
          </p:txBody>
        </p:sp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3258" y="1570"/>
              <a:ext cx="288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anose="02010609030101010101" pitchFamily="49" charset="-122"/>
                </a:rPr>
                <a:t>T</a:t>
              </a:r>
            </a:p>
          </p:txBody>
        </p:sp>
        <p:sp>
          <p:nvSpPr>
            <p:cNvPr id="22" name="Text Box 15"/>
            <p:cNvSpPr txBox="1">
              <a:spLocks noChangeArrowheads="1"/>
            </p:cNvSpPr>
            <p:nvPr/>
          </p:nvSpPr>
          <p:spPr bwMode="auto">
            <a:xfrm>
              <a:off x="2427" y="2886"/>
              <a:ext cx="493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 dirty="0">
                  <a:solidFill>
                    <a:schemeClr val="folHlink"/>
                  </a:solidFill>
                  <a:ea typeface="楷体_GB2312" panose="02010609030101010101" pitchFamily="49" charset="-122"/>
                </a:rPr>
                <a:t>S/R</a:t>
              </a:r>
            </a:p>
          </p:txBody>
        </p:sp>
        <p:sp>
          <p:nvSpPr>
            <p:cNvPr id="23" name="Text Box 16"/>
            <p:cNvSpPr txBox="1">
              <a:spLocks noChangeArrowheads="1"/>
            </p:cNvSpPr>
            <p:nvPr/>
          </p:nvSpPr>
          <p:spPr bwMode="auto">
            <a:xfrm>
              <a:off x="1791" y="2205"/>
              <a:ext cx="319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anose="02010609030101010101" pitchFamily="49" charset="-122"/>
                </a:rPr>
                <a:t>f</a:t>
              </a:r>
              <a:r>
                <a:rPr lang="en-US" altLang="zh-CN" sz="2400" i="1" baseline="-25000">
                  <a:solidFill>
                    <a:schemeClr val="folHlink"/>
                  </a:solidFill>
                  <a:ea typeface="楷体_GB2312" panose="02010609030101010101" pitchFamily="49" charset="-122"/>
                </a:rPr>
                <a:t>R</a:t>
              </a:r>
            </a:p>
          </p:txBody>
        </p:sp>
        <p:sp>
          <p:nvSpPr>
            <p:cNvPr id="24" name="Text Box 17"/>
            <p:cNvSpPr txBox="1">
              <a:spLocks noChangeArrowheads="1"/>
            </p:cNvSpPr>
            <p:nvPr/>
          </p:nvSpPr>
          <p:spPr bwMode="auto">
            <a:xfrm>
              <a:off x="3107" y="2205"/>
              <a:ext cx="21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anose="02010609030101010101" pitchFamily="49" charset="-122"/>
                </a:rPr>
                <a:t>f</a:t>
              </a:r>
            </a:p>
          </p:txBody>
        </p:sp>
        <p:sp>
          <p:nvSpPr>
            <p:cNvPr id="25" name="Text Box 18"/>
            <p:cNvSpPr txBox="1">
              <a:spLocks noChangeArrowheads="1"/>
            </p:cNvSpPr>
            <p:nvPr/>
          </p:nvSpPr>
          <p:spPr bwMode="auto">
            <a:xfrm>
              <a:off x="2472" y="1389"/>
              <a:ext cx="21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anose="02010609030101010101" pitchFamily="49" charset="-122"/>
                </a:rPr>
                <a:t>f</a:t>
              </a:r>
            </a:p>
          </p:txBody>
        </p:sp>
        <p:sp>
          <p:nvSpPr>
            <p:cNvPr id="26" name="Line 19"/>
            <p:cNvSpPr>
              <a:spLocks noChangeShapeType="1"/>
            </p:cNvSpPr>
            <p:nvPr/>
          </p:nvSpPr>
          <p:spPr bwMode="auto">
            <a:xfrm>
              <a:off x="3152" y="2251"/>
              <a:ext cx="137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0046" y="1182206"/>
            <a:ext cx="11977593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dirty="0"/>
              <a:t>A </a:t>
            </a:r>
            <a:r>
              <a:rPr lang="en-US" altLang="zh-CN" sz="2400" i="1" dirty="0">
                <a:solidFill>
                  <a:srgbClr val="FF3300"/>
                </a:solidFill>
              </a:rPr>
              <a:t>group</a:t>
            </a:r>
            <a:r>
              <a:rPr lang="en-US" altLang="zh-CN" sz="2400" dirty="0"/>
              <a:t> (</a:t>
            </a:r>
            <a:r>
              <a:rPr lang="en-US" altLang="zh-CN" sz="2400" i="1" dirty="0"/>
              <a:t>G</a:t>
            </a:r>
            <a:r>
              <a:rPr lang="en-US" altLang="zh-CN" sz="2400" dirty="0"/>
              <a:t>, *) is a set together with a binary operation * on </a:t>
            </a:r>
            <a:r>
              <a:rPr lang="en-US" altLang="zh-CN" sz="2400" i="1" dirty="0"/>
              <a:t>G</a:t>
            </a:r>
            <a:r>
              <a:rPr lang="en-US" altLang="zh-CN" sz="2400" dirty="0"/>
              <a:t> such that, for any elements </a:t>
            </a: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b</a:t>
            </a:r>
            <a:r>
              <a:rPr lang="en-US" altLang="zh-CN" sz="2400" dirty="0"/>
              <a:t>, and </a:t>
            </a:r>
            <a:r>
              <a:rPr lang="en-US" altLang="zh-CN" sz="2400" i="1" dirty="0"/>
              <a:t>c</a:t>
            </a:r>
            <a:r>
              <a:rPr lang="en-US" altLang="zh-CN" sz="2400" dirty="0"/>
              <a:t> in </a:t>
            </a:r>
            <a:r>
              <a:rPr lang="en-US" altLang="zh-CN" sz="2400" i="1" dirty="0"/>
              <a:t>G</a:t>
            </a:r>
            <a:endParaRPr lang="en-US" altLang="zh-CN" sz="2400" dirty="0"/>
          </a:p>
          <a:p>
            <a:pPr lvl="1"/>
            <a:r>
              <a:rPr lang="en-US" altLang="zh-CN" sz="2000" dirty="0"/>
              <a:t>(</a:t>
            </a:r>
            <a:r>
              <a:rPr lang="en-US" altLang="zh-CN" sz="2000" i="1" dirty="0"/>
              <a:t>a</a:t>
            </a:r>
            <a:r>
              <a:rPr lang="en-US" altLang="zh-CN" sz="2000" dirty="0"/>
              <a:t>*</a:t>
            </a:r>
            <a:r>
              <a:rPr lang="en-US" altLang="zh-CN" sz="2000" i="1" dirty="0"/>
              <a:t>b</a:t>
            </a:r>
            <a:r>
              <a:rPr lang="en-US" altLang="zh-CN" sz="2000" dirty="0"/>
              <a:t>)*</a:t>
            </a:r>
            <a:r>
              <a:rPr lang="en-US" altLang="zh-CN" sz="2000" i="1" dirty="0"/>
              <a:t>c</a:t>
            </a:r>
            <a:r>
              <a:rPr lang="en-US" altLang="zh-CN" sz="2000" dirty="0"/>
              <a:t> = </a:t>
            </a:r>
            <a:r>
              <a:rPr lang="en-US" altLang="zh-CN" sz="2000" i="1" dirty="0"/>
              <a:t>a</a:t>
            </a:r>
            <a:r>
              <a:rPr lang="en-US" altLang="zh-CN" sz="2000" dirty="0"/>
              <a:t>*(</a:t>
            </a:r>
            <a:r>
              <a:rPr lang="en-US" altLang="zh-CN" sz="2000" i="1" dirty="0"/>
              <a:t>b</a:t>
            </a:r>
            <a:r>
              <a:rPr lang="en-US" altLang="zh-CN" sz="2000" dirty="0"/>
              <a:t>*</a:t>
            </a:r>
            <a:r>
              <a:rPr lang="en-US" altLang="zh-CN" sz="2000" i="1" dirty="0"/>
              <a:t>c</a:t>
            </a:r>
            <a:r>
              <a:rPr lang="en-US" altLang="zh-CN" sz="2000" dirty="0"/>
              <a:t>).</a:t>
            </a:r>
          </a:p>
          <a:p>
            <a:pPr lvl="1"/>
            <a:r>
              <a:rPr lang="en-US" altLang="zh-CN" sz="2000" dirty="0"/>
              <a:t>a unique element </a:t>
            </a:r>
            <a:r>
              <a:rPr lang="en-US" altLang="zh-CN" sz="2000" i="1" dirty="0"/>
              <a:t>e</a:t>
            </a:r>
            <a:r>
              <a:rPr lang="en-US" altLang="zh-CN" sz="2000" dirty="0"/>
              <a:t> in </a:t>
            </a:r>
            <a:r>
              <a:rPr lang="en-US" altLang="zh-CN" sz="2000" i="1" dirty="0"/>
              <a:t>G</a:t>
            </a:r>
            <a:r>
              <a:rPr lang="en-US" altLang="zh-CN" sz="2000" dirty="0"/>
              <a:t> such that </a:t>
            </a:r>
            <a:r>
              <a:rPr lang="en-US" altLang="zh-CN" sz="2000" i="1" dirty="0"/>
              <a:t>a</a:t>
            </a:r>
            <a:r>
              <a:rPr lang="en-US" altLang="zh-CN" sz="2000" dirty="0"/>
              <a:t>*</a:t>
            </a:r>
            <a:r>
              <a:rPr lang="en-US" altLang="zh-CN" sz="2000" i="1" dirty="0"/>
              <a:t>e</a:t>
            </a:r>
            <a:r>
              <a:rPr lang="en-US" altLang="zh-CN" sz="2000" dirty="0"/>
              <a:t> = </a:t>
            </a:r>
            <a:r>
              <a:rPr lang="en-US" altLang="zh-CN" sz="2000" i="1" dirty="0"/>
              <a:t>e</a:t>
            </a:r>
            <a:r>
              <a:rPr lang="en-US" altLang="zh-CN" sz="2000" dirty="0"/>
              <a:t>*</a:t>
            </a:r>
            <a:r>
              <a:rPr lang="en-US" altLang="zh-CN" sz="2000" i="1" dirty="0"/>
              <a:t>a</a:t>
            </a:r>
            <a:r>
              <a:rPr lang="en-US" altLang="zh-CN" sz="2000" dirty="0"/>
              <a:t> </a:t>
            </a:r>
          </a:p>
          <a:p>
            <a:pPr lvl="1"/>
            <a:r>
              <a:rPr lang="en-US" altLang="zh-CN" sz="2000" dirty="0"/>
              <a:t>an element </a:t>
            </a:r>
            <a:r>
              <a:rPr lang="en-US" altLang="zh-CN" sz="2000" i="1" dirty="0"/>
              <a:t>a</a:t>
            </a:r>
            <a:r>
              <a:rPr lang="en-US" altLang="zh-CN" sz="2000" dirty="0"/>
              <a:t>' </a:t>
            </a:r>
            <a:r>
              <a:rPr lang="en-US" altLang="zh-CN" sz="2000" dirty="0">
                <a:sym typeface="Symbol" panose="05050102010706020507" pitchFamily="18" charset="2"/>
              </a:rPr>
              <a:t></a:t>
            </a:r>
            <a:r>
              <a:rPr lang="en-US" altLang="zh-CN" sz="2000" dirty="0"/>
              <a:t> G, called an inverse of </a:t>
            </a:r>
            <a:r>
              <a:rPr lang="en-US" altLang="zh-CN" sz="2000" i="1" dirty="0"/>
              <a:t>a </a:t>
            </a:r>
            <a:r>
              <a:rPr lang="en-US" altLang="zh-CN" sz="2000" dirty="0"/>
              <a:t>and written as </a:t>
            </a:r>
            <a:r>
              <a:rPr lang="en-US" altLang="zh-CN" sz="2000" i="1" dirty="0"/>
              <a:t>a</a:t>
            </a:r>
            <a:r>
              <a:rPr lang="en-US" altLang="zh-CN" sz="2000" baseline="30000" dirty="0"/>
              <a:t>-1</a:t>
            </a:r>
            <a:r>
              <a:rPr lang="en-US" altLang="zh-CN" sz="2000" dirty="0"/>
              <a:t>, such that </a:t>
            </a:r>
          </a:p>
          <a:p>
            <a:pPr lvl="2"/>
            <a:r>
              <a:rPr lang="en-US" altLang="zh-CN" sz="1800" i="1" dirty="0"/>
              <a:t>a</a:t>
            </a:r>
            <a:r>
              <a:rPr lang="en-US" altLang="zh-CN" sz="1800" dirty="0"/>
              <a:t>*</a:t>
            </a:r>
            <a:r>
              <a:rPr lang="en-US" altLang="zh-CN" sz="1800" i="1" dirty="0"/>
              <a:t>a</a:t>
            </a:r>
            <a:r>
              <a:rPr lang="en-US" altLang="zh-CN" sz="1800" dirty="0"/>
              <a:t>' = </a:t>
            </a:r>
            <a:r>
              <a:rPr lang="en-US" altLang="zh-CN" sz="1800" i="1" dirty="0"/>
              <a:t>a</a:t>
            </a:r>
            <a:r>
              <a:rPr lang="en-US" altLang="zh-CN" sz="1800" dirty="0"/>
              <a:t>'*</a:t>
            </a:r>
            <a:r>
              <a:rPr lang="en-US" altLang="zh-CN" sz="1800" i="1" dirty="0"/>
              <a:t>a</a:t>
            </a:r>
            <a:r>
              <a:rPr lang="en-US" altLang="zh-CN" sz="1800" dirty="0"/>
              <a:t> = </a:t>
            </a:r>
            <a:r>
              <a:rPr lang="en-US" altLang="zh-CN" sz="1800" i="1" dirty="0"/>
              <a:t>e </a:t>
            </a:r>
            <a:r>
              <a:rPr lang="en-US" altLang="zh-CN" sz="1800" dirty="0"/>
              <a:t>or </a:t>
            </a:r>
            <a:r>
              <a:rPr lang="en-US" altLang="zh-CN" sz="1800" i="1" dirty="0"/>
              <a:t>aa</a:t>
            </a:r>
            <a:r>
              <a:rPr lang="en-US" altLang="zh-CN" sz="1800" dirty="0"/>
              <a:t>' = </a:t>
            </a:r>
            <a:r>
              <a:rPr lang="en-US" altLang="zh-CN" sz="1800" i="1" dirty="0"/>
              <a:t>a</a:t>
            </a:r>
            <a:r>
              <a:rPr lang="en-US" altLang="zh-CN" sz="1800" dirty="0"/>
              <a:t>'</a:t>
            </a:r>
            <a:r>
              <a:rPr lang="en-US" altLang="zh-CN" sz="1800" i="1" dirty="0"/>
              <a:t>a</a:t>
            </a:r>
            <a:r>
              <a:rPr lang="en-US" altLang="zh-CN" sz="1800" dirty="0"/>
              <a:t> = </a:t>
            </a:r>
            <a:r>
              <a:rPr lang="en-US" altLang="zh-CN" sz="1800" i="1" dirty="0"/>
              <a:t>e </a:t>
            </a:r>
            <a:r>
              <a:rPr lang="en-US" altLang="zh-CN" sz="1800" dirty="0"/>
              <a:t>or </a:t>
            </a:r>
            <a:r>
              <a:rPr lang="en-US" altLang="zh-CN" sz="1800" i="1" dirty="0"/>
              <a:t>aa</a:t>
            </a:r>
            <a:r>
              <a:rPr lang="en-US" altLang="zh-CN" sz="1800" baseline="30000" dirty="0"/>
              <a:t>-1</a:t>
            </a:r>
            <a:r>
              <a:rPr lang="en-US" altLang="zh-CN" sz="1800" dirty="0"/>
              <a:t> = </a:t>
            </a:r>
            <a:r>
              <a:rPr lang="en-US" altLang="zh-CN" sz="1800" i="1" dirty="0"/>
              <a:t>a</a:t>
            </a:r>
            <a:r>
              <a:rPr lang="en-US" altLang="zh-CN" sz="1800" baseline="30000" dirty="0"/>
              <a:t>-1</a:t>
            </a:r>
            <a:r>
              <a:rPr lang="en-US" altLang="zh-CN" sz="1800" i="1" dirty="0"/>
              <a:t>a</a:t>
            </a:r>
            <a:r>
              <a:rPr lang="en-US" altLang="zh-CN" sz="1800" dirty="0"/>
              <a:t> = </a:t>
            </a:r>
            <a:r>
              <a:rPr lang="en-US" altLang="zh-CN" sz="1800" i="1" dirty="0"/>
              <a:t>e</a:t>
            </a:r>
          </a:p>
          <a:p>
            <a:r>
              <a:rPr lang="en-US" altLang="zh-CN" sz="2400" dirty="0"/>
              <a:t>A group </a:t>
            </a:r>
            <a:r>
              <a:rPr lang="en-US" altLang="zh-CN" sz="2400" i="1" dirty="0"/>
              <a:t>G</a:t>
            </a:r>
            <a:r>
              <a:rPr lang="en-US" altLang="zh-CN" sz="2400" dirty="0"/>
              <a:t> is said to be </a:t>
            </a:r>
            <a:r>
              <a:rPr lang="en-US" altLang="zh-CN" sz="2400" i="1" dirty="0">
                <a:solidFill>
                  <a:schemeClr val="hlink"/>
                </a:solidFill>
              </a:rPr>
              <a:t>Abelian</a:t>
            </a:r>
            <a:r>
              <a:rPr lang="en-US" altLang="zh-CN" sz="2400" dirty="0"/>
              <a:t> if </a:t>
            </a:r>
            <a:r>
              <a:rPr lang="en-US" altLang="zh-CN" sz="2400" i="1" dirty="0"/>
              <a:t>ab</a:t>
            </a:r>
            <a:r>
              <a:rPr lang="en-US" altLang="zh-CN" sz="2400" dirty="0"/>
              <a:t> = </a:t>
            </a:r>
            <a:r>
              <a:rPr lang="en-US" altLang="zh-CN" sz="2400" i="1" dirty="0" err="1"/>
              <a:t>ba</a:t>
            </a:r>
            <a:r>
              <a:rPr lang="en-US" altLang="zh-CN" sz="2400" dirty="0"/>
              <a:t> for all elements </a:t>
            </a:r>
            <a:r>
              <a:rPr lang="en-US" altLang="zh-CN" sz="2400" i="1" dirty="0"/>
              <a:t>a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b</a:t>
            </a:r>
            <a:r>
              <a:rPr lang="en-US" altLang="zh-CN" sz="2400" dirty="0"/>
              <a:t> in </a:t>
            </a:r>
            <a:r>
              <a:rPr lang="en-US" altLang="zh-CN" sz="2400" i="1" dirty="0"/>
              <a:t>G</a:t>
            </a:r>
            <a:r>
              <a:rPr lang="en-US" altLang="zh-CN" sz="2400" dirty="0"/>
              <a:t>.</a:t>
            </a:r>
          </a:p>
          <a:p>
            <a:r>
              <a:rPr lang="en-US" altLang="zh-CN" sz="2400" dirty="0"/>
              <a:t>Let </a:t>
            </a:r>
            <a:r>
              <a:rPr lang="en-US" altLang="zh-CN" sz="2400" i="1" dirty="0"/>
              <a:t>G</a:t>
            </a:r>
            <a:r>
              <a:rPr lang="en-US" altLang="zh-CN" sz="2400" dirty="0"/>
              <a:t> be a group and  </a:t>
            </a:r>
            <a:r>
              <a:rPr lang="en-US" altLang="zh-CN" sz="2400" i="1" dirty="0"/>
              <a:t>a</a:t>
            </a:r>
            <a:r>
              <a:rPr lang="en-US" altLang="zh-CN" sz="2400" dirty="0"/>
              <a:t>, </a:t>
            </a:r>
            <a:r>
              <a:rPr lang="en-US" altLang="zh-CN" sz="2400" i="1" dirty="0"/>
              <a:t>b</a:t>
            </a:r>
            <a:r>
              <a:rPr lang="en-US" altLang="zh-CN" sz="2400" dirty="0"/>
              <a:t>, and </a:t>
            </a:r>
            <a:r>
              <a:rPr lang="en-US" altLang="zh-CN" sz="2400" i="1" dirty="0"/>
              <a:t>c</a:t>
            </a:r>
            <a:r>
              <a:rPr lang="en-US" altLang="zh-CN" sz="2400" dirty="0"/>
              <a:t> be elements of </a:t>
            </a:r>
            <a:r>
              <a:rPr lang="en-US" altLang="zh-CN" sz="2400" i="1" dirty="0"/>
              <a:t>G</a:t>
            </a:r>
            <a:r>
              <a:rPr lang="en-US" altLang="zh-CN" sz="2400" dirty="0"/>
              <a:t>. Then</a:t>
            </a:r>
          </a:p>
          <a:p>
            <a:pPr lvl="1"/>
            <a:r>
              <a:rPr lang="en-US" altLang="zh-CN" sz="2000" i="1" dirty="0">
                <a:solidFill>
                  <a:schemeClr val="hlink"/>
                </a:solidFill>
              </a:rPr>
              <a:t>left cancellation</a:t>
            </a:r>
            <a:r>
              <a:rPr lang="en-US" altLang="zh-CN" sz="2000" i="1" dirty="0"/>
              <a:t> – </a:t>
            </a:r>
            <a:r>
              <a:rPr lang="zh-CN" altLang="en-US" sz="2000" dirty="0"/>
              <a:t>左消去律</a:t>
            </a:r>
          </a:p>
          <a:p>
            <a:pPr lvl="2"/>
            <a:r>
              <a:rPr lang="en-US" altLang="zh-CN" sz="1800" i="1" dirty="0"/>
              <a:t>ab</a:t>
            </a:r>
            <a:r>
              <a:rPr lang="en-US" altLang="zh-CN" sz="1800" dirty="0"/>
              <a:t> = </a:t>
            </a:r>
            <a:r>
              <a:rPr lang="en-US" altLang="zh-CN" sz="1800" i="1" dirty="0"/>
              <a:t>ac</a:t>
            </a:r>
            <a:r>
              <a:rPr lang="en-US" altLang="zh-CN" sz="1800" dirty="0"/>
              <a:t> implies that </a:t>
            </a:r>
            <a:r>
              <a:rPr lang="en-US" altLang="zh-CN" sz="1800" i="1" dirty="0"/>
              <a:t>b</a:t>
            </a:r>
            <a:r>
              <a:rPr lang="en-US" altLang="zh-CN" sz="1800" dirty="0"/>
              <a:t> = </a:t>
            </a:r>
            <a:r>
              <a:rPr lang="en-US" altLang="zh-CN" sz="1800" i="1" dirty="0"/>
              <a:t>c</a:t>
            </a:r>
            <a:endParaRPr lang="en-US" altLang="zh-CN" sz="1800" dirty="0"/>
          </a:p>
          <a:p>
            <a:pPr lvl="1"/>
            <a:r>
              <a:rPr lang="en-US" altLang="zh-CN" sz="2000" i="1" dirty="0">
                <a:solidFill>
                  <a:schemeClr val="hlink"/>
                </a:solidFill>
              </a:rPr>
              <a:t>right cancellation</a:t>
            </a:r>
            <a:r>
              <a:rPr lang="en-US" altLang="zh-CN" sz="2000" i="1" dirty="0"/>
              <a:t> – </a:t>
            </a:r>
            <a:r>
              <a:rPr lang="zh-CN" altLang="en-US" sz="2000" dirty="0"/>
              <a:t>右消去律</a:t>
            </a:r>
            <a:endParaRPr lang="en-US" altLang="zh-CN" sz="2000" i="1" dirty="0">
              <a:solidFill>
                <a:schemeClr val="hlink"/>
              </a:solidFill>
            </a:endParaRPr>
          </a:p>
          <a:p>
            <a:pPr lvl="2"/>
            <a:r>
              <a:rPr lang="en-US" altLang="zh-CN" sz="1800" i="1" dirty="0" err="1"/>
              <a:t>ba</a:t>
            </a:r>
            <a:r>
              <a:rPr lang="en-US" altLang="zh-CN" sz="1800" dirty="0"/>
              <a:t> = </a:t>
            </a:r>
            <a:r>
              <a:rPr lang="en-US" altLang="zh-CN" sz="1800" i="1" dirty="0"/>
              <a:t>ca</a:t>
            </a:r>
            <a:r>
              <a:rPr lang="en-US" altLang="zh-CN" sz="1800" dirty="0"/>
              <a:t> implies that </a:t>
            </a:r>
            <a:r>
              <a:rPr lang="en-US" altLang="zh-CN" sz="1800" i="1" dirty="0"/>
              <a:t>b</a:t>
            </a:r>
            <a:r>
              <a:rPr lang="en-US" altLang="zh-CN" sz="1800" dirty="0"/>
              <a:t> = </a:t>
            </a:r>
            <a:r>
              <a:rPr lang="en-US" altLang="zh-CN" sz="1800" i="1" dirty="0"/>
              <a:t>c</a:t>
            </a:r>
          </a:p>
          <a:p>
            <a:pPr marL="914400" lvl="1" indent="-457200"/>
            <a:r>
              <a:rPr lang="en-US" altLang="zh-CN" sz="2000" dirty="0"/>
              <a:t>(</a:t>
            </a:r>
            <a:r>
              <a:rPr lang="en-US" altLang="zh-CN" sz="2000" i="1" dirty="0"/>
              <a:t>a</a:t>
            </a:r>
            <a:r>
              <a:rPr lang="en-US" altLang="zh-CN" sz="2000" baseline="30000" dirty="0"/>
              <a:t>-1</a:t>
            </a:r>
            <a:r>
              <a:rPr lang="en-US" altLang="zh-CN" sz="2000" dirty="0"/>
              <a:t>)</a:t>
            </a:r>
            <a:r>
              <a:rPr lang="en-US" altLang="zh-CN" sz="2000" baseline="30000" dirty="0"/>
              <a:t>-1</a:t>
            </a:r>
            <a:r>
              <a:rPr lang="en-US" altLang="zh-CN" sz="2000" dirty="0"/>
              <a:t> = </a:t>
            </a:r>
            <a:r>
              <a:rPr lang="en-US" altLang="zh-CN" sz="2000" i="1" dirty="0"/>
              <a:t>a</a:t>
            </a:r>
            <a:r>
              <a:rPr lang="en-US" altLang="zh-CN" sz="2000" dirty="0"/>
              <a:t>.</a:t>
            </a:r>
          </a:p>
          <a:p>
            <a:pPr marL="914400" lvl="1" indent="-457200"/>
            <a:r>
              <a:rPr lang="en-US" altLang="zh-CN" sz="2000" dirty="0"/>
              <a:t>(</a:t>
            </a:r>
            <a:r>
              <a:rPr lang="en-US" altLang="zh-CN" sz="2000" i="1" dirty="0"/>
              <a:t>ab</a:t>
            </a:r>
            <a:r>
              <a:rPr lang="en-US" altLang="zh-CN" sz="2000" dirty="0"/>
              <a:t>)</a:t>
            </a:r>
            <a:r>
              <a:rPr lang="en-US" altLang="zh-CN" sz="2000" baseline="30000" dirty="0"/>
              <a:t>-1</a:t>
            </a:r>
            <a:r>
              <a:rPr lang="en-US" altLang="zh-CN" sz="2000" dirty="0"/>
              <a:t> = </a:t>
            </a:r>
            <a:r>
              <a:rPr lang="en-US" altLang="zh-CN" sz="2000" i="1" dirty="0"/>
              <a:t>b</a:t>
            </a:r>
            <a:r>
              <a:rPr lang="en-US" altLang="zh-CN" sz="2000" baseline="30000" dirty="0"/>
              <a:t>-1</a:t>
            </a:r>
            <a:r>
              <a:rPr lang="en-US" altLang="zh-CN" sz="2000" i="1" dirty="0"/>
              <a:t>a</a:t>
            </a:r>
            <a:r>
              <a:rPr lang="en-US" altLang="zh-CN" sz="2000" baseline="30000" dirty="0"/>
              <a:t>-1</a:t>
            </a:r>
            <a:endParaRPr lang="zh-CN" altLang="en-US" sz="2000" dirty="0"/>
          </a:p>
          <a:p>
            <a:pPr lvl="2"/>
            <a:endParaRPr lang="zh-CN" altLang="en-US" sz="1800" i="1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ym typeface="+mn-ea"/>
              </a:rPr>
              <a:t>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0046" y="1182206"/>
            <a:ext cx="11977593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dirty="0"/>
              <a:t>If </a:t>
            </a:r>
            <a:r>
              <a:rPr lang="en-US" altLang="zh-CN" sz="2400" i="1" dirty="0"/>
              <a:t>G</a:t>
            </a:r>
            <a:r>
              <a:rPr lang="en-US" altLang="zh-CN" sz="2400" dirty="0"/>
              <a:t> is a group that has a finite number of elements, </a:t>
            </a:r>
            <a:r>
              <a:rPr lang="en-US" altLang="zh-CN" sz="2400" i="1" dirty="0"/>
              <a:t>G</a:t>
            </a:r>
            <a:r>
              <a:rPr lang="en-US" altLang="zh-CN" sz="2400" dirty="0"/>
              <a:t> is said to be a </a:t>
            </a:r>
            <a:r>
              <a:rPr lang="en-US" altLang="zh-CN" sz="2400" i="1" dirty="0">
                <a:solidFill>
                  <a:srgbClr val="FF3300"/>
                </a:solidFill>
              </a:rPr>
              <a:t>finite group</a:t>
            </a:r>
            <a:r>
              <a:rPr lang="zh-CN" altLang="en-US" sz="2400" i="1" dirty="0">
                <a:solidFill>
                  <a:srgbClr val="FF3300"/>
                </a:solidFill>
              </a:rPr>
              <a:t>（有限群）</a:t>
            </a:r>
            <a:r>
              <a:rPr lang="en-US" altLang="zh-CN" sz="2400" dirty="0"/>
              <a:t>, and the </a:t>
            </a:r>
            <a:r>
              <a:rPr lang="en-US" altLang="zh-CN" sz="2400" i="1" dirty="0">
                <a:solidFill>
                  <a:srgbClr val="FF3300"/>
                </a:solidFill>
              </a:rPr>
              <a:t>order</a:t>
            </a:r>
            <a:r>
              <a:rPr lang="en-US" altLang="zh-CN" sz="2400" dirty="0">
                <a:solidFill>
                  <a:srgbClr val="FF3300"/>
                </a:solidFill>
              </a:rPr>
              <a:t>(</a:t>
            </a:r>
            <a:r>
              <a:rPr lang="zh-CN" altLang="en-US" sz="2400" dirty="0">
                <a:solidFill>
                  <a:srgbClr val="FF3300"/>
                </a:solidFill>
              </a:rPr>
              <a:t>阶</a:t>
            </a:r>
            <a:r>
              <a:rPr lang="en-US" altLang="zh-CN" sz="2400" dirty="0">
                <a:solidFill>
                  <a:srgbClr val="FF3300"/>
                </a:solidFill>
              </a:rPr>
              <a:t>)</a:t>
            </a:r>
            <a:r>
              <a:rPr lang="en-US" altLang="zh-CN" sz="2400" dirty="0"/>
              <a:t> of </a:t>
            </a:r>
            <a:r>
              <a:rPr lang="en-US" altLang="zh-CN" sz="2400" i="1" dirty="0"/>
              <a:t>G</a:t>
            </a:r>
            <a:r>
              <a:rPr lang="en-US" altLang="zh-CN" sz="2400" dirty="0"/>
              <a:t> is the number of elements |</a:t>
            </a:r>
            <a:r>
              <a:rPr lang="en-US" altLang="zh-CN" sz="2400" i="1" dirty="0"/>
              <a:t>G</a:t>
            </a:r>
            <a:r>
              <a:rPr lang="en-US" altLang="zh-CN" sz="2400" dirty="0"/>
              <a:t>| in </a:t>
            </a:r>
            <a:r>
              <a:rPr lang="en-US" altLang="zh-CN" sz="2400" i="1" dirty="0"/>
              <a:t>G</a:t>
            </a:r>
            <a:r>
              <a:rPr lang="en-US" altLang="zh-CN" sz="2400" dirty="0"/>
              <a:t>. </a:t>
            </a:r>
          </a:p>
          <a:p>
            <a:r>
              <a:rPr lang="en-US" altLang="zh-CN" sz="2400" dirty="0"/>
              <a:t>The set of all permutations of </a:t>
            </a:r>
            <a:r>
              <a:rPr lang="en-US" altLang="zh-CN" sz="2400" i="1" dirty="0"/>
              <a:t>n</a:t>
            </a:r>
            <a:r>
              <a:rPr lang="en-US" altLang="zh-CN" sz="2400" dirty="0"/>
              <a:t> elements is a group of order </a:t>
            </a:r>
            <a:r>
              <a:rPr lang="en-US" altLang="zh-CN" sz="2400" i="1" dirty="0"/>
              <a:t>n</a:t>
            </a:r>
            <a:r>
              <a:rPr lang="en-US" altLang="zh-CN" sz="2400" dirty="0"/>
              <a:t>! under the operation of composition. This group is called the </a:t>
            </a:r>
            <a:r>
              <a:rPr lang="en-US" altLang="zh-CN" sz="2400" i="1" dirty="0">
                <a:solidFill>
                  <a:srgbClr val="FF3300"/>
                </a:solidFill>
              </a:rPr>
              <a:t>symmetric group on n </a:t>
            </a:r>
            <a:r>
              <a:rPr lang="en-US" altLang="zh-CN" sz="2400" i="1" dirty="0">
                <a:solidFill>
                  <a:schemeClr val="hlink"/>
                </a:solidFill>
              </a:rPr>
              <a:t>letters </a:t>
            </a:r>
            <a:r>
              <a:rPr lang="en-US" altLang="zh-CN" sz="2400" dirty="0">
                <a:solidFill>
                  <a:schemeClr val="hlink"/>
                </a:solidFill>
              </a:rPr>
              <a:t>(</a:t>
            </a:r>
            <a:r>
              <a:rPr lang="en-US" altLang="zh-CN" sz="2400" i="1" dirty="0">
                <a:solidFill>
                  <a:schemeClr val="hlink"/>
                </a:solidFill>
              </a:rPr>
              <a:t>n</a:t>
            </a:r>
            <a:r>
              <a:rPr lang="zh-CN" altLang="en-US" sz="2400" dirty="0">
                <a:solidFill>
                  <a:schemeClr val="hlink"/>
                </a:solidFill>
              </a:rPr>
              <a:t>次对称群</a:t>
            </a:r>
            <a:r>
              <a:rPr lang="en-US" altLang="zh-CN" sz="2400" dirty="0">
                <a:solidFill>
                  <a:schemeClr val="hlink"/>
                </a:solidFill>
              </a:rPr>
              <a:t>)</a:t>
            </a:r>
            <a:r>
              <a:rPr lang="en-US" altLang="zh-CN" sz="2400" dirty="0"/>
              <a:t> and is denoted by </a:t>
            </a:r>
            <a:r>
              <a:rPr lang="en-US" altLang="zh-CN" sz="2400" i="1" dirty="0"/>
              <a:t>S</a:t>
            </a:r>
            <a:r>
              <a:rPr lang="en-US" altLang="zh-CN" sz="2400" i="1" baseline="-25000" dirty="0"/>
              <a:t>n</a:t>
            </a:r>
            <a:r>
              <a:rPr lang="en-US" altLang="zh-CN" sz="2400" dirty="0"/>
              <a:t>.</a:t>
            </a:r>
          </a:p>
          <a:p>
            <a:r>
              <a:rPr lang="en-US" altLang="zh-CN" sz="2400" dirty="0"/>
              <a:t>Let </a:t>
            </a:r>
            <a:r>
              <a:rPr lang="en-US" altLang="zh-CN" sz="2400" i="1" dirty="0"/>
              <a:t>H</a:t>
            </a:r>
            <a:r>
              <a:rPr lang="en-US" altLang="zh-CN" sz="2400" dirty="0"/>
              <a:t> be a subset of a group </a:t>
            </a:r>
            <a:r>
              <a:rPr lang="en-US" altLang="zh-CN" sz="2400" i="1" dirty="0"/>
              <a:t>G</a:t>
            </a:r>
            <a:r>
              <a:rPr lang="en-US" altLang="zh-CN" sz="2400" dirty="0"/>
              <a:t> such that</a:t>
            </a:r>
          </a:p>
          <a:p>
            <a:pPr lvl="1"/>
            <a:r>
              <a:rPr lang="en-US" altLang="zh-CN" sz="2000" dirty="0"/>
              <a:t>(a) The identity </a:t>
            </a:r>
            <a:r>
              <a:rPr lang="en-US" altLang="zh-CN" sz="2000" i="1" dirty="0"/>
              <a:t>e</a:t>
            </a:r>
            <a:r>
              <a:rPr lang="en-US" altLang="zh-CN" sz="2000" dirty="0"/>
              <a:t> of </a:t>
            </a:r>
            <a:r>
              <a:rPr lang="en-US" altLang="zh-CN" sz="2000" i="1" dirty="0"/>
              <a:t>G</a:t>
            </a:r>
            <a:r>
              <a:rPr lang="en-US" altLang="zh-CN" sz="2000" dirty="0"/>
              <a:t> belongs to </a:t>
            </a:r>
            <a:r>
              <a:rPr lang="en-US" altLang="zh-CN" sz="2000" i="1" dirty="0"/>
              <a:t>H</a:t>
            </a:r>
            <a:r>
              <a:rPr lang="en-US" altLang="zh-CN" sz="2000" dirty="0"/>
              <a:t>.</a:t>
            </a:r>
          </a:p>
          <a:p>
            <a:pPr lvl="1"/>
            <a:r>
              <a:rPr lang="en-US" altLang="zh-CN" sz="2000" dirty="0"/>
              <a:t>(b) If </a:t>
            </a:r>
            <a:r>
              <a:rPr lang="en-US" altLang="zh-CN" sz="2000" i="1" dirty="0"/>
              <a:t>a</a:t>
            </a:r>
            <a:r>
              <a:rPr lang="en-US" altLang="zh-CN" sz="2000" dirty="0"/>
              <a:t> and </a:t>
            </a:r>
            <a:r>
              <a:rPr lang="en-US" altLang="zh-CN" sz="2000" i="1" dirty="0"/>
              <a:t>b</a:t>
            </a:r>
            <a:r>
              <a:rPr lang="en-US" altLang="zh-CN" sz="2000" dirty="0"/>
              <a:t> belong to </a:t>
            </a:r>
            <a:r>
              <a:rPr lang="en-US" altLang="zh-CN" sz="2000" i="1" dirty="0"/>
              <a:t>H</a:t>
            </a:r>
            <a:r>
              <a:rPr lang="en-US" altLang="zh-CN" sz="2000" dirty="0"/>
              <a:t>, then </a:t>
            </a:r>
            <a:r>
              <a:rPr lang="en-US" altLang="zh-CN" sz="2000" i="1" dirty="0"/>
              <a:t>ab</a:t>
            </a:r>
            <a:r>
              <a:rPr lang="en-US" altLang="zh-CN" sz="2000" dirty="0">
                <a:sym typeface="Symbol" panose="05050102010706020507" pitchFamily="18" charset="2"/>
              </a:rPr>
              <a:t>  </a:t>
            </a:r>
            <a:r>
              <a:rPr lang="en-US" altLang="zh-CN" sz="2000" i="1" dirty="0"/>
              <a:t>H</a:t>
            </a:r>
            <a:r>
              <a:rPr lang="en-US" altLang="zh-CN" sz="2000" dirty="0"/>
              <a:t>.</a:t>
            </a:r>
          </a:p>
          <a:p>
            <a:pPr lvl="1"/>
            <a:r>
              <a:rPr lang="en-US" altLang="zh-CN" sz="2000" dirty="0"/>
              <a:t>(c) If </a:t>
            </a:r>
            <a:r>
              <a:rPr lang="en-US" altLang="zh-CN" sz="2000" i="1" dirty="0"/>
              <a:t>a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 </a:t>
            </a:r>
            <a:r>
              <a:rPr lang="en-US" altLang="zh-CN" sz="2000" i="1" dirty="0"/>
              <a:t>H</a:t>
            </a:r>
            <a:r>
              <a:rPr lang="en-US" altLang="zh-CN" sz="2000" dirty="0"/>
              <a:t>, then </a:t>
            </a:r>
            <a:r>
              <a:rPr lang="en-US" altLang="zh-CN" sz="2000" i="1" dirty="0"/>
              <a:t>a</a:t>
            </a:r>
            <a:r>
              <a:rPr lang="en-US" altLang="zh-CN" sz="2000" baseline="30000" dirty="0"/>
              <a:t>-l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 </a:t>
            </a:r>
            <a:r>
              <a:rPr lang="en-US" altLang="zh-CN" sz="2000" i="1" dirty="0"/>
              <a:t>H</a:t>
            </a:r>
            <a:r>
              <a:rPr lang="en-US" altLang="zh-CN" sz="2000" dirty="0"/>
              <a:t>.</a:t>
            </a:r>
          </a:p>
          <a:p>
            <a:pPr marL="0" indent="0">
              <a:buNone/>
            </a:pPr>
            <a:r>
              <a:rPr lang="en-US" altLang="zh-CN" sz="2400" dirty="0"/>
              <a:t>    Then </a:t>
            </a:r>
            <a:r>
              <a:rPr lang="en-US" altLang="zh-CN" sz="2400" i="1" dirty="0"/>
              <a:t>H</a:t>
            </a:r>
            <a:r>
              <a:rPr lang="en-US" altLang="zh-CN" sz="2400" dirty="0"/>
              <a:t> is called a </a:t>
            </a:r>
            <a:r>
              <a:rPr lang="en-US" altLang="zh-CN" sz="2400" i="1" dirty="0">
                <a:solidFill>
                  <a:srgbClr val="FF3300"/>
                </a:solidFill>
              </a:rPr>
              <a:t>subgroup</a:t>
            </a:r>
            <a:r>
              <a:rPr lang="en-US" altLang="zh-CN" sz="2400" dirty="0"/>
              <a:t> of </a:t>
            </a:r>
            <a:r>
              <a:rPr lang="en-US" altLang="zh-CN" sz="2400" i="1" dirty="0"/>
              <a:t>G</a:t>
            </a:r>
          </a:p>
          <a:p>
            <a:pPr lvl="1"/>
            <a:endParaRPr lang="en-US" altLang="zh-CN" sz="2000" i="1" dirty="0">
              <a:solidFill>
                <a:schemeClr val="hlink"/>
              </a:solidFill>
            </a:endParaRPr>
          </a:p>
          <a:p>
            <a:r>
              <a:rPr lang="en-US" altLang="zh-CN" sz="2400" i="1" dirty="0">
                <a:solidFill>
                  <a:schemeClr val="hlink"/>
                </a:solidFill>
              </a:rPr>
              <a:t>trivial subgroups</a:t>
            </a:r>
            <a:r>
              <a:rPr lang="zh-CN" altLang="en-US" sz="2400" i="1" dirty="0">
                <a:solidFill>
                  <a:schemeClr val="hlink"/>
                </a:solidFill>
              </a:rPr>
              <a:t>（平凡子群）</a:t>
            </a: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ym typeface="+mn-ea"/>
              </a:rPr>
              <a:t>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0046" y="1182206"/>
            <a:ext cx="11977593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Let (</a:t>
            </a:r>
            <a:r>
              <a:rPr lang="en-US" altLang="zh-CN" i="1" dirty="0"/>
              <a:t>G</a:t>
            </a:r>
            <a:r>
              <a:rPr lang="en-US" altLang="zh-CN" dirty="0"/>
              <a:t>, *) and (</a:t>
            </a:r>
            <a:r>
              <a:rPr lang="en-US" altLang="zh-CN" i="1" dirty="0"/>
              <a:t>G</a:t>
            </a:r>
            <a:r>
              <a:rPr lang="en-US" altLang="zh-CN" dirty="0"/>
              <a:t>', *') be two groups, and </a:t>
            </a:r>
            <a:r>
              <a:rPr lang="en-US" altLang="zh-CN" i="1" dirty="0"/>
              <a:t>f</a:t>
            </a:r>
            <a:r>
              <a:rPr lang="en-US" altLang="zh-CN" dirty="0"/>
              <a:t>: </a:t>
            </a:r>
            <a:r>
              <a:rPr lang="en-US" altLang="zh-CN" i="1" dirty="0"/>
              <a:t>G</a:t>
            </a:r>
            <a:r>
              <a:rPr lang="en-US" altLang="zh-CN" i="1" dirty="0">
                <a:sym typeface="Symbol" panose="05050102010706020507" pitchFamily="18" charset="2"/>
              </a:rPr>
              <a:t></a:t>
            </a:r>
            <a:r>
              <a:rPr lang="en-US" altLang="zh-CN" i="1" dirty="0"/>
              <a:t>G</a:t>
            </a:r>
            <a:r>
              <a:rPr lang="en-US" altLang="zh-CN" dirty="0"/>
              <a:t>' be a homomorphism from </a:t>
            </a:r>
            <a:r>
              <a:rPr lang="en-US" altLang="zh-CN" i="1" dirty="0"/>
              <a:t>G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chemeClr val="hlink"/>
                </a:solidFill>
              </a:rPr>
              <a:t>to</a:t>
            </a:r>
            <a:r>
              <a:rPr lang="en-US" altLang="zh-CN" dirty="0"/>
              <a:t> </a:t>
            </a:r>
            <a:r>
              <a:rPr lang="en-US" altLang="zh-CN" i="1" dirty="0"/>
              <a:t>G</a:t>
            </a:r>
            <a:r>
              <a:rPr lang="en-US" altLang="zh-CN" dirty="0"/>
              <a:t>'. Then</a:t>
            </a:r>
          </a:p>
          <a:p>
            <a:pPr lvl="1"/>
            <a:r>
              <a:rPr lang="en-US" altLang="zh-CN" dirty="0"/>
              <a:t>(a) If </a:t>
            </a:r>
            <a:r>
              <a:rPr lang="en-US" altLang="zh-CN" i="1" dirty="0"/>
              <a:t>e</a:t>
            </a:r>
            <a:r>
              <a:rPr lang="en-US" altLang="zh-CN" dirty="0"/>
              <a:t> is the identity in </a:t>
            </a:r>
            <a:r>
              <a:rPr lang="en-US" altLang="zh-CN" i="1" dirty="0"/>
              <a:t>G</a:t>
            </a:r>
            <a:r>
              <a:rPr lang="en-US" altLang="zh-CN" dirty="0"/>
              <a:t> and </a:t>
            </a:r>
            <a:r>
              <a:rPr lang="en-US" altLang="zh-CN" i="1" dirty="0"/>
              <a:t>e'</a:t>
            </a:r>
            <a:r>
              <a:rPr lang="en-US" altLang="zh-CN" dirty="0"/>
              <a:t> is the identity in </a:t>
            </a:r>
            <a:r>
              <a:rPr lang="en-US" altLang="zh-CN" i="1" dirty="0"/>
              <a:t>G</a:t>
            </a:r>
            <a:r>
              <a:rPr lang="en-US" altLang="zh-CN" dirty="0"/>
              <a:t>', then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) = </a:t>
            </a:r>
            <a:r>
              <a:rPr lang="en-US" altLang="zh-CN" i="1" dirty="0"/>
              <a:t>e</a:t>
            </a:r>
            <a:r>
              <a:rPr lang="en-US" altLang="zh-CN" dirty="0"/>
              <a:t>'.</a:t>
            </a:r>
          </a:p>
          <a:p>
            <a:pPr lvl="1"/>
            <a:r>
              <a:rPr lang="en-US" altLang="zh-CN" dirty="0"/>
              <a:t>(b) If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G</a:t>
            </a:r>
            <a:r>
              <a:rPr lang="en-US" altLang="zh-CN" dirty="0"/>
              <a:t>, then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dirty="0"/>
              <a:t>) = (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))</a:t>
            </a:r>
            <a:r>
              <a:rPr lang="en-US" altLang="zh-CN" baseline="30000" dirty="0"/>
              <a:t>-1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(c) If </a:t>
            </a:r>
            <a:r>
              <a:rPr lang="en-US" altLang="zh-CN" i="1" dirty="0"/>
              <a:t>H</a:t>
            </a:r>
            <a:r>
              <a:rPr lang="en-US" altLang="zh-CN" dirty="0"/>
              <a:t> is a subgroup of </a:t>
            </a:r>
            <a:r>
              <a:rPr lang="en-US" altLang="zh-CN" i="1" dirty="0"/>
              <a:t>G</a:t>
            </a:r>
            <a:r>
              <a:rPr lang="en-US" altLang="zh-CN" dirty="0"/>
              <a:t>, then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H</a:t>
            </a:r>
            <a:r>
              <a:rPr lang="en-US" altLang="zh-CN" dirty="0"/>
              <a:t>) = {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h</a:t>
            </a:r>
            <a:r>
              <a:rPr lang="en-US" altLang="zh-CN" dirty="0"/>
              <a:t>)|</a:t>
            </a:r>
            <a:r>
              <a:rPr lang="en-US" altLang="zh-CN" i="1" dirty="0"/>
              <a:t>h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H</a:t>
            </a:r>
            <a:r>
              <a:rPr lang="en-US" altLang="zh-CN" dirty="0"/>
              <a:t>} is a subgroup of </a:t>
            </a:r>
            <a:r>
              <a:rPr lang="en-US" altLang="zh-CN" i="1" dirty="0"/>
              <a:t>G</a:t>
            </a:r>
            <a:r>
              <a:rPr lang="en-US" altLang="zh-CN" dirty="0"/>
              <a:t>'.</a:t>
            </a:r>
            <a:endParaRPr lang="zh-CN" altLang="en-US" dirty="0"/>
          </a:p>
          <a:p>
            <a:r>
              <a:rPr lang="en-US" altLang="zh-CN" i="1" dirty="0">
                <a:solidFill>
                  <a:schemeClr val="hlink"/>
                </a:solidFill>
              </a:rPr>
              <a:t>Klein 4 group</a:t>
            </a:r>
          </a:p>
          <a:p>
            <a:r>
              <a:rPr lang="en-US" altLang="zh-CN" i="1" dirty="0">
                <a:solidFill>
                  <a:schemeClr val="hlink"/>
                </a:solidFill>
              </a:rPr>
              <a:t>Cyclic group</a:t>
            </a:r>
            <a:r>
              <a:rPr lang="zh-CN" altLang="en-US" i="1" dirty="0">
                <a:solidFill>
                  <a:schemeClr val="hlink"/>
                </a:solidFill>
              </a:rPr>
              <a:t>（循环群）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ym typeface="+mn-ea"/>
              </a:rPr>
              <a:t>Groups</a:t>
            </a:r>
            <a:endParaRPr lang="en-US" altLang="zh-CN" sz="32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0046" y="1182206"/>
            <a:ext cx="11977593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If 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 and </a:t>
            </a:r>
            <a:r>
              <a:rPr lang="en-US" altLang="zh-CN" i="1" dirty="0"/>
              <a:t>G</a:t>
            </a:r>
            <a:r>
              <a:rPr lang="en-US" altLang="zh-CN" baseline="-25000" dirty="0"/>
              <a:t>2 </a:t>
            </a:r>
            <a:r>
              <a:rPr lang="en-US" altLang="zh-CN" dirty="0"/>
              <a:t>are groups, then </a:t>
            </a:r>
            <a:r>
              <a:rPr lang="en-US" altLang="zh-CN" i="1" dirty="0"/>
              <a:t>G</a:t>
            </a:r>
            <a:r>
              <a:rPr lang="en-US" altLang="zh-CN" dirty="0"/>
              <a:t> = 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i="1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 is a group with binary operation defined by (</a:t>
            </a:r>
            <a:r>
              <a:rPr lang="en-US" altLang="zh-CN" i="1" dirty="0"/>
              <a:t>a</a:t>
            </a:r>
            <a:r>
              <a:rPr lang="en-US" altLang="zh-CN" baseline="-25000" dirty="0"/>
              <a:t>l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baseline="-25000" dirty="0"/>
              <a:t>l</a:t>
            </a:r>
            <a:r>
              <a:rPr lang="en-US" altLang="zh-CN" dirty="0"/>
              <a:t>)(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) = (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baseline="-25000" dirty="0"/>
              <a:t>l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).</a:t>
            </a:r>
          </a:p>
          <a:p>
            <a:r>
              <a:rPr lang="en-US" altLang="zh-CN" dirty="0"/>
              <a:t>Let </a:t>
            </a:r>
            <a:r>
              <a:rPr lang="en-US" altLang="zh-CN" i="1" dirty="0"/>
              <a:t>B</a:t>
            </a:r>
            <a:r>
              <a:rPr lang="en-US" altLang="zh-CN" dirty="0"/>
              <a:t> ={0, l } be the group, Then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  </a:t>
            </a:r>
            <a:r>
              <a:rPr lang="en-US" altLang="zh-CN" dirty="0"/>
              <a:t>...</a:t>
            </a:r>
            <a:r>
              <a:rPr lang="en-US" altLang="zh-CN" dirty="0">
                <a:sym typeface="Symbol" panose="05050102010706020507" pitchFamily="18" charset="2"/>
              </a:rPr>
              <a:t>  </a:t>
            </a:r>
            <a:r>
              <a:rPr lang="en-US" altLang="zh-CN" i="1" dirty="0"/>
              <a:t>B</a:t>
            </a:r>
            <a:r>
              <a:rPr lang="en-US" altLang="zh-CN" dirty="0"/>
              <a:t> (</a:t>
            </a:r>
            <a:r>
              <a:rPr lang="en-US" altLang="zh-CN" i="1" dirty="0"/>
              <a:t>n</a:t>
            </a:r>
            <a:r>
              <a:rPr lang="en-US" altLang="zh-CN" dirty="0"/>
              <a:t> factors) is a group with operation 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>
                <a:sym typeface="MT Symbol" panose="05050102010706020507" pitchFamily="18" charset="2"/>
              </a:rPr>
              <a:t> </a:t>
            </a:r>
            <a:r>
              <a:rPr lang="en-US" altLang="zh-CN" dirty="0"/>
              <a:t>defined by </a:t>
            </a:r>
          </a:p>
          <a:p>
            <a:pPr lvl="1"/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,... </a:t>
            </a:r>
            <a:r>
              <a:rPr lang="en-US" altLang="zh-CN" i="1" dirty="0" err="1"/>
              <a:t>x</a:t>
            </a:r>
            <a:r>
              <a:rPr lang="en-US" altLang="zh-CN" baseline="-25000" dirty="0" err="1"/>
              <a:t>n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 </a:t>
            </a:r>
            <a:r>
              <a:rPr lang="en-US" altLang="zh-CN" dirty="0"/>
              <a:t> (</a:t>
            </a:r>
            <a:r>
              <a:rPr lang="en-US" altLang="zh-CN" i="1" dirty="0"/>
              <a:t>y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baseline="-25000" dirty="0"/>
              <a:t>2</a:t>
            </a:r>
            <a:r>
              <a:rPr lang="en-US" altLang="zh-CN" dirty="0"/>
              <a:t>,... </a:t>
            </a:r>
            <a:r>
              <a:rPr lang="en-US" altLang="zh-CN" i="1" dirty="0" err="1"/>
              <a:t>y</a:t>
            </a:r>
            <a:r>
              <a:rPr lang="en-US" altLang="zh-CN" baseline="-25000" dirty="0" err="1"/>
              <a:t>n</a:t>
            </a:r>
            <a:r>
              <a:rPr lang="en-US" altLang="zh-CN" dirty="0"/>
              <a:t>) = (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+</a:t>
            </a:r>
            <a:r>
              <a:rPr lang="en-US" altLang="zh-CN" i="1" dirty="0"/>
              <a:t>y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+</a:t>
            </a:r>
            <a:r>
              <a:rPr lang="en-US" altLang="zh-CN" i="1" dirty="0"/>
              <a:t>y</a:t>
            </a:r>
            <a:r>
              <a:rPr lang="en-US" altLang="zh-CN" baseline="-25000" dirty="0"/>
              <a:t>2</a:t>
            </a:r>
            <a:r>
              <a:rPr lang="en-US" altLang="zh-CN" dirty="0"/>
              <a:t>,.... </a:t>
            </a:r>
            <a:r>
              <a:rPr lang="en-US" altLang="zh-CN" i="1" dirty="0" err="1"/>
              <a:t>x</a:t>
            </a:r>
            <a:r>
              <a:rPr lang="en-US" altLang="zh-CN" baseline="-25000" dirty="0" err="1"/>
              <a:t>n</a:t>
            </a:r>
            <a:r>
              <a:rPr lang="en-US" altLang="zh-CN" dirty="0" err="1"/>
              <a:t>+</a:t>
            </a:r>
            <a:r>
              <a:rPr lang="en-US" altLang="zh-CN" i="1" dirty="0" err="1"/>
              <a:t>y</a:t>
            </a:r>
            <a:r>
              <a:rPr lang="en-US" altLang="zh-CN" baseline="-25000" dirty="0" err="1"/>
              <a:t>n</a:t>
            </a:r>
            <a:r>
              <a:rPr lang="en-US" altLang="zh-CN" dirty="0"/>
              <a:t> ).</a:t>
            </a:r>
          </a:p>
          <a:p>
            <a:pPr lvl="1"/>
            <a:r>
              <a:rPr lang="en-US" altLang="zh-CN" dirty="0"/>
              <a:t>The identity of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is (0, 0,..., 0), and every element is its own inverse. </a:t>
            </a:r>
          </a:p>
          <a:p>
            <a:r>
              <a:rPr lang="en-US" altLang="zh-CN" sz="2400" dirty="0"/>
              <a:t>Let </a:t>
            </a:r>
            <a:r>
              <a:rPr lang="en-US" altLang="zh-CN" sz="2400" i="1" dirty="0"/>
              <a:t>R</a:t>
            </a:r>
            <a:r>
              <a:rPr lang="en-US" altLang="zh-CN" sz="2400" dirty="0"/>
              <a:t> be a congruence relation on the group (</a:t>
            </a:r>
            <a:r>
              <a:rPr lang="en-US" altLang="zh-CN" sz="2400" i="1" dirty="0"/>
              <a:t>G</a:t>
            </a:r>
            <a:r>
              <a:rPr lang="en-US" altLang="zh-CN" sz="2400" dirty="0"/>
              <a:t>, *). Then the semigroup (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Euclid Math One" panose="05050601010101010101" pitchFamily="18" charset="2"/>
              </a:rPr>
              <a:t></a:t>
            </a:r>
            <a:r>
              <a:rPr lang="en-US" altLang="zh-CN" sz="2400" dirty="0"/>
              <a:t>) is a group, where the operation </a:t>
            </a:r>
            <a:r>
              <a:rPr lang="en-US" altLang="zh-CN" sz="2400" dirty="0">
                <a:sym typeface="Euclid Math One" panose="05050601010101010101" pitchFamily="18" charset="2"/>
              </a:rPr>
              <a:t></a:t>
            </a:r>
            <a:r>
              <a:rPr lang="en-US" altLang="zh-CN" sz="2400" dirty="0"/>
              <a:t> is defined on 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 by </a:t>
            </a:r>
            <a:r>
              <a:rPr lang="en-US" altLang="zh-CN" sz="2000" dirty="0"/>
              <a:t>[</a:t>
            </a:r>
            <a:r>
              <a:rPr lang="en-US" altLang="zh-CN" sz="2000" i="1" dirty="0"/>
              <a:t>a</a:t>
            </a:r>
            <a:r>
              <a:rPr lang="en-US" altLang="zh-CN" sz="2000" dirty="0"/>
              <a:t>]</a:t>
            </a:r>
            <a:r>
              <a:rPr lang="en-US" altLang="zh-CN" sz="2000" dirty="0">
                <a:sym typeface="Euclid Math One" panose="05050601010101010101" pitchFamily="18" charset="2"/>
              </a:rPr>
              <a:t></a:t>
            </a:r>
            <a:r>
              <a:rPr lang="en-US" altLang="zh-CN" sz="2000" dirty="0"/>
              <a:t>[</a:t>
            </a:r>
            <a:r>
              <a:rPr lang="en-US" altLang="zh-CN" sz="2000" i="1" dirty="0"/>
              <a:t>b</a:t>
            </a:r>
            <a:r>
              <a:rPr lang="en-US" altLang="zh-CN" sz="2000" dirty="0"/>
              <a:t>] = [</a:t>
            </a:r>
            <a:r>
              <a:rPr lang="en-US" altLang="zh-CN" sz="2000" i="1" dirty="0"/>
              <a:t>a</a:t>
            </a:r>
            <a:r>
              <a:rPr lang="en-US" altLang="zh-CN" sz="2000" dirty="0"/>
              <a:t>*</a:t>
            </a:r>
            <a:r>
              <a:rPr lang="en-US" altLang="zh-CN" sz="2000" i="1" dirty="0"/>
              <a:t>b</a:t>
            </a:r>
            <a:r>
              <a:rPr lang="en-US" altLang="zh-CN" sz="2000" dirty="0"/>
              <a:t>]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ym typeface="+mn-ea"/>
              </a:rPr>
              <a:t>Products and Quotients of Groups</a:t>
            </a:r>
            <a:endParaRPr lang="en-US" altLang="zh-CN" sz="32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0180" y="2894460"/>
            <a:ext cx="1021108" cy="83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0046" y="1182206"/>
            <a:ext cx="9782065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800" dirty="0">
                <a:solidFill>
                  <a:srgbClr val="008080"/>
                </a:solidFill>
              </a:rPr>
              <a:t> 例题-</a:t>
            </a:r>
            <a:r>
              <a:rPr lang="zh-CN" altLang="en-US" sz="2800" dirty="0"/>
              <a:t>求模</a:t>
            </a:r>
            <a:r>
              <a:rPr lang="en-US" altLang="zh-CN" sz="2800" dirty="0"/>
              <a:t>4</a:t>
            </a:r>
            <a:r>
              <a:rPr lang="zh-CN" altLang="en-US" sz="2800" dirty="0"/>
              <a:t>同余产生的整数划分构成的商集</a:t>
            </a:r>
            <a:r>
              <a:rPr lang="en-US" altLang="zh-CN" sz="2800" dirty="0"/>
              <a:t>A/R </a:t>
            </a:r>
            <a:endParaRPr lang="zh-CN" altLang="en-US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ym typeface="+mn-ea"/>
              </a:rPr>
              <a:t>Products and Quotients of Groups</a:t>
            </a:r>
            <a:endParaRPr lang="en-US" altLang="zh-CN" sz="3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30419" t="22831" r="16522"/>
          <a:stretch>
            <a:fillRect/>
          </a:stretch>
        </p:blipFill>
        <p:spPr>
          <a:xfrm>
            <a:off x="1094740" y="2449195"/>
            <a:ext cx="5440680" cy="19596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0046" y="1182206"/>
            <a:ext cx="9782065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800" dirty="0"/>
              <a:t>If </a:t>
            </a:r>
            <a:r>
              <a:rPr lang="en-US" altLang="zh-CN" sz="2800" i="1" dirty="0"/>
              <a:t>R</a:t>
            </a:r>
            <a:r>
              <a:rPr lang="en-US" altLang="zh-CN" sz="2800" dirty="0"/>
              <a:t> is a congruence relation on a group </a:t>
            </a:r>
            <a:r>
              <a:rPr lang="en-US" altLang="zh-CN" sz="2800" i="1" dirty="0"/>
              <a:t>G</a:t>
            </a:r>
            <a:r>
              <a:rPr lang="en-US" altLang="zh-CN" sz="2800" dirty="0"/>
              <a:t>, then the function </a:t>
            </a:r>
          </a:p>
          <a:p>
            <a:pPr marL="0" indent="0">
              <a:buNone/>
            </a:pPr>
            <a:r>
              <a:rPr lang="en-US" altLang="zh-CN" sz="2800" i="1" dirty="0" err="1"/>
              <a:t>f</a:t>
            </a:r>
            <a:r>
              <a:rPr lang="en-US" altLang="zh-CN" sz="2800" i="1" baseline="-25000" dirty="0" err="1"/>
              <a:t>R</a:t>
            </a:r>
            <a:r>
              <a:rPr lang="en-US" altLang="zh-CN" sz="2800" dirty="0"/>
              <a:t>: </a:t>
            </a:r>
            <a:r>
              <a:rPr lang="en-US" altLang="zh-CN" sz="2800" i="1" dirty="0"/>
              <a:t>G</a:t>
            </a:r>
            <a:r>
              <a:rPr lang="en-US" altLang="zh-CN" sz="2800" i="1" dirty="0">
                <a:sym typeface="Symbol" panose="05050102010706020507" pitchFamily="18" charset="2"/>
              </a:rPr>
              <a:t></a:t>
            </a:r>
            <a:r>
              <a:rPr lang="en-US" altLang="zh-CN" sz="2800" i="1" dirty="0"/>
              <a:t>G</a:t>
            </a:r>
            <a:r>
              <a:rPr lang="en-US" altLang="zh-CN" sz="2800" dirty="0"/>
              <a:t>/</a:t>
            </a:r>
            <a:r>
              <a:rPr lang="en-US" altLang="zh-CN" sz="2800" i="1" dirty="0"/>
              <a:t>R </a:t>
            </a:r>
            <a:r>
              <a:rPr lang="en-US" altLang="zh-CN" sz="2800" dirty="0"/>
              <a:t>given by </a:t>
            </a:r>
            <a:r>
              <a:rPr lang="en-US" altLang="zh-CN" sz="2800" i="1" dirty="0" err="1"/>
              <a:t>f</a:t>
            </a:r>
            <a:r>
              <a:rPr lang="en-US" altLang="zh-CN" sz="2800" i="1" baseline="-25000" dirty="0" err="1"/>
              <a:t>R</a:t>
            </a:r>
            <a:r>
              <a:rPr lang="en-US" altLang="zh-CN" sz="2800" dirty="0"/>
              <a:t>(</a:t>
            </a:r>
            <a:r>
              <a:rPr lang="en-US" altLang="zh-CN" sz="2800" i="1" dirty="0"/>
              <a:t>a</a:t>
            </a:r>
            <a:r>
              <a:rPr lang="en-US" altLang="zh-CN" sz="2800" dirty="0"/>
              <a:t>) = [</a:t>
            </a:r>
            <a:r>
              <a:rPr lang="en-US" altLang="zh-CN" sz="2800" i="1" dirty="0"/>
              <a:t>a</a:t>
            </a:r>
            <a:r>
              <a:rPr lang="en-US" altLang="zh-CN" sz="2800" dirty="0"/>
              <a:t>] is a group homomorphism.</a:t>
            </a:r>
          </a:p>
          <a:p>
            <a:r>
              <a:rPr lang="en-US" altLang="zh-CN" sz="2800" dirty="0"/>
              <a:t>If </a:t>
            </a:r>
          </a:p>
          <a:p>
            <a:pPr lvl="1"/>
            <a:r>
              <a:rPr lang="en-US" altLang="zh-CN" sz="2400" i="1" dirty="0"/>
              <a:t>f</a:t>
            </a:r>
            <a:r>
              <a:rPr lang="en-US" altLang="zh-CN" sz="2400" dirty="0"/>
              <a:t>: </a:t>
            </a:r>
            <a:r>
              <a:rPr lang="en-US" altLang="zh-CN" sz="2400" i="1" dirty="0"/>
              <a:t>G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G</a:t>
            </a:r>
            <a:r>
              <a:rPr lang="en-US" altLang="zh-CN" sz="2400" dirty="0"/>
              <a:t>' is a homomorphism from the group (</a:t>
            </a:r>
            <a:r>
              <a:rPr lang="en-US" altLang="zh-CN" sz="2400" i="1" dirty="0"/>
              <a:t>G</a:t>
            </a:r>
            <a:r>
              <a:rPr lang="en-US" altLang="zh-CN" sz="2400" dirty="0"/>
              <a:t>, *) </a:t>
            </a:r>
            <a:r>
              <a:rPr lang="en-US" altLang="zh-CN" sz="2400" i="1" dirty="0">
                <a:solidFill>
                  <a:schemeClr val="hlink"/>
                </a:solidFill>
              </a:rPr>
              <a:t>onto</a:t>
            </a:r>
            <a:r>
              <a:rPr lang="en-US" altLang="zh-CN" sz="2400" dirty="0"/>
              <a:t> the group (</a:t>
            </a:r>
            <a:r>
              <a:rPr lang="en-US" altLang="zh-CN" sz="2400" i="1" dirty="0"/>
              <a:t>G</a:t>
            </a:r>
            <a:r>
              <a:rPr lang="en-US" altLang="zh-CN" sz="2400" dirty="0"/>
              <a:t>', *'), and </a:t>
            </a:r>
          </a:p>
          <a:p>
            <a:pPr lvl="1"/>
            <a:r>
              <a:rPr lang="en-US" altLang="zh-CN" sz="2400" i="1" dirty="0"/>
              <a:t>R</a:t>
            </a:r>
            <a:r>
              <a:rPr lang="en-US" altLang="zh-CN" sz="2400" dirty="0"/>
              <a:t> is the relation defined on </a:t>
            </a:r>
            <a:r>
              <a:rPr lang="en-US" altLang="zh-CN" sz="2400" i="1" dirty="0"/>
              <a:t>G</a:t>
            </a:r>
            <a:r>
              <a:rPr lang="en-US" altLang="zh-CN" sz="2400" dirty="0"/>
              <a:t> by  </a:t>
            </a: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en-US" altLang="zh-CN" sz="2400" i="1" dirty="0"/>
              <a:t>R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dirty="0"/>
              <a:t> </a:t>
            </a:r>
            <a:r>
              <a:rPr lang="en-US" altLang="zh-CN" sz="2400" i="1" dirty="0">
                <a:solidFill>
                  <a:schemeClr val="hlink"/>
                </a:solidFill>
              </a:rPr>
              <a:t>if and only if</a:t>
            </a:r>
            <a:r>
              <a:rPr lang="en-US" altLang="zh-CN" sz="2400" dirty="0"/>
              <a:t> 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), for </a:t>
            </a:r>
            <a:r>
              <a:rPr lang="en-US" altLang="zh-CN" sz="2400" i="1" dirty="0"/>
              <a:t>a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b</a:t>
            </a:r>
            <a:r>
              <a:rPr lang="en-US" altLang="zh-CN" sz="2400" dirty="0"/>
              <a:t> in </a:t>
            </a:r>
            <a:r>
              <a:rPr lang="en-US" altLang="zh-CN" sz="2400" i="1" dirty="0"/>
              <a:t>G</a:t>
            </a:r>
            <a:endParaRPr lang="en-US" altLang="zh-CN" sz="2400" dirty="0"/>
          </a:p>
          <a:p>
            <a:r>
              <a:rPr lang="en-US" altLang="zh-CN" sz="2800" dirty="0"/>
              <a:t>Then</a:t>
            </a:r>
          </a:p>
          <a:p>
            <a:pPr lvl="1"/>
            <a:r>
              <a:rPr lang="en-US" altLang="zh-CN" sz="2400" i="1" dirty="0"/>
              <a:t>R</a:t>
            </a:r>
            <a:r>
              <a:rPr lang="en-US" altLang="zh-CN" sz="2400" dirty="0"/>
              <a:t> is a congruence relation.</a:t>
            </a:r>
          </a:p>
          <a:p>
            <a:pPr lvl="1"/>
            <a:r>
              <a:rPr lang="en-US" altLang="zh-CN" sz="2400" dirty="0"/>
              <a:t>The function </a:t>
            </a:r>
            <a:r>
              <a:rPr lang="en-US" altLang="zh-CN" sz="2400" i="1" dirty="0"/>
              <a:t>f</a:t>
            </a:r>
            <a:r>
              <a:rPr lang="en-US" altLang="zh-CN" sz="2400" dirty="0"/>
              <a:t>: 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G</a:t>
            </a:r>
            <a:r>
              <a:rPr lang="en-US" altLang="zh-CN" sz="2400" dirty="0"/>
              <a:t>', given by </a:t>
            </a:r>
            <a:r>
              <a:rPr lang="en-US" altLang="zh-CN" sz="2400" i="1" dirty="0"/>
              <a:t>f</a:t>
            </a:r>
            <a:r>
              <a:rPr lang="en-US" altLang="zh-CN" sz="2400" dirty="0"/>
              <a:t>([</a:t>
            </a:r>
            <a:r>
              <a:rPr lang="en-US" altLang="zh-CN" sz="2400" i="1" dirty="0"/>
              <a:t>a</a:t>
            </a:r>
            <a:r>
              <a:rPr lang="en-US" altLang="zh-CN" sz="2400" dirty="0"/>
              <a:t>]) =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 is an isomorphism from the group (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Euclid Math One" panose="05050601010101010101" pitchFamily="18" charset="2"/>
              </a:rPr>
              <a:t></a:t>
            </a:r>
            <a:r>
              <a:rPr lang="en-US" altLang="zh-CN" sz="2400" dirty="0"/>
              <a:t>) onto the group (</a:t>
            </a:r>
            <a:r>
              <a:rPr lang="en-US" altLang="zh-CN" sz="2400" i="1" dirty="0"/>
              <a:t>G</a:t>
            </a:r>
            <a:r>
              <a:rPr lang="en-US" altLang="zh-CN" sz="2400" dirty="0"/>
              <a:t>', *' ).</a:t>
            </a:r>
            <a:endParaRPr lang="zh-CN" altLang="zh-CN" sz="2400" dirty="0"/>
          </a:p>
          <a:p>
            <a:endParaRPr lang="zh-CN" altLang="en-US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210046" y="0"/>
            <a:ext cx="11056470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ym typeface="+mn-ea"/>
              </a:rPr>
              <a:t>Products and Quotients of Groups</a:t>
            </a:r>
            <a:endParaRPr lang="en-US" altLang="zh-CN" sz="3200" dirty="0"/>
          </a:p>
        </p:txBody>
      </p:sp>
      <p:grpSp>
        <p:nvGrpSpPr>
          <p:cNvPr id="4" name="Group 9"/>
          <p:cNvGrpSpPr/>
          <p:nvPr/>
        </p:nvGrpSpPr>
        <p:grpSpPr bwMode="auto">
          <a:xfrm>
            <a:off x="9880826" y="2755261"/>
            <a:ext cx="2101128" cy="1784639"/>
            <a:chOff x="1670" y="1389"/>
            <a:chExt cx="1876" cy="1902"/>
          </a:xfrm>
        </p:grpSpPr>
        <p:sp>
          <p:nvSpPr>
            <p:cNvPr id="6" name="Line 10"/>
            <p:cNvSpPr>
              <a:spLocks noChangeShapeType="1"/>
            </p:cNvSpPr>
            <p:nvPr/>
          </p:nvSpPr>
          <p:spPr bwMode="auto">
            <a:xfrm>
              <a:off x="1927" y="1706"/>
              <a:ext cx="1361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11"/>
            <p:cNvSpPr>
              <a:spLocks noChangeShapeType="1"/>
            </p:cNvSpPr>
            <p:nvPr/>
          </p:nvSpPr>
          <p:spPr bwMode="auto">
            <a:xfrm>
              <a:off x="1882" y="1888"/>
              <a:ext cx="636" cy="1044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2"/>
            <p:cNvSpPr>
              <a:spLocks noChangeShapeType="1"/>
            </p:cNvSpPr>
            <p:nvPr/>
          </p:nvSpPr>
          <p:spPr bwMode="auto">
            <a:xfrm flipV="1">
              <a:off x="2744" y="1842"/>
              <a:ext cx="590" cy="1044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 type="arrow" w="lg" len="lg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Box 13"/>
            <p:cNvSpPr txBox="1">
              <a:spLocks noChangeArrowheads="1"/>
            </p:cNvSpPr>
            <p:nvPr/>
          </p:nvSpPr>
          <p:spPr bwMode="auto">
            <a:xfrm>
              <a:off x="1670" y="1600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anose="02010609030101010101" pitchFamily="49" charset="-122"/>
                </a:rPr>
                <a:t>S</a:t>
              </a:r>
            </a:p>
          </p:txBody>
        </p:sp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3258" y="1570"/>
              <a:ext cx="288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anose="02010609030101010101" pitchFamily="49" charset="-122"/>
                </a:rPr>
                <a:t>T</a:t>
              </a:r>
            </a:p>
          </p:txBody>
        </p:sp>
        <p:sp>
          <p:nvSpPr>
            <p:cNvPr id="11" name="Text Box 15"/>
            <p:cNvSpPr txBox="1">
              <a:spLocks noChangeArrowheads="1"/>
            </p:cNvSpPr>
            <p:nvPr/>
          </p:nvSpPr>
          <p:spPr bwMode="auto">
            <a:xfrm>
              <a:off x="2427" y="2886"/>
              <a:ext cx="493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 dirty="0">
                  <a:solidFill>
                    <a:schemeClr val="folHlink"/>
                  </a:solidFill>
                  <a:ea typeface="楷体_GB2312" panose="02010609030101010101" pitchFamily="49" charset="-122"/>
                </a:rPr>
                <a:t>S/R</a:t>
              </a:r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1791" y="2205"/>
              <a:ext cx="319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anose="02010609030101010101" pitchFamily="49" charset="-122"/>
                </a:rPr>
                <a:t>f</a:t>
              </a:r>
              <a:r>
                <a:rPr lang="en-US" altLang="zh-CN" sz="2400" i="1" baseline="-25000">
                  <a:solidFill>
                    <a:schemeClr val="folHlink"/>
                  </a:solidFill>
                  <a:ea typeface="楷体_GB2312" panose="02010609030101010101" pitchFamily="49" charset="-122"/>
                </a:rPr>
                <a:t>R</a:t>
              </a:r>
            </a:p>
          </p:txBody>
        </p:sp>
        <p:sp>
          <p:nvSpPr>
            <p:cNvPr id="13" name="Text Box 17"/>
            <p:cNvSpPr txBox="1">
              <a:spLocks noChangeArrowheads="1"/>
            </p:cNvSpPr>
            <p:nvPr/>
          </p:nvSpPr>
          <p:spPr bwMode="auto">
            <a:xfrm>
              <a:off x="3107" y="2205"/>
              <a:ext cx="21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anose="02010609030101010101" pitchFamily="49" charset="-122"/>
                </a:rPr>
                <a:t>f</a:t>
              </a:r>
            </a:p>
          </p:txBody>
        </p:sp>
        <p:sp>
          <p:nvSpPr>
            <p:cNvPr id="14" name="Text Box 18"/>
            <p:cNvSpPr txBox="1">
              <a:spLocks noChangeArrowheads="1"/>
            </p:cNvSpPr>
            <p:nvPr/>
          </p:nvSpPr>
          <p:spPr bwMode="auto">
            <a:xfrm>
              <a:off x="2472" y="1389"/>
              <a:ext cx="21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bg1"/>
                </a:buClr>
                <a:buSzPct val="100000"/>
                <a:buFont typeface="Wingdings" panose="05000000000000000000" pitchFamily="2" charset="2"/>
                <a:buNone/>
              </a:pPr>
              <a:r>
                <a:rPr lang="en-US" altLang="zh-CN" sz="2400" i="1">
                  <a:solidFill>
                    <a:schemeClr val="folHlink"/>
                  </a:solidFill>
                  <a:ea typeface="楷体_GB2312" panose="02010609030101010101" pitchFamily="49" charset="-122"/>
                </a:rPr>
                <a:t>f</a:t>
              </a:r>
            </a:p>
          </p:txBody>
        </p:sp>
        <p:sp>
          <p:nvSpPr>
            <p:cNvPr id="15" name="Line 19"/>
            <p:cNvSpPr>
              <a:spLocks noChangeShapeType="1"/>
            </p:cNvSpPr>
            <p:nvPr/>
          </p:nvSpPr>
          <p:spPr bwMode="auto">
            <a:xfrm>
              <a:off x="3152" y="2251"/>
              <a:ext cx="137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4407" y="739754"/>
            <a:ext cx="11977593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000" dirty="0"/>
              <a:t>Let </a:t>
            </a:r>
            <a:r>
              <a:rPr lang="en-US" altLang="zh-CN" sz="1800" i="1" dirty="0"/>
              <a:t>H</a:t>
            </a:r>
            <a:r>
              <a:rPr lang="en-US" altLang="zh-CN" sz="1800" dirty="0"/>
              <a:t> be a subgroup of a group </a:t>
            </a:r>
            <a:r>
              <a:rPr lang="en-US" altLang="zh-CN" sz="1800" i="1" dirty="0"/>
              <a:t>G, a</a:t>
            </a:r>
            <a:r>
              <a:rPr lang="en-US" altLang="zh-CN" sz="1800" dirty="0"/>
              <a:t> </a:t>
            </a:r>
            <a:r>
              <a:rPr lang="en-US" altLang="zh-CN" sz="1800" dirty="0">
                <a:sym typeface="Symbol" panose="05050102010706020507" pitchFamily="18" charset="2"/>
              </a:rPr>
              <a:t> </a:t>
            </a:r>
            <a:r>
              <a:rPr lang="en-US" altLang="zh-CN" sz="1800" i="1" dirty="0"/>
              <a:t>G</a:t>
            </a:r>
            <a:endParaRPr lang="en-US" altLang="zh-CN" sz="1800" dirty="0"/>
          </a:p>
          <a:p>
            <a:pPr lvl="1"/>
            <a:r>
              <a:rPr lang="en-US" altLang="zh-CN" sz="1800" dirty="0"/>
              <a:t>The </a:t>
            </a:r>
            <a:r>
              <a:rPr lang="en-US" altLang="zh-CN" sz="1800" i="1" dirty="0">
                <a:solidFill>
                  <a:srgbClr val="FF3300"/>
                </a:solidFill>
              </a:rPr>
              <a:t>left coset</a:t>
            </a:r>
            <a:r>
              <a:rPr lang="en-US" altLang="zh-CN" sz="1800" dirty="0"/>
              <a:t>(</a:t>
            </a:r>
            <a:r>
              <a:rPr lang="zh-CN" altLang="en-US" sz="1800" dirty="0"/>
              <a:t>左陪集</a:t>
            </a:r>
            <a:r>
              <a:rPr lang="en-US" altLang="zh-CN" sz="1800" dirty="0"/>
              <a:t>) of </a:t>
            </a:r>
            <a:r>
              <a:rPr lang="en-US" altLang="zh-CN" sz="1800" i="1" dirty="0"/>
              <a:t>H</a:t>
            </a:r>
            <a:r>
              <a:rPr lang="en-US" altLang="zh-CN" sz="1800" dirty="0"/>
              <a:t> in </a:t>
            </a:r>
            <a:r>
              <a:rPr lang="en-US" altLang="zh-CN" sz="1800" i="1" dirty="0"/>
              <a:t>G</a:t>
            </a:r>
            <a:r>
              <a:rPr lang="en-US" altLang="zh-CN" sz="1800" dirty="0"/>
              <a:t> determined by </a:t>
            </a:r>
            <a:r>
              <a:rPr lang="en-US" altLang="zh-CN" sz="1800" i="1" dirty="0"/>
              <a:t>a</a:t>
            </a:r>
            <a:r>
              <a:rPr lang="en-US" altLang="zh-CN" sz="1800" dirty="0"/>
              <a:t> is the set </a:t>
            </a:r>
            <a:r>
              <a:rPr lang="en-US" altLang="zh-CN" sz="1400" i="1" dirty="0" err="1"/>
              <a:t>aH</a:t>
            </a:r>
            <a:r>
              <a:rPr lang="en-US" altLang="zh-CN" sz="1400" dirty="0"/>
              <a:t> = {</a:t>
            </a:r>
            <a:r>
              <a:rPr lang="en-US" altLang="zh-CN" sz="1400" i="1" dirty="0"/>
              <a:t>ah</a:t>
            </a:r>
            <a:r>
              <a:rPr lang="en-US" altLang="zh-CN" sz="1400" dirty="0"/>
              <a:t>| </a:t>
            </a:r>
            <a:r>
              <a:rPr lang="en-US" altLang="zh-CN" sz="1400" i="1" dirty="0"/>
              <a:t>h</a:t>
            </a:r>
            <a:r>
              <a:rPr lang="en-US" altLang="zh-CN" sz="1400" dirty="0"/>
              <a:t> </a:t>
            </a:r>
            <a:r>
              <a:rPr lang="en-US" altLang="zh-CN" sz="1400" dirty="0">
                <a:sym typeface="Symbol" panose="05050102010706020507" pitchFamily="18" charset="2"/>
              </a:rPr>
              <a:t> </a:t>
            </a:r>
            <a:r>
              <a:rPr lang="en-US" altLang="zh-CN" sz="1400" dirty="0"/>
              <a:t> </a:t>
            </a:r>
            <a:r>
              <a:rPr lang="en-US" altLang="zh-CN" sz="1400" i="1" dirty="0"/>
              <a:t>H</a:t>
            </a:r>
            <a:r>
              <a:rPr lang="en-US" altLang="zh-CN" sz="1400" dirty="0"/>
              <a:t>}</a:t>
            </a:r>
          </a:p>
          <a:p>
            <a:pPr lvl="1"/>
            <a:r>
              <a:rPr lang="en-US" altLang="zh-CN" sz="1800" dirty="0"/>
              <a:t>The </a:t>
            </a:r>
            <a:r>
              <a:rPr lang="en-US" altLang="zh-CN" sz="1800" i="1" dirty="0">
                <a:solidFill>
                  <a:srgbClr val="FF3300"/>
                </a:solidFill>
              </a:rPr>
              <a:t>right coset </a:t>
            </a:r>
            <a:r>
              <a:rPr lang="en-US" altLang="zh-CN" sz="1800" dirty="0"/>
              <a:t>(</a:t>
            </a:r>
            <a:r>
              <a:rPr lang="zh-CN" altLang="en-US" sz="1800" dirty="0"/>
              <a:t>右陪集</a:t>
            </a:r>
            <a:r>
              <a:rPr lang="en-US" altLang="zh-CN" sz="1800" dirty="0"/>
              <a:t>) of </a:t>
            </a:r>
            <a:r>
              <a:rPr lang="en-US" altLang="zh-CN" sz="1800" i="1" dirty="0"/>
              <a:t>H</a:t>
            </a:r>
            <a:r>
              <a:rPr lang="en-US" altLang="zh-CN" sz="1800" dirty="0"/>
              <a:t> in </a:t>
            </a:r>
            <a:r>
              <a:rPr lang="en-US" altLang="zh-CN" sz="1800" i="1" dirty="0"/>
              <a:t>G</a:t>
            </a:r>
            <a:r>
              <a:rPr lang="en-US" altLang="zh-CN" sz="1800" dirty="0"/>
              <a:t> determined by </a:t>
            </a:r>
            <a:r>
              <a:rPr lang="en-US" altLang="zh-CN" sz="1800" i="1" dirty="0"/>
              <a:t>a</a:t>
            </a:r>
            <a:r>
              <a:rPr lang="en-US" altLang="zh-CN" sz="1800" dirty="0"/>
              <a:t> is the set </a:t>
            </a:r>
            <a:r>
              <a:rPr lang="en-US" altLang="zh-CN" sz="1400" i="1" dirty="0"/>
              <a:t>Ha</a:t>
            </a:r>
            <a:r>
              <a:rPr lang="en-US" altLang="zh-CN" sz="1400" dirty="0"/>
              <a:t> = {</a:t>
            </a:r>
            <a:r>
              <a:rPr lang="en-US" altLang="zh-CN" sz="1400" i="1" dirty="0"/>
              <a:t>ha</a:t>
            </a:r>
            <a:r>
              <a:rPr lang="en-US" altLang="zh-CN" sz="1400" dirty="0"/>
              <a:t> | </a:t>
            </a:r>
            <a:r>
              <a:rPr lang="en-US" altLang="zh-CN" sz="1400" i="1" dirty="0"/>
              <a:t>h</a:t>
            </a:r>
            <a:r>
              <a:rPr lang="en-US" altLang="zh-CN" sz="1400" dirty="0"/>
              <a:t> </a:t>
            </a:r>
            <a:r>
              <a:rPr lang="en-US" altLang="zh-CN" sz="1400" dirty="0">
                <a:sym typeface="Symbol" panose="05050102010706020507" pitchFamily="18" charset="2"/>
              </a:rPr>
              <a:t> </a:t>
            </a:r>
            <a:r>
              <a:rPr lang="en-US" altLang="zh-CN" sz="1400" dirty="0"/>
              <a:t> </a:t>
            </a:r>
            <a:r>
              <a:rPr lang="en-US" altLang="zh-CN" sz="1400" i="1" dirty="0"/>
              <a:t>H</a:t>
            </a:r>
            <a:r>
              <a:rPr lang="en-US" altLang="zh-CN" sz="1400" dirty="0"/>
              <a:t>}</a:t>
            </a:r>
          </a:p>
          <a:p>
            <a:pPr lvl="1"/>
            <a:r>
              <a:rPr lang="en-US" altLang="zh-CN" sz="1800" dirty="0"/>
              <a:t>A subgroup </a:t>
            </a:r>
            <a:r>
              <a:rPr lang="en-US" altLang="zh-CN" sz="1800" i="1" dirty="0"/>
              <a:t>H</a:t>
            </a:r>
            <a:r>
              <a:rPr lang="en-US" altLang="zh-CN" sz="1800" dirty="0"/>
              <a:t> of </a:t>
            </a:r>
            <a:r>
              <a:rPr lang="en-US" altLang="zh-CN" sz="1800" i="1" dirty="0"/>
              <a:t>G</a:t>
            </a:r>
            <a:r>
              <a:rPr lang="en-US" altLang="zh-CN" sz="1800" dirty="0"/>
              <a:t> is </a:t>
            </a:r>
            <a:r>
              <a:rPr lang="en-US" altLang="zh-CN" sz="1800" i="1" dirty="0">
                <a:solidFill>
                  <a:srgbClr val="FF3300"/>
                </a:solidFill>
              </a:rPr>
              <a:t>normal</a:t>
            </a:r>
            <a:r>
              <a:rPr lang="en-US" altLang="zh-CN" sz="1800" dirty="0">
                <a:solidFill>
                  <a:srgbClr val="FF3300"/>
                </a:solidFill>
              </a:rPr>
              <a:t>(</a:t>
            </a:r>
            <a:r>
              <a:rPr lang="zh-CN" altLang="en-US" sz="1800" dirty="0">
                <a:solidFill>
                  <a:srgbClr val="FF3300"/>
                </a:solidFill>
              </a:rPr>
              <a:t>正规子群</a:t>
            </a:r>
            <a:r>
              <a:rPr lang="en-US" altLang="zh-CN" sz="1800" dirty="0">
                <a:solidFill>
                  <a:srgbClr val="FF3300"/>
                </a:solidFill>
              </a:rPr>
              <a:t>)</a:t>
            </a:r>
            <a:r>
              <a:rPr lang="en-US" altLang="zh-CN" sz="1800" dirty="0"/>
              <a:t> if </a:t>
            </a:r>
            <a:r>
              <a:rPr lang="en-US" altLang="zh-CN" sz="1400" i="1" dirty="0" err="1"/>
              <a:t>aH</a:t>
            </a:r>
            <a:r>
              <a:rPr lang="en-US" altLang="zh-CN" sz="1400" dirty="0"/>
              <a:t> = </a:t>
            </a:r>
            <a:r>
              <a:rPr lang="en-US" altLang="zh-CN" sz="1400" i="1" dirty="0"/>
              <a:t>Ha</a:t>
            </a:r>
            <a:r>
              <a:rPr lang="en-US" altLang="zh-CN" sz="1400" dirty="0"/>
              <a:t>, for all </a:t>
            </a:r>
            <a:r>
              <a:rPr lang="en-US" altLang="zh-CN" sz="1400" i="1" dirty="0"/>
              <a:t>a</a:t>
            </a:r>
            <a:r>
              <a:rPr lang="en-US" altLang="zh-CN" sz="1400" dirty="0"/>
              <a:t> in </a:t>
            </a:r>
            <a:r>
              <a:rPr lang="en-US" altLang="zh-CN" sz="1400" i="1" dirty="0"/>
              <a:t>G</a:t>
            </a:r>
          </a:p>
          <a:p>
            <a:r>
              <a:rPr lang="en-US" altLang="zh-CN" sz="2800" dirty="0"/>
              <a:t>Let </a:t>
            </a:r>
          </a:p>
          <a:p>
            <a:pPr lvl="1"/>
            <a:r>
              <a:rPr lang="en-US" altLang="zh-CN" sz="2400" i="1" dirty="0"/>
              <a:t>R</a:t>
            </a:r>
            <a:r>
              <a:rPr lang="en-US" altLang="zh-CN" sz="2400" dirty="0"/>
              <a:t> be a congruence relation on a group </a:t>
            </a:r>
            <a:r>
              <a:rPr lang="en-US" altLang="zh-CN" sz="2400" i="1" dirty="0"/>
              <a:t>G</a:t>
            </a:r>
            <a:endParaRPr lang="en-US" altLang="zh-CN" sz="2400" dirty="0"/>
          </a:p>
          <a:p>
            <a:pPr lvl="1"/>
            <a:r>
              <a:rPr lang="en-US" altLang="zh-CN" sz="2400" i="1" dirty="0"/>
              <a:t>H</a:t>
            </a:r>
            <a:r>
              <a:rPr lang="en-US" altLang="zh-CN" sz="2400" dirty="0"/>
              <a:t> = [</a:t>
            </a:r>
            <a:r>
              <a:rPr lang="en-US" altLang="zh-CN" sz="2400" i="1" dirty="0"/>
              <a:t>e</a:t>
            </a:r>
            <a:r>
              <a:rPr lang="en-US" altLang="zh-CN" sz="2400" dirty="0"/>
              <a:t>], the equivalence class containing the identity.</a:t>
            </a:r>
          </a:p>
          <a:p>
            <a:r>
              <a:rPr lang="en-US" altLang="zh-CN" sz="2800" dirty="0"/>
              <a:t>Then</a:t>
            </a:r>
          </a:p>
          <a:p>
            <a:pPr lvl="1"/>
            <a:r>
              <a:rPr lang="en-US" altLang="zh-CN" sz="2400" i="1" dirty="0"/>
              <a:t>H </a:t>
            </a:r>
            <a:r>
              <a:rPr lang="en-US" altLang="zh-CN" sz="2400" dirty="0"/>
              <a:t>is a </a:t>
            </a:r>
            <a:r>
              <a:rPr lang="en-US" altLang="zh-CN" sz="2400" u="sng" dirty="0">
                <a:solidFill>
                  <a:srgbClr val="FF0000"/>
                </a:solidFill>
              </a:rPr>
              <a:t>normal subgroup</a:t>
            </a:r>
            <a:r>
              <a:rPr lang="zh-CN" altLang="en-US" sz="2400" u="sng" dirty="0">
                <a:solidFill>
                  <a:srgbClr val="FF0000"/>
                </a:solidFill>
              </a:rPr>
              <a:t>（正规子群）</a:t>
            </a:r>
            <a:r>
              <a:rPr lang="en-US" altLang="zh-CN" sz="2400" u="sng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of </a:t>
            </a:r>
            <a:r>
              <a:rPr lang="en-US" altLang="zh-CN" sz="2400" i="1" dirty="0"/>
              <a:t>G</a:t>
            </a:r>
          </a:p>
          <a:p>
            <a:pPr lvl="1"/>
            <a:r>
              <a:rPr lang="en-US" altLang="zh-CN" sz="2400" dirty="0"/>
              <a:t>[</a:t>
            </a:r>
            <a:r>
              <a:rPr lang="en-US" altLang="zh-CN" sz="2400" i="1" dirty="0"/>
              <a:t>a</a:t>
            </a:r>
            <a:r>
              <a:rPr lang="en-US" altLang="zh-CN" sz="2400" dirty="0"/>
              <a:t>] = </a:t>
            </a:r>
            <a:r>
              <a:rPr lang="en-US" altLang="zh-CN" sz="2400" i="1" dirty="0" err="1"/>
              <a:t>aH</a:t>
            </a:r>
            <a:r>
              <a:rPr lang="en-US" altLang="zh-CN" sz="2400" dirty="0"/>
              <a:t> = </a:t>
            </a:r>
            <a:r>
              <a:rPr lang="en-US" altLang="zh-CN" sz="2400" i="1" dirty="0"/>
              <a:t>Ha</a:t>
            </a:r>
            <a:r>
              <a:rPr lang="en-US" altLang="zh-CN" sz="2400" dirty="0"/>
              <a:t>, for each</a:t>
            </a:r>
            <a:r>
              <a:rPr lang="en-US" altLang="zh-CN" sz="2400" i="1" dirty="0"/>
              <a:t> a</a:t>
            </a:r>
            <a:r>
              <a:rPr lang="en-US" altLang="zh-CN" sz="2400" dirty="0">
                <a:sym typeface="Symbol" panose="05050102010706020507" pitchFamily="18" charset="2"/>
              </a:rPr>
              <a:t>  </a:t>
            </a:r>
            <a:r>
              <a:rPr lang="en-US" altLang="zh-CN" sz="2400" i="1" dirty="0"/>
              <a:t>G</a:t>
            </a:r>
            <a:endParaRPr lang="zh-CN" altLang="en-US" sz="2400" i="1" dirty="0"/>
          </a:p>
          <a:p>
            <a:r>
              <a:rPr lang="en-US" altLang="zh-CN" sz="2800" dirty="0"/>
              <a:t>The quotient group </a:t>
            </a:r>
            <a:r>
              <a:rPr lang="en-US" altLang="zh-CN" sz="2800" i="1" dirty="0"/>
              <a:t>G</a:t>
            </a:r>
            <a:r>
              <a:rPr lang="en-US" altLang="zh-CN" sz="2800" dirty="0"/>
              <a:t>/</a:t>
            </a:r>
            <a:r>
              <a:rPr lang="en-US" altLang="zh-CN" sz="2800" i="1" dirty="0"/>
              <a:t>R</a:t>
            </a:r>
            <a:r>
              <a:rPr lang="en-US" altLang="zh-CN" sz="2800" dirty="0"/>
              <a:t> consists of all the left cosets of </a:t>
            </a:r>
            <a:r>
              <a:rPr lang="en-US" altLang="zh-CN" sz="2800" i="1" dirty="0"/>
              <a:t>N</a:t>
            </a:r>
            <a:r>
              <a:rPr lang="en-US" altLang="zh-CN" sz="2800" dirty="0"/>
              <a:t> = [</a:t>
            </a:r>
            <a:r>
              <a:rPr lang="en-US" altLang="zh-CN" sz="2800" i="1" dirty="0"/>
              <a:t>e</a:t>
            </a:r>
            <a:r>
              <a:rPr lang="en-US" altLang="zh-CN" sz="2800" dirty="0"/>
              <a:t>].</a:t>
            </a:r>
          </a:p>
          <a:p>
            <a:pPr lvl="1"/>
            <a:r>
              <a:rPr lang="en-US" altLang="zh-CN" sz="2400" dirty="0"/>
              <a:t> The operation in 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 is given by (</a:t>
            </a:r>
            <a:r>
              <a:rPr lang="en-US" altLang="zh-CN" sz="2400" i="1" dirty="0" err="1"/>
              <a:t>aN</a:t>
            </a:r>
            <a:r>
              <a:rPr lang="en-US" altLang="zh-CN" sz="2400" dirty="0"/>
              <a:t>)(</a:t>
            </a:r>
            <a:r>
              <a:rPr lang="en-US" altLang="zh-CN" sz="2400" i="1" dirty="0" err="1"/>
              <a:t>bN</a:t>
            </a:r>
            <a:r>
              <a:rPr lang="en-US" altLang="zh-CN" sz="2400" dirty="0"/>
              <a:t>) = [</a:t>
            </a:r>
            <a:r>
              <a:rPr lang="en-US" altLang="zh-CN" sz="2400" i="1" dirty="0"/>
              <a:t>a</a:t>
            </a:r>
            <a:r>
              <a:rPr lang="en-US" altLang="zh-CN" sz="2400" dirty="0"/>
              <a:t>]</a:t>
            </a:r>
            <a:r>
              <a:rPr lang="en-US" altLang="zh-CN" sz="2400" dirty="0">
                <a:sym typeface="Euclid Math One" panose="05050601010101010101" pitchFamily="18" charset="2"/>
              </a:rPr>
              <a:t></a:t>
            </a:r>
            <a:r>
              <a:rPr lang="en-US" altLang="zh-CN" sz="2400" dirty="0"/>
              <a:t>[</a:t>
            </a:r>
            <a:r>
              <a:rPr lang="en-US" altLang="zh-CN" sz="2400" i="1" dirty="0"/>
              <a:t>b</a:t>
            </a:r>
            <a:r>
              <a:rPr lang="en-US" altLang="zh-CN" sz="2400" dirty="0"/>
              <a:t>] = [</a:t>
            </a:r>
            <a:r>
              <a:rPr lang="en-US" altLang="zh-CN" sz="2400" i="1" dirty="0"/>
              <a:t>ab</a:t>
            </a:r>
            <a:r>
              <a:rPr lang="en-US" altLang="zh-CN" sz="2400" dirty="0"/>
              <a:t>] = </a:t>
            </a:r>
            <a:r>
              <a:rPr lang="en-US" altLang="zh-CN" sz="2400" i="1" dirty="0" err="1"/>
              <a:t>abN</a:t>
            </a:r>
            <a:r>
              <a:rPr lang="en-US" altLang="zh-CN" sz="2400" dirty="0"/>
              <a:t> </a:t>
            </a:r>
          </a:p>
          <a:p>
            <a:pPr lvl="1"/>
            <a:r>
              <a:rPr lang="en-US" altLang="zh-CN" sz="2400" dirty="0"/>
              <a:t>and the function </a:t>
            </a:r>
            <a:r>
              <a:rPr lang="en-US" altLang="zh-CN" sz="2400" i="1" dirty="0" err="1"/>
              <a:t>f</a:t>
            </a:r>
            <a:r>
              <a:rPr lang="en-US" altLang="zh-CN" sz="2400" i="1" baseline="-25000" dirty="0" err="1"/>
              <a:t>R</a:t>
            </a:r>
            <a:r>
              <a:rPr lang="en-US" altLang="zh-CN" sz="2400" dirty="0"/>
              <a:t>: </a:t>
            </a:r>
            <a:r>
              <a:rPr lang="en-US" altLang="zh-CN" sz="2400" i="1" dirty="0"/>
              <a:t>G</a:t>
            </a:r>
            <a:r>
              <a:rPr lang="en-US" altLang="zh-CN" sz="2400" dirty="0">
                <a:sym typeface="Symbol" panose="05050102010706020507" pitchFamily="18" charset="2"/>
              </a:rPr>
              <a:t> 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, defined by </a:t>
            </a:r>
            <a:r>
              <a:rPr lang="en-US" altLang="zh-CN" sz="2400" i="1" dirty="0" err="1"/>
              <a:t>f</a:t>
            </a:r>
            <a:r>
              <a:rPr lang="en-US" altLang="zh-CN" sz="2400" i="1" baseline="-25000" dirty="0" err="1"/>
              <a:t>R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 = </a:t>
            </a:r>
            <a:r>
              <a:rPr lang="en-US" altLang="zh-CN" sz="2400" i="1" dirty="0" err="1"/>
              <a:t>aN</a:t>
            </a:r>
            <a:r>
              <a:rPr lang="en-US" altLang="zh-CN" sz="2400" i="1" dirty="0"/>
              <a:t> </a:t>
            </a:r>
            <a:r>
              <a:rPr lang="en-US" altLang="zh-CN" sz="2400" dirty="0"/>
              <a:t>is a homomorphism from </a:t>
            </a:r>
            <a:r>
              <a:rPr lang="en-US" altLang="zh-CN" sz="2400" i="1" dirty="0"/>
              <a:t>G</a:t>
            </a:r>
            <a:r>
              <a:rPr lang="en-US" altLang="zh-CN" sz="2400" dirty="0"/>
              <a:t> onto 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. For this reason, we will often write 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</a:t>
            </a:r>
            <a:r>
              <a:rPr lang="en-US" altLang="zh-CN" sz="2400" dirty="0"/>
              <a:t> as 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N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4407" y="739754"/>
            <a:ext cx="11977593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CN" sz="2000" dirty="0"/>
              <a:t>Encoding function</a:t>
            </a:r>
            <a:r>
              <a:rPr lang="zh-CN" altLang="en-US" sz="2000" dirty="0"/>
              <a:t>（编码函数）</a:t>
            </a:r>
            <a:endParaRPr lang="en-US" altLang="zh-CN" sz="2000" dirty="0"/>
          </a:p>
          <a:p>
            <a:pPr lvl="1"/>
            <a:r>
              <a:rPr lang="en-US" altLang="zh-CN" sz="2400" dirty="0"/>
              <a:t>Choose an integer </a:t>
            </a:r>
            <a:r>
              <a:rPr lang="en-US" altLang="zh-CN" sz="2400" i="1" dirty="0"/>
              <a:t>n</a:t>
            </a:r>
            <a:r>
              <a:rPr lang="en-US" altLang="zh-CN" sz="2400" dirty="0"/>
              <a:t> </a:t>
            </a:r>
            <a:r>
              <a:rPr lang="en-US" altLang="zh-CN" sz="2400" dirty="0">
                <a:cs typeface="Times New Roman" panose="02020603050405020304" pitchFamily="18" charset="0"/>
              </a:rPr>
              <a:t>&gt;</a:t>
            </a:r>
            <a:r>
              <a:rPr lang="en-US" altLang="zh-CN" sz="2400" i="1" dirty="0"/>
              <a:t>m</a:t>
            </a:r>
            <a:r>
              <a:rPr lang="en-US" altLang="zh-CN" sz="2400" dirty="0"/>
              <a:t> and a one-to-one function </a:t>
            </a:r>
            <a:r>
              <a:rPr lang="en-US" altLang="zh-CN" sz="2400" i="1" dirty="0"/>
              <a:t>e</a:t>
            </a:r>
            <a:r>
              <a:rPr lang="en-US" altLang="zh-CN" sz="2400" dirty="0"/>
              <a:t>: </a:t>
            </a:r>
            <a:r>
              <a:rPr lang="en-US" altLang="zh-CN" sz="2400" i="1" dirty="0"/>
              <a:t>B</a:t>
            </a:r>
            <a:r>
              <a:rPr lang="en-US" altLang="zh-CN" sz="2400" i="1" baseline="30000" dirty="0"/>
              <a:t>m</a:t>
            </a:r>
            <a:r>
              <a:rPr lang="en-US" altLang="zh-CN" sz="24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i="1" baseline="30000" dirty="0"/>
              <a:t>n</a:t>
            </a:r>
            <a:endParaRPr lang="en-US" altLang="zh-CN" sz="2400" dirty="0"/>
          </a:p>
          <a:p>
            <a:pPr lvl="2"/>
            <a:r>
              <a:rPr lang="en-US" altLang="zh-CN" sz="2000" i="1" dirty="0"/>
              <a:t>e</a:t>
            </a:r>
            <a:r>
              <a:rPr lang="en-US" altLang="zh-CN" sz="2000" dirty="0"/>
              <a:t> is called an (</a:t>
            </a:r>
            <a:r>
              <a:rPr lang="en-US" altLang="zh-CN" sz="2000" i="1" dirty="0"/>
              <a:t>m, n</a:t>
            </a:r>
            <a:r>
              <a:rPr lang="en-US" altLang="zh-CN" sz="2000" dirty="0"/>
              <a:t>) </a:t>
            </a:r>
            <a:r>
              <a:rPr lang="en-US" altLang="zh-CN" sz="2000" i="1" dirty="0">
                <a:solidFill>
                  <a:schemeClr val="hlink"/>
                </a:solidFill>
              </a:rPr>
              <a:t>encoding function</a:t>
            </a:r>
            <a:r>
              <a:rPr lang="en-US" altLang="zh-CN" sz="2000" dirty="0"/>
              <a:t>, representing every word in </a:t>
            </a:r>
            <a:r>
              <a:rPr lang="en-US" altLang="zh-CN" sz="2000" i="1" dirty="0"/>
              <a:t>B</a:t>
            </a:r>
            <a:r>
              <a:rPr lang="en-US" altLang="zh-CN" sz="2000" i="1" baseline="30000" dirty="0"/>
              <a:t>m</a:t>
            </a:r>
            <a:r>
              <a:rPr lang="en-US" altLang="zh-CN" sz="2000" dirty="0"/>
              <a:t> as a word in </a:t>
            </a:r>
            <a:r>
              <a:rPr lang="en-US" altLang="zh-CN" sz="2000" i="1" dirty="0"/>
              <a:t>B</a:t>
            </a:r>
            <a:r>
              <a:rPr lang="en-US" altLang="zh-CN" sz="2000" i="1" baseline="30000" dirty="0"/>
              <a:t>n</a:t>
            </a:r>
            <a:r>
              <a:rPr lang="en-US" altLang="zh-CN" sz="2000" dirty="0"/>
              <a:t>. </a:t>
            </a:r>
          </a:p>
          <a:p>
            <a:pPr lvl="2"/>
            <a:r>
              <a:rPr lang="en-US" altLang="zh-CN" sz="2000" dirty="0"/>
              <a:t>If </a:t>
            </a:r>
            <a:r>
              <a:rPr lang="en-US" altLang="zh-CN" sz="2000" i="1" dirty="0"/>
              <a:t>b</a:t>
            </a:r>
            <a:r>
              <a:rPr lang="en-US" altLang="zh-CN" sz="2000" dirty="0"/>
              <a:t> </a:t>
            </a:r>
            <a:r>
              <a:rPr lang="zh-CN" altLang="en-US" sz="2000" dirty="0">
                <a:sym typeface="Symbol" panose="05050102010706020507" pitchFamily="18" charset="2"/>
              </a:rPr>
              <a:t></a:t>
            </a:r>
            <a:r>
              <a:rPr lang="en-US" altLang="zh-CN" sz="2000" dirty="0"/>
              <a:t> </a:t>
            </a:r>
            <a:r>
              <a:rPr lang="en-US" altLang="zh-CN" sz="2000" i="1" dirty="0"/>
              <a:t>B</a:t>
            </a:r>
            <a:r>
              <a:rPr lang="en-US" altLang="zh-CN" sz="2000" i="1" baseline="30000" dirty="0"/>
              <a:t>m</a:t>
            </a:r>
            <a:r>
              <a:rPr lang="en-US" altLang="zh-CN" sz="2000" dirty="0"/>
              <a:t>, then </a:t>
            </a:r>
            <a:r>
              <a:rPr lang="en-US" altLang="zh-CN" sz="2000" i="1" dirty="0"/>
              <a:t>e</a:t>
            </a:r>
            <a:r>
              <a:rPr lang="en-US" altLang="zh-CN" sz="2000" dirty="0"/>
              <a:t>(</a:t>
            </a:r>
            <a:r>
              <a:rPr lang="en-US" altLang="zh-CN" sz="2000" i="1" dirty="0"/>
              <a:t>b</a:t>
            </a:r>
            <a:r>
              <a:rPr lang="en-US" altLang="zh-CN" sz="2000" dirty="0"/>
              <a:t>) is called the </a:t>
            </a:r>
            <a:r>
              <a:rPr lang="en-US" altLang="zh-CN" sz="2000" i="1" dirty="0">
                <a:solidFill>
                  <a:schemeClr val="hlink"/>
                </a:solidFill>
              </a:rPr>
              <a:t>code word</a:t>
            </a:r>
            <a:r>
              <a:rPr lang="en-US" altLang="zh-CN" sz="2000" dirty="0">
                <a:solidFill>
                  <a:schemeClr val="hlink"/>
                </a:solidFill>
              </a:rPr>
              <a:t>(</a:t>
            </a:r>
            <a:r>
              <a:rPr lang="zh-CN" altLang="en-US" sz="2000" dirty="0">
                <a:solidFill>
                  <a:schemeClr val="hlink"/>
                </a:solidFill>
              </a:rPr>
              <a:t>码字</a:t>
            </a:r>
            <a:r>
              <a:rPr lang="en-US" altLang="zh-CN" sz="2000" dirty="0">
                <a:solidFill>
                  <a:schemeClr val="hlink"/>
                </a:solidFill>
              </a:rPr>
              <a:t>)</a:t>
            </a:r>
            <a:r>
              <a:rPr lang="en-US" altLang="zh-CN" sz="2000" dirty="0"/>
              <a:t> representing </a:t>
            </a:r>
            <a:r>
              <a:rPr lang="en-US" altLang="zh-CN" sz="2000" i="1" dirty="0"/>
              <a:t>b</a:t>
            </a:r>
            <a:r>
              <a:rPr lang="en-US" altLang="zh-CN" sz="2000" dirty="0"/>
              <a:t>.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/>
              <a:t>(</a:t>
            </a:r>
            <a:r>
              <a:rPr lang="en-US" altLang="zh-CN" sz="2000" dirty="0" err="1"/>
              <a:t>m,n</a:t>
            </a:r>
            <a:r>
              <a:rPr lang="en-US" altLang="zh-CN" sz="2000" dirty="0"/>
              <a:t>) encoding function</a:t>
            </a:r>
            <a:endParaRPr lang="zh-CN" altLang="en-US" sz="2000" dirty="0"/>
          </a:p>
          <a:p>
            <a:pPr lvl="1">
              <a:lnSpc>
                <a:spcPct val="80000"/>
              </a:lnSpc>
            </a:pPr>
            <a:r>
              <a:rPr lang="en-US" altLang="zh-CN" sz="2000" dirty="0"/>
              <a:t>parity(m,m+1) check code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/>
              <a:t>(m,3m) encoding function</a:t>
            </a:r>
          </a:p>
          <a:p>
            <a:pPr>
              <a:lnSpc>
                <a:spcPct val="80000"/>
              </a:lnSpc>
            </a:pPr>
            <a:r>
              <a:rPr lang="en-US" altLang="zh-CN" sz="2000" dirty="0"/>
              <a:t>Error detection</a:t>
            </a:r>
            <a:r>
              <a:rPr lang="zh-CN" altLang="en-US" sz="2000" dirty="0"/>
              <a:t>（差错检测）</a:t>
            </a:r>
            <a:endParaRPr lang="en-US" altLang="zh-CN" sz="2000" dirty="0"/>
          </a:p>
          <a:p>
            <a:pPr lvl="1">
              <a:lnSpc>
                <a:spcPct val="80000"/>
              </a:lnSpc>
            </a:pPr>
            <a:r>
              <a:rPr lang="en-US" altLang="zh-CN" sz="1800" dirty="0"/>
              <a:t>We will say that the code word </a:t>
            </a:r>
            <a:r>
              <a:rPr lang="en-US" altLang="zh-CN" sz="1800" i="1" dirty="0"/>
              <a:t>x</a:t>
            </a:r>
            <a:r>
              <a:rPr lang="en-US" altLang="zh-CN" sz="1800" dirty="0"/>
              <a:t> = </a:t>
            </a:r>
            <a:r>
              <a:rPr lang="en-US" altLang="zh-CN" sz="1800" i="1" dirty="0"/>
              <a:t>e</a:t>
            </a:r>
            <a:r>
              <a:rPr lang="en-US" altLang="zh-CN" sz="1800" dirty="0"/>
              <a:t>(</a:t>
            </a:r>
            <a:r>
              <a:rPr lang="en-US" altLang="zh-CN" sz="1800" i="1" dirty="0"/>
              <a:t>b</a:t>
            </a:r>
            <a:r>
              <a:rPr lang="en-US" altLang="zh-CN" sz="1800" dirty="0"/>
              <a:t>) has been transmitted with </a:t>
            </a:r>
            <a:r>
              <a:rPr lang="en-US" altLang="zh-CN" sz="1800" i="1" dirty="0">
                <a:solidFill>
                  <a:schemeClr val="hlink"/>
                </a:solidFill>
              </a:rPr>
              <a:t>k or fewer errors</a:t>
            </a:r>
            <a:r>
              <a:rPr lang="en-US" altLang="zh-CN" sz="1800" dirty="0"/>
              <a:t> if </a:t>
            </a:r>
            <a:r>
              <a:rPr lang="en-US" altLang="zh-CN" sz="1800" i="1" dirty="0"/>
              <a:t>x</a:t>
            </a:r>
            <a:r>
              <a:rPr lang="en-US" altLang="zh-CN" sz="1800" dirty="0"/>
              <a:t> and </a:t>
            </a:r>
            <a:r>
              <a:rPr lang="en-US" altLang="zh-CN" sz="1800" i="1" dirty="0" err="1"/>
              <a:t>x</a:t>
            </a:r>
            <a:r>
              <a:rPr lang="en-US" altLang="zh-CN" sz="1800" i="1" baseline="-25000" dirty="0" err="1"/>
              <a:t>t</a:t>
            </a:r>
            <a:r>
              <a:rPr lang="en-US" altLang="zh-CN" sz="1800" dirty="0"/>
              <a:t> differ in at least 1 but no more than </a:t>
            </a:r>
            <a:r>
              <a:rPr lang="en-US" altLang="zh-CN" sz="1800" i="1" dirty="0"/>
              <a:t>k</a:t>
            </a:r>
            <a:r>
              <a:rPr lang="en-US" altLang="zh-CN" sz="1800" dirty="0"/>
              <a:t> positions.</a:t>
            </a:r>
          </a:p>
          <a:p>
            <a:pPr lvl="1"/>
            <a:r>
              <a:rPr lang="en-US" altLang="zh-CN" sz="2400" dirty="0"/>
              <a:t>Let </a:t>
            </a:r>
            <a:r>
              <a:rPr lang="en-US" altLang="zh-CN" sz="2400" i="1" dirty="0"/>
              <a:t>e</a:t>
            </a:r>
            <a:r>
              <a:rPr lang="en-US" altLang="zh-CN" sz="2400" dirty="0"/>
              <a:t>: </a:t>
            </a:r>
            <a:r>
              <a:rPr lang="en-US" altLang="zh-CN" sz="2400" i="1" dirty="0"/>
              <a:t>B</a:t>
            </a:r>
            <a:r>
              <a:rPr lang="en-US" altLang="zh-CN" sz="2400" i="1" baseline="30000" dirty="0"/>
              <a:t>m</a:t>
            </a:r>
            <a:r>
              <a:rPr lang="en-US" altLang="zh-CN" sz="24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i="1" baseline="30000" dirty="0"/>
              <a:t>n</a:t>
            </a:r>
            <a:r>
              <a:rPr lang="en-US" altLang="zh-CN" sz="2400" dirty="0"/>
              <a:t> be an (</a:t>
            </a:r>
            <a:r>
              <a:rPr lang="en-US" altLang="zh-CN" sz="2400" i="1" dirty="0"/>
              <a:t>m, n</a:t>
            </a:r>
            <a:r>
              <a:rPr lang="en-US" altLang="zh-CN" sz="2400" dirty="0"/>
              <a:t>) encoding function. </a:t>
            </a:r>
            <a:r>
              <a:rPr lang="en-US" altLang="zh-CN" sz="2400" i="1" dirty="0"/>
              <a:t>e</a:t>
            </a:r>
            <a:r>
              <a:rPr lang="en-US" altLang="zh-CN" sz="2400" dirty="0"/>
              <a:t> </a:t>
            </a:r>
            <a:r>
              <a:rPr lang="en-US" altLang="zh-CN" sz="2400" i="1" dirty="0">
                <a:solidFill>
                  <a:schemeClr val="hlink"/>
                </a:solidFill>
              </a:rPr>
              <a:t>detects k or fewer errors</a:t>
            </a:r>
            <a:r>
              <a:rPr lang="en-US" altLang="zh-CN" sz="2400" dirty="0"/>
              <a:t> if whenever </a:t>
            </a:r>
            <a:r>
              <a:rPr lang="en-US" altLang="zh-CN" sz="2400" i="1" dirty="0"/>
              <a:t>x</a:t>
            </a:r>
            <a:r>
              <a:rPr lang="en-US" altLang="zh-CN" sz="2400" dirty="0"/>
              <a:t> = </a:t>
            </a:r>
            <a:r>
              <a:rPr lang="en-US" altLang="zh-CN" sz="2400" i="1" dirty="0"/>
              <a:t>e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 is transmitted with </a:t>
            </a:r>
            <a:r>
              <a:rPr lang="en-US" altLang="zh-CN" sz="2400" i="1" dirty="0"/>
              <a:t>k</a:t>
            </a:r>
            <a:r>
              <a:rPr lang="en-US" altLang="zh-CN" sz="2400" dirty="0"/>
              <a:t> or fewer errors, then 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t</a:t>
            </a:r>
            <a:r>
              <a:rPr lang="en-US" altLang="zh-CN" sz="2400" i="1" dirty="0"/>
              <a:t> </a:t>
            </a:r>
            <a:r>
              <a:rPr lang="en-US" altLang="zh-CN" sz="2400" dirty="0"/>
              <a:t>is not a code word (thus 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t</a:t>
            </a:r>
            <a:r>
              <a:rPr lang="en-US" altLang="zh-CN" sz="2400" dirty="0"/>
              <a:t> could not be </a:t>
            </a:r>
            <a:r>
              <a:rPr lang="en-US" altLang="zh-CN" sz="2400" i="1" dirty="0"/>
              <a:t>x</a:t>
            </a:r>
            <a:r>
              <a:rPr lang="en-US" altLang="zh-CN" sz="2400" dirty="0"/>
              <a:t> and therefore could not have been correctly transmitted).</a:t>
            </a:r>
          </a:p>
          <a:p>
            <a:pPr lvl="1"/>
            <a:r>
              <a:rPr lang="en-US" altLang="zh-CN" sz="2400" dirty="0"/>
              <a:t>For </a:t>
            </a:r>
            <a:r>
              <a:rPr lang="en-US" altLang="zh-CN" sz="2400" i="1" dirty="0"/>
              <a:t>x</a:t>
            </a:r>
            <a:r>
              <a:rPr lang="en-US" altLang="zh-CN" sz="24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i="1" baseline="30000" dirty="0"/>
              <a:t>n</a:t>
            </a:r>
            <a:r>
              <a:rPr lang="en-US" altLang="zh-CN" sz="2400" dirty="0"/>
              <a:t>, the number of l's in </a:t>
            </a:r>
            <a:r>
              <a:rPr lang="en-US" altLang="zh-CN" sz="2400" i="1" dirty="0"/>
              <a:t>x</a:t>
            </a:r>
            <a:r>
              <a:rPr lang="en-US" altLang="zh-CN" sz="2400" dirty="0"/>
              <a:t> is called the </a:t>
            </a:r>
            <a:r>
              <a:rPr lang="en-US" altLang="zh-CN" sz="2400" dirty="0">
                <a:solidFill>
                  <a:schemeClr val="hlink"/>
                </a:solidFill>
              </a:rPr>
              <a:t>weight(</a:t>
            </a:r>
            <a:r>
              <a:rPr lang="zh-CN" altLang="en-US" sz="2400" dirty="0">
                <a:solidFill>
                  <a:schemeClr val="hlink"/>
                </a:solidFill>
              </a:rPr>
              <a:t>权</a:t>
            </a:r>
            <a:r>
              <a:rPr lang="en-US" altLang="zh-CN" sz="2400" dirty="0">
                <a:solidFill>
                  <a:schemeClr val="hlink"/>
                </a:solidFill>
              </a:rPr>
              <a:t>) </a:t>
            </a:r>
            <a:r>
              <a:rPr lang="en-US" altLang="zh-CN" sz="2400" dirty="0"/>
              <a:t>of </a:t>
            </a:r>
            <a:r>
              <a:rPr lang="en-US" altLang="zh-CN" sz="2400" i="1" dirty="0"/>
              <a:t>x</a:t>
            </a:r>
            <a:r>
              <a:rPr lang="en-US" altLang="zh-CN" sz="2400" dirty="0"/>
              <a:t> and is denoted by |</a:t>
            </a:r>
            <a:r>
              <a:rPr lang="en-US" altLang="zh-CN" sz="2400" i="1" dirty="0"/>
              <a:t>x</a:t>
            </a:r>
            <a:r>
              <a:rPr lang="en-US" altLang="zh-CN" sz="2400" dirty="0"/>
              <a:t>|</a:t>
            </a:r>
            <a:endParaRPr lang="en-US" altLang="zh-CN" sz="1400" dirty="0"/>
          </a:p>
          <a:p>
            <a:pPr lvl="1">
              <a:lnSpc>
                <a:spcPct val="80000"/>
              </a:lnSpc>
            </a:pPr>
            <a:r>
              <a:rPr lang="en-US" altLang="zh-CN" sz="2000" dirty="0"/>
              <a:t>Let </a:t>
            </a:r>
            <a:r>
              <a:rPr lang="en-US" altLang="zh-CN" sz="2000" i="1" dirty="0"/>
              <a:t>x</a:t>
            </a:r>
            <a:r>
              <a:rPr lang="en-US" altLang="zh-CN" sz="2000" dirty="0"/>
              <a:t> and </a:t>
            </a:r>
            <a:r>
              <a:rPr lang="en-US" altLang="zh-CN" sz="2000" i="1" dirty="0"/>
              <a:t>y</a:t>
            </a:r>
            <a:r>
              <a:rPr lang="en-US" altLang="zh-CN" sz="2000" dirty="0"/>
              <a:t> be words in </a:t>
            </a:r>
            <a:r>
              <a:rPr lang="en-US" altLang="zh-CN" sz="2000" i="1" dirty="0"/>
              <a:t>B</a:t>
            </a:r>
            <a:r>
              <a:rPr lang="en-US" altLang="zh-CN" sz="2000" i="1" baseline="30000" dirty="0"/>
              <a:t>m</a:t>
            </a:r>
            <a:r>
              <a:rPr lang="en-US" altLang="zh-CN" sz="2000" dirty="0"/>
              <a:t>. The </a:t>
            </a:r>
            <a:r>
              <a:rPr lang="en-US" altLang="zh-CN" sz="2000" i="1" dirty="0">
                <a:solidFill>
                  <a:schemeClr val="hlink"/>
                </a:solidFill>
              </a:rPr>
              <a:t>Hamming distance</a:t>
            </a:r>
            <a:r>
              <a:rPr lang="en-US" altLang="zh-CN" sz="2000" dirty="0"/>
              <a:t> </a:t>
            </a:r>
            <a:r>
              <a:rPr lang="zh-CN" altLang="en-US" sz="2000" dirty="0">
                <a:sym typeface="Symbol" panose="05050102010706020507" pitchFamily="18" charset="2"/>
              </a:rPr>
              <a:t></a:t>
            </a:r>
            <a:r>
              <a:rPr lang="en-US" altLang="zh-CN" sz="2000" dirty="0"/>
              <a:t>(</a:t>
            </a:r>
            <a:r>
              <a:rPr lang="en-US" altLang="zh-CN" sz="2000" i="1" dirty="0"/>
              <a:t>x</a:t>
            </a:r>
            <a:r>
              <a:rPr lang="en-US" altLang="zh-CN" sz="2000" dirty="0"/>
              <a:t>, </a:t>
            </a:r>
            <a:r>
              <a:rPr lang="en-US" altLang="zh-CN" sz="2000" i="1" dirty="0"/>
              <a:t>y</a:t>
            </a:r>
            <a:r>
              <a:rPr lang="en-US" altLang="zh-CN" sz="2000" dirty="0"/>
              <a:t>) between </a:t>
            </a:r>
            <a:r>
              <a:rPr lang="en-US" altLang="zh-CN" sz="2000" i="1" dirty="0"/>
              <a:t>x</a:t>
            </a:r>
            <a:r>
              <a:rPr lang="en-US" altLang="zh-CN" sz="2000" dirty="0"/>
              <a:t> and </a:t>
            </a:r>
            <a:r>
              <a:rPr lang="en-US" altLang="zh-CN" sz="2000" i="1" dirty="0"/>
              <a:t>y</a:t>
            </a:r>
            <a:r>
              <a:rPr lang="en-US" altLang="zh-CN" sz="2000" dirty="0"/>
              <a:t> is the weight, |</a:t>
            </a:r>
            <a:r>
              <a:rPr lang="en-US" altLang="zh-CN" sz="2000" i="1" dirty="0"/>
              <a:t>x</a:t>
            </a:r>
            <a:r>
              <a:rPr lang="zh-CN" altLang="en-US" sz="2000" dirty="0">
                <a:sym typeface="Symbol" panose="05050102010706020507" pitchFamily="18" charset="2"/>
              </a:rPr>
              <a:t></a:t>
            </a:r>
            <a:r>
              <a:rPr lang="en-US" altLang="zh-CN" sz="2000" i="1" dirty="0"/>
              <a:t>y</a:t>
            </a:r>
            <a:r>
              <a:rPr lang="en-US" altLang="zh-CN" sz="2000" dirty="0"/>
              <a:t>|, of </a:t>
            </a:r>
            <a:r>
              <a:rPr lang="en-US" altLang="zh-CN" sz="2000" i="1" dirty="0"/>
              <a:t>x</a:t>
            </a:r>
            <a:r>
              <a:rPr lang="en-US" altLang="zh-CN" sz="2000" dirty="0"/>
              <a:t> </a:t>
            </a:r>
            <a:r>
              <a:rPr lang="zh-CN" altLang="en-US" sz="2000" dirty="0">
                <a:sym typeface="Symbol" panose="05050102010706020507" pitchFamily="18" charset="2"/>
              </a:rPr>
              <a:t></a:t>
            </a:r>
            <a:r>
              <a:rPr lang="en-US" altLang="zh-CN" sz="2000" dirty="0"/>
              <a:t> </a:t>
            </a:r>
            <a:r>
              <a:rPr lang="en-US" altLang="zh-CN" sz="2000" i="1" dirty="0"/>
              <a:t>y</a:t>
            </a:r>
            <a:r>
              <a:rPr lang="en-US" altLang="zh-CN" sz="2000" dirty="0"/>
              <a:t>.</a:t>
            </a:r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55600" y="126484"/>
            <a:ext cx="6121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11 Groups and Coding</a:t>
            </a:r>
            <a:endParaRPr lang="zh-CN" altLang="en-US" sz="28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4407" y="739754"/>
            <a:ext cx="11977593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CN" dirty="0"/>
              <a:t>Let 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, and </a:t>
            </a:r>
            <a:r>
              <a:rPr lang="en-US" altLang="zh-CN" i="1" dirty="0"/>
              <a:t>z</a:t>
            </a:r>
            <a:r>
              <a:rPr lang="en-US" altLang="zh-CN" dirty="0"/>
              <a:t> be elements of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. Then</a:t>
            </a:r>
          </a:p>
          <a:p>
            <a:pPr lvl="1">
              <a:lnSpc>
                <a:spcPct val="80000"/>
              </a:lnSpc>
            </a:pPr>
            <a:r>
              <a:rPr lang="en-US" altLang="zh-CN" dirty="0"/>
              <a:t>(a)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=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dirty="0"/>
              <a:t>) </a:t>
            </a:r>
          </a:p>
          <a:p>
            <a:pPr lvl="1">
              <a:lnSpc>
                <a:spcPct val="80000"/>
              </a:lnSpc>
            </a:pPr>
            <a:r>
              <a:rPr lang="en-US" altLang="zh-CN" dirty="0"/>
              <a:t>(b)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 0</a:t>
            </a:r>
          </a:p>
          <a:p>
            <a:pPr lvl="1">
              <a:lnSpc>
                <a:spcPct val="80000"/>
              </a:lnSpc>
            </a:pPr>
            <a:r>
              <a:rPr lang="en-US" altLang="zh-CN" dirty="0"/>
              <a:t>(c)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= 0 if and only if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y</a:t>
            </a:r>
          </a:p>
          <a:p>
            <a:pPr lvl="1">
              <a:lnSpc>
                <a:spcPct val="80000"/>
              </a:lnSpc>
            </a:pPr>
            <a:r>
              <a:rPr lang="en-US" altLang="zh-CN" dirty="0"/>
              <a:t>(d)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z</a:t>
            </a:r>
            <a:r>
              <a:rPr lang="en-US" altLang="zh-CN" dirty="0"/>
              <a:t>) +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z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</a:t>
            </a:r>
          </a:p>
          <a:p>
            <a:pPr lvl="1">
              <a:lnSpc>
                <a:spcPct val="80000"/>
              </a:lnSpc>
            </a:pPr>
            <a:endParaRPr lang="en-US" altLang="zh-CN" sz="1800" dirty="0"/>
          </a:p>
          <a:p>
            <a:r>
              <a:rPr lang="en-US" altLang="zh-CN" dirty="0"/>
              <a:t>The </a:t>
            </a:r>
            <a:r>
              <a:rPr lang="en-US" altLang="zh-CN" i="1" dirty="0">
                <a:solidFill>
                  <a:schemeClr val="hlink"/>
                </a:solidFill>
              </a:rPr>
              <a:t>minimum distance</a:t>
            </a:r>
            <a:r>
              <a:rPr lang="zh-CN" altLang="en-US" i="1" dirty="0">
                <a:solidFill>
                  <a:schemeClr val="hlink"/>
                </a:solidFill>
              </a:rPr>
              <a:t>（最短距离）</a:t>
            </a:r>
            <a:r>
              <a:rPr lang="en-US" altLang="zh-CN" dirty="0"/>
              <a:t> of an encoding function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is the minimum of the distances between all distinct pairs of code words; that is,</a:t>
            </a:r>
          </a:p>
          <a:p>
            <a:pPr>
              <a:buNone/>
            </a:pPr>
            <a:r>
              <a:rPr lang="en-US" altLang="zh-CN" dirty="0">
                <a:sym typeface="Symbol" panose="05050102010706020507" pitchFamily="18" charset="2"/>
              </a:rPr>
              <a:t>		min{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),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y</a:t>
            </a:r>
            <a:r>
              <a:rPr lang="en-US" altLang="zh-CN" dirty="0"/>
              <a:t>)) | </a:t>
            </a:r>
            <a:r>
              <a:rPr lang="en-US" altLang="zh-CN" i="1" dirty="0"/>
              <a:t>x, y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An (</a:t>
            </a:r>
            <a:r>
              <a:rPr lang="en-US" altLang="zh-CN" i="1" dirty="0"/>
              <a:t>m, n</a:t>
            </a:r>
            <a:r>
              <a:rPr lang="en-US" altLang="zh-CN" dirty="0"/>
              <a:t>) encoding function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can detect </a:t>
            </a:r>
            <a:r>
              <a:rPr lang="en-US" altLang="zh-CN" i="1" dirty="0"/>
              <a:t>k</a:t>
            </a:r>
            <a:r>
              <a:rPr lang="en-US" altLang="zh-CN" dirty="0"/>
              <a:t> or fewer errors if and only if its minimum distance is at 1east </a:t>
            </a:r>
            <a:r>
              <a:rPr lang="en-US" altLang="zh-CN" i="1" dirty="0"/>
              <a:t>k</a:t>
            </a:r>
            <a:r>
              <a:rPr lang="en-US" altLang="zh-CN" dirty="0"/>
              <a:t> + l.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55600" y="126484"/>
            <a:ext cx="6121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11 Groups and Coding</a:t>
            </a:r>
            <a:endParaRPr lang="zh-CN" altLang="en-US" sz="28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4407" y="1362054"/>
            <a:ext cx="11977593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800" dirty="0"/>
              <a:t>An (</a:t>
            </a:r>
            <a:r>
              <a:rPr lang="en-US" altLang="zh-CN" sz="2800" i="1" dirty="0"/>
              <a:t>m, n</a:t>
            </a:r>
            <a:r>
              <a:rPr lang="en-US" altLang="zh-CN" sz="2800" dirty="0"/>
              <a:t>) encoding function </a:t>
            </a:r>
            <a:r>
              <a:rPr lang="en-US" altLang="zh-CN" sz="2800" i="1" dirty="0"/>
              <a:t>e</a:t>
            </a:r>
            <a:r>
              <a:rPr lang="en-US" altLang="zh-CN" sz="2800" dirty="0"/>
              <a:t>: </a:t>
            </a:r>
            <a:r>
              <a:rPr lang="en-US" altLang="zh-CN" sz="2800" i="1" dirty="0"/>
              <a:t>B</a:t>
            </a:r>
            <a:r>
              <a:rPr lang="en-US" altLang="zh-CN" sz="2800" i="1" baseline="30000" dirty="0"/>
              <a:t>m</a:t>
            </a:r>
            <a:r>
              <a:rPr lang="en-US" altLang="zh-CN" sz="2800" dirty="0"/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</a:t>
            </a:r>
            <a:r>
              <a:rPr lang="en-US" altLang="zh-CN" sz="2800" dirty="0"/>
              <a:t> </a:t>
            </a:r>
            <a:r>
              <a:rPr lang="en-US" altLang="zh-CN" sz="2800" i="1" dirty="0"/>
              <a:t>B</a:t>
            </a:r>
            <a:r>
              <a:rPr lang="en-US" altLang="zh-CN" sz="2800" i="1" baseline="30000" dirty="0"/>
              <a:t>n</a:t>
            </a:r>
            <a:r>
              <a:rPr lang="en-US" altLang="zh-CN" sz="2800" dirty="0"/>
              <a:t> is called a </a:t>
            </a:r>
            <a:r>
              <a:rPr lang="en-US" altLang="zh-CN" sz="2800" i="1" dirty="0">
                <a:solidFill>
                  <a:schemeClr val="hlink"/>
                </a:solidFill>
              </a:rPr>
              <a:t>group code</a:t>
            </a:r>
            <a:r>
              <a:rPr lang="zh-CN" altLang="en-US" sz="2800" i="1" dirty="0">
                <a:solidFill>
                  <a:schemeClr val="hlink"/>
                </a:solidFill>
              </a:rPr>
              <a:t>（群码）</a:t>
            </a:r>
            <a:r>
              <a:rPr lang="en-US" altLang="zh-CN" sz="2800" dirty="0"/>
              <a:t> if</a:t>
            </a:r>
          </a:p>
          <a:p>
            <a:pPr marL="0" indent="0">
              <a:buNone/>
            </a:pPr>
            <a:r>
              <a:rPr lang="en-US" altLang="zh-CN" sz="2800" i="1" dirty="0"/>
              <a:t>   e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i="1" baseline="30000" dirty="0"/>
              <a:t>m</a:t>
            </a:r>
            <a:r>
              <a:rPr lang="en-US" altLang="zh-CN" sz="2800" dirty="0"/>
              <a:t>) = {</a:t>
            </a:r>
            <a:r>
              <a:rPr lang="en-US" altLang="zh-CN" sz="2800" i="1" dirty="0"/>
              <a:t>e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dirty="0"/>
              <a:t>) | </a:t>
            </a:r>
            <a:r>
              <a:rPr lang="en-US" altLang="zh-CN" sz="2800" i="1" dirty="0"/>
              <a:t>e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dirty="0"/>
              <a:t>) </a:t>
            </a:r>
            <a:r>
              <a:rPr lang="zh-CN" altLang="en-US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/>
              <a:t> </a:t>
            </a:r>
            <a:r>
              <a:rPr lang="en-US" altLang="zh-CN" sz="2800" i="1" dirty="0"/>
              <a:t>B</a:t>
            </a:r>
            <a:r>
              <a:rPr lang="en-US" altLang="zh-CN" sz="2800" i="1" baseline="30000" dirty="0"/>
              <a:t>n</a:t>
            </a:r>
            <a:r>
              <a:rPr lang="en-US" altLang="zh-CN" sz="2800" dirty="0"/>
              <a:t> } is a subgroup of </a:t>
            </a:r>
            <a:r>
              <a:rPr lang="en-US" altLang="zh-CN" sz="2800" i="1" dirty="0"/>
              <a:t>B</a:t>
            </a:r>
            <a:r>
              <a:rPr lang="en-US" altLang="zh-CN" sz="2800" i="1" baseline="30000" dirty="0"/>
              <a:t>n</a:t>
            </a:r>
          </a:p>
          <a:p>
            <a:endParaRPr lang="en-US" altLang="zh-CN" sz="2800" dirty="0"/>
          </a:p>
          <a:p>
            <a:r>
              <a:rPr lang="en-US" altLang="zh-CN" sz="2800" dirty="0"/>
              <a:t>Let </a:t>
            </a:r>
            <a:r>
              <a:rPr lang="en-US" altLang="zh-CN" sz="2800" i="1" dirty="0"/>
              <a:t>e</a:t>
            </a:r>
            <a:r>
              <a:rPr lang="en-US" altLang="zh-CN" sz="2800" dirty="0"/>
              <a:t>: </a:t>
            </a:r>
            <a:r>
              <a:rPr lang="en-US" altLang="zh-CN" sz="2800" i="1" dirty="0"/>
              <a:t>B</a:t>
            </a:r>
            <a:r>
              <a:rPr lang="en-US" altLang="zh-CN" sz="2800" i="1" baseline="30000" dirty="0"/>
              <a:t>m</a:t>
            </a:r>
            <a:r>
              <a:rPr lang="en-US" altLang="zh-CN" sz="2800" dirty="0"/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</a:t>
            </a:r>
            <a:r>
              <a:rPr lang="en-US" altLang="zh-CN" sz="2800" dirty="0"/>
              <a:t> </a:t>
            </a:r>
            <a:r>
              <a:rPr lang="en-US" altLang="zh-CN" sz="2800" i="1" dirty="0"/>
              <a:t>B</a:t>
            </a:r>
            <a:r>
              <a:rPr lang="en-US" altLang="zh-CN" sz="2800" i="1" baseline="30000" dirty="0"/>
              <a:t>n</a:t>
            </a:r>
            <a:r>
              <a:rPr lang="en-US" altLang="zh-CN" sz="2800" dirty="0"/>
              <a:t> be a group code. The minimum distance of </a:t>
            </a:r>
            <a:r>
              <a:rPr lang="en-US" altLang="zh-CN" sz="2800" i="1" dirty="0"/>
              <a:t>e</a:t>
            </a:r>
            <a:r>
              <a:rPr lang="en-US" altLang="zh-CN" sz="2800" dirty="0"/>
              <a:t> is the minimum weight of a nonzero code word.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355600" y="126484"/>
            <a:ext cx="6121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11 Groups and Coding</a:t>
            </a:r>
            <a:endParaRPr lang="zh-CN" altLang="en-US" sz="28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4407" y="739754"/>
            <a:ext cx="11977593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b="1" dirty="0">
                <a:solidFill>
                  <a:schemeClr val="hlink"/>
                </a:solidFill>
              </a:rPr>
              <a:t>mod-2 sum</a:t>
            </a:r>
            <a:r>
              <a:rPr lang="en-US" altLang="zh-CN" dirty="0">
                <a:solidFill>
                  <a:schemeClr val="hlink"/>
                </a:solidFill>
              </a:rPr>
              <a:t> </a:t>
            </a:r>
            <a:r>
              <a:rPr lang="en-US" altLang="zh-CN" b="1" dirty="0">
                <a:solidFill>
                  <a:schemeClr val="hlink"/>
                </a:solidFill>
              </a:rPr>
              <a:t>D </a:t>
            </a:r>
            <a:r>
              <a:rPr lang="zh-CN" altLang="en-US" b="1" dirty="0">
                <a:solidFill>
                  <a:schemeClr val="hlink"/>
                </a:solidFill>
                <a:sym typeface="Symbol" panose="05050102010706020507" pitchFamily="18" charset="2"/>
              </a:rPr>
              <a:t></a:t>
            </a:r>
            <a:r>
              <a:rPr lang="en-US" altLang="zh-CN" b="1" dirty="0">
                <a:solidFill>
                  <a:schemeClr val="hlink"/>
                </a:solidFill>
              </a:rPr>
              <a:t> E</a:t>
            </a:r>
          </a:p>
          <a:p>
            <a:r>
              <a:rPr lang="en-US" altLang="zh-CN" b="1" dirty="0">
                <a:solidFill>
                  <a:schemeClr val="hlink"/>
                </a:solidFill>
              </a:rPr>
              <a:t>mod-2 Boolean product D * E</a:t>
            </a:r>
            <a:r>
              <a:rPr lang="zh-CN" altLang="en-US" b="1" dirty="0">
                <a:solidFill>
                  <a:schemeClr val="hlink"/>
                </a:solidFill>
              </a:rPr>
              <a:t>（模</a:t>
            </a:r>
            <a:r>
              <a:rPr lang="en-US" altLang="zh-CN" b="1" dirty="0">
                <a:solidFill>
                  <a:schemeClr val="hlink"/>
                </a:solidFill>
              </a:rPr>
              <a:t>2</a:t>
            </a:r>
            <a:r>
              <a:rPr lang="zh-CN" altLang="en-US" b="1" dirty="0">
                <a:solidFill>
                  <a:schemeClr val="hlink"/>
                </a:solidFill>
              </a:rPr>
              <a:t>的布尔积）</a:t>
            </a:r>
            <a:endParaRPr lang="en-US" altLang="zh-CN" b="1" dirty="0">
              <a:solidFill>
                <a:schemeClr val="hlink"/>
              </a:solidFill>
            </a:endParaRPr>
          </a:p>
          <a:p>
            <a:r>
              <a:rPr lang="en-US" altLang="zh-CN" dirty="0"/>
              <a:t>Let </a:t>
            </a:r>
            <a:r>
              <a:rPr lang="en-US" altLang="zh-CN" i="1" dirty="0"/>
              <a:t>m</a:t>
            </a:r>
            <a:r>
              <a:rPr lang="en-US" altLang="zh-CN" dirty="0"/>
              <a:t> &lt; </a:t>
            </a:r>
            <a:r>
              <a:rPr lang="en-US" altLang="zh-CN" i="1" dirty="0"/>
              <a:t>n</a:t>
            </a:r>
            <a:r>
              <a:rPr lang="en-US" altLang="zh-CN" dirty="0"/>
              <a:t> and </a:t>
            </a:r>
            <a:r>
              <a:rPr lang="en-US" altLang="zh-CN" i="1" dirty="0"/>
              <a:t>r</a:t>
            </a:r>
            <a:r>
              <a:rPr lang="en-US" altLang="zh-CN" dirty="0"/>
              <a:t> = </a:t>
            </a:r>
            <a:r>
              <a:rPr lang="en-US" altLang="zh-CN" i="1" dirty="0"/>
              <a:t>n</a:t>
            </a:r>
            <a:r>
              <a:rPr lang="en-US" altLang="zh-CN" dirty="0"/>
              <a:t> – </a:t>
            </a:r>
            <a:r>
              <a:rPr lang="en-US" altLang="zh-CN" i="1" dirty="0"/>
              <a:t>m,</a:t>
            </a:r>
            <a:r>
              <a:rPr lang="en-US" altLang="zh-CN" dirty="0"/>
              <a:t> the following </a:t>
            </a:r>
            <a:r>
              <a:rPr lang="en-US" altLang="zh-CN" i="1" dirty="0"/>
              <a:t>n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Boolean matrix is called a </a:t>
            </a:r>
            <a:r>
              <a:rPr lang="en-US" altLang="zh-CN" i="1" u="sng" dirty="0">
                <a:solidFill>
                  <a:srgbClr val="FF0000"/>
                </a:solidFill>
              </a:rPr>
              <a:t>parity check matrix</a:t>
            </a:r>
            <a:r>
              <a:rPr lang="zh-CN" altLang="en-US" i="1" u="sng" dirty="0">
                <a:solidFill>
                  <a:srgbClr val="FF0000"/>
                </a:solidFill>
              </a:rPr>
              <a:t>（奇偶校验矩阵）</a:t>
            </a:r>
            <a:r>
              <a:rPr lang="en-US" altLang="zh-CN" u="sng" dirty="0">
                <a:solidFill>
                  <a:srgbClr val="FF0000"/>
                </a:solidFill>
              </a:rPr>
              <a:t>.</a:t>
            </a:r>
          </a:p>
          <a:p>
            <a:endParaRPr lang="en-US" altLang="zh-CN" b="1" u="sng" dirty="0">
              <a:solidFill>
                <a:srgbClr val="FF0000"/>
              </a:solidFill>
            </a:endParaRPr>
          </a:p>
          <a:p>
            <a:endParaRPr lang="en-US" altLang="zh-CN" u="sng" dirty="0">
              <a:solidFill>
                <a:srgbClr val="FF0000"/>
              </a:solidFill>
            </a:endParaRPr>
          </a:p>
          <a:p>
            <a:r>
              <a:rPr lang="zh-CN" altLang="en-US" u="sng" dirty="0">
                <a:solidFill>
                  <a:srgbClr val="FF0000"/>
                </a:solidFill>
              </a:rPr>
              <a:t>如何从</a:t>
            </a:r>
            <a:r>
              <a:rPr lang="en-US" altLang="zh-CN" u="sng" dirty="0">
                <a:solidFill>
                  <a:srgbClr val="FF0000"/>
                </a:solidFill>
              </a:rPr>
              <a:t>B</a:t>
            </a:r>
            <a:r>
              <a:rPr lang="en-US" altLang="zh-CN" u="sng" baseline="30000" dirty="0">
                <a:solidFill>
                  <a:srgbClr val="FF0000"/>
                </a:solidFill>
              </a:rPr>
              <a:t>n</a:t>
            </a:r>
            <a:r>
              <a:rPr lang="en-US" altLang="zh-CN" u="sng" dirty="0">
                <a:solidFill>
                  <a:srgbClr val="FF0000"/>
                </a:solidFill>
              </a:rPr>
              <a:t>→B</a:t>
            </a:r>
            <a:r>
              <a:rPr lang="en-US" altLang="zh-CN" u="sng" baseline="30000" dirty="0">
                <a:solidFill>
                  <a:srgbClr val="FF0000"/>
                </a:solidFill>
              </a:rPr>
              <a:t>m</a:t>
            </a:r>
          </a:p>
          <a:p>
            <a:endParaRPr lang="en-US" altLang="zh-CN" b="1" u="sng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14407" y="189984"/>
            <a:ext cx="61214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11 Constructing group code </a:t>
            </a:r>
            <a:endParaRPr lang="zh-CN" altLang="en-US" sz="24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625523" y="3049464"/>
          <a:ext cx="3643669" cy="3068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71700" imgH="1828800" progId="Equation.DSMT4">
                  <p:embed/>
                </p:oleObj>
              </mc:Choice>
              <mc:Fallback>
                <p:oleObj name="Equation" r:id="rId3" imgW="2171700" imgH="1828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5523" y="3049464"/>
                        <a:ext cx="3643669" cy="30687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4407" y="189984"/>
            <a:ext cx="61214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11 Constructing group code 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366696" y="996364"/>
            <a:ext cx="7177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2400" i="1" dirty="0" err="1"/>
              <a:t>e</a:t>
            </a:r>
            <a:r>
              <a:rPr lang="en-US" altLang="zh-CN" sz="2400" i="1" baseline="-25000" dirty="0" err="1"/>
              <a:t>H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B</a:t>
            </a:r>
            <a:r>
              <a:rPr lang="en-US" altLang="zh-CN" sz="2400" i="1" baseline="30000" dirty="0" err="1"/>
              <a:t>m</a:t>
            </a:r>
            <a:r>
              <a:rPr lang="en-US" altLang="zh-CN" sz="2400" dirty="0"/>
              <a:t> ) = {</a:t>
            </a:r>
            <a:r>
              <a:rPr lang="en-US" altLang="zh-CN" sz="2400" i="1" dirty="0" err="1"/>
              <a:t>e</a:t>
            </a:r>
            <a:r>
              <a:rPr lang="en-US" altLang="zh-CN" sz="2400" i="1" baseline="-25000" dirty="0" err="1"/>
              <a:t>H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 | b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 err="1"/>
              <a:t>B</a:t>
            </a:r>
            <a:r>
              <a:rPr lang="en-US" altLang="zh-CN" sz="2400" i="1" baseline="30000" dirty="0" err="1"/>
              <a:t>m</a:t>
            </a:r>
            <a:r>
              <a:rPr lang="en-US" altLang="zh-CN" sz="2400" dirty="0"/>
              <a:t>} is a subgroup of </a:t>
            </a:r>
            <a:r>
              <a:rPr lang="en-US" altLang="zh-CN" sz="2400" i="1" dirty="0" err="1"/>
              <a:t>B</a:t>
            </a:r>
            <a:r>
              <a:rPr lang="en-US" altLang="zh-CN" sz="2400" i="1" baseline="30000" dirty="0" err="1"/>
              <a:t>n</a:t>
            </a:r>
            <a:r>
              <a:rPr lang="en-US" altLang="zh-CN" sz="2400" dirty="0"/>
              <a:t> </a:t>
            </a: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2197916" y="1904305"/>
          <a:ext cx="8275782" cy="4287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16400" imgH="2184400" progId="Equation.DSMT4">
                  <p:embed/>
                </p:oleObj>
              </mc:Choice>
              <mc:Fallback>
                <p:oleObj name="Equation" r:id="rId2" imgW="4216400" imgH="2184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916" y="1904305"/>
                        <a:ext cx="8275782" cy="42874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4407" y="739754"/>
            <a:ext cx="11977593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/>
              <a:t>Consider an (</a:t>
            </a:r>
            <a:r>
              <a:rPr lang="en-US" altLang="zh-CN" sz="2400" i="1" dirty="0"/>
              <a:t>m, n</a:t>
            </a:r>
            <a:r>
              <a:rPr lang="en-US" altLang="zh-CN" sz="2400" dirty="0"/>
              <a:t>) encoding function </a:t>
            </a:r>
            <a:r>
              <a:rPr lang="en-US" altLang="zh-CN" sz="2400" i="1" dirty="0"/>
              <a:t>e</a:t>
            </a:r>
            <a:r>
              <a:rPr lang="en-US" altLang="zh-CN" sz="2400" dirty="0"/>
              <a:t>: </a:t>
            </a:r>
            <a:r>
              <a:rPr lang="en-US" altLang="zh-CN" sz="2400" i="1" dirty="0"/>
              <a:t>B</a:t>
            </a:r>
            <a:r>
              <a:rPr lang="en-US" altLang="zh-CN" sz="2400" i="1" baseline="30000" dirty="0"/>
              <a:t>m</a:t>
            </a:r>
            <a:r>
              <a:rPr lang="en-US" altLang="zh-CN" sz="24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i="1" baseline="30000" dirty="0"/>
              <a:t>n</a:t>
            </a:r>
            <a:r>
              <a:rPr lang="en-US" altLang="zh-CN" sz="2400" dirty="0"/>
              <a:t>. An onto function </a:t>
            </a:r>
            <a:r>
              <a:rPr lang="en-US" altLang="zh-CN" sz="2400" i="1" dirty="0"/>
              <a:t>d</a:t>
            </a:r>
            <a:r>
              <a:rPr lang="en-US" altLang="zh-CN" sz="2400" dirty="0"/>
              <a:t>: </a:t>
            </a:r>
            <a:r>
              <a:rPr lang="en-US" altLang="zh-CN" sz="2400" i="1" dirty="0"/>
              <a:t>B</a:t>
            </a:r>
            <a:r>
              <a:rPr lang="en-US" altLang="zh-CN" sz="2400" i="1" baseline="30000" dirty="0"/>
              <a:t>n</a:t>
            </a:r>
            <a:r>
              <a:rPr lang="en-US" altLang="zh-CN" sz="24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i="1" baseline="30000" dirty="0"/>
              <a:t>m</a:t>
            </a:r>
            <a:r>
              <a:rPr lang="en-US" altLang="zh-CN" sz="2400" dirty="0"/>
              <a:t> is called an (</a:t>
            </a:r>
            <a:r>
              <a:rPr lang="en-US" altLang="zh-CN" sz="2400" i="1" dirty="0"/>
              <a:t>n, m</a:t>
            </a:r>
            <a:r>
              <a:rPr lang="en-US" altLang="zh-CN" sz="2400" dirty="0"/>
              <a:t>) </a:t>
            </a:r>
            <a:r>
              <a:rPr lang="en-US" altLang="zh-CN" sz="2400" i="1" dirty="0">
                <a:solidFill>
                  <a:schemeClr val="hlink"/>
                </a:solidFill>
              </a:rPr>
              <a:t>decoding function associated with e</a:t>
            </a:r>
            <a:r>
              <a:rPr lang="en-US" altLang="zh-CN" sz="2400" dirty="0">
                <a:solidFill>
                  <a:schemeClr val="hlink"/>
                </a:solidFill>
              </a:rPr>
              <a:t>(</a:t>
            </a:r>
            <a:r>
              <a:rPr lang="zh-CN" altLang="en-US" sz="2400" dirty="0">
                <a:solidFill>
                  <a:schemeClr val="hlink"/>
                </a:solidFill>
              </a:rPr>
              <a:t>与</a:t>
            </a:r>
            <a:r>
              <a:rPr lang="en-US" altLang="zh-CN" sz="2400" i="1" dirty="0">
                <a:solidFill>
                  <a:schemeClr val="hlink"/>
                </a:solidFill>
              </a:rPr>
              <a:t>e</a:t>
            </a:r>
            <a:r>
              <a:rPr lang="zh-CN" altLang="en-US" sz="2400" dirty="0">
                <a:solidFill>
                  <a:schemeClr val="hlink"/>
                </a:solidFill>
              </a:rPr>
              <a:t>关联的译码函数</a:t>
            </a:r>
            <a:r>
              <a:rPr lang="en-US" altLang="zh-CN" sz="2400" dirty="0">
                <a:solidFill>
                  <a:schemeClr val="hlink"/>
                </a:solidFill>
              </a:rPr>
              <a:t>)</a:t>
            </a:r>
            <a:r>
              <a:rPr lang="en-US" altLang="zh-CN" sz="2400" dirty="0"/>
              <a:t> if </a:t>
            </a:r>
            <a:r>
              <a:rPr lang="en-US" altLang="zh-CN" sz="2400" i="1" dirty="0"/>
              <a:t>d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t</a:t>
            </a:r>
            <a:r>
              <a:rPr lang="en-US" altLang="zh-CN" sz="2400" dirty="0"/>
              <a:t>) = </a:t>
            </a:r>
            <a:r>
              <a:rPr lang="en-US" altLang="zh-CN" sz="2400" i="1" dirty="0"/>
              <a:t>b</a:t>
            </a:r>
            <a:r>
              <a:rPr lang="en-US" altLang="zh-CN" sz="2400" dirty="0"/>
              <a:t>' </a:t>
            </a:r>
            <a:r>
              <a:rPr lang="zh-CN" altLang="en-US" sz="2400" dirty="0">
                <a:sym typeface="Symbol" panose="05050102010706020507" pitchFamily="18" charset="2"/>
              </a:rPr>
              <a:t></a:t>
            </a:r>
            <a:r>
              <a:rPr lang="en-US" altLang="zh-CN" sz="2400" dirty="0"/>
              <a:t> </a:t>
            </a:r>
            <a:r>
              <a:rPr lang="en-US" altLang="zh-CN" sz="2400" i="1" dirty="0"/>
              <a:t>B</a:t>
            </a:r>
            <a:r>
              <a:rPr lang="en-US" altLang="zh-CN" sz="2400" i="1" baseline="30000" dirty="0"/>
              <a:t>m</a:t>
            </a:r>
            <a:r>
              <a:rPr lang="en-US" altLang="zh-CN" sz="2400" dirty="0"/>
              <a:t> is such that when the transmission channel has no noise, then </a:t>
            </a:r>
            <a:r>
              <a:rPr lang="en-US" altLang="zh-CN" sz="2400" i="1" dirty="0"/>
              <a:t>b</a:t>
            </a:r>
            <a:r>
              <a:rPr lang="en-US" altLang="zh-CN" sz="2400" dirty="0"/>
              <a:t>' = </a:t>
            </a:r>
            <a:r>
              <a:rPr lang="en-US" altLang="zh-CN" sz="2400" i="1" dirty="0"/>
              <a:t>b</a:t>
            </a:r>
            <a:r>
              <a:rPr lang="en-US" altLang="zh-CN" sz="2400" dirty="0"/>
              <a:t>, that is, </a:t>
            </a:r>
            <a:r>
              <a:rPr lang="en-US" altLang="zh-CN" sz="2400" i="1" dirty="0"/>
              <a:t>d</a:t>
            </a:r>
            <a:r>
              <a:rPr lang="en-US" altLang="zh-CN" sz="2400" dirty="0"/>
              <a:t> </a:t>
            </a:r>
            <a:r>
              <a:rPr lang="en-US" altLang="zh-CN" sz="1400" dirty="0">
                <a:latin typeface="MT-Extra" charset="0"/>
              </a:rPr>
              <a:t>o</a:t>
            </a:r>
            <a:r>
              <a:rPr lang="en-US" altLang="zh-CN" sz="2400" dirty="0"/>
              <a:t> </a:t>
            </a:r>
            <a:r>
              <a:rPr lang="en-US" altLang="zh-CN" sz="2400" i="1" dirty="0"/>
              <a:t>e</a:t>
            </a:r>
            <a:r>
              <a:rPr lang="en-US" altLang="zh-CN" sz="2400" dirty="0"/>
              <a:t> = 1</a:t>
            </a:r>
            <a:r>
              <a:rPr lang="en-US" altLang="zh-CN" sz="2400" i="1" baseline="-25000" dirty="0"/>
              <a:t>B</a:t>
            </a:r>
            <a:r>
              <a:rPr lang="en-US" altLang="zh-CN" sz="2400" i="1" baseline="-10000" dirty="0"/>
              <a:t>m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Let </a:t>
            </a:r>
            <a:r>
              <a:rPr lang="en-US" altLang="zh-CN" sz="2400" i="1" dirty="0"/>
              <a:t>e</a:t>
            </a:r>
            <a:r>
              <a:rPr lang="en-US" altLang="zh-CN" sz="2400" dirty="0"/>
              <a:t> be an (</a:t>
            </a:r>
            <a:r>
              <a:rPr lang="en-US" altLang="zh-CN" sz="2400" i="1" dirty="0"/>
              <a:t>m, n</a:t>
            </a:r>
            <a:r>
              <a:rPr lang="en-US" altLang="zh-CN" sz="2400" dirty="0"/>
              <a:t>) encoding function and let </a:t>
            </a:r>
            <a:r>
              <a:rPr lang="en-US" altLang="zh-CN" sz="2400" i="1" dirty="0"/>
              <a:t>d</a:t>
            </a:r>
            <a:r>
              <a:rPr lang="en-US" altLang="zh-CN" sz="2400" dirty="0"/>
              <a:t> be an (</a:t>
            </a:r>
            <a:r>
              <a:rPr lang="en-US" altLang="zh-CN" sz="2400" i="1" dirty="0"/>
              <a:t>n, m</a:t>
            </a:r>
            <a:r>
              <a:rPr lang="en-US" altLang="zh-CN" sz="2400" dirty="0"/>
              <a:t>) decoding function associated with </a:t>
            </a:r>
            <a:r>
              <a:rPr lang="en-US" altLang="zh-CN" sz="2400" i="1" dirty="0"/>
              <a:t>e</a:t>
            </a:r>
            <a:r>
              <a:rPr lang="en-US" altLang="zh-CN" sz="24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The pair (</a:t>
            </a:r>
            <a:r>
              <a:rPr lang="en-US" altLang="zh-CN" sz="2000" i="1" dirty="0"/>
              <a:t>e, d</a:t>
            </a:r>
            <a:r>
              <a:rPr lang="en-US" altLang="zh-CN" sz="2000" dirty="0"/>
              <a:t>) is said to </a:t>
            </a:r>
            <a:r>
              <a:rPr lang="en-US" altLang="zh-CN" sz="2000" i="1" dirty="0">
                <a:solidFill>
                  <a:schemeClr val="hlink"/>
                </a:solidFill>
              </a:rPr>
              <a:t>correct</a:t>
            </a:r>
            <a:r>
              <a:rPr lang="zh-CN" altLang="en-US" sz="2000" i="1" dirty="0">
                <a:solidFill>
                  <a:schemeClr val="hlink"/>
                </a:solidFill>
              </a:rPr>
              <a:t>（校正）</a:t>
            </a:r>
            <a:r>
              <a:rPr lang="en-US" altLang="zh-CN" sz="2000" i="1" dirty="0">
                <a:solidFill>
                  <a:schemeClr val="hlink"/>
                </a:solidFill>
              </a:rPr>
              <a:t> k or fewer errors</a:t>
            </a:r>
            <a:r>
              <a:rPr lang="en-US" altLang="zh-CN" sz="2000" dirty="0"/>
              <a:t>  if whenever </a:t>
            </a:r>
            <a:r>
              <a:rPr lang="en-US" altLang="zh-CN" sz="2000" i="1" dirty="0"/>
              <a:t>x</a:t>
            </a:r>
            <a:r>
              <a:rPr lang="en-US" altLang="zh-CN" sz="2000" dirty="0"/>
              <a:t> = </a:t>
            </a:r>
            <a:r>
              <a:rPr lang="en-US" altLang="zh-CN" sz="2000" i="1" dirty="0"/>
              <a:t>e</a:t>
            </a:r>
            <a:r>
              <a:rPr lang="en-US" altLang="zh-CN" sz="2000" dirty="0"/>
              <a:t>(</a:t>
            </a:r>
            <a:r>
              <a:rPr lang="en-US" altLang="zh-CN" sz="2000" i="1" dirty="0"/>
              <a:t>b</a:t>
            </a:r>
            <a:r>
              <a:rPr lang="en-US" altLang="zh-CN" sz="2000" dirty="0"/>
              <a:t>) is transmitted correctly or with </a:t>
            </a:r>
            <a:r>
              <a:rPr lang="en-US" altLang="zh-CN" sz="2000" i="1" dirty="0"/>
              <a:t>k</a:t>
            </a:r>
            <a:r>
              <a:rPr lang="en-US" altLang="zh-CN" sz="2000" dirty="0"/>
              <a:t> or fewer errors and </a:t>
            </a:r>
            <a:r>
              <a:rPr lang="en-US" altLang="zh-CN" sz="2000" i="1" dirty="0" err="1"/>
              <a:t>x</a:t>
            </a:r>
            <a:r>
              <a:rPr lang="en-US" altLang="zh-CN" sz="2000" i="1" baseline="-25000" dirty="0" err="1"/>
              <a:t>t</a:t>
            </a:r>
            <a:r>
              <a:rPr lang="en-US" altLang="zh-CN" sz="2000" dirty="0"/>
              <a:t> is received, then </a:t>
            </a:r>
            <a:r>
              <a:rPr lang="en-US" altLang="zh-CN" sz="2000" i="1" dirty="0"/>
              <a:t>d</a:t>
            </a:r>
            <a:r>
              <a:rPr lang="en-US" altLang="zh-CN" sz="2000" dirty="0"/>
              <a:t>(</a:t>
            </a:r>
            <a:r>
              <a:rPr lang="en-US" altLang="zh-CN" sz="2000" i="1" dirty="0" err="1"/>
              <a:t>x</a:t>
            </a:r>
            <a:r>
              <a:rPr lang="en-US" altLang="zh-CN" sz="2000" i="1" baseline="-25000" dirty="0" err="1"/>
              <a:t>t</a:t>
            </a:r>
            <a:r>
              <a:rPr lang="en-US" altLang="zh-CN" sz="2000" dirty="0"/>
              <a:t>) = </a:t>
            </a:r>
            <a:r>
              <a:rPr lang="en-US" altLang="zh-CN" sz="2000" i="1" dirty="0"/>
              <a:t>b</a:t>
            </a:r>
            <a:r>
              <a:rPr lang="en-US" altLang="zh-CN" sz="2000" dirty="0"/>
              <a:t>. Thus </a:t>
            </a:r>
            <a:r>
              <a:rPr lang="en-US" altLang="zh-CN" sz="2000" i="1" dirty="0" err="1"/>
              <a:t>x</a:t>
            </a:r>
            <a:r>
              <a:rPr lang="en-US" altLang="zh-CN" sz="2000" i="1" baseline="-25000" dirty="0" err="1"/>
              <a:t>t</a:t>
            </a:r>
            <a:r>
              <a:rPr lang="en-US" altLang="zh-CN" sz="2000" dirty="0"/>
              <a:t> is decoded as the correct message </a:t>
            </a:r>
            <a:r>
              <a:rPr lang="en-US" altLang="zh-CN" sz="2000" i="1" dirty="0"/>
              <a:t>b</a:t>
            </a:r>
            <a:r>
              <a:rPr lang="en-US" altLang="zh-CN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(</a:t>
            </a:r>
            <a:r>
              <a:rPr lang="en-US" altLang="zh-CN" sz="2000" i="1" dirty="0"/>
              <a:t>e, d</a:t>
            </a:r>
            <a:r>
              <a:rPr lang="en-US" altLang="zh-CN" sz="2000" dirty="0"/>
              <a:t>) can correct </a:t>
            </a:r>
            <a:r>
              <a:rPr lang="en-US" altLang="zh-CN" sz="2000" i="1" dirty="0"/>
              <a:t>k</a:t>
            </a:r>
            <a:r>
              <a:rPr lang="en-US" altLang="zh-CN" sz="2000" dirty="0"/>
              <a:t> or fewer errors if and only if  the minimum distance of </a:t>
            </a:r>
            <a:r>
              <a:rPr lang="en-US" altLang="zh-CN" sz="2000" i="1" dirty="0"/>
              <a:t>e</a:t>
            </a:r>
            <a:r>
              <a:rPr lang="en-US" altLang="zh-CN" sz="2000" dirty="0"/>
              <a:t> is at least 2</a:t>
            </a:r>
            <a:r>
              <a:rPr lang="en-US" altLang="zh-CN" sz="2000" i="1" dirty="0"/>
              <a:t>k</a:t>
            </a:r>
            <a:r>
              <a:rPr lang="en-US" altLang="zh-CN" sz="2000" dirty="0"/>
              <a:t> + l.</a:t>
            </a:r>
            <a:endParaRPr lang="zh-CN" altLang="en-US" sz="2000" dirty="0"/>
          </a:p>
          <a:p>
            <a:pPr marL="0" indent="0">
              <a:buNone/>
            </a:pPr>
            <a:endParaRPr lang="zh-CN" altLang="en-US" sz="2400" dirty="0"/>
          </a:p>
          <a:p>
            <a:endParaRPr lang="en-US" altLang="zh-CN" sz="2400" i="1" baseline="-10000" dirty="0"/>
          </a:p>
          <a:p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81803" y="101084"/>
            <a:ext cx="6121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11 Decoding and Error Correction </a:t>
            </a:r>
            <a:endParaRPr lang="zh-CN" altLang="en-US" sz="28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4407" y="739754"/>
            <a:ext cx="11977593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/>
              <a:t>Since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has 2</a:t>
            </a:r>
            <a:r>
              <a:rPr lang="en-US" altLang="zh-CN" i="1" baseline="30000" dirty="0"/>
              <a:t>m</a:t>
            </a:r>
            <a:r>
              <a:rPr lang="en-US" altLang="zh-CN" dirty="0"/>
              <a:t> elements, there are 2</a:t>
            </a:r>
            <a:r>
              <a:rPr lang="en-US" altLang="zh-CN" i="1" baseline="30000" dirty="0"/>
              <a:t>m</a:t>
            </a:r>
            <a:r>
              <a:rPr lang="en-US" altLang="zh-CN" dirty="0"/>
              <a:t> code words in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. List it as </a:t>
            </a:r>
          </a:p>
          <a:p>
            <a:pPr lvl="1"/>
            <a:r>
              <a:rPr lang="en-US" altLang="zh-CN" i="1" dirty="0"/>
              <a:t>x</a:t>
            </a:r>
            <a:r>
              <a:rPr lang="en-US" altLang="zh-CN" baseline="30000" dirty="0"/>
              <a:t>(1)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30000" dirty="0"/>
              <a:t>(2)</a:t>
            </a:r>
            <a:r>
              <a:rPr lang="en-US" altLang="zh-CN" dirty="0"/>
              <a:t>,..., </a:t>
            </a:r>
            <a:r>
              <a:rPr lang="en-US" altLang="zh-CN" i="1" dirty="0"/>
              <a:t>x</a:t>
            </a:r>
            <a:r>
              <a:rPr lang="en-US" altLang="zh-CN" baseline="30000" dirty="0"/>
              <a:t>(2</a:t>
            </a:r>
            <a:r>
              <a:rPr lang="en-US" altLang="zh-CN" i="1" baseline="60000" dirty="0"/>
              <a:t>m</a:t>
            </a:r>
            <a:r>
              <a:rPr lang="en-US" altLang="zh-CN" baseline="30000" dirty="0"/>
              <a:t>) </a:t>
            </a:r>
          </a:p>
          <a:p>
            <a:pPr lvl="1"/>
            <a:r>
              <a:rPr lang="en-US" altLang="zh-CN" dirty="0"/>
              <a:t>If the received word is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, we compute </a:t>
            </a:r>
            <a:r>
              <a:rPr lang="zh-CN" altLang="en-US" dirty="0">
                <a:sym typeface="Symbol" panose="05050102010706020507" pitchFamily="18" charset="2"/>
              </a:rPr>
              <a:t>(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baseline="30000" dirty="0">
                <a:sym typeface="Symbol" panose="05050102010706020507" pitchFamily="18" charset="2"/>
              </a:rPr>
              <a:t>(</a:t>
            </a:r>
            <a:r>
              <a:rPr lang="en-US" altLang="zh-CN" i="1" baseline="30000" dirty="0" err="1">
                <a:sym typeface="Symbol" panose="05050102010706020507" pitchFamily="18" charset="2"/>
              </a:rPr>
              <a:t>i</a:t>
            </a:r>
            <a:r>
              <a:rPr lang="en-US" altLang="zh-CN" baseline="30000" dirty="0">
                <a:sym typeface="Symbol" panose="05050102010706020507" pitchFamily="18" charset="2"/>
              </a:rPr>
              <a:t>)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i="1" baseline="-25000" dirty="0" err="1">
                <a:sym typeface="Symbol" panose="05050102010706020507" pitchFamily="18" charset="2"/>
              </a:rPr>
              <a:t>t</a:t>
            </a:r>
            <a:r>
              <a:rPr lang="en-US" altLang="zh-CN" dirty="0">
                <a:sym typeface="Symbol" panose="05050102010706020507" pitchFamily="18" charset="2"/>
              </a:rPr>
              <a:t>) for 1 </a:t>
            </a:r>
            <a:r>
              <a:rPr lang="zh-CN" altLang="en-US" dirty="0">
                <a:sym typeface="Symbol" panose="05050102010706020507" pitchFamily="18" charset="2"/>
              </a:rPr>
              <a:t></a:t>
            </a:r>
            <a:r>
              <a:rPr lang="en-US" altLang="zh-CN" dirty="0" err="1">
                <a:sym typeface="Euclid Math Two" panose="02050601010101010101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zh-CN" altLang="en-US" dirty="0">
                <a:sym typeface="Euclid Math Two" panose="02050601010101010101" pitchFamily="18" charset="2"/>
              </a:rPr>
              <a:t> </a:t>
            </a:r>
            <a:r>
              <a:rPr lang="en-US" altLang="zh-CN" dirty="0"/>
              <a:t>2</a:t>
            </a:r>
            <a:r>
              <a:rPr lang="en-US" altLang="zh-CN" i="1" baseline="30000" dirty="0"/>
              <a:t>m</a:t>
            </a:r>
            <a:r>
              <a:rPr lang="en-US" altLang="zh-CN" dirty="0"/>
              <a:t>, and choose the first code word, say it is </a:t>
            </a:r>
            <a:r>
              <a:rPr lang="en-US" altLang="zh-CN" i="1" dirty="0"/>
              <a:t>x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s</a:t>
            </a:r>
            <a:r>
              <a:rPr lang="en-US" altLang="zh-CN" baseline="30000" dirty="0"/>
              <a:t>)</a:t>
            </a:r>
            <a:r>
              <a:rPr lang="en-US" altLang="zh-CN" dirty="0"/>
              <a:t>, such that</a:t>
            </a:r>
          </a:p>
          <a:p>
            <a:endParaRPr lang="en-US" altLang="zh-CN" dirty="0"/>
          </a:p>
          <a:p>
            <a:r>
              <a:rPr lang="en-US" altLang="zh-CN" dirty="0"/>
              <a:t>That is, </a:t>
            </a:r>
            <a:r>
              <a:rPr lang="en-US" altLang="zh-CN" i="1" dirty="0"/>
              <a:t>x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s</a:t>
            </a:r>
            <a:r>
              <a:rPr lang="en-US" altLang="zh-CN" baseline="30000" dirty="0"/>
              <a:t>)</a:t>
            </a:r>
            <a:r>
              <a:rPr lang="en-US" altLang="zh-CN" dirty="0"/>
              <a:t> is a code word that is closest to 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i="1" baseline="-25000" dirty="0" err="1">
                <a:sym typeface="Symbol" panose="05050102010706020507" pitchFamily="18" charset="2"/>
              </a:rPr>
              <a:t>t</a:t>
            </a:r>
            <a:r>
              <a:rPr lang="en-US" altLang="zh-CN" dirty="0"/>
              <a:t> and the first in the list. </a:t>
            </a:r>
          </a:p>
          <a:p>
            <a:r>
              <a:rPr lang="en-US" altLang="zh-CN" dirty="0"/>
              <a:t>If </a:t>
            </a:r>
            <a:r>
              <a:rPr lang="en-US" altLang="zh-CN" i="1" dirty="0"/>
              <a:t>x</a:t>
            </a:r>
            <a:r>
              <a:rPr lang="en-US" altLang="zh-CN" baseline="30000" dirty="0"/>
              <a:t>(</a:t>
            </a:r>
            <a:r>
              <a:rPr lang="en-US" altLang="zh-CN" i="1" baseline="30000" dirty="0"/>
              <a:t>s</a:t>
            </a:r>
            <a:r>
              <a:rPr lang="en-US" altLang="zh-CN" baseline="30000" dirty="0"/>
              <a:t>)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), we define the </a:t>
            </a:r>
            <a:r>
              <a:rPr lang="en-US" altLang="zh-CN" i="1" u="sng" dirty="0">
                <a:solidFill>
                  <a:srgbClr val="FF0000"/>
                </a:solidFill>
              </a:rPr>
              <a:t>maximum likelihood decoding function</a:t>
            </a:r>
            <a:r>
              <a:rPr lang="zh-CN" altLang="en-US" i="1" u="sng" dirty="0">
                <a:solidFill>
                  <a:srgbClr val="FF0000"/>
                </a:solidFill>
              </a:rPr>
              <a:t>（最大似然译码函数）</a:t>
            </a:r>
            <a:r>
              <a:rPr lang="en-US" altLang="zh-CN" u="sng" dirty="0">
                <a:solidFill>
                  <a:srgbClr val="FF0000"/>
                </a:solidFill>
              </a:rPr>
              <a:t> </a:t>
            </a:r>
            <a:r>
              <a:rPr lang="en-US" altLang="zh-CN" i="1" dirty="0"/>
              <a:t>d</a:t>
            </a:r>
            <a:r>
              <a:rPr lang="en-US" altLang="zh-CN" dirty="0"/>
              <a:t> associated with </a:t>
            </a:r>
            <a:r>
              <a:rPr lang="en-US" altLang="zh-CN" i="1" dirty="0"/>
              <a:t>e</a:t>
            </a:r>
            <a:r>
              <a:rPr lang="en-US" altLang="zh-CN" dirty="0"/>
              <a:t> by </a:t>
            </a:r>
            <a:r>
              <a:rPr lang="en-US" altLang="zh-CN" i="1" dirty="0"/>
              <a:t>d</a:t>
            </a:r>
            <a:r>
              <a:rPr lang="en-US" altLang="zh-CN" dirty="0"/>
              <a:t>(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i="1" baseline="-25000" dirty="0" err="1">
                <a:sym typeface="Symbol" panose="05050102010706020507" pitchFamily="18" charset="2"/>
              </a:rPr>
              <a:t>t</a:t>
            </a:r>
            <a:r>
              <a:rPr lang="en-US" altLang="zh-CN" dirty="0"/>
              <a:t>) = </a:t>
            </a:r>
            <a:r>
              <a:rPr lang="en-US" altLang="zh-CN" i="1" dirty="0"/>
              <a:t>b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1803" y="126484"/>
            <a:ext cx="6121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11 Maximum  likelihood technique</a:t>
            </a:r>
            <a:endParaRPr lang="zh-CN" altLang="en-US" sz="28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214407" y="1273154"/>
            <a:ext cx="11977593" cy="493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1907"/>
              </a:buClr>
              <a:buFont typeface="Wingdings" panose="05000000000000000000" pitchFamily="2" charset="2"/>
              <a:buChar char="r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3038F"/>
              </a:buClr>
              <a:buFont typeface="Wingdings" panose="05000000000000000000" pitchFamily="2" charset="2"/>
              <a:buChar char="¦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CB22C"/>
              </a:buClr>
              <a:buFont typeface="Wingdings" panose="05000000000000000000" pitchFamily="2" charset="2"/>
              <a:buChar char="v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ò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800" dirty="0"/>
              <a:t>Let </a:t>
            </a:r>
            <a:r>
              <a:rPr lang="en-US" altLang="zh-CN" sz="2800" i="1" dirty="0"/>
              <a:t>e</a:t>
            </a:r>
            <a:r>
              <a:rPr lang="en-US" altLang="zh-CN" sz="2800" dirty="0"/>
              <a:t>: </a:t>
            </a:r>
            <a:r>
              <a:rPr lang="en-US" altLang="zh-CN" sz="2800" i="1" dirty="0"/>
              <a:t>B</a:t>
            </a:r>
            <a:r>
              <a:rPr lang="en-US" altLang="zh-CN" sz="2800" i="1" baseline="30000" dirty="0"/>
              <a:t>m</a:t>
            </a:r>
            <a:r>
              <a:rPr lang="en-US" altLang="zh-CN" sz="2800" dirty="0"/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</a:t>
            </a:r>
            <a:r>
              <a:rPr lang="en-US" altLang="zh-CN" sz="2800" dirty="0"/>
              <a:t> </a:t>
            </a:r>
            <a:r>
              <a:rPr lang="en-US" altLang="zh-CN" sz="2800" i="1" dirty="0"/>
              <a:t>B</a:t>
            </a:r>
            <a:r>
              <a:rPr lang="en-US" altLang="zh-CN" sz="2800" i="1" baseline="30000" dirty="0"/>
              <a:t>n</a:t>
            </a:r>
            <a:r>
              <a:rPr lang="en-US" altLang="zh-CN" sz="2800" dirty="0"/>
              <a:t> be an (</a:t>
            </a:r>
            <a:r>
              <a:rPr lang="en-US" altLang="zh-CN" sz="2800" i="1" dirty="0"/>
              <a:t>m, n</a:t>
            </a:r>
            <a:r>
              <a:rPr lang="en-US" altLang="zh-CN" sz="2800" dirty="0"/>
              <a:t>) encoding function that is a group code. Thus the set </a:t>
            </a:r>
            <a:r>
              <a:rPr lang="en-US" altLang="zh-CN" sz="2800" i="1" dirty="0"/>
              <a:t>N</a:t>
            </a:r>
            <a:r>
              <a:rPr lang="en-US" altLang="zh-CN" sz="2800" dirty="0"/>
              <a:t> of code words in </a:t>
            </a:r>
            <a:r>
              <a:rPr lang="en-US" altLang="zh-CN" sz="2800" i="1" dirty="0"/>
              <a:t>B</a:t>
            </a:r>
            <a:r>
              <a:rPr lang="en-US" altLang="zh-CN" sz="2800" i="1" baseline="30000" dirty="0"/>
              <a:t>n</a:t>
            </a:r>
            <a:r>
              <a:rPr lang="en-US" altLang="zh-CN" sz="2800" dirty="0"/>
              <a:t> is a subgroup of </a:t>
            </a:r>
            <a:r>
              <a:rPr lang="en-US" altLang="zh-CN" sz="2800" i="1" dirty="0"/>
              <a:t>B</a:t>
            </a:r>
            <a:r>
              <a:rPr lang="en-US" altLang="zh-CN" sz="2800" i="1" baseline="30000" dirty="0"/>
              <a:t>n</a:t>
            </a:r>
            <a:r>
              <a:rPr lang="en-US" altLang="zh-CN" sz="2800" dirty="0"/>
              <a:t> whose order is 2</a:t>
            </a:r>
            <a:r>
              <a:rPr lang="en-US" altLang="zh-CN" sz="2800" i="1" baseline="30000" dirty="0"/>
              <a:t>m</a:t>
            </a:r>
            <a:r>
              <a:rPr lang="en-US" altLang="zh-CN" sz="2800" dirty="0"/>
              <a:t>, say  N = {</a:t>
            </a:r>
            <a:r>
              <a:rPr lang="en-US" altLang="zh-CN" sz="2800" i="1" dirty="0"/>
              <a:t>x</a:t>
            </a:r>
            <a:r>
              <a:rPr lang="en-US" altLang="zh-CN" sz="2800" baseline="30000" dirty="0"/>
              <a:t>(1)</a:t>
            </a:r>
            <a:r>
              <a:rPr lang="en-US" altLang="zh-CN" sz="2800" dirty="0"/>
              <a:t>, </a:t>
            </a:r>
            <a:r>
              <a:rPr lang="en-US" altLang="zh-CN" sz="2800" i="1" dirty="0"/>
              <a:t>x</a:t>
            </a:r>
            <a:r>
              <a:rPr lang="en-US" altLang="zh-CN" sz="2800" baseline="30000" dirty="0"/>
              <a:t>(2)</a:t>
            </a:r>
            <a:r>
              <a:rPr lang="en-US" altLang="zh-CN" sz="2800" dirty="0"/>
              <a:t>,..., </a:t>
            </a:r>
            <a:r>
              <a:rPr lang="en-US" altLang="zh-CN" sz="2800" i="1" dirty="0"/>
              <a:t>x</a:t>
            </a:r>
            <a:r>
              <a:rPr lang="en-US" altLang="zh-CN" sz="2800" baseline="30000" dirty="0"/>
              <a:t>(2</a:t>
            </a:r>
            <a:r>
              <a:rPr lang="en-US" altLang="zh-CN" sz="2800" i="1" baseline="60000" dirty="0"/>
              <a:t>m</a:t>
            </a:r>
            <a:r>
              <a:rPr lang="en-US" altLang="zh-CN" sz="2800" baseline="30000" dirty="0"/>
              <a:t>)</a:t>
            </a:r>
            <a:r>
              <a:rPr lang="en-US" altLang="zh-CN" sz="2800" dirty="0"/>
              <a:t>}.</a:t>
            </a:r>
          </a:p>
          <a:p>
            <a:r>
              <a:rPr lang="en-US" altLang="zh-CN" sz="2800" dirty="0"/>
              <a:t>Suppose that the code word </a:t>
            </a:r>
            <a:r>
              <a:rPr lang="en-US" altLang="zh-CN" sz="2800" i="1" dirty="0"/>
              <a:t>x</a:t>
            </a:r>
            <a:r>
              <a:rPr lang="en-US" altLang="zh-CN" sz="2800" dirty="0"/>
              <a:t> = </a:t>
            </a:r>
            <a:r>
              <a:rPr lang="en-US" altLang="zh-CN" sz="2800" i="1" dirty="0"/>
              <a:t>e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dirty="0"/>
              <a:t>) is transmitted and that the word </a:t>
            </a:r>
            <a:r>
              <a:rPr lang="en-US" altLang="zh-CN" sz="2800" i="1" dirty="0" err="1"/>
              <a:t>x</a:t>
            </a:r>
            <a:r>
              <a:rPr lang="en-US" altLang="zh-CN" sz="2800" i="1" baseline="-25000" dirty="0" err="1"/>
              <a:t>t</a:t>
            </a:r>
            <a:r>
              <a:rPr lang="en-US" altLang="zh-CN" sz="2800" dirty="0"/>
              <a:t> is received.</a:t>
            </a:r>
          </a:p>
          <a:p>
            <a:r>
              <a:rPr lang="en-US" altLang="zh-CN" sz="2800" dirty="0"/>
              <a:t>The left coset of </a:t>
            </a:r>
            <a:r>
              <a:rPr lang="en-US" altLang="zh-CN" sz="2800" i="1" dirty="0" err="1"/>
              <a:t>x</a:t>
            </a:r>
            <a:r>
              <a:rPr lang="en-US" altLang="zh-CN" sz="2800" i="1" baseline="-25000" dirty="0" err="1"/>
              <a:t>t</a:t>
            </a:r>
            <a:r>
              <a:rPr lang="en-US" altLang="zh-CN" sz="2800" dirty="0"/>
              <a:t> is</a:t>
            </a:r>
          </a:p>
          <a:p>
            <a:pPr lvl="1"/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t</a:t>
            </a:r>
            <a:r>
              <a:rPr lang="en-US" altLang="zh-CN" sz="24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</a:t>
            </a:r>
            <a:r>
              <a:rPr lang="en-US" altLang="zh-CN" sz="2400" dirty="0"/>
              <a:t> N = {</a:t>
            </a:r>
            <a:r>
              <a:rPr lang="en-US" altLang="zh-CN" sz="2400" i="1" dirty="0">
                <a:sym typeface="Symbol" panose="05050102010706020507" pitchFamily="18" charset="2"/>
              </a:rPr>
              <a:t>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i="1" dirty="0">
                <a:sym typeface="Symbol" panose="05050102010706020507" pitchFamily="18" charset="2"/>
              </a:rPr>
              <a:t>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,..., </a:t>
            </a:r>
            <a:r>
              <a:rPr lang="en-US" altLang="zh-CN" sz="2400" i="1" dirty="0">
                <a:sym typeface="Symbol" panose="05050102010706020507" pitchFamily="18" charset="2"/>
              </a:rPr>
              <a:t></a:t>
            </a:r>
            <a:r>
              <a:rPr lang="en-US" altLang="zh-CN" sz="2400" baseline="-25000" dirty="0"/>
              <a:t>2</a:t>
            </a:r>
            <a:r>
              <a:rPr lang="en-US" altLang="zh-CN" sz="2400" i="1" baseline="-10000" dirty="0"/>
              <a:t>m</a:t>
            </a:r>
            <a:r>
              <a:rPr lang="en-US" altLang="zh-CN" sz="2400" dirty="0"/>
              <a:t>}      where </a:t>
            </a:r>
            <a:r>
              <a:rPr lang="en-US" altLang="zh-CN" sz="2400" i="1" dirty="0">
                <a:sym typeface="Symbol" panose="05050102010706020507" pitchFamily="18" charset="2"/>
              </a:rPr>
              <a:t></a:t>
            </a:r>
            <a:r>
              <a:rPr lang="en-US" altLang="zh-CN" sz="2400" i="1" baseline="-25000" dirty="0" err="1"/>
              <a:t>i</a:t>
            </a:r>
            <a:r>
              <a:rPr lang="en-US" altLang="zh-CN" sz="2400" dirty="0"/>
              <a:t> = 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t</a:t>
            </a:r>
            <a:r>
              <a:rPr lang="en-US" altLang="zh-CN" sz="24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</a:t>
            </a:r>
            <a:r>
              <a:rPr lang="en-US" altLang="zh-CN" sz="2400" dirty="0"/>
              <a:t> </a:t>
            </a:r>
            <a:r>
              <a:rPr lang="en-US" altLang="zh-CN" sz="2400" i="1" dirty="0"/>
              <a:t>x</a:t>
            </a:r>
            <a:r>
              <a:rPr lang="en-US" altLang="zh-CN" sz="2400" baseline="30000" dirty="0"/>
              <a:t>(</a:t>
            </a:r>
            <a:r>
              <a:rPr lang="en-US" altLang="zh-CN" sz="2400" i="1" baseline="30000" dirty="0" err="1"/>
              <a:t>i</a:t>
            </a:r>
            <a:r>
              <a:rPr lang="en-US" altLang="zh-CN" sz="2400" baseline="30000" dirty="0"/>
              <a:t>)</a:t>
            </a:r>
            <a:endParaRPr lang="en-US" altLang="zh-CN" sz="2400" dirty="0"/>
          </a:p>
          <a:p>
            <a:r>
              <a:rPr lang="en-US" altLang="zh-CN" sz="2800" dirty="0"/>
              <a:t>if </a:t>
            </a:r>
            <a:r>
              <a:rPr lang="en-US" altLang="zh-CN" sz="2800" i="1" dirty="0">
                <a:sym typeface="Symbol" panose="05050102010706020507" pitchFamily="18" charset="2"/>
              </a:rPr>
              <a:t></a:t>
            </a:r>
            <a:r>
              <a:rPr lang="en-US" altLang="zh-CN" sz="2800" i="1" baseline="-25000" dirty="0"/>
              <a:t>j</a:t>
            </a:r>
            <a:r>
              <a:rPr lang="en-US" altLang="zh-CN" sz="2800" dirty="0"/>
              <a:t> is a coset member with smallest weight, then </a:t>
            </a:r>
            <a:r>
              <a:rPr lang="en-US" altLang="zh-CN" sz="2800" i="1" dirty="0"/>
              <a:t>x</a:t>
            </a:r>
            <a:r>
              <a:rPr lang="en-US" altLang="zh-CN" sz="2800" baseline="30000" dirty="0"/>
              <a:t>(</a:t>
            </a:r>
            <a:r>
              <a:rPr lang="en-US" altLang="zh-CN" sz="2800" i="1" baseline="30000" dirty="0"/>
              <a:t>j</a:t>
            </a:r>
            <a:r>
              <a:rPr lang="en-US" altLang="zh-CN" sz="2800" baseline="30000" dirty="0"/>
              <a:t>)</a:t>
            </a:r>
            <a:r>
              <a:rPr lang="en-US" altLang="zh-CN" sz="2800" dirty="0"/>
              <a:t> must be a code word that is closest to </a:t>
            </a:r>
            <a:r>
              <a:rPr lang="en-US" altLang="zh-CN" sz="2800" i="1" dirty="0" err="1"/>
              <a:t>x</a:t>
            </a:r>
            <a:r>
              <a:rPr lang="en-US" altLang="zh-CN" sz="2800" i="1" baseline="-25000" dirty="0" err="1"/>
              <a:t>t</a:t>
            </a:r>
            <a:r>
              <a:rPr lang="en-US" altLang="zh-CN" sz="2800" i="1" dirty="0" err="1"/>
              <a:t>.</a:t>
            </a:r>
            <a:endParaRPr lang="en-US" altLang="zh-CN" sz="2800" i="1" dirty="0"/>
          </a:p>
          <a:p>
            <a:r>
              <a:rPr lang="en-US" altLang="zh-CN" sz="2800" dirty="0"/>
              <a:t>An element </a:t>
            </a:r>
            <a:r>
              <a:rPr lang="en-US" altLang="zh-CN" sz="2800" i="1" dirty="0">
                <a:sym typeface="Symbol" panose="05050102010706020507" pitchFamily="18" charset="2"/>
              </a:rPr>
              <a:t></a:t>
            </a:r>
            <a:r>
              <a:rPr lang="en-US" altLang="zh-CN" sz="2800" i="1" baseline="-25000" dirty="0"/>
              <a:t>j</a:t>
            </a:r>
            <a:r>
              <a:rPr lang="en-US" altLang="zh-CN" sz="2800" dirty="0"/>
              <a:t> , having smallest weight, is called a </a:t>
            </a:r>
            <a:r>
              <a:rPr lang="en-US" altLang="zh-CN" sz="2800" i="1" dirty="0">
                <a:solidFill>
                  <a:schemeClr val="hlink"/>
                </a:solidFill>
              </a:rPr>
              <a:t>coset leader</a:t>
            </a:r>
            <a:endParaRPr lang="en-US" altLang="zh-CN" sz="2800" dirty="0"/>
          </a:p>
          <a:p>
            <a:endParaRPr lang="zh-CN" altLang="en-US" sz="2800" dirty="0"/>
          </a:p>
          <a:p>
            <a:endParaRPr lang="zh-CN" altLang="en-US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214407" y="237506"/>
            <a:ext cx="6121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</a:rPr>
              <a:t>11 Coset leader</a:t>
            </a:r>
            <a:r>
              <a:rPr lang="zh-CN" altLang="en-US" sz="2800" dirty="0">
                <a:latin typeface="Times New Roman" panose="02020603050405020304" pitchFamily="18" charset="0"/>
              </a:rPr>
              <a:t>（陪集首部）</a:t>
            </a:r>
            <a:endParaRPr lang="zh-CN" altLang="en-US" sz="2800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10587" y="86618"/>
            <a:ext cx="110564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ym typeface="+mn-ea"/>
              </a:rPr>
              <a:t>Constructing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maximum likelihood decoding function associated with a given group code</a:t>
            </a: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0" y="1077218"/>
            <a:ext cx="1153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For obtaining a maximum likelihood decoding function </a:t>
            </a:r>
            <a:r>
              <a:rPr lang="en-US" altLang="zh-CN" i="1" dirty="0"/>
              <a:t>d</a:t>
            </a:r>
            <a:r>
              <a:rPr lang="en-US" altLang="zh-CN" dirty="0"/>
              <a:t> associated with a given group code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</a:t>
            </a:r>
            <a:endParaRPr lang="zh-CN" altLang="en-US" dirty="0"/>
          </a:p>
          <a:p>
            <a:pPr lvl="1"/>
            <a:r>
              <a:rPr lang="en-US" altLang="zh-CN" b="1" i="1" dirty="0"/>
              <a:t>Step 1</a:t>
            </a:r>
            <a:r>
              <a:rPr lang="en-US" altLang="zh-CN" dirty="0"/>
              <a:t>: Determine all the left </a:t>
            </a:r>
            <a:r>
              <a:rPr lang="en-US" altLang="zh-CN" dirty="0" err="1"/>
              <a:t>cosets</a:t>
            </a:r>
            <a:r>
              <a:rPr lang="en-US" altLang="zh-CN" dirty="0"/>
              <a:t> of </a:t>
            </a:r>
            <a:r>
              <a:rPr lang="en-US" altLang="zh-CN" i="1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) in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endParaRPr lang="en-US" altLang="zh-CN" i="1" baseline="30000" dirty="0"/>
          </a:p>
          <a:p>
            <a:pPr lvl="1"/>
            <a:r>
              <a:rPr lang="en-US" altLang="zh-CN" b="1" i="1" dirty="0"/>
              <a:t>Step 2</a:t>
            </a:r>
            <a:r>
              <a:rPr lang="en-US" altLang="zh-CN" dirty="0"/>
              <a:t>: For each </a:t>
            </a:r>
            <a:r>
              <a:rPr lang="en-US" altLang="zh-CN" dirty="0" err="1"/>
              <a:t>coset</a:t>
            </a:r>
            <a:r>
              <a:rPr lang="en-US" altLang="zh-CN" dirty="0"/>
              <a:t>, find a </a:t>
            </a:r>
            <a:r>
              <a:rPr lang="en-US" altLang="zh-CN" dirty="0" err="1"/>
              <a:t>coset</a:t>
            </a:r>
            <a:r>
              <a:rPr lang="en-US" altLang="zh-CN" dirty="0"/>
              <a:t> leader (a word of least weight). </a:t>
            </a:r>
          </a:p>
          <a:p>
            <a:pPr lvl="1"/>
            <a:r>
              <a:rPr lang="en-US" altLang="zh-CN" b="1" i="1" dirty="0"/>
              <a:t>Step 3</a:t>
            </a:r>
            <a:r>
              <a:rPr lang="en-US" altLang="zh-CN" dirty="0"/>
              <a:t>: If the word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is received, determine the </a:t>
            </a:r>
            <a:r>
              <a:rPr lang="en-US" altLang="zh-CN" dirty="0" err="1"/>
              <a:t>coset</a:t>
            </a:r>
            <a:r>
              <a:rPr lang="en-US" altLang="zh-CN" dirty="0"/>
              <a:t> of </a:t>
            </a:r>
            <a:r>
              <a:rPr lang="en-US" altLang="zh-CN" i="1" dirty="0"/>
              <a:t>N</a:t>
            </a:r>
            <a:r>
              <a:rPr lang="en-US" altLang="zh-CN" dirty="0"/>
              <a:t> to which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belongs.</a:t>
            </a:r>
          </a:p>
          <a:p>
            <a:pPr lvl="1"/>
            <a:r>
              <a:rPr lang="en-US" altLang="zh-CN" b="1" i="1" dirty="0"/>
              <a:t>Step 4</a:t>
            </a:r>
            <a:r>
              <a:rPr lang="en-US" altLang="zh-CN" dirty="0"/>
              <a:t>: Let </a:t>
            </a:r>
            <a:r>
              <a:rPr lang="en-US" altLang="zh-CN" i="1" dirty="0">
                <a:sym typeface="Symbol" panose="05050102010706020507" pitchFamily="18" charset="2"/>
              </a:rPr>
              <a:t></a:t>
            </a:r>
            <a:r>
              <a:rPr lang="en-US" altLang="zh-CN" dirty="0"/>
              <a:t> be a </a:t>
            </a:r>
            <a:r>
              <a:rPr lang="en-US" altLang="zh-CN" dirty="0" err="1"/>
              <a:t>coset</a:t>
            </a:r>
            <a:r>
              <a:rPr lang="en-US" altLang="zh-CN" dirty="0"/>
              <a:t> leader for the </a:t>
            </a:r>
            <a:r>
              <a:rPr lang="en-US" altLang="zh-CN" dirty="0" err="1"/>
              <a:t>coset</a:t>
            </a:r>
            <a:r>
              <a:rPr lang="en-US" altLang="zh-CN" dirty="0"/>
              <a:t> determined in Step 3. Compute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>
                <a:sym typeface="Symbol" panose="05050102010706020507" pitchFamily="18" charset="2"/>
              </a:rPr>
              <a:t>. </a:t>
            </a:r>
            <a:r>
              <a:rPr lang="en-US" altLang="zh-CN" dirty="0"/>
              <a:t>If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), let </a:t>
            </a:r>
            <a:r>
              <a:rPr lang="en-US" altLang="zh-CN" i="1" dirty="0"/>
              <a:t>d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) = </a:t>
            </a:r>
            <a:r>
              <a:rPr lang="en-US" altLang="zh-CN" i="1" dirty="0"/>
              <a:t>b</a:t>
            </a:r>
            <a:r>
              <a:rPr lang="en-US" altLang="zh-CN" dirty="0"/>
              <a:t>.</a:t>
            </a:r>
            <a:endParaRPr lang="zh-CN" altLang="en-US" dirty="0"/>
          </a:p>
          <a:p>
            <a:r>
              <a:rPr lang="en-US" altLang="zh-CN" dirty="0"/>
              <a:t>Decoding table</a:t>
            </a:r>
            <a:endParaRPr lang="zh-CN" altLang="en-US" dirty="0"/>
          </a:p>
        </p:txBody>
      </p:sp>
      <p:graphicFrame>
        <p:nvGraphicFramePr>
          <p:cNvPr id="5" name="对象 4"/>
          <p:cNvGraphicFramePr/>
          <p:nvPr/>
        </p:nvGraphicFramePr>
        <p:xfrm>
          <a:off x="3865245" y="4185603"/>
          <a:ext cx="6586855" cy="2233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356100" imgH="1155700" progId="PBrush">
                  <p:embed/>
                </p:oleObj>
              </mc:Choice>
              <mc:Fallback>
                <p:oleObj r:id="rId2" imgW="4356100" imgH="1155700" progId="PBrush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65245" y="4185603"/>
                        <a:ext cx="6586855" cy="22335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0046" y="0"/>
            <a:ext cx="110564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ym typeface="+mn-ea"/>
              </a:rPr>
              <a:t>11 Syndrome</a:t>
            </a:r>
            <a:endParaRPr lang="en-US" altLang="zh-CN" sz="3200" dirty="0">
              <a:solidFill>
                <a:srgbClr val="009999"/>
              </a:solidFill>
              <a:sym typeface="+mn-ea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1715135" y="774065"/>
            <a:ext cx="8597900" cy="872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zh-CN" sz="3100" dirty="0">
              <a:solidFill>
                <a:srgbClr val="009999"/>
              </a:solidFill>
              <a:sym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304569" y="1646396"/>
            <a:ext cx="78439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Suppose that the (</a:t>
            </a:r>
            <a:r>
              <a:rPr lang="en-US" altLang="zh-CN" i="1" dirty="0"/>
              <a:t>m, n</a:t>
            </a:r>
            <a:r>
              <a:rPr lang="en-US" altLang="zh-CN" dirty="0"/>
              <a:t>)  group code is 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H</a:t>
            </a:r>
            <a:r>
              <a:rPr lang="en-US" altLang="zh-CN" dirty="0"/>
              <a:t>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i="1" dirty="0"/>
              <a:t> </a:t>
            </a:r>
            <a:r>
              <a:rPr lang="en-US" altLang="zh-CN" dirty="0"/>
              <a:t>, where </a:t>
            </a:r>
            <a:r>
              <a:rPr lang="en-US" altLang="zh-CN" b="1" dirty="0"/>
              <a:t>H</a:t>
            </a:r>
            <a:r>
              <a:rPr lang="en-US" altLang="zh-CN" dirty="0"/>
              <a:t> is a given parity check matrix. </a:t>
            </a:r>
            <a:endParaRPr lang="zh-CN" altLang="en-US" dirty="0"/>
          </a:p>
          <a:p>
            <a:r>
              <a:rPr lang="en-US" altLang="zh-CN" dirty="0"/>
              <a:t>Then the function </a:t>
            </a:r>
            <a:r>
              <a:rPr lang="en-US" altLang="zh-CN" i="1" dirty="0" err="1"/>
              <a:t>f</a:t>
            </a:r>
            <a:r>
              <a:rPr lang="en-US" altLang="zh-CN" i="1" baseline="-25000" dirty="0" err="1"/>
              <a:t>H</a:t>
            </a:r>
            <a:r>
              <a:rPr lang="en-US" altLang="zh-CN" dirty="0"/>
              <a:t>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r</a:t>
            </a:r>
            <a:r>
              <a:rPr lang="en-US" altLang="zh-CN" dirty="0"/>
              <a:t> defined by </a:t>
            </a:r>
            <a:r>
              <a:rPr lang="en-US" altLang="zh-CN" i="1" dirty="0" err="1"/>
              <a:t>f</a:t>
            </a:r>
            <a:r>
              <a:rPr lang="en-US" altLang="zh-CN" i="1" baseline="-25000" dirty="0" err="1"/>
              <a:t>H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 = </a:t>
            </a:r>
            <a:r>
              <a:rPr lang="en-US" altLang="zh-CN" i="1" dirty="0"/>
              <a:t>x</a:t>
            </a:r>
            <a:r>
              <a:rPr lang="en-US" altLang="zh-CN" dirty="0"/>
              <a:t>*</a:t>
            </a:r>
            <a:r>
              <a:rPr lang="en-US" altLang="zh-CN" b="1" dirty="0"/>
              <a:t>H</a:t>
            </a:r>
            <a:r>
              <a:rPr lang="en-US" altLang="zh-CN" dirty="0"/>
              <a:t>, 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i="1" baseline="30000" dirty="0"/>
              <a:t> </a:t>
            </a:r>
            <a:r>
              <a:rPr lang="en-US" altLang="zh-CN" dirty="0"/>
              <a:t>is a homomorphism from the group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to the group 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r</a:t>
            </a:r>
            <a:r>
              <a:rPr lang="en-US" altLang="zh-CN" dirty="0"/>
              <a:t>.</a:t>
            </a:r>
          </a:p>
          <a:p>
            <a:r>
              <a:rPr lang="en-US" altLang="zh-CN" i="1" dirty="0"/>
              <a:t>B</a:t>
            </a:r>
            <a:r>
              <a:rPr lang="en-US" altLang="zh-CN" i="1" baseline="30000" dirty="0"/>
              <a:t>r</a:t>
            </a:r>
            <a:r>
              <a:rPr lang="en-US" altLang="zh-CN" dirty="0"/>
              <a:t> and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/</a:t>
            </a:r>
            <a:r>
              <a:rPr lang="en-US" altLang="zh-CN" i="1" dirty="0"/>
              <a:t>N</a:t>
            </a:r>
            <a:r>
              <a:rPr lang="en-US" altLang="zh-CN" dirty="0"/>
              <a:t> are isomorphic, where </a:t>
            </a:r>
            <a:r>
              <a:rPr lang="en-US" altLang="zh-CN" i="1" dirty="0"/>
              <a:t>N</a:t>
            </a:r>
            <a:r>
              <a:rPr lang="en-US" altLang="zh-CN" dirty="0"/>
              <a:t> = {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 | </a:t>
            </a:r>
            <a:r>
              <a:rPr lang="en-US" altLang="zh-CN" i="1" dirty="0"/>
              <a:t>x</a:t>
            </a:r>
            <a:r>
              <a:rPr lang="en-US" altLang="zh-CN" dirty="0"/>
              <a:t>*</a:t>
            </a:r>
            <a:r>
              <a:rPr lang="en-US" altLang="zh-CN" b="1" dirty="0"/>
              <a:t>H</a:t>
            </a:r>
            <a:r>
              <a:rPr lang="en-US" altLang="zh-CN" dirty="0"/>
              <a:t> = </a:t>
            </a:r>
            <a:r>
              <a:rPr lang="en-US" altLang="zh-CN" b="1" dirty="0"/>
              <a:t>0</a:t>
            </a:r>
            <a:r>
              <a:rPr lang="en-US" altLang="zh-CN" dirty="0"/>
              <a:t>} = </a:t>
            </a:r>
            <a:r>
              <a:rPr lang="en-US" altLang="zh-CN" dirty="0" err="1"/>
              <a:t>ker</a:t>
            </a:r>
            <a:r>
              <a:rPr lang="en-US" altLang="zh-CN" dirty="0"/>
              <a:t>(</a:t>
            </a:r>
            <a:r>
              <a:rPr lang="en-US" altLang="zh-CN" i="1" dirty="0" err="1"/>
              <a:t>f</a:t>
            </a:r>
            <a:r>
              <a:rPr lang="en-US" altLang="zh-CN" i="1" baseline="-25000" dirty="0" err="1"/>
              <a:t>H</a:t>
            </a:r>
            <a:r>
              <a:rPr lang="en-US" altLang="zh-CN" dirty="0"/>
              <a:t>) = 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H</a:t>
            </a:r>
            <a:r>
              <a:rPr lang="en-US" altLang="zh-CN" dirty="0"/>
              <a:t>(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m</a:t>
            </a:r>
            <a:r>
              <a:rPr lang="en-US" altLang="zh-CN" dirty="0"/>
              <a:t> ) under the isomorphism g: </a:t>
            </a:r>
            <a:r>
              <a:rPr lang="en-US" altLang="zh-CN" i="1" dirty="0" err="1"/>
              <a:t>B</a:t>
            </a:r>
            <a:r>
              <a:rPr lang="en-US" altLang="zh-CN" i="1" baseline="30000" dirty="0" err="1"/>
              <a:t>n</a:t>
            </a:r>
            <a:r>
              <a:rPr lang="en-US" altLang="zh-CN" dirty="0"/>
              <a:t>/</a:t>
            </a:r>
            <a:r>
              <a:rPr lang="en-US" altLang="zh-CN" i="1" dirty="0"/>
              <a:t>N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r</a:t>
            </a:r>
            <a:r>
              <a:rPr lang="en-US" altLang="zh-CN" dirty="0"/>
              <a:t> defined by 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 err="1"/>
              <a:t>xN</a:t>
            </a:r>
            <a:r>
              <a:rPr lang="en-US" altLang="zh-CN" dirty="0"/>
              <a:t>) = </a:t>
            </a:r>
            <a:r>
              <a:rPr lang="en-US" altLang="zh-CN" i="1" dirty="0" err="1"/>
              <a:t>f</a:t>
            </a:r>
            <a:r>
              <a:rPr lang="en-US" altLang="zh-CN" i="1" baseline="-25000" dirty="0" err="1"/>
              <a:t>H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 = </a:t>
            </a:r>
            <a:r>
              <a:rPr lang="en-US" altLang="zh-CN" i="1" dirty="0"/>
              <a:t>x</a:t>
            </a:r>
            <a:r>
              <a:rPr lang="en-US" altLang="zh-CN" dirty="0"/>
              <a:t>*</a:t>
            </a:r>
            <a:r>
              <a:rPr lang="en-US" altLang="zh-CN" b="1" dirty="0"/>
              <a:t>H</a:t>
            </a:r>
          </a:p>
          <a:p>
            <a:r>
              <a:rPr lang="en-US" altLang="zh-CN" dirty="0"/>
              <a:t>The element </a:t>
            </a:r>
            <a:r>
              <a:rPr lang="en-US" altLang="zh-CN" i="1" dirty="0"/>
              <a:t>x</a:t>
            </a:r>
            <a:r>
              <a:rPr lang="en-US" altLang="zh-CN" dirty="0"/>
              <a:t>*</a:t>
            </a:r>
            <a:r>
              <a:rPr lang="en-US" altLang="zh-CN" b="1" dirty="0"/>
              <a:t>H</a:t>
            </a:r>
            <a:r>
              <a:rPr lang="en-US" altLang="zh-CN" dirty="0"/>
              <a:t> is called the </a:t>
            </a:r>
            <a:r>
              <a:rPr lang="en-US" altLang="zh-CN" i="1" dirty="0">
                <a:solidFill>
                  <a:schemeClr val="hlink"/>
                </a:solidFill>
              </a:rPr>
              <a:t>syndrome</a:t>
            </a:r>
            <a:r>
              <a:rPr lang="zh-CN" altLang="en-US" sz="2400" i="1" dirty="0">
                <a:solidFill>
                  <a:schemeClr val="hlink"/>
                </a:solidFill>
              </a:rPr>
              <a:t>（校验子）</a:t>
            </a:r>
            <a:r>
              <a:rPr lang="en-US" altLang="zh-CN" dirty="0"/>
              <a:t> of </a:t>
            </a:r>
            <a:r>
              <a:rPr lang="en-US" altLang="zh-CN" i="1" dirty="0"/>
              <a:t>x</a:t>
            </a:r>
            <a:endParaRPr lang="zh-CN" altLang="en-US" i="1" dirty="0"/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8" name="对象 7"/>
          <p:cNvGraphicFramePr/>
          <p:nvPr/>
        </p:nvGraphicFramePr>
        <p:xfrm>
          <a:off x="8429336" y="2186305"/>
          <a:ext cx="2837180" cy="2485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71700" imgH="1828800" progId="">
                  <p:embed/>
                </p:oleObj>
              </mc:Choice>
              <mc:Fallback>
                <p:oleObj r:id="rId2" imgW="2171700" imgH="1828800" progId="">
                  <p:embed/>
                  <p:pic>
                    <p:nvPicPr>
                      <p:cNvPr id="0" name="对象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429336" y="2186305"/>
                        <a:ext cx="2837180" cy="2485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/>
        </p:nvSpPr>
        <p:spPr>
          <a:xfrm>
            <a:off x="-114935" y="0"/>
            <a:ext cx="9714865" cy="872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100" i="1" dirty="0">
                <a:sym typeface="+mn-ea"/>
              </a:rPr>
              <a:t>11 Syndrome and decoding procedure for group code</a:t>
            </a:r>
            <a:endParaRPr lang="en-US" altLang="zh-CN" sz="3100" dirty="0">
              <a:solidFill>
                <a:srgbClr val="009999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184728" y="1063466"/>
            <a:ext cx="11677072" cy="527383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</a:pPr>
            <a:r>
              <a:rPr lang="en-US" altLang="zh-CN" sz="3200" dirty="0"/>
              <a:t>Let </a:t>
            </a:r>
            <a:r>
              <a:rPr lang="en-US" altLang="zh-CN" sz="3200" i="1" dirty="0"/>
              <a:t>x</a:t>
            </a:r>
            <a:r>
              <a:rPr lang="en-US" altLang="zh-CN" sz="3200" dirty="0"/>
              <a:t> and </a:t>
            </a:r>
            <a:r>
              <a:rPr lang="en-US" altLang="zh-CN" sz="3200" i="1" dirty="0"/>
              <a:t>y</a:t>
            </a:r>
            <a:r>
              <a:rPr lang="en-US" altLang="zh-CN" sz="3200" dirty="0"/>
              <a:t> be elements in </a:t>
            </a:r>
            <a:r>
              <a:rPr lang="en-US" altLang="zh-CN" sz="3200" i="1" dirty="0"/>
              <a:t>B</a:t>
            </a:r>
            <a:r>
              <a:rPr lang="en-US" altLang="zh-CN" sz="3200" i="1" baseline="30000" dirty="0"/>
              <a:t>n</a:t>
            </a:r>
            <a:r>
              <a:rPr lang="en-US" altLang="zh-CN" sz="3200" dirty="0"/>
              <a:t>. Then</a:t>
            </a:r>
          </a:p>
          <a:p>
            <a:pPr lvl="1">
              <a:lnSpc>
                <a:spcPct val="160000"/>
              </a:lnSpc>
            </a:pPr>
            <a:r>
              <a:rPr lang="en-US" altLang="zh-CN" sz="2800" dirty="0"/>
              <a:t> </a:t>
            </a:r>
            <a:r>
              <a:rPr lang="en-US" altLang="zh-CN" sz="2800" i="1" dirty="0"/>
              <a:t>x</a:t>
            </a:r>
            <a:r>
              <a:rPr lang="en-US" altLang="zh-CN" sz="2800" dirty="0"/>
              <a:t> and </a:t>
            </a:r>
            <a:r>
              <a:rPr lang="en-US" altLang="zh-CN" sz="2800" i="1" dirty="0"/>
              <a:t>y</a:t>
            </a:r>
            <a:r>
              <a:rPr lang="en-US" altLang="zh-CN" sz="2800" dirty="0"/>
              <a:t> lie in the same left </a:t>
            </a:r>
            <a:r>
              <a:rPr lang="en-US" altLang="zh-CN" sz="2800" dirty="0" err="1"/>
              <a:t>coset</a:t>
            </a:r>
            <a:r>
              <a:rPr lang="en-US" altLang="zh-CN" sz="2800" dirty="0"/>
              <a:t> of </a:t>
            </a:r>
            <a:r>
              <a:rPr lang="en-US" altLang="zh-CN" sz="2800" i="1" dirty="0"/>
              <a:t>N</a:t>
            </a:r>
            <a:r>
              <a:rPr lang="en-US" altLang="zh-CN" sz="2800" dirty="0"/>
              <a:t> in </a:t>
            </a:r>
            <a:r>
              <a:rPr lang="en-US" altLang="zh-CN" sz="2800" i="1" dirty="0" err="1"/>
              <a:t>B</a:t>
            </a:r>
            <a:r>
              <a:rPr lang="en-US" altLang="zh-CN" sz="2800" i="1" baseline="30000" dirty="0" err="1"/>
              <a:t>n</a:t>
            </a:r>
            <a:endParaRPr lang="en-US" altLang="zh-CN" sz="2800" i="1" baseline="30000" dirty="0"/>
          </a:p>
          <a:p>
            <a:pPr lvl="1">
              <a:lnSpc>
                <a:spcPct val="160000"/>
              </a:lnSpc>
            </a:pPr>
            <a:r>
              <a:rPr lang="en-US" altLang="zh-CN" sz="2800" dirty="0"/>
              <a:t>  if and only if </a:t>
            </a:r>
            <a:r>
              <a:rPr lang="en-US" altLang="zh-CN" sz="2800" i="1" dirty="0" err="1"/>
              <a:t>f</a:t>
            </a:r>
            <a:r>
              <a:rPr lang="en-US" altLang="zh-CN" sz="2800" i="1" baseline="-25000" dirty="0" err="1"/>
              <a:t>H</a:t>
            </a:r>
            <a:r>
              <a:rPr lang="en-US" altLang="zh-CN" sz="2800" dirty="0"/>
              <a:t>(</a:t>
            </a:r>
            <a:r>
              <a:rPr lang="en-US" altLang="zh-CN" sz="2800" i="1" dirty="0"/>
              <a:t>x</a:t>
            </a:r>
            <a:r>
              <a:rPr lang="en-US" altLang="zh-CN" sz="2800" dirty="0"/>
              <a:t>) = </a:t>
            </a:r>
            <a:r>
              <a:rPr lang="en-US" altLang="zh-CN" sz="2800" i="1" dirty="0" err="1"/>
              <a:t>f</a:t>
            </a:r>
            <a:r>
              <a:rPr lang="en-US" altLang="zh-CN" sz="2800" i="1" baseline="-25000" dirty="0" err="1"/>
              <a:t>H</a:t>
            </a:r>
            <a:r>
              <a:rPr lang="en-US" altLang="zh-CN" sz="2800" dirty="0"/>
              <a:t>(</a:t>
            </a:r>
            <a:r>
              <a:rPr lang="en-US" altLang="zh-CN" sz="2800" i="1" dirty="0"/>
              <a:t>y</a:t>
            </a:r>
            <a:r>
              <a:rPr lang="en-US" altLang="zh-CN" sz="2800" dirty="0"/>
              <a:t>)</a:t>
            </a:r>
          </a:p>
          <a:p>
            <a:pPr lvl="1">
              <a:lnSpc>
                <a:spcPct val="160000"/>
              </a:lnSpc>
            </a:pPr>
            <a:r>
              <a:rPr lang="en-US" altLang="zh-CN" sz="2800" dirty="0"/>
              <a:t> if and only if they have the same syndrome.</a:t>
            </a:r>
            <a:endParaRPr lang="zh-CN" altLang="en-US" sz="2800" dirty="0"/>
          </a:p>
          <a:p>
            <a:pPr>
              <a:lnSpc>
                <a:spcPct val="160000"/>
              </a:lnSpc>
            </a:pPr>
            <a:r>
              <a:rPr lang="en-US" altLang="zh-CN" sz="3200" dirty="0"/>
              <a:t>Decoding procedure</a:t>
            </a:r>
          </a:p>
          <a:p>
            <a:pPr lvl="1">
              <a:lnSpc>
                <a:spcPct val="160000"/>
              </a:lnSpc>
            </a:pPr>
            <a:r>
              <a:rPr lang="en-US" altLang="zh-CN" sz="2800" b="1" i="1" dirty="0"/>
              <a:t>Step 1</a:t>
            </a:r>
            <a:r>
              <a:rPr lang="en-US" altLang="zh-CN" sz="2800" dirty="0"/>
              <a:t>: Determine all left </a:t>
            </a:r>
            <a:r>
              <a:rPr lang="en-US" altLang="zh-CN" sz="2800" dirty="0" err="1"/>
              <a:t>cosets</a:t>
            </a:r>
            <a:r>
              <a:rPr lang="en-US" altLang="zh-CN" sz="2800" dirty="0"/>
              <a:t> of </a:t>
            </a:r>
            <a:r>
              <a:rPr lang="en-US" altLang="zh-CN" sz="2800" i="1" dirty="0"/>
              <a:t>N</a:t>
            </a:r>
            <a:r>
              <a:rPr lang="en-US" altLang="zh-CN" sz="2800" dirty="0"/>
              <a:t> = </a:t>
            </a:r>
            <a:r>
              <a:rPr lang="en-US" altLang="zh-CN" sz="2800" i="1" dirty="0" err="1"/>
              <a:t>e</a:t>
            </a:r>
            <a:r>
              <a:rPr lang="en-US" altLang="zh-CN" sz="2800" i="1" baseline="-25000" dirty="0" err="1"/>
              <a:t>H</a:t>
            </a:r>
            <a:r>
              <a:rPr lang="en-US" altLang="zh-CN" sz="2800" dirty="0"/>
              <a:t>(</a:t>
            </a:r>
            <a:r>
              <a:rPr lang="en-US" altLang="zh-CN" sz="2800" i="1" dirty="0" err="1"/>
              <a:t>B</a:t>
            </a:r>
            <a:r>
              <a:rPr lang="en-US" altLang="zh-CN" sz="2800" i="1" baseline="30000" dirty="0" err="1"/>
              <a:t>m</a:t>
            </a:r>
            <a:r>
              <a:rPr lang="en-US" altLang="zh-CN" sz="2800" dirty="0"/>
              <a:t> ) in </a:t>
            </a:r>
            <a:r>
              <a:rPr lang="en-US" altLang="zh-CN" sz="2800" i="1" dirty="0"/>
              <a:t>B</a:t>
            </a:r>
            <a:r>
              <a:rPr lang="en-US" altLang="zh-CN" sz="2800" i="1" baseline="30000" dirty="0"/>
              <a:t>n</a:t>
            </a:r>
            <a:r>
              <a:rPr lang="en-US" altLang="zh-CN" sz="2800" dirty="0"/>
              <a:t>.</a:t>
            </a:r>
          </a:p>
          <a:p>
            <a:pPr lvl="1">
              <a:lnSpc>
                <a:spcPct val="160000"/>
              </a:lnSpc>
            </a:pPr>
            <a:r>
              <a:rPr lang="en-US" altLang="zh-CN" sz="2800" b="1" i="1" dirty="0"/>
              <a:t>Step 2</a:t>
            </a:r>
            <a:r>
              <a:rPr lang="en-US" altLang="zh-CN" sz="2800" dirty="0"/>
              <a:t>: For each </a:t>
            </a:r>
            <a:r>
              <a:rPr lang="en-US" altLang="zh-CN" sz="2800" dirty="0" err="1"/>
              <a:t>coset</a:t>
            </a:r>
            <a:r>
              <a:rPr lang="en-US" altLang="zh-CN" sz="2800" dirty="0"/>
              <a:t>, find a </a:t>
            </a:r>
            <a:r>
              <a:rPr lang="en-US" altLang="zh-CN" sz="2800" dirty="0" err="1"/>
              <a:t>coset</a:t>
            </a:r>
            <a:r>
              <a:rPr lang="en-US" altLang="zh-CN" sz="2800" dirty="0"/>
              <a:t> leader, and compute the syndrome of each leader</a:t>
            </a:r>
          </a:p>
          <a:p>
            <a:pPr lvl="1">
              <a:lnSpc>
                <a:spcPct val="160000"/>
              </a:lnSpc>
            </a:pPr>
            <a:r>
              <a:rPr lang="en-US" altLang="zh-CN" sz="2800" b="1" i="1" dirty="0"/>
              <a:t>Step 3</a:t>
            </a:r>
            <a:r>
              <a:rPr lang="en-US" altLang="zh-CN" sz="2800" dirty="0"/>
              <a:t>: If </a:t>
            </a:r>
            <a:r>
              <a:rPr lang="en-US" altLang="zh-CN" sz="2800" i="1" dirty="0" err="1"/>
              <a:t>x</a:t>
            </a:r>
            <a:r>
              <a:rPr lang="en-US" altLang="zh-CN" sz="2800" i="1" baseline="-25000" dirty="0" err="1"/>
              <a:t>t</a:t>
            </a:r>
            <a:r>
              <a:rPr lang="en-US" altLang="zh-CN" sz="2800" dirty="0"/>
              <a:t> is received, compute the syndrome of </a:t>
            </a:r>
            <a:r>
              <a:rPr lang="en-US" altLang="zh-CN" sz="2800" i="1" dirty="0" err="1"/>
              <a:t>x</a:t>
            </a:r>
            <a:r>
              <a:rPr lang="en-US" altLang="zh-CN" sz="2800" i="1" baseline="-25000" dirty="0" err="1"/>
              <a:t>t</a:t>
            </a:r>
            <a:r>
              <a:rPr lang="en-US" altLang="zh-CN" sz="2800" dirty="0"/>
              <a:t> and find the </a:t>
            </a:r>
            <a:r>
              <a:rPr lang="en-US" altLang="zh-CN" sz="2800" dirty="0" err="1"/>
              <a:t>coset</a:t>
            </a:r>
            <a:r>
              <a:rPr lang="en-US" altLang="zh-CN" sz="2800" dirty="0"/>
              <a:t> leader </a:t>
            </a:r>
            <a:r>
              <a:rPr lang="en-US" altLang="zh-CN" sz="2800" i="1" dirty="0">
                <a:sym typeface="Symbol" panose="05050102010706020507" pitchFamily="18" charset="2"/>
              </a:rPr>
              <a:t></a:t>
            </a:r>
            <a:r>
              <a:rPr lang="en-US" altLang="zh-CN" sz="2800" dirty="0"/>
              <a:t> having the same syndrome. Then </a:t>
            </a:r>
            <a:r>
              <a:rPr lang="en-US" altLang="zh-CN" sz="2800" i="1" dirty="0" err="1"/>
              <a:t>x</a:t>
            </a:r>
            <a:r>
              <a:rPr lang="en-US" altLang="zh-CN" sz="2800" i="1" baseline="-25000" dirty="0" err="1"/>
              <a:t>t</a:t>
            </a:r>
            <a:r>
              <a:rPr lang="en-US" altLang="zh-CN" sz="2800" dirty="0"/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</a:t>
            </a:r>
            <a:r>
              <a:rPr lang="en-US" altLang="zh-CN" sz="2800" dirty="0"/>
              <a:t> </a:t>
            </a:r>
            <a:r>
              <a:rPr lang="en-US" altLang="zh-CN" sz="2800" i="1" dirty="0">
                <a:sym typeface="Symbol" panose="05050102010706020507" pitchFamily="18" charset="2"/>
              </a:rPr>
              <a:t></a:t>
            </a:r>
            <a:r>
              <a:rPr lang="en-US" altLang="zh-CN" sz="2800" dirty="0"/>
              <a:t>  = </a:t>
            </a:r>
            <a:r>
              <a:rPr lang="en-US" altLang="zh-CN" sz="2800" i="1" dirty="0"/>
              <a:t>x</a:t>
            </a:r>
            <a:r>
              <a:rPr lang="en-US" altLang="zh-CN" sz="2800" dirty="0"/>
              <a:t> is a code word </a:t>
            </a:r>
            <a:r>
              <a:rPr lang="en-US" altLang="zh-CN" sz="2800" i="1" dirty="0" err="1"/>
              <a:t>e</a:t>
            </a:r>
            <a:r>
              <a:rPr lang="en-US" altLang="zh-CN" sz="2800" i="1" baseline="-25000" dirty="0" err="1"/>
              <a:t>H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dirty="0"/>
              <a:t>), and </a:t>
            </a:r>
            <a:r>
              <a:rPr lang="en-US" altLang="zh-CN" sz="2800" i="1" dirty="0"/>
              <a:t>d</a:t>
            </a:r>
            <a:r>
              <a:rPr lang="en-US" altLang="zh-CN" sz="2800" dirty="0"/>
              <a:t>(</a:t>
            </a:r>
            <a:r>
              <a:rPr lang="en-US" altLang="zh-CN" sz="2800" i="1" dirty="0" err="1"/>
              <a:t>x</a:t>
            </a:r>
            <a:r>
              <a:rPr lang="en-US" altLang="zh-CN" sz="2800" i="1" baseline="-25000" dirty="0" err="1"/>
              <a:t>t</a:t>
            </a:r>
            <a:r>
              <a:rPr lang="en-US" altLang="zh-CN" sz="2800" dirty="0"/>
              <a:t>) = </a:t>
            </a:r>
            <a:r>
              <a:rPr lang="en-US" altLang="zh-CN" sz="2800" i="1" dirty="0"/>
              <a:t>b</a:t>
            </a:r>
            <a:r>
              <a:rPr lang="en-US" altLang="zh-CN" sz="2800" dirty="0"/>
              <a:t>.</a:t>
            </a:r>
          </a:p>
          <a:p>
            <a:pPr>
              <a:lnSpc>
                <a:spcPct val="160000"/>
              </a:lnSpc>
            </a:pPr>
            <a:endParaRPr lang="zh-CN" altLang="en-US" sz="32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6_嘉迪">
  <a:themeElements>
    <a:clrScheme name="我的培训模板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我的培训模板2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>
    <a:extraClrScheme>
      <a:clrScheme name="我的培训模板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我的培训模板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我的培训模板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嘉迪</Template>
  <TotalTime>0</TotalTime>
  <Words>4809</Words>
  <Application>Microsoft Office PowerPoint</Application>
  <PresentationFormat>宽屏</PresentationFormat>
  <Paragraphs>312</Paragraphs>
  <Slides>35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57" baseType="lpstr">
      <vt:lpstr>Arial Unicode MS</vt:lpstr>
      <vt:lpstr>DejaVu Math TeX Gyre</vt:lpstr>
      <vt:lpstr>Euclid</vt:lpstr>
      <vt:lpstr>Euclid Math One</vt:lpstr>
      <vt:lpstr>Euclid Math Two</vt:lpstr>
      <vt:lpstr>Microsoft JhengHei</vt:lpstr>
      <vt:lpstr>MT Symbol</vt:lpstr>
      <vt:lpstr>MT-Extra</vt:lpstr>
      <vt:lpstr>楷体_GB2312</vt:lpstr>
      <vt:lpstr>微软雅黑</vt:lpstr>
      <vt:lpstr>Arial</vt:lpstr>
      <vt:lpstr>Calibri</vt:lpstr>
      <vt:lpstr>Cambria Math</vt:lpstr>
      <vt:lpstr>Symbol</vt:lpstr>
      <vt:lpstr>Times New Roman</vt:lpstr>
      <vt:lpstr>Wingdings</vt:lpstr>
      <vt:lpstr>Wingdings 2</vt:lpstr>
      <vt:lpstr>嘉迪</vt:lpstr>
      <vt:lpstr>15_嘉迪</vt:lpstr>
      <vt:lpstr>16_嘉迪</vt:lpstr>
      <vt:lpstr>Equation</vt:lpstr>
      <vt:lpstr>PBrush</vt:lpstr>
      <vt:lpstr>离散数学及其应用 Discrete Mathematics and Its Applications （Eighth  Edition/Kenneth H.Rosen）  郭少勇 (syguo@bupt.edu.cn) 北京邮电大学 2025.10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metarnet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跨界数据创新</dc:title>
  <dc:creator>张龙</dc:creator>
  <cp:lastModifiedBy>Shaoyong Guo</cp:lastModifiedBy>
  <cp:revision>2352</cp:revision>
  <dcterms:created xsi:type="dcterms:W3CDTF">2024-11-03T11:54:00Z</dcterms:created>
  <dcterms:modified xsi:type="dcterms:W3CDTF">2025-10-28T07:33:44Z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CEE855D6EC0646A5AC487CE6141A24AE</vt:lpwstr>
  </property>
  <property fmtid="{D5CDD505-2E9C-101B-9397-08002B2CF9AE}" pid="3" name="KSOProductBuildVer">
    <vt:lpwstr>2052-12.1.0.23125</vt:lpwstr>
  </property>
</Properties>
</file>