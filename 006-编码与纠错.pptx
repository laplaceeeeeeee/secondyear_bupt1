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100"/>
  </p:notesMasterIdLst>
  <p:handoutMasterIdLst>
    <p:handoutMasterId r:id="rId101"/>
  </p:handoutMasterIdLst>
  <p:sldIdLst>
    <p:sldId id="266" r:id="rId2"/>
    <p:sldId id="766" r:id="rId3"/>
    <p:sldId id="767" r:id="rId4"/>
    <p:sldId id="768" r:id="rId5"/>
    <p:sldId id="769" r:id="rId6"/>
    <p:sldId id="771" r:id="rId7"/>
    <p:sldId id="772" r:id="rId8"/>
    <p:sldId id="774" r:id="rId9"/>
    <p:sldId id="773" r:id="rId10"/>
    <p:sldId id="775" r:id="rId11"/>
    <p:sldId id="776" r:id="rId12"/>
    <p:sldId id="777" r:id="rId13"/>
    <p:sldId id="778" r:id="rId14"/>
    <p:sldId id="779" r:id="rId15"/>
    <p:sldId id="836" r:id="rId16"/>
    <p:sldId id="837" r:id="rId17"/>
    <p:sldId id="780" r:id="rId18"/>
    <p:sldId id="781" r:id="rId19"/>
    <p:sldId id="782" r:id="rId20"/>
    <p:sldId id="783" r:id="rId21"/>
    <p:sldId id="784" r:id="rId22"/>
    <p:sldId id="785" r:id="rId23"/>
    <p:sldId id="786" r:id="rId24"/>
    <p:sldId id="787" r:id="rId25"/>
    <p:sldId id="789" r:id="rId26"/>
    <p:sldId id="788" r:id="rId27"/>
    <p:sldId id="790" r:id="rId28"/>
    <p:sldId id="791" r:id="rId29"/>
    <p:sldId id="792" r:id="rId30"/>
    <p:sldId id="793" r:id="rId31"/>
    <p:sldId id="795" r:id="rId32"/>
    <p:sldId id="796" r:id="rId33"/>
    <p:sldId id="797" r:id="rId34"/>
    <p:sldId id="799" r:id="rId35"/>
    <p:sldId id="800" r:id="rId36"/>
    <p:sldId id="802" r:id="rId37"/>
    <p:sldId id="803" r:id="rId38"/>
    <p:sldId id="804" r:id="rId39"/>
    <p:sldId id="801" r:id="rId40"/>
    <p:sldId id="838" r:id="rId41"/>
    <p:sldId id="839" r:id="rId42"/>
    <p:sldId id="840" r:id="rId43"/>
    <p:sldId id="806" r:id="rId44"/>
    <p:sldId id="808" r:id="rId45"/>
    <p:sldId id="809" r:id="rId46"/>
    <p:sldId id="810" r:id="rId47"/>
    <p:sldId id="811" r:id="rId48"/>
    <p:sldId id="841" r:id="rId49"/>
    <p:sldId id="812" r:id="rId50"/>
    <p:sldId id="813" r:id="rId51"/>
    <p:sldId id="814" r:id="rId52"/>
    <p:sldId id="815" r:id="rId53"/>
    <p:sldId id="816" r:id="rId54"/>
    <p:sldId id="817" r:id="rId55"/>
    <p:sldId id="818" r:id="rId56"/>
    <p:sldId id="820" r:id="rId57"/>
    <p:sldId id="819" r:id="rId58"/>
    <p:sldId id="842" r:id="rId59"/>
    <p:sldId id="843" r:id="rId60"/>
    <p:sldId id="698" r:id="rId61"/>
    <p:sldId id="821" r:id="rId62"/>
    <p:sldId id="822" r:id="rId63"/>
    <p:sldId id="701" r:id="rId64"/>
    <p:sldId id="825" r:id="rId65"/>
    <p:sldId id="824" r:id="rId66"/>
    <p:sldId id="823" r:id="rId67"/>
    <p:sldId id="826" r:id="rId68"/>
    <p:sldId id="699" r:id="rId69"/>
    <p:sldId id="828" r:id="rId70"/>
    <p:sldId id="829" r:id="rId71"/>
    <p:sldId id="830" r:id="rId72"/>
    <p:sldId id="831" r:id="rId73"/>
    <p:sldId id="832" r:id="rId74"/>
    <p:sldId id="833" r:id="rId75"/>
    <p:sldId id="834" r:id="rId76"/>
    <p:sldId id="835" r:id="rId77"/>
    <p:sldId id="845" r:id="rId78"/>
    <p:sldId id="846" r:id="rId79"/>
    <p:sldId id="847" r:id="rId80"/>
    <p:sldId id="848" r:id="rId81"/>
    <p:sldId id="849" r:id="rId82"/>
    <p:sldId id="850" r:id="rId83"/>
    <p:sldId id="851" r:id="rId84"/>
    <p:sldId id="368" r:id="rId85"/>
    <p:sldId id="852" r:id="rId86"/>
    <p:sldId id="853" r:id="rId87"/>
    <p:sldId id="854" r:id="rId88"/>
    <p:sldId id="855" r:id="rId89"/>
    <p:sldId id="856" r:id="rId90"/>
    <p:sldId id="857" r:id="rId91"/>
    <p:sldId id="858" r:id="rId92"/>
    <p:sldId id="859" r:id="rId93"/>
    <p:sldId id="860" r:id="rId94"/>
    <p:sldId id="861" r:id="rId95"/>
    <p:sldId id="862" r:id="rId96"/>
    <p:sldId id="863" r:id="rId97"/>
    <p:sldId id="676" r:id="rId98"/>
    <p:sldId id="674" r:id="rId99"/>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BB4FAAA-8E59-40C0-B1AA-50162B12F497}">
          <p14:sldIdLst>
            <p14:sldId id="266"/>
            <p14:sldId id="766"/>
            <p14:sldId id="767"/>
            <p14:sldId id="768"/>
            <p14:sldId id="769"/>
            <p14:sldId id="771"/>
            <p14:sldId id="772"/>
            <p14:sldId id="774"/>
            <p14:sldId id="773"/>
            <p14:sldId id="775"/>
            <p14:sldId id="776"/>
            <p14:sldId id="777"/>
            <p14:sldId id="778"/>
            <p14:sldId id="779"/>
            <p14:sldId id="836"/>
            <p14:sldId id="837"/>
            <p14:sldId id="780"/>
            <p14:sldId id="781"/>
            <p14:sldId id="782"/>
            <p14:sldId id="783"/>
            <p14:sldId id="784"/>
            <p14:sldId id="785"/>
            <p14:sldId id="786"/>
            <p14:sldId id="787"/>
            <p14:sldId id="789"/>
            <p14:sldId id="788"/>
            <p14:sldId id="790"/>
            <p14:sldId id="791"/>
            <p14:sldId id="792"/>
            <p14:sldId id="793"/>
            <p14:sldId id="795"/>
            <p14:sldId id="796"/>
            <p14:sldId id="797"/>
            <p14:sldId id="799"/>
            <p14:sldId id="800"/>
            <p14:sldId id="802"/>
            <p14:sldId id="803"/>
            <p14:sldId id="804"/>
            <p14:sldId id="801"/>
            <p14:sldId id="838"/>
            <p14:sldId id="839"/>
            <p14:sldId id="840"/>
            <p14:sldId id="806"/>
            <p14:sldId id="808"/>
            <p14:sldId id="809"/>
            <p14:sldId id="810"/>
            <p14:sldId id="811"/>
            <p14:sldId id="841"/>
            <p14:sldId id="812"/>
            <p14:sldId id="813"/>
            <p14:sldId id="814"/>
            <p14:sldId id="815"/>
            <p14:sldId id="816"/>
            <p14:sldId id="817"/>
            <p14:sldId id="818"/>
            <p14:sldId id="820"/>
            <p14:sldId id="819"/>
            <p14:sldId id="842"/>
            <p14:sldId id="843"/>
          </p14:sldIdLst>
        </p14:section>
        <p14:section name="默认节" id="{57882381-2264-4E0D-A32F-1E4BCA4FB096}">
          <p14:sldIdLst>
            <p14:sldId id="698"/>
            <p14:sldId id="821"/>
            <p14:sldId id="822"/>
            <p14:sldId id="701"/>
            <p14:sldId id="825"/>
            <p14:sldId id="824"/>
            <p14:sldId id="823"/>
            <p14:sldId id="826"/>
            <p14:sldId id="699"/>
            <p14:sldId id="828"/>
            <p14:sldId id="829"/>
            <p14:sldId id="830"/>
            <p14:sldId id="831"/>
            <p14:sldId id="832"/>
            <p14:sldId id="833"/>
            <p14:sldId id="834"/>
            <p14:sldId id="835"/>
            <p14:sldId id="845"/>
            <p14:sldId id="846"/>
            <p14:sldId id="847"/>
            <p14:sldId id="848"/>
            <p14:sldId id="849"/>
            <p14:sldId id="850"/>
          </p14:sldIdLst>
        </p14:section>
        <p14:section name="默认节" id="{90247483-1311-46DC-91FA-2416517ED1AB}">
          <p14:sldIdLst>
            <p14:sldId id="851"/>
            <p14:sldId id="368"/>
            <p14:sldId id="852"/>
            <p14:sldId id="853"/>
            <p14:sldId id="854"/>
            <p14:sldId id="855"/>
            <p14:sldId id="856"/>
          </p14:sldIdLst>
        </p14:section>
        <p14:section name="无标题节" id="{DE65093B-45A1-4209-B0AF-6F84FBEE0840}">
          <p14:sldIdLst>
            <p14:sldId id="857"/>
            <p14:sldId id="858"/>
            <p14:sldId id="859"/>
            <p14:sldId id="860"/>
            <p14:sldId id="861"/>
            <p14:sldId id="862"/>
            <p14:sldId id="863"/>
            <p14:sldId id="676"/>
            <p14:sldId id="674"/>
          </p14:sldIdLst>
        </p14:section>
        <p14:section name="无标题节" id="{C8741928-B9EF-491C-B995-74A00C9523D3}">
          <p14:sldIdLst/>
        </p14:section>
      </p14:sectionLst>
    </p:ext>
    <p:ext uri="{EFAFB233-063F-42B5-8137-9DF3F51BA10A}">
      <p15:sldGuideLst xmlns:p15="http://schemas.microsoft.com/office/powerpoint/2012/main">
        <p15:guide id="1" orient="horz" pos="2160">
          <p15:clr>
            <a:srgbClr val="A4A3A4"/>
          </p15:clr>
        </p15:guide>
        <p15:guide id="2" pos="3906">
          <p15:clr>
            <a:srgbClr val="A4A3A4"/>
          </p15:clr>
        </p15:guide>
      </p15:sldGuideLst>
    </p:ext>
    <p:ext uri="{2D200454-40CA-4A62-9FC3-DE9A4176ACB9}">
      <p15:notesGuideLst xmlns:p15="http://schemas.microsoft.com/office/powerpoint/2012/main">
        <p15:guide id="1" orient="horz" pos="3223">
          <p15:clr>
            <a:srgbClr val="A4A3A4"/>
          </p15:clr>
        </p15:guide>
        <p15:guide id="2" pos="227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0033CC"/>
    <a:srgbClr val="00FF00"/>
    <a:srgbClr val="008080"/>
    <a:srgbClr val="FFFF99"/>
    <a:srgbClr val="FF99FF"/>
    <a:srgbClr val="00FFCC"/>
    <a:srgbClr val="00737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86700" autoAdjust="0"/>
  </p:normalViewPr>
  <p:slideViewPr>
    <p:cSldViewPr snapToGrid="0">
      <p:cViewPr varScale="1">
        <p:scale>
          <a:sx n="73" d="100"/>
          <a:sy n="73" d="100"/>
        </p:scale>
        <p:origin x="699" y="45"/>
      </p:cViewPr>
      <p:guideLst>
        <p:guide orient="horz" pos="2160"/>
        <p:guide pos="3906"/>
      </p:guideLst>
    </p:cSldViewPr>
  </p:slideViewPr>
  <p:outlineViewPr>
    <p:cViewPr>
      <p:scale>
        <a:sx n="33" d="100"/>
        <a:sy n="33" d="100"/>
      </p:scale>
      <p:origin x="0" y="-2011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760" y="-78"/>
      </p:cViewPr>
      <p:guideLst>
        <p:guide orient="horz" pos="3223"/>
        <p:guide pos="227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69E6C644-74FC-4D44-AB81-2709554C9147}" type="datetimeFigureOut">
              <a:rPr lang="zh-CN" altLang="en-US" smtClean="0"/>
              <a:t>2025/10/20</a:t>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048ACB8-82BB-45CD-9FE9-610CE3440BB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F556F344-34FD-4E14-B679-9401DE38C7AF}" type="datetimeFigureOut">
              <a:rPr lang="zh-CN" altLang="en-US" smtClean="0"/>
              <a:t>2025/10/20</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CF81660A-873B-4A21-B820-86EACE2D5F0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49"/>
          <p:cNvSpPr>
            <a:spLocks noGrp="1" noChangeArrowheads="1"/>
          </p:cNvSpPr>
          <p:nvPr>
            <p:ph type="sldNum" sz="quarter"/>
          </p:nvPr>
        </p:nvSpPr>
        <p:spPr>
          <a:noFill/>
        </p:spPr>
        <p:txBody>
          <a:bodyPr/>
          <a:lstStyle/>
          <a:p>
            <a:pPr defTabSz="403860"/>
            <a:fld id="{DFF13921-433A-452C-8781-0C688C459168}" type="slidenum">
              <a:rPr lang="en-US" altLang="zh-CN">
                <a:latin typeface="Times New Roman" panose="02020603050405020304" pitchFamily="18" charset="0"/>
              </a:rPr>
              <a:t>1</a:t>
            </a:fld>
            <a:endParaRPr lang="en-US" altLang="zh-CN" dirty="0">
              <a:latin typeface="Times New Roman" panose="02020603050405020304" pitchFamily="18" charset="0"/>
            </a:endParaRPr>
          </a:p>
        </p:txBody>
      </p:sp>
      <p:sp>
        <p:nvSpPr>
          <p:cNvPr id="26627" name="Text Box 1"/>
          <p:cNvSpPr txBox="1">
            <a:spLocks noChangeArrowheads="1"/>
          </p:cNvSpPr>
          <p:nvPr/>
        </p:nvSpPr>
        <p:spPr bwMode="auto">
          <a:xfrm>
            <a:off x="4017769" y="9722503"/>
            <a:ext cx="3077059" cy="507551"/>
          </a:xfrm>
          <a:prstGeom prst="rect">
            <a:avLst/>
          </a:prstGeom>
          <a:noFill/>
          <a:ln w="9525">
            <a:noFill/>
            <a:round/>
          </a:ln>
        </p:spPr>
        <p:txBody>
          <a:bodyPr lIns="0" tIns="0" rIns="0" bIns="0" anchor="b"/>
          <a:lstStyle/>
          <a:p>
            <a:pPr algn="r">
              <a:lnSpc>
                <a:spcPct val="95000"/>
              </a:lnSpc>
              <a:tabLst>
                <a:tab pos="0" algn="l"/>
                <a:tab pos="424815" algn="l"/>
                <a:tab pos="851535" algn="l"/>
                <a:tab pos="1278255" algn="l"/>
                <a:tab pos="1704975" algn="l"/>
                <a:tab pos="2131060" algn="l"/>
                <a:tab pos="2557780" algn="l"/>
                <a:tab pos="2984500" algn="l"/>
                <a:tab pos="3411220" algn="l"/>
                <a:tab pos="3837940" algn="l"/>
                <a:tab pos="4264660" algn="l"/>
                <a:tab pos="4691380" algn="l"/>
                <a:tab pos="5118100" algn="l"/>
                <a:tab pos="5544185" algn="l"/>
                <a:tab pos="5970905" algn="l"/>
                <a:tab pos="6397625" algn="l"/>
                <a:tab pos="6824345" algn="l"/>
                <a:tab pos="7251065" algn="l"/>
                <a:tab pos="7677785" algn="l"/>
                <a:tab pos="8104505" algn="l"/>
                <a:tab pos="8531225" algn="l"/>
              </a:tabLst>
            </a:pPr>
            <a:fld id="{71E9B9DE-4EE6-446A-B153-879FB46C5256}" type="slidenum">
              <a:rPr lang="en-US" altLang="zh-CN" sz="1300">
                <a:solidFill>
                  <a:srgbClr val="000000"/>
                </a:solidFill>
                <a:latin typeface="Times New Roman" panose="02020603050405020304" pitchFamily="18" charset="0"/>
                <a:ea typeface="宋体" panose="02010600030101010101" pitchFamily="2" charset="-122"/>
              </a:rPr>
              <a:t>1</a:t>
            </a:fld>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26628" name="Rectangle 2"/>
          <p:cNvSpPr txBox="1">
            <a:spLocks noGrp="1" noRot="1" noChangeAspect="1" noChangeArrowheads="1" noTextEdit="1"/>
          </p:cNvSpPr>
          <p:nvPr>
            <p:ph type="sldImg"/>
          </p:nvPr>
        </p:nvSpPr>
        <p:spPr>
          <a:xfrm>
            <a:off x="138113" y="777875"/>
            <a:ext cx="6819900" cy="3836988"/>
          </a:xfrm>
          <a:solidFill>
            <a:srgbClr val="FFFFFF"/>
          </a:solidFill>
          <a:ln>
            <a:solidFill>
              <a:srgbClr val="000000"/>
            </a:solidFill>
            <a:miter lim="800000"/>
          </a:ln>
        </p:spPr>
      </p:sp>
      <p:sp>
        <p:nvSpPr>
          <p:cNvPr id="26629" name="Rectangle 3"/>
          <p:cNvSpPr txBox="1">
            <a:spLocks noGrp="1" noChangeArrowheads="1"/>
          </p:cNvSpPr>
          <p:nvPr>
            <p:ph type="body" idx="1"/>
          </p:nvPr>
        </p:nvSpPr>
        <p:spPr>
          <a:xfrm>
            <a:off x="709632" y="4861252"/>
            <a:ext cx="5680036" cy="4605955"/>
          </a:xfrm>
          <a:noFill/>
        </p:spPr>
        <p:txBody>
          <a:bodyPr wrap="none" anchor="ctr"/>
          <a:lstStyle/>
          <a:p>
            <a:endParaRPr lang="zh-CN" altLang="zh-CN">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F81660A-873B-4A21-B820-86EACE2D5F04}" type="slidenum">
              <a:rPr lang="zh-CN" altLang="en-US" smtClean="0"/>
              <a:t>15</a:t>
            </a:fld>
            <a:endParaRPr lang="zh-CN" altLang="en-US"/>
          </a:p>
        </p:txBody>
      </p:sp>
    </p:spTree>
    <p:extLst>
      <p:ext uri="{BB962C8B-B14F-4D97-AF65-F5344CB8AC3E}">
        <p14:creationId xmlns:p14="http://schemas.microsoft.com/office/powerpoint/2010/main" val="2723460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F81660A-873B-4A21-B820-86EACE2D5F04}" type="slidenum">
              <a:rPr lang="zh-CN" altLang="en-US" smtClean="0"/>
              <a:t>16</a:t>
            </a:fld>
            <a:endParaRPr lang="zh-CN" altLang="en-US"/>
          </a:p>
        </p:txBody>
      </p:sp>
    </p:spTree>
    <p:extLst>
      <p:ext uri="{BB962C8B-B14F-4D97-AF65-F5344CB8AC3E}">
        <p14:creationId xmlns:p14="http://schemas.microsoft.com/office/powerpoint/2010/main" val="916187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F81660A-873B-4A21-B820-86EACE2D5F04}" type="slidenum">
              <a:rPr lang="zh-CN" altLang="en-US" smtClean="0"/>
              <a:t>54</a:t>
            </a:fld>
            <a:endParaRPr lang="zh-CN" altLang="en-US"/>
          </a:p>
        </p:txBody>
      </p:sp>
    </p:spTree>
    <p:extLst>
      <p:ext uri="{BB962C8B-B14F-4D97-AF65-F5344CB8AC3E}">
        <p14:creationId xmlns:p14="http://schemas.microsoft.com/office/powerpoint/2010/main" val="4166940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F81660A-873B-4A21-B820-86EACE2D5F04}" type="slidenum">
              <a:rPr lang="zh-CN" altLang="en-US" smtClean="0"/>
              <a:t>58</a:t>
            </a:fld>
            <a:endParaRPr lang="zh-CN" altLang="en-US"/>
          </a:p>
        </p:txBody>
      </p:sp>
    </p:spTree>
    <p:extLst>
      <p:ext uri="{BB962C8B-B14F-4D97-AF65-F5344CB8AC3E}">
        <p14:creationId xmlns:p14="http://schemas.microsoft.com/office/powerpoint/2010/main" val="3976900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F81660A-873B-4A21-B820-86EACE2D5F04}" type="slidenum">
              <a:rPr lang="zh-CN" altLang="en-US" smtClean="0"/>
              <a:t>59</a:t>
            </a:fld>
            <a:endParaRPr lang="zh-CN" altLang="en-US"/>
          </a:p>
        </p:txBody>
      </p:sp>
    </p:spTree>
    <p:extLst>
      <p:ext uri="{BB962C8B-B14F-4D97-AF65-F5344CB8AC3E}">
        <p14:creationId xmlns:p14="http://schemas.microsoft.com/office/powerpoint/2010/main" val="1520883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F81660A-873B-4A21-B820-86EACE2D5F04}" type="slidenum">
              <a:rPr lang="zh-CN" altLang="en-US" smtClean="0"/>
              <a:t>98</a:t>
            </a:fld>
            <a:endParaRPr lang="zh-CN" altLang="en-US"/>
          </a:p>
        </p:txBody>
      </p:sp>
    </p:spTree>
    <p:extLst>
      <p:ext uri="{BB962C8B-B14F-4D97-AF65-F5344CB8AC3E}">
        <p14:creationId xmlns:p14="http://schemas.microsoft.com/office/powerpoint/2010/main" val="1685312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Monday, October 20,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Monday, October 20,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Monday, October 20,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Monday, October 20,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Monday, October 20,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Monday, October 20,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Monday, October 20,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Monday, October 20,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Monday, October 20,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Monday, October 20,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Monday, October 20,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7.wmf"/></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8.wmf"/></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8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idx="4294967295"/>
          </p:nvPr>
        </p:nvSpPr>
        <p:spPr>
          <a:xfrm>
            <a:off x="609600" y="909501"/>
            <a:ext cx="10972800" cy="5445125"/>
          </a:xfrm>
        </p:spPr>
        <p:txBody>
          <a:bodyPr tIns="36948"/>
          <a:lstStyle/>
          <a:p>
            <a:pPr>
              <a:lnSpc>
                <a:spcPct val="150000"/>
              </a:lnSpc>
              <a:tabLst>
                <a:tab pos="0" algn="l"/>
                <a:tab pos="423545" algn="l"/>
                <a:tab pos="850900" algn="l"/>
                <a:tab pos="1277620" algn="l"/>
                <a:tab pos="1704975" algn="l"/>
                <a:tab pos="2131695" algn="l"/>
                <a:tab pos="2559050" algn="l"/>
                <a:tab pos="2985770" algn="l"/>
                <a:tab pos="3413125" algn="l"/>
                <a:tab pos="3839845" algn="l"/>
                <a:tab pos="4267200" algn="l"/>
                <a:tab pos="4693920" algn="l"/>
                <a:tab pos="5121275" algn="l"/>
                <a:tab pos="5547995" algn="l"/>
                <a:tab pos="5975350" algn="l"/>
                <a:tab pos="6402070" algn="l"/>
                <a:tab pos="6829425" algn="l"/>
                <a:tab pos="7254875" algn="l"/>
                <a:tab pos="7681595" algn="l"/>
                <a:tab pos="8108950" algn="l"/>
                <a:tab pos="8535670" algn="l"/>
              </a:tabLst>
            </a:pPr>
            <a:r>
              <a:rPr lang="zh-CN" altLang="en-US" sz="3200" b="1" dirty="0">
                <a:solidFill>
                  <a:schemeClr val="tx1"/>
                </a:solidFill>
                <a:latin typeface="Microsoft JhengHei" panose="020B0604030504040204" pitchFamily="34" charset="-120"/>
                <a:ea typeface="Microsoft JhengHei" panose="020B0604030504040204" pitchFamily="34" charset="-120"/>
              </a:rPr>
              <a:t>离散数学及其应用</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en-US" altLang="zh-CN" sz="3200" b="1" dirty="0">
                <a:solidFill>
                  <a:schemeClr val="tx1"/>
                </a:solidFill>
                <a:latin typeface="Microsoft JhengHei" panose="020B0604030504040204" pitchFamily="34" charset="-120"/>
                <a:ea typeface="Microsoft JhengHei" panose="020B0604030504040204" pitchFamily="34" charset="-120"/>
              </a:rPr>
              <a:t>Discrete Mathematics and Its Applications</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zh-CN" altLang="en-US" sz="3200" b="1" dirty="0">
                <a:solidFill>
                  <a:schemeClr val="tx1"/>
                </a:solidFill>
                <a:latin typeface="Microsoft JhengHei" panose="020B0604030504040204" pitchFamily="34" charset="-120"/>
                <a:ea typeface="Microsoft JhengHei" panose="020B0604030504040204" pitchFamily="34" charset="-120"/>
              </a:rPr>
              <a:t>（</a:t>
            </a:r>
            <a:r>
              <a:rPr lang="en-US" altLang="zh-CN" sz="3200" b="1" dirty="0">
                <a:solidFill>
                  <a:schemeClr val="tx1"/>
                </a:solidFill>
                <a:latin typeface="Microsoft JhengHei" panose="020B0604030504040204" pitchFamily="34" charset="-120"/>
                <a:ea typeface="Microsoft JhengHei" panose="020B0604030504040204" pitchFamily="34" charset="-120"/>
              </a:rPr>
              <a:t>Eighth  Edition/Kenneth </a:t>
            </a:r>
            <a:r>
              <a:rPr lang="en-US" altLang="zh-CN" sz="3200" b="1" dirty="0" err="1">
                <a:solidFill>
                  <a:schemeClr val="tx1"/>
                </a:solidFill>
                <a:latin typeface="Microsoft JhengHei" panose="020B0604030504040204" pitchFamily="34" charset="-120"/>
                <a:ea typeface="Microsoft JhengHei" panose="020B0604030504040204" pitchFamily="34" charset="-120"/>
              </a:rPr>
              <a:t>H.Rosen</a:t>
            </a:r>
            <a:r>
              <a:rPr lang="zh-CN" altLang="en-US" sz="3200" b="1" dirty="0">
                <a:solidFill>
                  <a:schemeClr val="tx1"/>
                </a:solidFill>
                <a:latin typeface="Microsoft JhengHei" panose="020B0604030504040204" pitchFamily="34" charset="-120"/>
                <a:ea typeface="Microsoft JhengHei" panose="020B0604030504040204" pitchFamily="34" charset="-120"/>
              </a:rPr>
              <a:t>）</a:t>
            </a:r>
            <a:br>
              <a:rPr lang="en-US" altLang="zh-CN" sz="3800" b="1" dirty="0">
                <a:solidFill>
                  <a:schemeClr val="tx1"/>
                </a:solidFill>
                <a:latin typeface="Microsoft JhengHei" panose="020B0604030504040204" pitchFamily="34" charset="-120"/>
                <a:ea typeface="Microsoft JhengHei" panose="020B0604030504040204" pitchFamily="34" charset="-120"/>
              </a:rPr>
            </a:b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郭少勇 </a:t>
            </a:r>
            <a:r>
              <a:rPr lang="en-US" altLang="zh-CN" sz="2400" b="1" dirty="0">
                <a:solidFill>
                  <a:schemeClr val="tx1"/>
                </a:solidFill>
                <a:latin typeface="Microsoft JhengHei" panose="020B0604030504040204" pitchFamily="34" charset="-120"/>
                <a:ea typeface="Microsoft JhengHei" panose="020B0604030504040204" pitchFamily="34" charset="-120"/>
              </a:rPr>
              <a:t>(syguo@bupt.edu.cn)</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北京邮电大学</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en-US" altLang="zh-CN" sz="2400" b="1" dirty="0">
                <a:solidFill>
                  <a:schemeClr val="tx1"/>
                </a:solidFill>
                <a:latin typeface="Microsoft JhengHei" panose="020B0604030504040204" pitchFamily="34" charset="-120"/>
                <a:ea typeface="Microsoft JhengHei" panose="020B0604030504040204" pitchFamily="34" charset="-120"/>
              </a:rPr>
              <a:t>2025.10</a:t>
            </a:r>
            <a:endParaRPr lang="en-US" altLang="zh-CN" b="1" dirty="0">
              <a:solidFill>
                <a:schemeClr val="tx1"/>
              </a:solidFill>
              <a:latin typeface="Microsoft JhengHei" panose="020B0604030504040204" pitchFamily="34" charset="-120"/>
              <a:ea typeface="Microsoft JhengHei" panose="020B0604030504040204" pitchFamily="34" charset="-12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5" name="Rectangle 3">
            <a:extLst>
              <a:ext uri="{FF2B5EF4-FFF2-40B4-BE49-F238E27FC236}">
                <a16:creationId xmlns:a16="http://schemas.microsoft.com/office/drawing/2014/main" id="{4CB945AF-2203-41D2-A09F-DD444BBAC9AA}"/>
              </a:ext>
            </a:extLst>
          </p:cNvPr>
          <p:cNvSpPr txBox="1">
            <a:spLocks noChangeArrowheads="1"/>
          </p:cNvSpPr>
          <p:nvPr/>
        </p:nvSpPr>
        <p:spPr bwMode="auto">
          <a:xfrm>
            <a:off x="331304" y="1711795"/>
            <a:ext cx="11767931" cy="553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defRPr/>
            </a:pPr>
            <a:r>
              <a:rPr lang="en-US" altLang="zh-CN" sz="2800" dirty="0"/>
              <a:t>In today’s modern world of communication, data items are constantly being transmitted from point to point. The basic problem in transmission of data is that of receiving the data as sent and not receiving a distorted piece of data.</a:t>
            </a:r>
          </a:p>
          <a:p>
            <a:pPr marL="0" indent="0">
              <a:lnSpc>
                <a:spcPct val="150000"/>
              </a:lnSpc>
              <a:buNone/>
              <a:defRPr/>
            </a:pPr>
            <a:r>
              <a:rPr lang="en-US" altLang="zh-CN" sz="2800" dirty="0"/>
              <a:t>Coding theory has developed techniques for </a:t>
            </a:r>
            <a:r>
              <a:rPr lang="en-US" altLang="zh-CN" sz="2800" dirty="0">
                <a:solidFill>
                  <a:srgbClr val="FF0000"/>
                </a:solidFill>
              </a:rPr>
              <a:t>introducing redundant information(</a:t>
            </a:r>
            <a:r>
              <a:rPr lang="zh-CN" altLang="en-US" sz="2800" dirty="0">
                <a:solidFill>
                  <a:srgbClr val="FF0000"/>
                </a:solidFill>
              </a:rPr>
              <a:t>引入冗余信息</a:t>
            </a:r>
            <a:r>
              <a:rPr lang="en-US" altLang="zh-CN" sz="2800" dirty="0">
                <a:solidFill>
                  <a:srgbClr val="FF0000"/>
                </a:solidFill>
              </a:rPr>
              <a:t>)</a:t>
            </a:r>
            <a:r>
              <a:rPr lang="en-US" altLang="zh-CN" sz="2800" dirty="0"/>
              <a:t> in transmitted data that help in detecting, and sometimes in correcting, errors.</a:t>
            </a:r>
          </a:p>
        </p:txBody>
      </p:sp>
      <p:sp>
        <p:nvSpPr>
          <p:cNvPr id="7" name="文本框 6">
            <a:extLst>
              <a:ext uri="{FF2B5EF4-FFF2-40B4-BE49-F238E27FC236}">
                <a16:creationId xmlns:a16="http://schemas.microsoft.com/office/drawing/2014/main" id="{F9B57166-8A09-4B10-B3DA-B8833C5EB708}"/>
              </a:ext>
            </a:extLst>
          </p:cNvPr>
          <p:cNvSpPr txBox="1"/>
          <p:nvPr/>
        </p:nvSpPr>
        <p:spPr>
          <a:xfrm>
            <a:off x="4237736" y="841054"/>
            <a:ext cx="6123214" cy="769441"/>
          </a:xfrm>
          <a:prstGeom prst="rect">
            <a:avLst/>
          </a:prstGeom>
          <a:noFill/>
        </p:spPr>
        <p:txBody>
          <a:bodyPr wrap="square">
            <a:spAutoFit/>
          </a:bodyPr>
          <a:lstStyle/>
          <a:p>
            <a:r>
              <a:rPr kumimoji="0" lang="en-US" altLang="zh-CN" sz="4400" b="0" i="0" u="none" strike="noStrike" kern="0" cap="none" spc="0" normalizeH="0" baseline="0" noProof="0" dirty="0">
                <a:ln>
                  <a:noFill/>
                </a:ln>
                <a:solidFill>
                  <a:srgbClr val="000000"/>
                </a:solidFill>
                <a:effectLst/>
                <a:uLnTx/>
                <a:uFillTx/>
                <a:latin typeface="Arial"/>
                <a:ea typeface="宋体"/>
                <a:cs typeface="+mj-cs"/>
              </a:rPr>
              <a:t>Coding theory</a:t>
            </a:r>
            <a:endParaRPr lang="zh-CN" altLang="en-US" dirty="0"/>
          </a:p>
        </p:txBody>
      </p:sp>
    </p:spTree>
    <p:extLst>
      <p:ext uri="{BB962C8B-B14F-4D97-AF65-F5344CB8AC3E}">
        <p14:creationId xmlns:p14="http://schemas.microsoft.com/office/powerpoint/2010/main" val="8534455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5" name="Rectangle 3">
            <a:extLst>
              <a:ext uri="{FF2B5EF4-FFF2-40B4-BE49-F238E27FC236}">
                <a16:creationId xmlns:a16="http://schemas.microsoft.com/office/drawing/2014/main" id="{4CB945AF-2203-41D2-A09F-DD444BBAC9AA}"/>
              </a:ext>
            </a:extLst>
          </p:cNvPr>
          <p:cNvSpPr txBox="1">
            <a:spLocks noChangeArrowheads="1"/>
          </p:cNvSpPr>
          <p:nvPr/>
        </p:nvSpPr>
        <p:spPr bwMode="auto">
          <a:xfrm>
            <a:off x="331304" y="1610495"/>
            <a:ext cx="11860696" cy="553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defRPr/>
            </a:pPr>
            <a:r>
              <a:rPr lang="en-US" altLang="zh-CN" sz="2800" dirty="0"/>
              <a:t>The basic unit of information, called a </a:t>
            </a:r>
            <a:r>
              <a:rPr lang="en-US" altLang="zh-CN" sz="2800" dirty="0">
                <a:solidFill>
                  <a:srgbClr val="FF0000"/>
                </a:solidFill>
              </a:rPr>
              <a:t>message(</a:t>
            </a:r>
            <a:r>
              <a:rPr lang="zh-CN" altLang="en-US" sz="2800" dirty="0">
                <a:solidFill>
                  <a:srgbClr val="FF0000"/>
                </a:solidFill>
              </a:rPr>
              <a:t>消息</a:t>
            </a:r>
            <a:r>
              <a:rPr lang="en-US" altLang="zh-CN" sz="2800" dirty="0">
                <a:solidFill>
                  <a:srgbClr val="FF0000"/>
                </a:solidFill>
              </a:rPr>
              <a:t>)</a:t>
            </a:r>
            <a:r>
              <a:rPr lang="en-US" altLang="zh-CN" sz="2800" dirty="0"/>
              <a:t>, is a finite sequence of characters from a finite alphabet. We shall choose as our alphabet the set B = {0, 1}. Every character or symbol that we want to transmit is now represented as a sequence of melements from B. That is, every character or symbol is represented in binary form.</a:t>
            </a:r>
          </a:p>
          <a:p>
            <a:pPr marL="0" indent="0">
              <a:lnSpc>
                <a:spcPct val="150000"/>
              </a:lnSpc>
              <a:buNone/>
              <a:defRPr/>
            </a:pPr>
            <a:r>
              <a:rPr lang="en-US" altLang="zh-CN" sz="2800" dirty="0"/>
              <a:t>Our basic unit of information, called a </a:t>
            </a:r>
            <a:r>
              <a:rPr lang="en-US" altLang="zh-CN" sz="2800" dirty="0">
                <a:solidFill>
                  <a:srgbClr val="FF0000"/>
                </a:solidFill>
              </a:rPr>
              <a:t>word(</a:t>
            </a:r>
            <a:r>
              <a:rPr lang="zh-CN" altLang="en-US" sz="2800" dirty="0">
                <a:solidFill>
                  <a:srgbClr val="FF0000"/>
                </a:solidFill>
              </a:rPr>
              <a:t>字</a:t>
            </a:r>
            <a:r>
              <a:rPr lang="en-US" altLang="zh-CN" sz="2800" dirty="0">
                <a:solidFill>
                  <a:srgbClr val="FF0000"/>
                </a:solidFill>
              </a:rPr>
              <a:t>)</a:t>
            </a:r>
            <a:r>
              <a:rPr lang="en-US" altLang="zh-CN" sz="2800" dirty="0"/>
              <a:t>, is a sequence of m 0's and 1's.</a:t>
            </a:r>
          </a:p>
        </p:txBody>
      </p:sp>
      <p:sp>
        <p:nvSpPr>
          <p:cNvPr id="7" name="文本框 6">
            <a:extLst>
              <a:ext uri="{FF2B5EF4-FFF2-40B4-BE49-F238E27FC236}">
                <a16:creationId xmlns:a16="http://schemas.microsoft.com/office/drawing/2014/main" id="{F9B57166-8A09-4B10-B3DA-B8833C5EB708}"/>
              </a:ext>
            </a:extLst>
          </p:cNvPr>
          <p:cNvSpPr txBox="1"/>
          <p:nvPr/>
        </p:nvSpPr>
        <p:spPr>
          <a:xfrm>
            <a:off x="3946190" y="841054"/>
            <a:ext cx="6123214" cy="769441"/>
          </a:xfrm>
          <a:prstGeom prst="rect">
            <a:avLst/>
          </a:prstGeom>
          <a:noFill/>
        </p:spPr>
        <p:txBody>
          <a:bodyPr wrap="square">
            <a:spAutoFit/>
          </a:bodyPr>
          <a:lstStyle/>
          <a:p>
            <a:r>
              <a:rPr kumimoji="0" lang="en-US" altLang="zh-CN" sz="4400" b="0" i="0" u="none" strike="noStrike" kern="0" cap="none" spc="0" normalizeH="0" baseline="0" noProof="0" dirty="0">
                <a:ln>
                  <a:noFill/>
                </a:ln>
                <a:solidFill>
                  <a:srgbClr val="000000"/>
                </a:solidFill>
                <a:effectLst/>
                <a:uLnTx/>
                <a:uFillTx/>
                <a:latin typeface="Arial"/>
                <a:ea typeface="宋体"/>
                <a:cs typeface="+mj-cs"/>
              </a:rPr>
              <a:t>Unit of information</a:t>
            </a:r>
            <a:endParaRPr lang="zh-CN" altLang="en-US" dirty="0"/>
          </a:p>
        </p:txBody>
      </p:sp>
    </p:spTree>
    <p:extLst>
      <p:ext uri="{BB962C8B-B14F-4D97-AF65-F5344CB8AC3E}">
        <p14:creationId xmlns:p14="http://schemas.microsoft.com/office/powerpoint/2010/main" val="365346101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5" name="Rectangle 3">
            <a:extLst>
              <a:ext uri="{FF2B5EF4-FFF2-40B4-BE49-F238E27FC236}">
                <a16:creationId xmlns:a16="http://schemas.microsoft.com/office/drawing/2014/main" id="{4CB945AF-2203-41D2-A09F-DD444BBAC9AA}"/>
              </a:ext>
            </a:extLst>
          </p:cNvPr>
          <p:cNvSpPr txBox="1">
            <a:spLocks noChangeArrowheads="1"/>
          </p:cNvSpPr>
          <p:nvPr/>
        </p:nvSpPr>
        <p:spPr bwMode="auto">
          <a:xfrm>
            <a:off x="331304" y="1711795"/>
            <a:ext cx="11860696" cy="553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defRPr/>
            </a:pPr>
            <a:r>
              <a:rPr lang="en-US" altLang="zh-CN" sz="2800" dirty="0"/>
              <a:t>The set B is a group under the binary operation + (mod 2 addition )</a:t>
            </a:r>
          </a:p>
          <a:p>
            <a:pPr marL="0" indent="0">
              <a:lnSpc>
                <a:spcPct val="150000"/>
              </a:lnSpc>
              <a:buNone/>
              <a:defRPr/>
            </a:pPr>
            <a:r>
              <a:rPr lang="en-US" altLang="zh-CN" sz="2800" dirty="0"/>
              <a:t>It follows that B</a:t>
            </a:r>
            <a:r>
              <a:rPr lang="en-US" altLang="zh-CN" sz="2800" baseline="30000" dirty="0"/>
              <a:t>m</a:t>
            </a:r>
            <a:r>
              <a:rPr lang="en-US" altLang="zh-CN" sz="2800" dirty="0"/>
              <a:t> = B×B × … × B (n factors) is a group under the operator </a:t>
            </a:r>
            <a:r>
              <a:rPr lang="en-US" altLang="zh-CN" sz="2800" dirty="0">
                <a:sym typeface="Symbol" panose="05050102010706020507" pitchFamily="18" charset="2"/>
              </a:rPr>
              <a:t></a:t>
            </a:r>
            <a:r>
              <a:rPr lang="en-US" altLang="zh-CN" sz="2800" dirty="0"/>
              <a:t> defined by</a:t>
            </a:r>
          </a:p>
          <a:p>
            <a:pPr marL="0" indent="0" algn="ctr">
              <a:lnSpc>
                <a:spcPct val="150000"/>
              </a:lnSpc>
              <a:buNone/>
              <a:defRPr/>
            </a:pPr>
            <a:r>
              <a:rPr lang="en-US" altLang="zh-CN" sz="2800" dirty="0"/>
              <a:t>(x</a:t>
            </a:r>
            <a:r>
              <a:rPr lang="en-US" altLang="zh-CN" sz="2800" baseline="-25000" dirty="0"/>
              <a:t>1</a:t>
            </a:r>
            <a:r>
              <a:rPr lang="en-US" altLang="zh-CN" sz="2800" dirty="0"/>
              <a:t>, x</a:t>
            </a:r>
            <a:r>
              <a:rPr lang="en-US" altLang="zh-CN" sz="2800" baseline="-25000" dirty="0"/>
              <a:t>2</a:t>
            </a:r>
            <a:r>
              <a:rPr lang="en-US" altLang="zh-CN" sz="2800" dirty="0"/>
              <a:t>,…, x</a:t>
            </a:r>
            <a:r>
              <a:rPr lang="en-US" altLang="zh-CN" sz="2800" baseline="-25000" dirty="0"/>
              <a:t>m</a:t>
            </a:r>
            <a:r>
              <a:rPr lang="en-US" altLang="zh-CN" sz="2800" dirty="0"/>
              <a:t>) </a:t>
            </a:r>
            <a:r>
              <a:rPr lang="en-US" altLang="zh-CN" sz="2800" dirty="0">
                <a:sym typeface="Symbol" panose="05050102010706020507" pitchFamily="18" charset="2"/>
              </a:rPr>
              <a:t> </a:t>
            </a:r>
            <a:r>
              <a:rPr lang="en-US" altLang="zh-CN" sz="2800" dirty="0"/>
              <a:t>(y</a:t>
            </a:r>
            <a:r>
              <a:rPr lang="en-US" altLang="zh-CN" sz="2800" baseline="-25000" dirty="0"/>
              <a:t>1</a:t>
            </a:r>
            <a:r>
              <a:rPr lang="en-US" altLang="zh-CN" sz="2800" dirty="0"/>
              <a:t>, y</a:t>
            </a:r>
            <a:r>
              <a:rPr lang="en-US" altLang="zh-CN" sz="2800" baseline="-25000" dirty="0"/>
              <a:t>2</a:t>
            </a:r>
            <a:r>
              <a:rPr lang="en-US" altLang="zh-CN" sz="2800" dirty="0"/>
              <a:t> ,…, y</a:t>
            </a:r>
            <a:r>
              <a:rPr lang="en-US" altLang="zh-CN" sz="2800" baseline="-25000" dirty="0"/>
              <a:t>m</a:t>
            </a:r>
            <a:r>
              <a:rPr lang="en-US" altLang="zh-CN" sz="2800" dirty="0"/>
              <a:t>) </a:t>
            </a:r>
          </a:p>
          <a:p>
            <a:pPr marL="0" indent="0" algn="ctr">
              <a:lnSpc>
                <a:spcPct val="150000"/>
              </a:lnSpc>
              <a:buNone/>
              <a:defRPr/>
            </a:pPr>
            <a:r>
              <a:rPr lang="en-US" altLang="zh-CN" sz="2800" dirty="0"/>
              <a:t>= (x</a:t>
            </a:r>
            <a:r>
              <a:rPr lang="en-US" altLang="zh-CN" sz="2800" baseline="-25000" dirty="0"/>
              <a:t>1</a:t>
            </a:r>
            <a:r>
              <a:rPr lang="en-US" altLang="zh-CN" sz="2800" dirty="0"/>
              <a:t> + y</a:t>
            </a:r>
            <a:r>
              <a:rPr lang="en-US" altLang="zh-CN" sz="2800" baseline="-25000" dirty="0"/>
              <a:t>1</a:t>
            </a:r>
            <a:r>
              <a:rPr lang="en-US" altLang="zh-CN" sz="2800" dirty="0"/>
              <a:t>, x</a:t>
            </a:r>
            <a:r>
              <a:rPr lang="en-US" altLang="zh-CN" sz="2800" baseline="-25000" dirty="0"/>
              <a:t>2</a:t>
            </a:r>
            <a:r>
              <a:rPr lang="en-US" altLang="zh-CN" sz="2800" dirty="0"/>
              <a:t> + y</a:t>
            </a:r>
            <a:r>
              <a:rPr lang="en-US" altLang="zh-CN" sz="2800" baseline="-25000" dirty="0"/>
              <a:t>2</a:t>
            </a:r>
            <a:r>
              <a:rPr lang="en-US" altLang="zh-CN" sz="2800" dirty="0"/>
              <a:t> , …, x</a:t>
            </a:r>
            <a:r>
              <a:rPr lang="en-US" altLang="zh-CN" sz="2800" baseline="-25000" dirty="0"/>
              <a:t>m</a:t>
            </a:r>
            <a:r>
              <a:rPr lang="en-US" altLang="zh-CN" sz="2800" dirty="0"/>
              <a:t> + y</a:t>
            </a:r>
            <a:r>
              <a:rPr lang="en-US" altLang="zh-CN" sz="2800" baseline="-25000" dirty="0"/>
              <a:t>m</a:t>
            </a:r>
            <a:r>
              <a:rPr lang="en-US" altLang="zh-CN" sz="2800" dirty="0"/>
              <a:t>)</a:t>
            </a:r>
          </a:p>
          <a:p>
            <a:pPr marL="0" indent="0">
              <a:lnSpc>
                <a:spcPct val="150000"/>
              </a:lnSpc>
              <a:buNone/>
              <a:defRPr/>
            </a:pPr>
            <a:r>
              <a:rPr lang="en-US" altLang="zh-CN" sz="2800" dirty="0"/>
              <a:t>An element in Bm will be written as (b</a:t>
            </a:r>
            <a:r>
              <a:rPr lang="en-US" altLang="zh-CN" sz="2800" baseline="-25000" dirty="0"/>
              <a:t>1</a:t>
            </a:r>
            <a:r>
              <a:rPr lang="en-US" altLang="zh-CN" sz="2800" dirty="0"/>
              <a:t>,b</a:t>
            </a:r>
            <a:r>
              <a:rPr lang="en-US" altLang="zh-CN" sz="2800" baseline="-25000" dirty="0"/>
              <a:t>2</a:t>
            </a:r>
            <a:r>
              <a:rPr lang="en-US" altLang="zh-CN" sz="2800" dirty="0"/>
              <a:t>,..., b</a:t>
            </a:r>
            <a:r>
              <a:rPr lang="en-US" altLang="zh-CN" sz="2800" baseline="-25000" dirty="0"/>
              <a:t>m</a:t>
            </a:r>
            <a:r>
              <a:rPr lang="en-US" altLang="zh-CN" sz="2800" dirty="0"/>
              <a:t>) or more simply as b</a:t>
            </a:r>
            <a:r>
              <a:rPr lang="en-US" altLang="zh-CN" sz="2800" baseline="-25000" dirty="0"/>
              <a:t>1</a:t>
            </a:r>
            <a:r>
              <a:rPr lang="en-US" altLang="zh-CN" sz="2800" dirty="0"/>
              <a:t>b</a:t>
            </a:r>
            <a:r>
              <a:rPr lang="en-US" altLang="zh-CN" sz="2800" baseline="-25000" dirty="0"/>
              <a:t>2</a:t>
            </a:r>
            <a:r>
              <a:rPr lang="en-US" altLang="zh-CN" sz="2800" dirty="0"/>
              <a:t>...b</a:t>
            </a:r>
            <a:r>
              <a:rPr lang="en-US" altLang="zh-CN" sz="2800" baseline="-25000" dirty="0"/>
              <a:t>m</a:t>
            </a:r>
            <a:endParaRPr lang="en-US" altLang="zh-CN" sz="2800" dirty="0"/>
          </a:p>
        </p:txBody>
      </p:sp>
      <p:sp>
        <p:nvSpPr>
          <p:cNvPr id="7" name="文本框 6">
            <a:extLst>
              <a:ext uri="{FF2B5EF4-FFF2-40B4-BE49-F238E27FC236}">
                <a16:creationId xmlns:a16="http://schemas.microsoft.com/office/drawing/2014/main" id="{F9B57166-8A09-4B10-B3DA-B8833C5EB708}"/>
              </a:ext>
            </a:extLst>
          </p:cNvPr>
          <p:cNvSpPr txBox="1"/>
          <p:nvPr/>
        </p:nvSpPr>
        <p:spPr>
          <a:xfrm>
            <a:off x="3139168" y="847221"/>
            <a:ext cx="6123214"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Groups</a:t>
            </a:r>
            <a:endParaRPr lang="zh-CN" altLang="en-US" dirty="0"/>
          </a:p>
        </p:txBody>
      </p:sp>
    </p:spTree>
    <p:extLst>
      <p:ext uri="{BB962C8B-B14F-4D97-AF65-F5344CB8AC3E}">
        <p14:creationId xmlns:p14="http://schemas.microsoft.com/office/powerpoint/2010/main" val="40346371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5" name="Rectangle 3">
            <a:extLst>
              <a:ext uri="{FF2B5EF4-FFF2-40B4-BE49-F238E27FC236}">
                <a16:creationId xmlns:a16="http://schemas.microsoft.com/office/drawing/2014/main" id="{4CB945AF-2203-41D2-A09F-DD444BBAC9AA}"/>
              </a:ext>
            </a:extLst>
          </p:cNvPr>
          <p:cNvSpPr txBox="1">
            <a:spLocks noChangeArrowheads="1"/>
          </p:cNvSpPr>
          <p:nvPr/>
        </p:nvSpPr>
        <p:spPr bwMode="auto">
          <a:xfrm>
            <a:off x="331304" y="1711795"/>
            <a:ext cx="11860696" cy="553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4"/>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defRPr/>
            </a:pPr>
            <a:r>
              <a:rPr lang="en-US" altLang="zh-CN" sz="2800" dirty="0"/>
              <a:t>An element x </a:t>
            </a:r>
            <a:r>
              <a:rPr lang="en-US" altLang="zh-CN" sz="2800" dirty="0">
                <a:sym typeface="Symbol" panose="05050102010706020507" pitchFamily="18" charset="2"/>
              </a:rPr>
              <a:t> </a:t>
            </a:r>
            <a:r>
              <a:rPr lang="en-US" altLang="zh-CN" sz="2800" dirty="0"/>
              <a:t>B</a:t>
            </a:r>
            <a:r>
              <a:rPr lang="en-US" altLang="zh-CN" sz="2800" baseline="30000" dirty="0"/>
              <a:t>m</a:t>
            </a:r>
            <a:r>
              <a:rPr lang="en-US" altLang="zh-CN" sz="2800" dirty="0"/>
              <a:t> is sent through the transmission channel and is received as an element x</a:t>
            </a:r>
            <a:r>
              <a:rPr lang="en-US" altLang="zh-CN" sz="2800" baseline="-25000" dirty="0"/>
              <a:t>t</a:t>
            </a:r>
            <a:r>
              <a:rPr lang="en-US" altLang="zh-CN" sz="2800" dirty="0"/>
              <a:t> </a:t>
            </a:r>
            <a:r>
              <a:rPr lang="en-US" altLang="zh-CN" sz="2800" dirty="0">
                <a:sym typeface="Symbol" panose="05050102010706020507" pitchFamily="18" charset="2"/>
              </a:rPr>
              <a:t> </a:t>
            </a:r>
            <a:r>
              <a:rPr lang="en-US" altLang="zh-CN" sz="2800" dirty="0"/>
              <a:t>B</a:t>
            </a:r>
            <a:r>
              <a:rPr lang="en-US" altLang="zh-CN" sz="2800" baseline="30000" dirty="0"/>
              <a:t>m</a:t>
            </a:r>
            <a:r>
              <a:rPr lang="en-US" altLang="zh-CN" sz="2800" dirty="0"/>
              <a:t>. </a:t>
            </a:r>
          </a:p>
          <a:p>
            <a:pPr marL="0" indent="0">
              <a:lnSpc>
                <a:spcPct val="150000"/>
              </a:lnSpc>
              <a:buNone/>
              <a:defRPr/>
            </a:pPr>
            <a:r>
              <a:rPr lang="en-US" altLang="zh-CN" sz="2800" dirty="0">
                <a:solidFill>
                  <a:srgbClr val="FF0000"/>
                </a:solidFill>
              </a:rPr>
              <a:t>Noise(</a:t>
            </a:r>
            <a:r>
              <a:rPr lang="zh-CN" altLang="en-US" sz="2800" dirty="0">
                <a:solidFill>
                  <a:srgbClr val="FF0000"/>
                </a:solidFill>
              </a:rPr>
              <a:t>噪声</a:t>
            </a:r>
            <a:r>
              <a:rPr lang="en-US" altLang="zh-CN" sz="2800" dirty="0">
                <a:solidFill>
                  <a:srgbClr val="FF0000"/>
                </a:solidFill>
              </a:rPr>
              <a:t>) </a:t>
            </a:r>
            <a:r>
              <a:rPr lang="en-US" altLang="zh-CN" sz="2800" dirty="0"/>
              <a:t>in the transmission channel may cause a 0 to be received as a l, or vice versa, lead x </a:t>
            </a:r>
            <a:r>
              <a:rPr lang="en-US" altLang="zh-CN" sz="2800" dirty="0">
                <a:sym typeface="Symbol" panose="05050102010706020507" pitchFamily="18" charset="2"/>
              </a:rPr>
              <a:t> </a:t>
            </a:r>
            <a:r>
              <a:rPr lang="en-US" altLang="zh-CN" sz="2800" dirty="0"/>
              <a:t>x</a:t>
            </a:r>
            <a:r>
              <a:rPr lang="en-US" altLang="zh-CN" sz="2800" baseline="-25000" dirty="0"/>
              <a:t>t</a:t>
            </a:r>
          </a:p>
          <a:p>
            <a:pPr marL="0" indent="0">
              <a:lnSpc>
                <a:spcPct val="150000"/>
              </a:lnSpc>
              <a:buNone/>
              <a:defRPr/>
            </a:pPr>
            <a:endParaRPr lang="en-US" altLang="zh-CN" sz="2800" dirty="0"/>
          </a:p>
        </p:txBody>
      </p:sp>
      <p:pic>
        <p:nvPicPr>
          <p:cNvPr id="3" name="图片 2">
            <a:extLst>
              <a:ext uri="{FF2B5EF4-FFF2-40B4-BE49-F238E27FC236}">
                <a16:creationId xmlns:a16="http://schemas.microsoft.com/office/drawing/2014/main" id="{853D06BC-A06F-4F49-85D8-E063E157B540}"/>
              </a:ext>
            </a:extLst>
          </p:cNvPr>
          <p:cNvPicPr>
            <a:picLocks noChangeAspect="1"/>
          </p:cNvPicPr>
          <p:nvPr/>
        </p:nvPicPr>
        <p:blipFill>
          <a:blip r:embed="rId5"/>
          <a:stretch>
            <a:fillRect/>
          </a:stretch>
        </p:blipFill>
        <p:spPr>
          <a:xfrm>
            <a:off x="2786591" y="4478212"/>
            <a:ext cx="7625986" cy="1747242"/>
          </a:xfrm>
          <a:prstGeom prst="rect">
            <a:avLst/>
          </a:prstGeom>
        </p:spPr>
      </p:pic>
      <p:sp>
        <p:nvSpPr>
          <p:cNvPr id="8" name="文本框 7">
            <a:extLst>
              <a:ext uri="{FF2B5EF4-FFF2-40B4-BE49-F238E27FC236}">
                <a16:creationId xmlns:a16="http://schemas.microsoft.com/office/drawing/2014/main" id="{2061AB8A-129A-419C-B7EB-4C1A09B94A7A}"/>
              </a:ext>
            </a:extLst>
          </p:cNvPr>
          <p:cNvSpPr txBox="1"/>
          <p:nvPr/>
        </p:nvSpPr>
        <p:spPr>
          <a:xfrm>
            <a:off x="-40999" y="871831"/>
            <a:ext cx="12483548" cy="707886"/>
          </a:xfrm>
          <a:prstGeom prst="rect">
            <a:avLst/>
          </a:prstGeom>
          <a:noFill/>
        </p:spPr>
        <p:txBody>
          <a:bodyPr wrap="square">
            <a:spAutoFit/>
          </a:bodyPr>
          <a:lstStyle/>
          <a:p>
            <a:pPr algn="ctr"/>
            <a:r>
              <a:rPr kumimoji="0" lang="en-US" altLang="zh-CN" sz="4000" b="0" i="0" u="none" strike="noStrike" kern="0" cap="none" spc="0" normalizeH="0" baseline="0" noProof="0" dirty="0">
                <a:ln>
                  <a:noFill/>
                </a:ln>
                <a:solidFill>
                  <a:srgbClr val="000000"/>
                </a:solidFill>
                <a:effectLst/>
                <a:uLnTx/>
                <a:uFillTx/>
                <a:latin typeface="Arial"/>
                <a:ea typeface="宋体"/>
                <a:cs typeface="+mj-cs"/>
              </a:rPr>
              <a:t>Transmission channel and Noise - </a:t>
            </a:r>
            <a:r>
              <a:rPr kumimoji="0" lang="zh-CN" altLang="en-US" sz="4000" b="0" i="0" u="none" strike="noStrike" kern="0" cap="none" spc="0" normalizeH="0" baseline="0" noProof="0" dirty="0">
                <a:ln>
                  <a:noFill/>
                </a:ln>
                <a:solidFill>
                  <a:srgbClr val="000000"/>
                </a:solidFill>
                <a:effectLst/>
                <a:uLnTx/>
                <a:uFillTx/>
                <a:latin typeface="Arial"/>
                <a:ea typeface="宋体"/>
                <a:cs typeface="+mj-cs"/>
              </a:rPr>
              <a:t>传输通道和噪音</a:t>
            </a:r>
            <a:endParaRPr lang="zh-CN" altLang="en-US" sz="1600" dirty="0"/>
          </a:p>
        </p:txBody>
      </p:sp>
      <p:sp>
        <p:nvSpPr>
          <p:cNvPr id="7" name="Text Box 5">
            <a:extLst>
              <a:ext uri="{FF2B5EF4-FFF2-40B4-BE49-F238E27FC236}">
                <a16:creationId xmlns:a16="http://schemas.microsoft.com/office/drawing/2014/main" id="{A445D3D5-8A93-4C20-BFF6-5C344A0DFA96}"/>
              </a:ext>
            </a:extLst>
          </p:cNvPr>
          <p:cNvSpPr txBox="1">
            <a:spLocks noChangeArrowheads="1"/>
          </p:cNvSpPr>
          <p:nvPr/>
        </p:nvSpPr>
        <p:spPr bwMode="auto">
          <a:xfrm>
            <a:off x="3789948" y="622545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400" dirty="0">
                <a:latin typeface="Times New Roman" panose="02020603050405020304" pitchFamily="18" charset="0"/>
              </a:rPr>
              <a:t>对</a:t>
            </a:r>
          </a:p>
        </p:txBody>
      </p:sp>
      <p:sp>
        <p:nvSpPr>
          <p:cNvPr id="9" name="Text Box 6">
            <a:extLst>
              <a:ext uri="{FF2B5EF4-FFF2-40B4-BE49-F238E27FC236}">
                <a16:creationId xmlns:a16="http://schemas.microsoft.com/office/drawing/2014/main" id="{DAD3B2B8-B9F1-4422-94FA-9EEBFA29FFC6}"/>
              </a:ext>
            </a:extLst>
          </p:cNvPr>
          <p:cNvSpPr txBox="1">
            <a:spLocks noChangeArrowheads="1"/>
          </p:cNvSpPr>
          <p:nvPr/>
        </p:nvSpPr>
        <p:spPr bwMode="auto">
          <a:xfrm>
            <a:off x="8590548" y="622545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400">
                <a:latin typeface="Times New Roman" panose="02020603050405020304" pitchFamily="18" charset="0"/>
              </a:rPr>
              <a:t>错</a:t>
            </a:r>
          </a:p>
        </p:txBody>
      </p:sp>
      <p:sp>
        <p:nvSpPr>
          <p:cNvPr id="10" name="Text Box 7">
            <a:extLst>
              <a:ext uri="{FF2B5EF4-FFF2-40B4-BE49-F238E27FC236}">
                <a16:creationId xmlns:a16="http://schemas.microsoft.com/office/drawing/2014/main" id="{8F9E0E3B-314E-400A-BEE4-F3A39D9B4281}"/>
              </a:ext>
            </a:extLst>
          </p:cNvPr>
          <p:cNvSpPr txBox="1">
            <a:spLocks noChangeArrowheads="1"/>
          </p:cNvSpPr>
          <p:nvPr/>
        </p:nvSpPr>
        <p:spPr bwMode="auto">
          <a:xfrm>
            <a:off x="8590548" y="622545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400">
                <a:latin typeface="Times New Roman" panose="02020603050405020304" pitchFamily="18" charset="0"/>
              </a:rPr>
              <a:t>对</a:t>
            </a:r>
          </a:p>
        </p:txBody>
      </p:sp>
      <p:grpSp>
        <p:nvGrpSpPr>
          <p:cNvPr id="11" name="Group 8">
            <a:extLst>
              <a:ext uri="{FF2B5EF4-FFF2-40B4-BE49-F238E27FC236}">
                <a16:creationId xmlns:a16="http://schemas.microsoft.com/office/drawing/2014/main" id="{B9495A70-B71C-4457-BBAE-AD04D409BDE9}"/>
              </a:ext>
            </a:extLst>
          </p:cNvPr>
          <p:cNvGrpSpPr>
            <a:grpSpLocks/>
          </p:cNvGrpSpPr>
          <p:nvPr/>
        </p:nvGrpSpPr>
        <p:grpSpPr bwMode="auto">
          <a:xfrm>
            <a:off x="8590548" y="6225454"/>
            <a:ext cx="457200" cy="457200"/>
            <a:chOff x="2064" y="3648"/>
            <a:chExt cx="288" cy="288"/>
          </a:xfrm>
        </p:grpSpPr>
        <p:sp>
          <p:nvSpPr>
            <p:cNvPr id="12" name="Text Box 9">
              <a:extLst>
                <a:ext uri="{FF2B5EF4-FFF2-40B4-BE49-F238E27FC236}">
                  <a16:creationId xmlns:a16="http://schemas.microsoft.com/office/drawing/2014/main" id="{1B8E0ECD-DFF0-4F9D-976E-292118440524}"/>
                </a:ext>
              </a:extLst>
            </p:cNvPr>
            <p:cNvSpPr txBox="1">
              <a:spLocks noChangeArrowheads="1"/>
            </p:cNvSpPr>
            <p:nvPr/>
          </p:nvSpPr>
          <p:spPr bwMode="auto">
            <a:xfrm>
              <a:off x="2064" y="364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400">
                  <a:latin typeface="Times New Roman" panose="02020603050405020304" pitchFamily="18" charset="0"/>
                </a:rPr>
                <a:t>对</a:t>
              </a:r>
            </a:p>
          </p:txBody>
        </p:sp>
        <p:sp>
          <p:nvSpPr>
            <p:cNvPr id="13" name="Text Box 10">
              <a:extLst>
                <a:ext uri="{FF2B5EF4-FFF2-40B4-BE49-F238E27FC236}">
                  <a16:creationId xmlns:a16="http://schemas.microsoft.com/office/drawing/2014/main" id="{A8505F52-97B7-4BD3-9B1F-44EEDE4E84F1}"/>
                </a:ext>
              </a:extLst>
            </p:cNvPr>
            <p:cNvSpPr txBox="1">
              <a:spLocks noChangeArrowheads="1"/>
            </p:cNvSpPr>
            <p:nvPr/>
          </p:nvSpPr>
          <p:spPr bwMode="auto">
            <a:xfrm>
              <a:off x="2064" y="364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400" dirty="0">
                  <a:latin typeface="Times New Roman" panose="02020603050405020304" pitchFamily="18" charset="0"/>
                </a:rPr>
                <a:t>时</a:t>
              </a:r>
            </a:p>
          </p:txBody>
        </p:sp>
      </p:grpSp>
    </p:spTree>
    <p:extLst>
      <p:ext uri="{BB962C8B-B14F-4D97-AF65-F5344CB8AC3E}">
        <p14:creationId xmlns:p14="http://schemas.microsoft.com/office/powerpoint/2010/main" val="22116063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
                                        </p:tgtEl>
                                        <p:attrNameLst>
                                          <p:attrName>style.visibility</p:attrName>
                                        </p:attrNameLst>
                                      </p:cBhvr>
                                      <p:to>
                                        <p:strVal val="hidden"/>
                                      </p:to>
                                    </p:set>
                                    <p:audio>
                                      <p:cMediaNode>
                                        <p:cTn display="0" masterRel="sameClick">
                                          <p:stCondLst>
                                            <p:cond evt="begin" delay="0">
                                              <p:tn val="11"/>
                                            </p:cond>
                                          </p:stCondLst>
                                          <p:endCondLst>
                                            <p:cond evt="onStopAudio" delay="0">
                                              <p:tgtEl>
                                                <p:sldTgt/>
                                              </p:tgtEl>
                                            </p:cond>
                                          </p:endCondLst>
                                        </p:cTn>
                                        <p:tgtEl>
                                          <p:sndTgt r:embed="rId3" name="laser.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9"/>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laser.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0-#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9" grpId="0" autoUpdateAnimBg="0"/>
      <p:bldP spid="10"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7" name="文本框 6">
            <a:extLst>
              <a:ext uri="{FF2B5EF4-FFF2-40B4-BE49-F238E27FC236}">
                <a16:creationId xmlns:a16="http://schemas.microsoft.com/office/drawing/2014/main" id="{F9B57166-8A09-4B10-B3DA-B8833C5EB708}"/>
              </a:ext>
            </a:extLst>
          </p:cNvPr>
          <p:cNvSpPr txBox="1"/>
          <p:nvPr/>
        </p:nvSpPr>
        <p:spPr>
          <a:xfrm>
            <a:off x="567765" y="972198"/>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Encoding function - </a:t>
            </a:r>
            <a:r>
              <a:rPr kumimoji="0" lang="zh-CN" altLang="en-US" sz="4400" b="0" i="0" u="none" strike="noStrike" kern="0" cap="none" spc="0" normalizeH="0" baseline="0" noProof="0" dirty="0">
                <a:ln>
                  <a:noFill/>
                </a:ln>
                <a:solidFill>
                  <a:srgbClr val="000000"/>
                </a:solidFill>
                <a:effectLst/>
                <a:uLnTx/>
                <a:uFillTx/>
                <a:latin typeface="Arial"/>
                <a:ea typeface="宋体"/>
                <a:cs typeface="+mj-cs"/>
              </a:rPr>
              <a:t>编码函数</a:t>
            </a:r>
            <a:endParaRPr lang="zh-CN" altLang="en-US" dirty="0"/>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331304" y="1741639"/>
            <a:ext cx="11860696"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sz="2800" kern="0" dirty="0"/>
              <a:t>Choose: an integer </a:t>
            </a:r>
            <a:r>
              <a:rPr lang="en-US" altLang="zh-CN" sz="2800" i="1" kern="0" dirty="0"/>
              <a:t>n</a:t>
            </a:r>
            <a:r>
              <a:rPr lang="en-US" altLang="zh-CN" sz="2800" kern="0" dirty="0">
                <a:cs typeface="Arial" panose="020B0604020202020204" pitchFamily="34" charset="0"/>
              </a:rPr>
              <a:t>&gt;</a:t>
            </a:r>
            <a:r>
              <a:rPr lang="en-US" altLang="zh-CN" sz="2800" i="1" kern="0" dirty="0"/>
              <a:t>m</a:t>
            </a:r>
            <a:r>
              <a:rPr lang="en-US" altLang="zh-CN" sz="2800" kern="0" dirty="0"/>
              <a:t> and a one-to-one function </a:t>
            </a:r>
            <a:r>
              <a:rPr lang="en-US" altLang="zh-CN" sz="2800" i="1" kern="0" dirty="0"/>
              <a:t>e</a:t>
            </a:r>
            <a:r>
              <a:rPr lang="en-US" altLang="zh-CN" sz="2800" kern="0" dirty="0"/>
              <a:t>: </a:t>
            </a:r>
          </a:p>
          <a:p>
            <a:pPr marL="0" indent="0">
              <a:lnSpc>
                <a:spcPct val="150000"/>
              </a:lnSpc>
              <a:buNone/>
            </a:pPr>
            <a:r>
              <a:rPr lang="en-US" altLang="zh-CN" sz="2800" i="1" kern="0" dirty="0"/>
              <a:t>B</a:t>
            </a:r>
            <a:r>
              <a:rPr lang="en-US" altLang="zh-CN" sz="2800" i="1" kern="0" baseline="30000" dirty="0"/>
              <a:t>m</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B</a:t>
            </a:r>
            <a:r>
              <a:rPr lang="en-US" altLang="zh-CN" sz="2800" i="1" kern="0" baseline="30000" dirty="0"/>
              <a:t>n</a:t>
            </a:r>
            <a:endParaRPr lang="en-US" altLang="zh-CN" sz="2800" kern="0" dirty="0"/>
          </a:p>
          <a:p>
            <a:pPr lvl="1">
              <a:lnSpc>
                <a:spcPct val="140000"/>
              </a:lnSpc>
            </a:pPr>
            <a:r>
              <a:rPr lang="en-US" altLang="zh-CN" i="1" kern="0" dirty="0"/>
              <a:t>e</a:t>
            </a:r>
            <a:r>
              <a:rPr lang="en-US" altLang="zh-CN" kern="0" dirty="0"/>
              <a:t> is called an (</a:t>
            </a:r>
            <a:r>
              <a:rPr lang="en-US" altLang="zh-CN" i="1" kern="0" dirty="0"/>
              <a:t>m, n</a:t>
            </a:r>
            <a:r>
              <a:rPr lang="en-US" altLang="zh-CN" kern="0" dirty="0"/>
              <a:t>) </a:t>
            </a:r>
            <a:r>
              <a:rPr lang="en-US" altLang="zh-CN" kern="0" dirty="0">
                <a:solidFill>
                  <a:srgbClr val="FF0000"/>
                </a:solidFill>
              </a:rPr>
              <a:t>encoding function</a:t>
            </a:r>
            <a:r>
              <a:rPr lang="en-US" altLang="zh-CN" kern="0" dirty="0"/>
              <a:t>, representing every word in </a:t>
            </a:r>
            <a:r>
              <a:rPr lang="en-US" altLang="zh-CN" i="1" kern="0" dirty="0"/>
              <a:t>B</a:t>
            </a:r>
            <a:r>
              <a:rPr lang="en-US" altLang="zh-CN" i="1" kern="0" baseline="30000" dirty="0"/>
              <a:t>m</a:t>
            </a:r>
            <a:r>
              <a:rPr lang="en-US" altLang="zh-CN" kern="0" dirty="0"/>
              <a:t> as a word in </a:t>
            </a:r>
            <a:r>
              <a:rPr lang="en-US" altLang="zh-CN" i="1" kern="0" dirty="0"/>
              <a:t>B</a:t>
            </a:r>
            <a:r>
              <a:rPr lang="en-US" altLang="zh-CN" i="1" kern="0" baseline="30000" dirty="0"/>
              <a:t>n</a:t>
            </a:r>
            <a:r>
              <a:rPr lang="en-US" altLang="zh-CN" kern="0" dirty="0"/>
              <a:t>. </a:t>
            </a:r>
          </a:p>
          <a:p>
            <a:pPr lvl="1">
              <a:lnSpc>
                <a:spcPct val="140000"/>
              </a:lnSpc>
            </a:pPr>
            <a:r>
              <a:rPr lang="en-US" altLang="zh-CN" kern="0" dirty="0"/>
              <a:t>If </a:t>
            </a:r>
            <a:r>
              <a:rPr lang="en-US" altLang="zh-CN" i="1" kern="0" dirty="0"/>
              <a:t>b</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B</a:t>
            </a:r>
            <a:r>
              <a:rPr lang="en-US" altLang="zh-CN" i="1" kern="0" baseline="30000" dirty="0"/>
              <a:t>m</a:t>
            </a:r>
            <a:r>
              <a:rPr lang="en-US" altLang="zh-CN" kern="0" dirty="0"/>
              <a:t>, then </a:t>
            </a:r>
            <a:r>
              <a:rPr lang="en-US" altLang="zh-CN" i="1" kern="0" dirty="0"/>
              <a:t>e</a:t>
            </a:r>
            <a:r>
              <a:rPr lang="en-US" altLang="zh-CN" kern="0" dirty="0"/>
              <a:t>(</a:t>
            </a:r>
            <a:r>
              <a:rPr lang="en-US" altLang="zh-CN" i="1" kern="0" dirty="0"/>
              <a:t>b</a:t>
            </a:r>
            <a:r>
              <a:rPr lang="en-US" altLang="zh-CN" kern="0" dirty="0"/>
              <a:t>) is called the </a:t>
            </a:r>
            <a:r>
              <a:rPr lang="en-US" altLang="zh-CN" kern="0" dirty="0">
                <a:solidFill>
                  <a:srgbClr val="FF0000"/>
                </a:solidFill>
              </a:rPr>
              <a:t>code word(</a:t>
            </a:r>
            <a:r>
              <a:rPr lang="zh-CN" altLang="en-US" kern="0" dirty="0">
                <a:solidFill>
                  <a:srgbClr val="FF0000"/>
                </a:solidFill>
              </a:rPr>
              <a:t>码字</a:t>
            </a:r>
            <a:r>
              <a:rPr lang="en-US" altLang="zh-CN" kern="0" dirty="0">
                <a:solidFill>
                  <a:srgbClr val="FF0000"/>
                </a:solidFill>
              </a:rPr>
              <a:t>) </a:t>
            </a:r>
            <a:r>
              <a:rPr lang="en-US" altLang="zh-CN" kern="0" dirty="0"/>
              <a:t>representing </a:t>
            </a:r>
            <a:r>
              <a:rPr lang="en-US" altLang="zh-CN" i="1" kern="0" dirty="0"/>
              <a:t>b</a:t>
            </a:r>
            <a:r>
              <a:rPr lang="en-US" altLang="zh-CN" kern="0" dirty="0"/>
              <a:t>.</a:t>
            </a:r>
          </a:p>
        </p:txBody>
      </p:sp>
      <p:pic>
        <p:nvPicPr>
          <p:cNvPr id="2" name="图片 1">
            <a:extLst>
              <a:ext uri="{FF2B5EF4-FFF2-40B4-BE49-F238E27FC236}">
                <a16:creationId xmlns:a16="http://schemas.microsoft.com/office/drawing/2014/main" id="{16960965-7488-4AF6-BB4A-A52003D03F57}"/>
              </a:ext>
            </a:extLst>
          </p:cNvPr>
          <p:cNvPicPr>
            <a:picLocks noChangeAspect="1"/>
          </p:cNvPicPr>
          <p:nvPr/>
        </p:nvPicPr>
        <p:blipFill>
          <a:blip r:embed="rId3"/>
          <a:stretch>
            <a:fillRect/>
          </a:stretch>
        </p:blipFill>
        <p:spPr>
          <a:xfrm>
            <a:off x="886653" y="5299292"/>
            <a:ext cx="10628244" cy="1558708"/>
          </a:xfrm>
          <a:prstGeom prst="rect">
            <a:avLst/>
          </a:prstGeom>
        </p:spPr>
      </p:pic>
    </p:spTree>
    <p:extLst>
      <p:ext uri="{BB962C8B-B14F-4D97-AF65-F5344CB8AC3E}">
        <p14:creationId xmlns:p14="http://schemas.microsoft.com/office/powerpoint/2010/main" val="329892359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7" name="文本框 6">
            <a:extLst>
              <a:ext uri="{FF2B5EF4-FFF2-40B4-BE49-F238E27FC236}">
                <a16:creationId xmlns:a16="http://schemas.microsoft.com/office/drawing/2014/main" id="{F9B57166-8A09-4B10-B3DA-B8833C5EB708}"/>
              </a:ext>
            </a:extLst>
          </p:cNvPr>
          <p:cNvSpPr txBox="1"/>
          <p:nvPr/>
        </p:nvSpPr>
        <p:spPr>
          <a:xfrm>
            <a:off x="567765" y="972198"/>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Encoding function - </a:t>
            </a:r>
            <a:r>
              <a:rPr kumimoji="0" lang="zh-CN" altLang="en-US" sz="4400" b="0" i="0" u="none" strike="noStrike" kern="0" cap="none" spc="0" normalizeH="0" baseline="0" noProof="0" dirty="0">
                <a:ln>
                  <a:noFill/>
                </a:ln>
                <a:solidFill>
                  <a:srgbClr val="000000"/>
                </a:solidFill>
                <a:effectLst/>
                <a:uLnTx/>
                <a:uFillTx/>
                <a:latin typeface="Arial"/>
                <a:ea typeface="宋体"/>
                <a:cs typeface="+mj-cs"/>
              </a:rPr>
              <a:t>编码函数</a:t>
            </a:r>
            <a:endParaRPr lang="zh-CN" altLang="en-US" dirty="0"/>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pic>
        <p:nvPicPr>
          <p:cNvPr id="2" name="图片 1">
            <a:extLst>
              <a:ext uri="{FF2B5EF4-FFF2-40B4-BE49-F238E27FC236}">
                <a16:creationId xmlns:a16="http://schemas.microsoft.com/office/drawing/2014/main" id="{16960965-7488-4AF6-BB4A-A52003D03F57}"/>
              </a:ext>
            </a:extLst>
          </p:cNvPr>
          <p:cNvPicPr>
            <a:picLocks noChangeAspect="1"/>
          </p:cNvPicPr>
          <p:nvPr/>
        </p:nvPicPr>
        <p:blipFill>
          <a:blip r:embed="rId3"/>
          <a:stretch>
            <a:fillRect/>
          </a:stretch>
        </p:blipFill>
        <p:spPr>
          <a:xfrm>
            <a:off x="781878" y="5106448"/>
            <a:ext cx="10628244" cy="1558708"/>
          </a:xfrm>
          <a:prstGeom prst="rect">
            <a:avLst/>
          </a:prstGeom>
        </p:spPr>
      </p:pic>
      <p:sp>
        <p:nvSpPr>
          <p:cNvPr id="8" name="Rectangle 3">
            <a:extLst>
              <a:ext uri="{FF2B5EF4-FFF2-40B4-BE49-F238E27FC236}">
                <a16:creationId xmlns:a16="http://schemas.microsoft.com/office/drawing/2014/main" id="{819FA531-8DA4-4B2A-B68A-11A058B35330}"/>
              </a:ext>
            </a:extLst>
          </p:cNvPr>
          <p:cNvSpPr txBox="1">
            <a:spLocks noChangeArrowheads="1"/>
          </p:cNvSpPr>
          <p:nvPr/>
        </p:nvSpPr>
        <p:spPr>
          <a:xfrm>
            <a:off x="457199" y="1600200"/>
            <a:ext cx="11056469"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kern="0" dirty="0"/>
              <a:t>If the transmission channel is noiseless, then </a:t>
            </a:r>
            <a:r>
              <a:rPr lang="en-US" altLang="zh-CN" i="1" kern="0" dirty="0"/>
              <a:t>x</a:t>
            </a:r>
            <a:r>
              <a:rPr lang="en-US" altLang="zh-CN" i="1" kern="0" baseline="-25000" dirty="0"/>
              <a:t>t</a:t>
            </a:r>
            <a:r>
              <a:rPr lang="en-US" altLang="zh-CN" kern="0" dirty="0"/>
              <a:t> = </a:t>
            </a:r>
            <a:r>
              <a:rPr lang="en-US" altLang="zh-CN" i="1" kern="0" dirty="0"/>
              <a:t>x</a:t>
            </a:r>
            <a:r>
              <a:rPr lang="en-US" altLang="zh-CN" kern="0" dirty="0"/>
              <a:t> for all </a:t>
            </a:r>
            <a:r>
              <a:rPr lang="en-US" altLang="zh-CN" i="1" kern="0" dirty="0"/>
              <a:t>x</a:t>
            </a:r>
            <a:r>
              <a:rPr lang="en-US" altLang="zh-CN" kern="0" dirty="0"/>
              <a:t> in </a:t>
            </a:r>
            <a:r>
              <a:rPr lang="en-US" altLang="zh-CN" i="1" kern="0" dirty="0"/>
              <a:t>B</a:t>
            </a:r>
            <a:r>
              <a:rPr lang="en-US" altLang="zh-CN" i="1" kern="0" baseline="30000" dirty="0"/>
              <a:t>n</a:t>
            </a:r>
            <a:r>
              <a:rPr lang="en-US" altLang="zh-CN" kern="0" dirty="0"/>
              <a:t>.</a:t>
            </a:r>
          </a:p>
          <a:p>
            <a:pPr marL="0" indent="0">
              <a:lnSpc>
                <a:spcPct val="150000"/>
              </a:lnSpc>
              <a:buNone/>
            </a:pPr>
            <a:r>
              <a:rPr lang="en-US" altLang="zh-CN" kern="0" dirty="0"/>
              <a:t>In this case </a:t>
            </a:r>
            <a:r>
              <a:rPr lang="en-US" altLang="zh-CN" i="1" kern="0" dirty="0"/>
              <a:t>x</a:t>
            </a:r>
            <a:r>
              <a:rPr lang="en-US" altLang="zh-CN" kern="0" dirty="0"/>
              <a:t> = </a:t>
            </a:r>
            <a:r>
              <a:rPr lang="en-US" altLang="zh-CN" i="1" kern="0" dirty="0"/>
              <a:t>e</a:t>
            </a:r>
            <a:r>
              <a:rPr lang="en-US" altLang="zh-CN" kern="0" dirty="0"/>
              <a:t>(</a:t>
            </a:r>
            <a:r>
              <a:rPr lang="en-US" altLang="zh-CN" i="1" kern="0" dirty="0"/>
              <a:t>b</a:t>
            </a:r>
            <a:r>
              <a:rPr lang="en-US" altLang="zh-CN" kern="0" dirty="0"/>
              <a:t>) is received for each </a:t>
            </a:r>
            <a:r>
              <a:rPr lang="en-US" altLang="zh-CN" i="1" kern="0" dirty="0"/>
              <a:t>b</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B</a:t>
            </a:r>
            <a:r>
              <a:rPr lang="en-US" altLang="zh-CN" i="1" kern="0" baseline="30000" dirty="0"/>
              <a:t>m</a:t>
            </a:r>
            <a:r>
              <a:rPr lang="en-US" altLang="zh-CN" kern="0" dirty="0"/>
              <a:t>, and since </a:t>
            </a:r>
            <a:r>
              <a:rPr lang="en-US" altLang="zh-CN" i="1" kern="0" dirty="0"/>
              <a:t>e</a:t>
            </a:r>
            <a:r>
              <a:rPr lang="en-US" altLang="zh-CN" kern="0" dirty="0"/>
              <a:t> is a known function, </a:t>
            </a:r>
            <a:r>
              <a:rPr lang="en-US" altLang="zh-CN" i="1" kern="0" dirty="0"/>
              <a:t>b</a:t>
            </a:r>
            <a:r>
              <a:rPr lang="en-US" altLang="zh-CN" kern="0" dirty="0"/>
              <a:t> may be identified.</a:t>
            </a:r>
          </a:p>
        </p:txBody>
      </p:sp>
    </p:spTree>
    <p:extLst>
      <p:ext uri="{BB962C8B-B14F-4D97-AF65-F5344CB8AC3E}">
        <p14:creationId xmlns:p14="http://schemas.microsoft.com/office/powerpoint/2010/main" val="218130184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7" name="文本框 6">
            <a:extLst>
              <a:ext uri="{FF2B5EF4-FFF2-40B4-BE49-F238E27FC236}">
                <a16:creationId xmlns:a16="http://schemas.microsoft.com/office/drawing/2014/main" id="{F9B57166-8A09-4B10-B3DA-B8833C5EB708}"/>
              </a:ext>
            </a:extLst>
          </p:cNvPr>
          <p:cNvSpPr txBox="1"/>
          <p:nvPr/>
        </p:nvSpPr>
        <p:spPr>
          <a:xfrm>
            <a:off x="567765" y="972198"/>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Encoding function - </a:t>
            </a:r>
            <a:r>
              <a:rPr kumimoji="0" lang="zh-CN" altLang="en-US" sz="4400" b="0" i="0" u="none" strike="noStrike" kern="0" cap="none" spc="0" normalizeH="0" baseline="0" noProof="0" dirty="0">
                <a:ln>
                  <a:noFill/>
                </a:ln>
                <a:solidFill>
                  <a:srgbClr val="000000"/>
                </a:solidFill>
                <a:effectLst/>
                <a:uLnTx/>
                <a:uFillTx/>
                <a:latin typeface="Arial"/>
                <a:ea typeface="宋体"/>
                <a:cs typeface="+mj-cs"/>
              </a:rPr>
              <a:t>编码函数</a:t>
            </a:r>
            <a:endParaRPr lang="zh-CN" altLang="en-US" dirty="0"/>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pic>
        <p:nvPicPr>
          <p:cNvPr id="2" name="图片 1">
            <a:extLst>
              <a:ext uri="{FF2B5EF4-FFF2-40B4-BE49-F238E27FC236}">
                <a16:creationId xmlns:a16="http://schemas.microsoft.com/office/drawing/2014/main" id="{16960965-7488-4AF6-BB4A-A52003D03F57}"/>
              </a:ext>
            </a:extLst>
          </p:cNvPr>
          <p:cNvPicPr>
            <a:picLocks noChangeAspect="1"/>
          </p:cNvPicPr>
          <p:nvPr/>
        </p:nvPicPr>
        <p:blipFill>
          <a:blip r:embed="rId3"/>
          <a:stretch>
            <a:fillRect/>
          </a:stretch>
        </p:blipFill>
        <p:spPr>
          <a:xfrm>
            <a:off x="781878" y="5106448"/>
            <a:ext cx="10628244" cy="1558708"/>
          </a:xfrm>
          <a:prstGeom prst="rect">
            <a:avLst/>
          </a:prstGeom>
        </p:spPr>
      </p:pic>
      <p:sp>
        <p:nvSpPr>
          <p:cNvPr id="9" name="Rectangle 3">
            <a:extLst>
              <a:ext uri="{FF2B5EF4-FFF2-40B4-BE49-F238E27FC236}">
                <a16:creationId xmlns:a16="http://schemas.microsoft.com/office/drawing/2014/main" id="{556FD1D9-54E7-4760-B74A-D7A6E9F68935}"/>
              </a:ext>
            </a:extLst>
          </p:cNvPr>
          <p:cNvSpPr txBox="1">
            <a:spLocks noChangeArrowheads="1"/>
          </p:cNvSpPr>
          <p:nvPr/>
        </p:nvSpPr>
        <p:spPr>
          <a:xfrm>
            <a:off x="474601" y="1841581"/>
            <a:ext cx="11149634"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kern="0" dirty="0"/>
              <a:t>In general, errors in transmission do occur.</a:t>
            </a:r>
          </a:p>
          <a:p>
            <a:pPr marL="0" indent="0">
              <a:lnSpc>
                <a:spcPct val="150000"/>
              </a:lnSpc>
              <a:buNone/>
            </a:pPr>
            <a:r>
              <a:rPr lang="en-US" altLang="zh-CN" kern="0" dirty="0"/>
              <a:t>We will say that the code word </a:t>
            </a:r>
            <a:r>
              <a:rPr lang="en-US" altLang="zh-CN" i="1" kern="0" dirty="0"/>
              <a:t>x</a:t>
            </a:r>
            <a:r>
              <a:rPr lang="en-US" altLang="zh-CN" kern="0" dirty="0"/>
              <a:t> = </a:t>
            </a:r>
            <a:r>
              <a:rPr lang="en-US" altLang="zh-CN" i="1" kern="0" dirty="0"/>
              <a:t>e</a:t>
            </a:r>
            <a:r>
              <a:rPr lang="en-US" altLang="zh-CN" kern="0" dirty="0"/>
              <a:t>(</a:t>
            </a:r>
            <a:r>
              <a:rPr lang="en-US" altLang="zh-CN" i="1" kern="0" dirty="0"/>
              <a:t>b</a:t>
            </a:r>
            <a:r>
              <a:rPr lang="en-US" altLang="zh-CN" kern="0" dirty="0"/>
              <a:t>) has been transmitted with </a:t>
            </a:r>
            <a:r>
              <a:rPr lang="en-US" altLang="zh-CN" kern="0" dirty="0">
                <a:solidFill>
                  <a:srgbClr val="FF0000"/>
                </a:solidFill>
              </a:rPr>
              <a:t>k or fewer errors(k </a:t>
            </a:r>
            <a:r>
              <a:rPr lang="zh-CN" altLang="en-US" kern="0" dirty="0">
                <a:solidFill>
                  <a:srgbClr val="FF0000"/>
                </a:solidFill>
              </a:rPr>
              <a:t>或更少的错误</a:t>
            </a:r>
            <a:r>
              <a:rPr lang="en-US" altLang="zh-CN" kern="0" dirty="0">
                <a:solidFill>
                  <a:srgbClr val="FF0000"/>
                </a:solidFill>
              </a:rPr>
              <a:t>) </a:t>
            </a:r>
            <a:r>
              <a:rPr lang="en-US" altLang="zh-CN" kern="0" dirty="0"/>
              <a:t>if </a:t>
            </a:r>
            <a:r>
              <a:rPr lang="en-US" altLang="zh-CN" i="1" kern="0" dirty="0"/>
              <a:t>x</a:t>
            </a:r>
            <a:r>
              <a:rPr lang="en-US" altLang="zh-CN" kern="0" dirty="0"/>
              <a:t> and </a:t>
            </a:r>
            <a:r>
              <a:rPr lang="en-US" altLang="zh-CN" i="1" kern="0" dirty="0"/>
              <a:t>x</a:t>
            </a:r>
            <a:r>
              <a:rPr lang="en-US" altLang="zh-CN" i="1" kern="0" baseline="-25000" dirty="0"/>
              <a:t>t</a:t>
            </a:r>
            <a:r>
              <a:rPr lang="en-US" altLang="zh-CN" kern="0" dirty="0"/>
              <a:t> differ in at least 1 but no more than </a:t>
            </a:r>
            <a:r>
              <a:rPr lang="en-US" altLang="zh-CN" i="1" kern="0" dirty="0"/>
              <a:t>k</a:t>
            </a:r>
            <a:r>
              <a:rPr lang="en-US" altLang="zh-CN" kern="0" dirty="0"/>
              <a:t> positions.</a:t>
            </a:r>
          </a:p>
        </p:txBody>
      </p:sp>
    </p:spTree>
    <p:extLst>
      <p:ext uri="{BB962C8B-B14F-4D97-AF65-F5344CB8AC3E}">
        <p14:creationId xmlns:p14="http://schemas.microsoft.com/office/powerpoint/2010/main" val="56145750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7" name="文本框 6">
            <a:extLst>
              <a:ext uri="{FF2B5EF4-FFF2-40B4-BE49-F238E27FC236}">
                <a16:creationId xmlns:a16="http://schemas.microsoft.com/office/drawing/2014/main" id="{F9B57166-8A09-4B10-B3DA-B8833C5EB708}"/>
              </a:ext>
            </a:extLst>
          </p:cNvPr>
          <p:cNvSpPr txBox="1"/>
          <p:nvPr/>
        </p:nvSpPr>
        <p:spPr>
          <a:xfrm>
            <a:off x="567765" y="972198"/>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Error detect - </a:t>
            </a:r>
            <a:r>
              <a:rPr kumimoji="0" lang="zh-CN" altLang="en-US" sz="4400" b="0" i="0" u="none" strike="noStrike" kern="0" cap="none" spc="0" normalizeH="0" baseline="0" noProof="0" dirty="0">
                <a:ln>
                  <a:noFill/>
                </a:ln>
                <a:solidFill>
                  <a:srgbClr val="000000"/>
                </a:solidFill>
                <a:effectLst/>
                <a:uLnTx/>
                <a:uFillTx/>
                <a:latin typeface="Arial"/>
                <a:ea typeface="宋体"/>
                <a:cs typeface="+mj-cs"/>
              </a:rPr>
              <a:t>差错检测</a:t>
            </a:r>
            <a:endParaRPr lang="zh-CN" altLang="en-US" dirty="0"/>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sp>
        <p:nvSpPr>
          <p:cNvPr id="10" name="Rectangle 3">
            <a:extLst>
              <a:ext uri="{FF2B5EF4-FFF2-40B4-BE49-F238E27FC236}">
                <a16:creationId xmlns:a16="http://schemas.microsoft.com/office/drawing/2014/main" id="{03B3BF38-4657-44DD-95FF-94159A54F38E}"/>
              </a:ext>
            </a:extLst>
          </p:cNvPr>
          <p:cNvSpPr txBox="1">
            <a:spLocks noChangeArrowheads="1"/>
          </p:cNvSpPr>
          <p:nvPr/>
        </p:nvSpPr>
        <p:spPr>
          <a:xfrm>
            <a:off x="457199" y="1600200"/>
            <a:ext cx="11359184"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sz="2800" kern="0" dirty="0"/>
              <a:t>Let </a:t>
            </a:r>
            <a:r>
              <a:rPr lang="en-US" altLang="zh-CN" sz="2800" i="1" kern="0" dirty="0"/>
              <a:t>e</a:t>
            </a:r>
            <a:r>
              <a:rPr lang="en-US" altLang="zh-CN" sz="2800" kern="0" dirty="0"/>
              <a:t>: </a:t>
            </a:r>
            <a:r>
              <a:rPr lang="en-US" altLang="zh-CN" sz="2800" i="1" kern="0" dirty="0"/>
              <a:t>B</a:t>
            </a:r>
            <a:r>
              <a:rPr lang="en-US" altLang="zh-CN" sz="2800" i="1" kern="0" baseline="30000" dirty="0"/>
              <a:t>m</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B</a:t>
            </a:r>
            <a:r>
              <a:rPr lang="en-US" altLang="zh-CN" sz="2800" i="1" kern="0" baseline="30000" dirty="0"/>
              <a:t>n</a:t>
            </a:r>
            <a:r>
              <a:rPr lang="en-US" altLang="zh-CN" sz="2800" kern="0" dirty="0"/>
              <a:t> be an (</a:t>
            </a:r>
            <a:r>
              <a:rPr lang="en-US" altLang="zh-CN" sz="2800" i="1" kern="0" dirty="0"/>
              <a:t>m, n</a:t>
            </a:r>
            <a:r>
              <a:rPr lang="en-US" altLang="zh-CN" sz="2800" kern="0" dirty="0"/>
              <a:t>) encoding function. </a:t>
            </a:r>
          </a:p>
          <a:p>
            <a:pPr marL="0" indent="0">
              <a:lnSpc>
                <a:spcPct val="150000"/>
              </a:lnSpc>
              <a:buNone/>
            </a:pPr>
            <a:r>
              <a:rPr lang="en-US" altLang="zh-CN" sz="2800" i="1" kern="0" dirty="0"/>
              <a:t>e</a:t>
            </a:r>
            <a:r>
              <a:rPr lang="en-US" altLang="zh-CN" sz="2800" kern="0" dirty="0"/>
              <a:t> </a:t>
            </a:r>
            <a:r>
              <a:rPr lang="en-US" altLang="zh-CN" sz="2800" kern="0" dirty="0">
                <a:solidFill>
                  <a:srgbClr val="FF0000"/>
                </a:solidFill>
              </a:rPr>
              <a:t>detects k or fewer errors(</a:t>
            </a:r>
            <a:r>
              <a:rPr lang="zh-CN" altLang="en-US" sz="2800" kern="0" dirty="0">
                <a:solidFill>
                  <a:srgbClr val="FF0000"/>
                </a:solidFill>
              </a:rPr>
              <a:t>检测 </a:t>
            </a:r>
            <a:r>
              <a:rPr lang="en-US" altLang="zh-CN" sz="2800" kern="0" dirty="0">
                <a:solidFill>
                  <a:srgbClr val="FF0000"/>
                </a:solidFill>
              </a:rPr>
              <a:t>k </a:t>
            </a:r>
            <a:r>
              <a:rPr lang="zh-CN" altLang="en-US" sz="2800" kern="0" dirty="0">
                <a:solidFill>
                  <a:srgbClr val="FF0000"/>
                </a:solidFill>
              </a:rPr>
              <a:t>或更少的错误</a:t>
            </a:r>
            <a:r>
              <a:rPr lang="en-US" altLang="zh-CN" sz="2800" kern="0" dirty="0">
                <a:solidFill>
                  <a:srgbClr val="FF0000"/>
                </a:solidFill>
              </a:rPr>
              <a:t>) </a:t>
            </a:r>
            <a:r>
              <a:rPr lang="en-US" altLang="zh-CN" sz="2800" kern="0" dirty="0"/>
              <a:t>if whenever </a:t>
            </a:r>
            <a:r>
              <a:rPr lang="en-US" altLang="zh-CN" sz="2800" i="1" kern="0" dirty="0"/>
              <a:t>x</a:t>
            </a:r>
            <a:r>
              <a:rPr lang="en-US" altLang="zh-CN" sz="2800" kern="0" dirty="0"/>
              <a:t> = </a:t>
            </a:r>
            <a:r>
              <a:rPr lang="en-US" altLang="zh-CN" sz="2800" i="1" kern="0" dirty="0"/>
              <a:t>e</a:t>
            </a:r>
            <a:r>
              <a:rPr lang="en-US" altLang="zh-CN" sz="2800" kern="0" dirty="0"/>
              <a:t>(</a:t>
            </a:r>
            <a:r>
              <a:rPr lang="en-US" altLang="zh-CN" sz="2800" i="1" kern="0" dirty="0"/>
              <a:t>b</a:t>
            </a:r>
            <a:r>
              <a:rPr lang="en-US" altLang="zh-CN" sz="2800" kern="0" dirty="0"/>
              <a:t>) is transmitted with </a:t>
            </a:r>
            <a:r>
              <a:rPr lang="en-US" altLang="zh-CN" sz="2800" i="1" kern="0" dirty="0"/>
              <a:t>k</a:t>
            </a:r>
            <a:r>
              <a:rPr lang="en-US" altLang="zh-CN" sz="2800" kern="0" dirty="0"/>
              <a:t> or fewer errors, then </a:t>
            </a:r>
            <a:r>
              <a:rPr lang="en-US" altLang="zh-CN" sz="2800" i="1" kern="0" dirty="0"/>
              <a:t>x</a:t>
            </a:r>
            <a:r>
              <a:rPr lang="en-US" altLang="zh-CN" sz="2800" i="1" kern="0" baseline="-25000" dirty="0"/>
              <a:t>t</a:t>
            </a:r>
            <a:r>
              <a:rPr lang="en-US" altLang="zh-CN" sz="2800" i="1" kern="0" dirty="0"/>
              <a:t> </a:t>
            </a:r>
            <a:r>
              <a:rPr lang="en-US" altLang="zh-CN" sz="2800" kern="0" dirty="0"/>
              <a:t>is not a code word (thus </a:t>
            </a:r>
            <a:r>
              <a:rPr lang="en-US" altLang="zh-CN" sz="2800" i="1" kern="0" dirty="0"/>
              <a:t>x</a:t>
            </a:r>
            <a:r>
              <a:rPr lang="en-US" altLang="zh-CN" sz="2800" i="1" kern="0" baseline="-25000" dirty="0"/>
              <a:t>t</a:t>
            </a:r>
            <a:r>
              <a:rPr lang="en-US" altLang="zh-CN" sz="2800" kern="0" dirty="0"/>
              <a:t> could not be </a:t>
            </a:r>
            <a:r>
              <a:rPr lang="en-US" altLang="zh-CN" sz="2800" i="1" kern="0" dirty="0"/>
              <a:t>x</a:t>
            </a:r>
            <a:r>
              <a:rPr lang="en-US" altLang="zh-CN" sz="2800" kern="0" dirty="0"/>
              <a:t> and therefore could not have been correctly transmitted).</a:t>
            </a:r>
          </a:p>
          <a:p>
            <a:pPr marL="0" indent="0">
              <a:lnSpc>
                <a:spcPct val="150000"/>
              </a:lnSpc>
              <a:buNone/>
            </a:pPr>
            <a:r>
              <a:rPr lang="en-US" altLang="zh-CN" sz="2800" kern="0" dirty="0"/>
              <a:t>For </a:t>
            </a:r>
            <a:r>
              <a:rPr lang="en-US" altLang="zh-CN" sz="2800" i="1" kern="0" dirty="0"/>
              <a:t>b</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B</a:t>
            </a:r>
            <a:r>
              <a:rPr lang="en-US" altLang="zh-CN" sz="2800" i="1" kern="0" baseline="30000" dirty="0"/>
              <a:t>n</a:t>
            </a:r>
            <a:r>
              <a:rPr lang="en-US" altLang="zh-CN" sz="2800" kern="0" dirty="0"/>
              <a:t>, the number of 1‘s in </a:t>
            </a:r>
            <a:r>
              <a:rPr lang="en-US" altLang="zh-CN" sz="2800" i="1" kern="0" dirty="0"/>
              <a:t>x</a:t>
            </a:r>
            <a:r>
              <a:rPr lang="en-US" altLang="zh-CN" sz="2800" kern="0" dirty="0"/>
              <a:t> is called the </a:t>
            </a:r>
            <a:r>
              <a:rPr lang="en-US" altLang="zh-CN" sz="2800" kern="0" dirty="0">
                <a:solidFill>
                  <a:srgbClr val="FF0000"/>
                </a:solidFill>
              </a:rPr>
              <a:t>weight(</a:t>
            </a:r>
            <a:r>
              <a:rPr lang="zh-CN" altLang="en-US" sz="2800" kern="0" dirty="0">
                <a:solidFill>
                  <a:srgbClr val="FF0000"/>
                </a:solidFill>
              </a:rPr>
              <a:t>权</a:t>
            </a:r>
            <a:r>
              <a:rPr lang="en-US" altLang="zh-CN" sz="2800" kern="0" dirty="0">
                <a:solidFill>
                  <a:srgbClr val="FF0000"/>
                </a:solidFill>
              </a:rPr>
              <a:t>)</a:t>
            </a:r>
            <a:r>
              <a:rPr lang="en-US" altLang="zh-CN" sz="2800" kern="0" dirty="0">
                <a:solidFill>
                  <a:schemeClr val="hlink"/>
                </a:solidFill>
              </a:rPr>
              <a:t> </a:t>
            </a:r>
            <a:r>
              <a:rPr lang="en-US" altLang="zh-CN" sz="2800" kern="0" dirty="0"/>
              <a:t>of </a:t>
            </a:r>
            <a:r>
              <a:rPr lang="en-US" altLang="zh-CN" sz="2800" i="1" kern="0" dirty="0"/>
              <a:t>x</a:t>
            </a:r>
            <a:r>
              <a:rPr lang="en-US" altLang="zh-CN" sz="2800" kern="0" dirty="0"/>
              <a:t> and is denoted by |</a:t>
            </a:r>
            <a:r>
              <a:rPr lang="en-US" altLang="zh-CN" sz="2800" i="1" kern="0" dirty="0"/>
              <a:t>x</a:t>
            </a:r>
            <a:r>
              <a:rPr lang="en-US" altLang="zh-CN" sz="2800" kern="0" dirty="0"/>
              <a:t>|.</a:t>
            </a:r>
          </a:p>
        </p:txBody>
      </p:sp>
    </p:spTree>
    <p:extLst>
      <p:ext uri="{BB962C8B-B14F-4D97-AF65-F5344CB8AC3E}">
        <p14:creationId xmlns:p14="http://schemas.microsoft.com/office/powerpoint/2010/main" val="130901277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sp>
        <p:nvSpPr>
          <p:cNvPr id="10" name="Rectangle 3">
            <a:extLst>
              <a:ext uri="{FF2B5EF4-FFF2-40B4-BE49-F238E27FC236}">
                <a16:creationId xmlns:a16="http://schemas.microsoft.com/office/drawing/2014/main" id="{03B3BF38-4657-44DD-95FF-94159A54F38E}"/>
              </a:ext>
            </a:extLst>
          </p:cNvPr>
          <p:cNvSpPr txBox="1">
            <a:spLocks noChangeArrowheads="1"/>
          </p:cNvSpPr>
          <p:nvPr/>
        </p:nvSpPr>
        <p:spPr>
          <a:xfrm>
            <a:off x="210046" y="1285287"/>
            <a:ext cx="11359184"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a:t>
            </a:r>
          </a:p>
          <a:p>
            <a:pPr lvl="1">
              <a:lnSpc>
                <a:spcPct val="150000"/>
              </a:lnSpc>
              <a:buClr>
                <a:schemeClr val="tx1"/>
              </a:buClr>
              <a:buFont typeface="Wingdings" panose="05000000000000000000" pitchFamily="2" charset="2"/>
              <a:buChar char="l"/>
            </a:pPr>
            <a:r>
              <a:rPr lang="en-US" altLang="zh-CN" sz="2400" dirty="0"/>
              <a:t>Find the weight of each of the following words in B5.</a:t>
            </a:r>
          </a:p>
          <a:p>
            <a:pPr marL="0" indent="0">
              <a:lnSpc>
                <a:spcPct val="150000"/>
              </a:lnSpc>
              <a:buNone/>
            </a:pPr>
            <a:r>
              <a:rPr lang="en-US" altLang="zh-CN" sz="2800" dirty="0"/>
              <a:t>	</a:t>
            </a:r>
            <a:r>
              <a:rPr lang="en-US" altLang="zh-CN" sz="2400" dirty="0"/>
              <a:t>1.x=01000; 	2.x=11100; 	3.x=00000;	4. x=11111</a:t>
            </a:r>
            <a:endParaRPr lang="en-US" altLang="zh-CN" sz="2800" dirty="0"/>
          </a:p>
          <a:p>
            <a:pPr>
              <a:lnSpc>
                <a:spcPct val="150000"/>
              </a:lnSpc>
              <a:buFont typeface="Wingdings" panose="05000000000000000000" pitchFamily="2" charset="2"/>
              <a:buChar char="l"/>
            </a:pPr>
            <a:r>
              <a:rPr lang="en-US" altLang="zh-CN" sz="2800" dirty="0"/>
              <a:t>Solution: 		</a:t>
            </a:r>
          </a:p>
          <a:p>
            <a:pPr marL="0" indent="0">
              <a:lnSpc>
                <a:spcPct val="150000"/>
              </a:lnSpc>
              <a:buNone/>
            </a:pPr>
            <a:r>
              <a:rPr lang="en-US" altLang="zh-CN" sz="2800" dirty="0"/>
              <a:t>	</a:t>
            </a:r>
            <a:r>
              <a:rPr lang="en-US" altLang="zh-CN" sz="2400" dirty="0"/>
              <a:t>1. |x|=1; 	2. |x|=3;	3.|x|=0;	4.|x|=5</a:t>
            </a:r>
          </a:p>
          <a:p>
            <a:pPr marL="0" indent="0">
              <a:lnSpc>
                <a:spcPct val="150000"/>
              </a:lnSpc>
              <a:buNone/>
            </a:pPr>
            <a:endParaRPr lang="en-US" altLang="zh-CN" sz="2800" dirty="0"/>
          </a:p>
          <a:p>
            <a:pPr marL="0" indent="0">
              <a:lnSpc>
                <a:spcPct val="150000"/>
              </a:lnSpc>
              <a:buNone/>
            </a:pPr>
            <a:endParaRPr lang="en-US" altLang="zh-CN" sz="2800" dirty="0"/>
          </a:p>
          <a:p>
            <a:pPr marL="0" indent="0">
              <a:lnSpc>
                <a:spcPct val="150000"/>
              </a:lnSpc>
              <a:buNone/>
            </a:pPr>
            <a:endParaRPr lang="en-US" altLang="zh-CN" sz="2800" kern="0" dirty="0"/>
          </a:p>
        </p:txBody>
      </p:sp>
    </p:spTree>
    <p:extLst>
      <p:ext uri="{BB962C8B-B14F-4D97-AF65-F5344CB8AC3E}">
        <p14:creationId xmlns:p14="http://schemas.microsoft.com/office/powerpoint/2010/main" val="5027360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7" name="文本框 6">
            <a:extLst>
              <a:ext uri="{FF2B5EF4-FFF2-40B4-BE49-F238E27FC236}">
                <a16:creationId xmlns:a16="http://schemas.microsoft.com/office/drawing/2014/main" id="{F9B57166-8A09-4B10-B3DA-B8833C5EB708}"/>
              </a:ext>
            </a:extLst>
          </p:cNvPr>
          <p:cNvSpPr txBox="1"/>
          <p:nvPr/>
        </p:nvSpPr>
        <p:spPr>
          <a:xfrm>
            <a:off x="608556" y="972198"/>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parity check code - </a:t>
            </a:r>
            <a:r>
              <a:rPr kumimoji="0" lang="zh-CN" altLang="en-US" sz="4400" b="0" i="0" u="none" strike="noStrike" kern="0" cap="none" spc="0" normalizeH="0" baseline="0" noProof="0" dirty="0">
                <a:ln>
                  <a:noFill/>
                </a:ln>
                <a:solidFill>
                  <a:srgbClr val="000000"/>
                </a:solidFill>
                <a:effectLst/>
                <a:uLnTx/>
                <a:uFillTx/>
                <a:latin typeface="Arial"/>
                <a:ea typeface="宋体"/>
                <a:cs typeface="+mj-cs"/>
              </a:rPr>
              <a:t>奇偶校验码</a:t>
            </a:r>
            <a:endParaRPr lang="zh-CN" altLang="en-US" dirty="0"/>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sp>
        <p:nvSpPr>
          <p:cNvPr id="8" name="Rectangle 3">
            <a:extLst>
              <a:ext uri="{FF2B5EF4-FFF2-40B4-BE49-F238E27FC236}">
                <a16:creationId xmlns:a16="http://schemas.microsoft.com/office/drawing/2014/main" id="{D916291A-43ED-405B-8D98-0AAC7F45557C}"/>
              </a:ext>
            </a:extLst>
          </p:cNvPr>
          <p:cNvSpPr txBox="1">
            <a:spLocks noChangeArrowheads="1"/>
          </p:cNvSpPr>
          <p:nvPr/>
        </p:nvSpPr>
        <p:spPr>
          <a:xfrm>
            <a:off x="210046" y="1917568"/>
            <a:ext cx="1171947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a:t>
            </a:r>
            <a:endParaRPr lang="en-US" altLang="zh-CN" sz="2800" kern="0" dirty="0"/>
          </a:p>
          <a:p>
            <a:pPr lvl="1">
              <a:lnSpc>
                <a:spcPct val="150000"/>
              </a:lnSpc>
              <a:buClr>
                <a:schemeClr val="tx2"/>
              </a:buClr>
              <a:buFont typeface="Wingdings" panose="05000000000000000000" pitchFamily="2" charset="2"/>
              <a:buChar char="l"/>
            </a:pPr>
            <a:r>
              <a:rPr lang="en-US" altLang="zh-CN" sz="2400" kern="0" dirty="0"/>
              <a:t>The following encoding function </a:t>
            </a:r>
            <a:r>
              <a:rPr lang="en-US" altLang="zh-CN" sz="2400" i="1" kern="0" dirty="0"/>
              <a:t>e</a:t>
            </a:r>
            <a:r>
              <a:rPr lang="en-US" altLang="zh-CN" sz="2400" kern="0" dirty="0"/>
              <a:t>: </a:t>
            </a:r>
            <a:r>
              <a:rPr lang="en-US" altLang="zh-CN" sz="2400" i="1" kern="0" dirty="0"/>
              <a:t>B</a:t>
            </a:r>
            <a:r>
              <a:rPr lang="en-US" altLang="zh-CN" sz="2400" i="1" kern="0" baseline="30000" dirty="0"/>
              <a:t>m</a:t>
            </a:r>
            <a:r>
              <a:rPr lang="en-US" altLang="zh-CN" sz="2400" kern="0" dirty="0"/>
              <a:t> </a:t>
            </a:r>
            <a:r>
              <a:rPr lang="en-US" altLang="zh-CN" sz="2400" kern="0" dirty="0">
                <a:sym typeface="Symbol" panose="05050102010706020507" pitchFamily="18" charset="2"/>
              </a:rPr>
              <a:t></a:t>
            </a:r>
            <a:r>
              <a:rPr lang="en-US" altLang="zh-CN" sz="2400" kern="0" dirty="0"/>
              <a:t> </a:t>
            </a:r>
            <a:r>
              <a:rPr lang="en-US" altLang="zh-CN" sz="2400" i="1" kern="0" dirty="0"/>
              <a:t>B</a:t>
            </a:r>
            <a:r>
              <a:rPr lang="en-US" altLang="zh-CN" sz="2400" i="1" kern="0" baseline="30000" dirty="0"/>
              <a:t>m+1</a:t>
            </a:r>
            <a:r>
              <a:rPr lang="en-US" altLang="zh-CN" sz="2400" kern="0" dirty="0"/>
              <a:t> is called the </a:t>
            </a:r>
            <a:r>
              <a:rPr lang="en-US" altLang="zh-CN" sz="2400" kern="0" dirty="0">
                <a:solidFill>
                  <a:srgbClr val="FF0000"/>
                </a:solidFill>
              </a:rPr>
              <a:t>parity (m, m+1) check code</a:t>
            </a:r>
            <a:r>
              <a:rPr lang="en-US" altLang="zh-CN" sz="2400" kern="0" dirty="0"/>
              <a:t>: If </a:t>
            </a:r>
            <a:r>
              <a:rPr lang="en-US" altLang="zh-CN" sz="2400" i="1" kern="0" dirty="0"/>
              <a:t>b</a:t>
            </a:r>
            <a:r>
              <a:rPr lang="en-US" altLang="zh-CN" sz="2400" kern="0" dirty="0"/>
              <a:t> = </a:t>
            </a:r>
            <a:r>
              <a:rPr lang="en-US" altLang="zh-CN" sz="2400" i="1" kern="0" dirty="0"/>
              <a:t>b</a:t>
            </a:r>
            <a:r>
              <a:rPr lang="en-US" altLang="zh-CN" sz="2400" i="1" kern="0" baseline="-25000" dirty="0"/>
              <a:t>1</a:t>
            </a:r>
            <a:r>
              <a:rPr lang="en-US" altLang="zh-CN" sz="2400" i="1" kern="0" dirty="0"/>
              <a:t>b</a:t>
            </a:r>
            <a:r>
              <a:rPr lang="en-US" altLang="zh-CN" sz="2400" i="1" kern="0" baseline="-25000" dirty="0"/>
              <a:t>2</a:t>
            </a:r>
            <a:r>
              <a:rPr lang="en-US" altLang="zh-CN" sz="2400" i="1" kern="0" dirty="0"/>
              <a:t>…b</a:t>
            </a:r>
            <a:r>
              <a:rPr lang="en-US" altLang="zh-CN" sz="2400" i="1" kern="0" baseline="-25000" dirty="0"/>
              <a:t>m</a:t>
            </a:r>
            <a:r>
              <a:rPr lang="en-US" altLang="zh-CN" sz="2400" kern="0" dirty="0"/>
              <a:t> </a:t>
            </a:r>
            <a:r>
              <a:rPr lang="en-US" altLang="zh-CN" sz="2400" kern="0" dirty="0">
                <a:sym typeface="Symbol" panose="05050102010706020507" pitchFamily="18" charset="2"/>
              </a:rPr>
              <a:t></a:t>
            </a:r>
            <a:r>
              <a:rPr lang="en-US" altLang="zh-CN" sz="2400" kern="0" dirty="0"/>
              <a:t> </a:t>
            </a:r>
            <a:r>
              <a:rPr lang="en-US" altLang="zh-CN" sz="2400" i="1" kern="0" dirty="0"/>
              <a:t>B</a:t>
            </a:r>
            <a:r>
              <a:rPr lang="en-US" altLang="zh-CN" sz="2400" i="1" kern="0" baseline="30000" dirty="0"/>
              <a:t>m</a:t>
            </a:r>
            <a:r>
              <a:rPr lang="en-US" altLang="zh-CN" sz="2400" kern="0" dirty="0"/>
              <a:t>, define</a:t>
            </a:r>
          </a:p>
          <a:p>
            <a:pPr marL="457200" lvl="1" indent="0">
              <a:lnSpc>
                <a:spcPct val="150000"/>
              </a:lnSpc>
              <a:buClr>
                <a:schemeClr val="tx2"/>
              </a:buClr>
              <a:buNone/>
            </a:pPr>
            <a:r>
              <a:rPr lang="en-US" altLang="zh-CN" sz="2400" i="1" kern="0" dirty="0"/>
              <a:t>			e</a:t>
            </a:r>
            <a:r>
              <a:rPr lang="en-US" altLang="zh-CN" sz="2400" kern="0" dirty="0"/>
              <a:t>(</a:t>
            </a:r>
            <a:r>
              <a:rPr lang="en-US" altLang="zh-CN" sz="2400" i="1" kern="0" dirty="0"/>
              <a:t>b</a:t>
            </a:r>
            <a:r>
              <a:rPr lang="en-US" altLang="zh-CN" sz="2400" kern="0" dirty="0"/>
              <a:t>) = </a:t>
            </a:r>
            <a:r>
              <a:rPr lang="en-US" altLang="zh-CN" sz="2400" i="1" kern="0" dirty="0"/>
              <a:t>b</a:t>
            </a:r>
            <a:r>
              <a:rPr lang="en-US" altLang="zh-CN" sz="2400" i="1" kern="0" baseline="-25000" dirty="0"/>
              <a:t>1</a:t>
            </a:r>
            <a:r>
              <a:rPr lang="en-US" altLang="zh-CN" sz="2400" i="1" kern="0" dirty="0"/>
              <a:t>b</a:t>
            </a:r>
            <a:r>
              <a:rPr lang="en-US" altLang="zh-CN" sz="2400" i="1" kern="0" baseline="-25000" dirty="0"/>
              <a:t>2</a:t>
            </a:r>
            <a:r>
              <a:rPr lang="en-US" altLang="zh-CN" sz="2400" i="1" kern="0" dirty="0"/>
              <a:t>…b</a:t>
            </a:r>
            <a:r>
              <a:rPr lang="en-US" altLang="zh-CN" sz="2400" i="1" kern="0" baseline="-25000" dirty="0"/>
              <a:t>m </a:t>
            </a:r>
            <a:r>
              <a:rPr lang="en-US" altLang="zh-CN" sz="2400" i="1" kern="0" dirty="0"/>
              <a:t>b</a:t>
            </a:r>
            <a:r>
              <a:rPr lang="en-US" altLang="zh-CN" sz="2400" i="1" kern="0" baseline="-25000" dirty="0"/>
              <a:t>m+1</a:t>
            </a:r>
            <a:endParaRPr lang="en-US" altLang="zh-CN" sz="2400" kern="0" dirty="0"/>
          </a:p>
          <a:p>
            <a:pPr marL="457200" lvl="1" indent="0">
              <a:lnSpc>
                <a:spcPct val="150000"/>
              </a:lnSpc>
              <a:buClr>
                <a:schemeClr val="tx2"/>
              </a:buClr>
              <a:buNone/>
            </a:pPr>
            <a:r>
              <a:rPr lang="en-US" altLang="zh-CN" sz="2400" kern="0" dirty="0"/>
              <a:t>   where</a:t>
            </a:r>
          </a:p>
        </p:txBody>
      </p:sp>
      <p:pic>
        <p:nvPicPr>
          <p:cNvPr id="2" name="图片 1">
            <a:extLst>
              <a:ext uri="{FF2B5EF4-FFF2-40B4-BE49-F238E27FC236}">
                <a16:creationId xmlns:a16="http://schemas.microsoft.com/office/drawing/2014/main" id="{412688DE-25E2-4B64-9B03-16707B17DD45}"/>
              </a:ext>
            </a:extLst>
          </p:cNvPr>
          <p:cNvPicPr>
            <a:picLocks noChangeAspect="1"/>
          </p:cNvPicPr>
          <p:nvPr/>
        </p:nvPicPr>
        <p:blipFill>
          <a:blip r:embed="rId3"/>
          <a:stretch>
            <a:fillRect/>
          </a:stretch>
        </p:blipFill>
        <p:spPr>
          <a:xfrm>
            <a:off x="2703441" y="5201884"/>
            <a:ext cx="3922646" cy="1065718"/>
          </a:xfrm>
          <a:prstGeom prst="rect">
            <a:avLst/>
          </a:prstGeom>
        </p:spPr>
      </p:pic>
    </p:spTree>
    <p:extLst>
      <p:ext uri="{BB962C8B-B14F-4D97-AF65-F5344CB8AC3E}">
        <p14:creationId xmlns:p14="http://schemas.microsoft.com/office/powerpoint/2010/main" val="329834154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10046" y="645088"/>
            <a:ext cx="11553410" cy="6719064"/>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Solution:</a:t>
            </a:r>
            <a:endParaRPr lang="en-US" altLang="zh-CN" sz="2800" kern="0" dirty="0"/>
          </a:p>
          <a:p>
            <a:pPr lvl="1" indent="-342900">
              <a:lnSpc>
                <a:spcPct val="150000"/>
              </a:lnSpc>
              <a:buClr>
                <a:schemeClr val="tx2"/>
              </a:buClr>
              <a:buFont typeface="Wingdings" panose="05000000000000000000" pitchFamily="2" charset="2"/>
              <a:buChar char="l"/>
            </a:pPr>
            <a:r>
              <a:rPr lang="en-US" altLang="zh-CN" sz="2000" kern="0" dirty="0"/>
              <a:t>For a concrete illustration of this encoding function, Let </a:t>
            </a:r>
            <a:r>
              <a:rPr lang="en-US" altLang="zh-CN" sz="2000" i="1" kern="0" dirty="0"/>
              <a:t>m</a:t>
            </a:r>
            <a:r>
              <a:rPr lang="en-US" altLang="zh-CN" sz="2000" kern="0" dirty="0"/>
              <a:t> = 3. Then</a:t>
            </a:r>
          </a:p>
          <a:p>
            <a:pPr marL="1371600" lvl="3" indent="0">
              <a:lnSpc>
                <a:spcPct val="140000"/>
              </a:lnSpc>
              <a:buNone/>
            </a:pPr>
            <a:r>
              <a:rPr lang="en-US" altLang="zh-CN" i="1" kern="0" dirty="0"/>
              <a:t>e</a:t>
            </a:r>
            <a:r>
              <a:rPr lang="en-US" altLang="zh-CN" kern="0" dirty="0"/>
              <a:t>(000) = 0000</a:t>
            </a:r>
          </a:p>
          <a:p>
            <a:pPr marL="1371600" lvl="3" indent="0">
              <a:lnSpc>
                <a:spcPct val="140000"/>
              </a:lnSpc>
              <a:buNone/>
            </a:pPr>
            <a:r>
              <a:rPr lang="en-US" altLang="zh-CN" i="1" kern="0" dirty="0"/>
              <a:t>e</a:t>
            </a:r>
            <a:r>
              <a:rPr lang="en-US" altLang="zh-CN" kern="0" dirty="0"/>
              <a:t>(001) = 0011</a:t>
            </a:r>
          </a:p>
          <a:p>
            <a:pPr marL="1371600" lvl="3" indent="0">
              <a:lnSpc>
                <a:spcPct val="140000"/>
              </a:lnSpc>
              <a:buNone/>
            </a:pPr>
            <a:r>
              <a:rPr lang="en-US" altLang="zh-CN" i="1" kern="0" dirty="0"/>
              <a:t>e</a:t>
            </a:r>
            <a:r>
              <a:rPr lang="en-US" altLang="zh-CN" kern="0" dirty="0"/>
              <a:t>(010) = 0101</a:t>
            </a:r>
          </a:p>
          <a:p>
            <a:pPr marL="1371600" lvl="3" indent="0">
              <a:lnSpc>
                <a:spcPct val="140000"/>
              </a:lnSpc>
              <a:buNone/>
            </a:pPr>
            <a:r>
              <a:rPr lang="en-US" altLang="zh-CN" i="1" kern="0" dirty="0"/>
              <a:t>e</a:t>
            </a:r>
            <a:r>
              <a:rPr lang="en-US" altLang="zh-CN" kern="0" dirty="0"/>
              <a:t>(011) = 0110</a:t>
            </a:r>
          </a:p>
          <a:p>
            <a:pPr marL="1371600" lvl="3" indent="0">
              <a:lnSpc>
                <a:spcPct val="140000"/>
              </a:lnSpc>
              <a:buNone/>
            </a:pPr>
            <a:r>
              <a:rPr lang="en-US" altLang="zh-CN" i="1" kern="0" dirty="0"/>
              <a:t>e</a:t>
            </a:r>
            <a:r>
              <a:rPr lang="en-US" altLang="zh-CN" kern="0" dirty="0"/>
              <a:t>(100) = 1001</a:t>
            </a:r>
          </a:p>
          <a:p>
            <a:pPr marL="1371600" lvl="3" indent="0">
              <a:lnSpc>
                <a:spcPct val="140000"/>
              </a:lnSpc>
              <a:buNone/>
            </a:pPr>
            <a:r>
              <a:rPr lang="en-US" altLang="zh-CN" i="1" kern="0" dirty="0"/>
              <a:t>e</a:t>
            </a:r>
            <a:r>
              <a:rPr lang="en-US" altLang="zh-CN" kern="0" dirty="0"/>
              <a:t>(101) = 1010</a:t>
            </a:r>
          </a:p>
          <a:p>
            <a:pPr marL="1371600" lvl="3" indent="0">
              <a:lnSpc>
                <a:spcPct val="140000"/>
              </a:lnSpc>
              <a:buNone/>
            </a:pPr>
            <a:r>
              <a:rPr lang="en-US" altLang="zh-CN" i="1" kern="0" dirty="0"/>
              <a:t>e</a:t>
            </a:r>
            <a:r>
              <a:rPr lang="en-US" altLang="zh-CN" kern="0" dirty="0"/>
              <a:t>(110) = 1100</a:t>
            </a:r>
          </a:p>
          <a:p>
            <a:pPr marL="1371600" lvl="3" indent="0">
              <a:lnSpc>
                <a:spcPct val="140000"/>
              </a:lnSpc>
              <a:buNone/>
            </a:pPr>
            <a:r>
              <a:rPr lang="en-US" altLang="zh-CN" i="1" kern="0" dirty="0"/>
              <a:t>e</a:t>
            </a:r>
            <a:r>
              <a:rPr lang="en-US" altLang="zh-CN" kern="0" dirty="0"/>
              <a:t>(111) = 1111</a:t>
            </a:r>
          </a:p>
          <a:p>
            <a:pPr marL="400050" lvl="1" indent="0">
              <a:lnSpc>
                <a:spcPct val="150000"/>
              </a:lnSpc>
              <a:buNone/>
            </a:pPr>
            <a:r>
              <a:rPr lang="en-US" altLang="zh-CN" sz="2000" kern="0" dirty="0"/>
              <a:t>Suppose now that </a:t>
            </a:r>
            <a:r>
              <a:rPr lang="en-US" altLang="zh-CN" sz="2000" i="1" kern="0" dirty="0"/>
              <a:t>b</a:t>
            </a:r>
            <a:r>
              <a:rPr lang="en-US" altLang="zh-CN" sz="2000" kern="0" dirty="0"/>
              <a:t> = 111. Then </a:t>
            </a:r>
            <a:r>
              <a:rPr lang="en-US" altLang="zh-CN" sz="2000" i="1" kern="0" dirty="0"/>
              <a:t>x</a:t>
            </a:r>
            <a:r>
              <a:rPr lang="en-US" altLang="zh-CN" sz="2000" kern="0" dirty="0"/>
              <a:t> = </a:t>
            </a:r>
            <a:r>
              <a:rPr lang="en-US" altLang="zh-CN" sz="2000" i="1" kern="0" dirty="0"/>
              <a:t>e</a:t>
            </a:r>
            <a:r>
              <a:rPr lang="en-US" altLang="zh-CN" sz="2000" kern="0" dirty="0"/>
              <a:t>(</a:t>
            </a:r>
            <a:r>
              <a:rPr lang="en-US" altLang="zh-CN" sz="2000" i="1" kern="0" dirty="0"/>
              <a:t>b</a:t>
            </a:r>
            <a:r>
              <a:rPr lang="en-US" altLang="zh-CN" sz="2000" kern="0" dirty="0"/>
              <a:t>) = 1111, If the transmission channel transmits x as x, =1101, then |xi =3, and we know that an odd number of errors (at least one) has occurred.</a:t>
            </a:r>
          </a:p>
        </p:txBody>
      </p:sp>
    </p:spTree>
    <p:extLst>
      <p:ext uri="{BB962C8B-B14F-4D97-AF65-F5344CB8AC3E}">
        <p14:creationId xmlns:p14="http://schemas.microsoft.com/office/powerpoint/2010/main" val="321961449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3:</a:t>
            </a:r>
            <a:endParaRPr lang="en-US" altLang="zh-CN" sz="2800" kern="0" dirty="0"/>
          </a:p>
          <a:p>
            <a:pPr lvl="1" indent="-342900">
              <a:lnSpc>
                <a:spcPct val="150000"/>
              </a:lnSpc>
              <a:buClr>
                <a:schemeClr val="tx2"/>
              </a:buClr>
              <a:buFont typeface="Wingdings" panose="05000000000000000000" pitchFamily="2" charset="2"/>
              <a:buChar char="l"/>
            </a:pPr>
            <a:r>
              <a:rPr lang="en-US" altLang="zh-CN" sz="2400" kern="0" dirty="0"/>
              <a:t>Consider the (m, 3m) encoding function e: B</a:t>
            </a:r>
            <a:r>
              <a:rPr lang="en-US" altLang="zh-CN" sz="2400" kern="0" baseline="30000" dirty="0"/>
              <a:t>m</a:t>
            </a:r>
            <a:r>
              <a:rPr lang="en-US" altLang="zh-CN" sz="2400" kern="0" dirty="0"/>
              <a:t> </a:t>
            </a:r>
            <a:r>
              <a:rPr lang="en-US" altLang="zh-CN" dirty="0">
                <a:sym typeface="Symbol" panose="05050102010706020507" pitchFamily="18" charset="2"/>
              </a:rPr>
              <a:t></a:t>
            </a:r>
            <a:r>
              <a:rPr lang="en-US" altLang="zh-CN" sz="2400" kern="0" dirty="0"/>
              <a:t> B</a:t>
            </a:r>
            <a:r>
              <a:rPr lang="en-US" altLang="zh-CN" sz="2400" kern="0" baseline="30000" dirty="0"/>
              <a:t>3m</a:t>
            </a:r>
            <a:r>
              <a:rPr lang="en-US" altLang="zh-CN" sz="2400" kern="0" dirty="0"/>
              <a:t>.</a:t>
            </a:r>
          </a:p>
          <a:p>
            <a:pPr marL="400050" lvl="1" indent="0">
              <a:lnSpc>
                <a:spcPct val="150000"/>
              </a:lnSpc>
              <a:buClr>
                <a:schemeClr val="tx2"/>
              </a:buClr>
              <a:buNone/>
            </a:pPr>
            <a:r>
              <a:rPr lang="en-US" altLang="zh-CN" sz="2400" kern="0" dirty="0"/>
              <a:t>	If </a:t>
            </a:r>
            <a:r>
              <a:rPr lang="en-US" altLang="zh-CN" sz="2400" i="1" dirty="0"/>
              <a:t>b</a:t>
            </a:r>
            <a:r>
              <a:rPr lang="en-US" altLang="zh-CN" sz="2400" dirty="0"/>
              <a:t> =</a:t>
            </a:r>
            <a:r>
              <a:rPr lang="en-US" altLang="zh-CN" sz="2400" kern="0" dirty="0"/>
              <a:t> </a:t>
            </a:r>
            <a:r>
              <a:rPr lang="en-US" altLang="zh-CN" sz="2400" i="1" dirty="0"/>
              <a:t>b</a:t>
            </a:r>
            <a:r>
              <a:rPr lang="en-US" altLang="zh-CN" sz="2400" i="1" baseline="-25000" dirty="0"/>
              <a:t>1</a:t>
            </a:r>
            <a:r>
              <a:rPr lang="en-US" altLang="zh-CN" sz="2400" i="1" dirty="0"/>
              <a:t>b</a:t>
            </a:r>
            <a:r>
              <a:rPr lang="en-US" altLang="zh-CN" sz="2400" i="1" baseline="-25000" dirty="0"/>
              <a:t>2</a:t>
            </a:r>
            <a:r>
              <a:rPr lang="en-US" altLang="zh-CN" sz="2400" i="1" dirty="0"/>
              <a:t>…b</a:t>
            </a:r>
            <a:r>
              <a:rPr lang="en-US" altLang="zh-CN" sz="2400" i="1" baseline="-25000" dirty="0"/>
              <a:t>m</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B</a:t>
            </a:r>
            <a:r>
              <a:rPr lang="en-US" altLang="zh-CN" sz="2400" i="1" baseline="30000" dirty="0"/>
              <a:t>m</a:t>
            </a:r>
            <a:r>
              <a:rPr lang="en-US" altLang="zh-CN" sz="2400" kern="0" dirty="0"/>
              <a:t>, define</a:t>
            </a:r>
          </a:p>
          <a:p>
            <a:pPr marL="400050" lvl="1" indent="0">
              <a:lnSpc>
                <a:spcPct val="150000"/>
              </a:lnSpc>
              <a:buClr>
                <a:schemeClr val="tx2"/>
              </a:buClr>
              <a:buNone/>
            </a:pPr>
            <a:r>
              <a:rPr lang="en-US" altLang="zh-CN" sz="2400" kern="0" dirty="0"/>
              <a:t>		e(b) = </a:t>
            </a:r>
            <a:r>
              <a:rPr lang="en-US" altLang="zh-CN" sz="2400" i="1" dirty="0"/>
              <a:t>b</a:t>
            </a:r>
            <a:r>
              <a:rPr lang="en-US" altLang="zh-CN" sz="2400" i="1" baseline="-25000" dirty="0"/>
              <a:t>1</a:t>
            </a:r>
            <a:r>
              <a:rPr lang="en-US" altLang="zh-CN" sz="2400" i="1" dirty="0"/>
              <a:t>b</a:t>
            </a:r>
            <a:r>
              <a:rPr lang="en-US" altLang="zh-CN" sz="2400" i="1" baseline="-25000" dirty="0"/>
              <a:t>2</a:t>
            </a:r>
            <a:r>
              <a:rPr lang="en-US" altLang="zh-CN" sz="2400" i="1" dirty="0"/>
              <a:t>…b</a:t>
            </a:r>
            <a:r>
              <a:rPr lang="en-US" altLang="zh-CN" sz="2400" i="1" baseline="-25000" dirty="0"/>
              <a:t>m</a:t>
            </a:r>
            <a:r>
              <a:rPr lang="en-US" altLang="zh-CN" sz="2400" i="1" dirty="0"/>
              <a:t>b</a:t>
            </a:r>
            <a:r>
              <a:rPr lang="en-US" altLang="zh-CN" sz="2400" i="1" baseline="-25000" dirty="0"/>
              <a:t>1</a:t>
            </a:r>
            <a:r>
              <a:rPr lang="en-US" altLang="zh-CN" sz="2400" i="1" dirty="0"/>
              <a:t>b</a:t>
            </a:r>
            <a:r>
              <a:rPr lang="en-US" altLang="zh-CN" sz="2400" i="1" baseline="-25000" dirty="0"/>
              <a:t>2</a:t>
            </a:r>
            <a:r>
              <a:rPr lang="en-US" altLang="zh-CN" sz="2400" i="1" dirty="0"/>
              <a:t>…b</a:t>
            </a:r>
            <a:r>
              <a:rPr lang="en-US" altLang="zh-CN" sz="2400" i="1" baseline="-25000" dirty="0"/>
              <a:t>m</a:t>
            </a:r>
            <a:r>
              <a:rPr lang="en-US" altLang="zh-CN" sz="2400" i="1" dirty="0"/>
              <a:t>b</a:t>
            </a:r>
            <a:r>
              <a:rPr lang="en-US" altLang="zh-CN" sz="2400" i="1" baseline="-25000" dirty="0"/>
              <a:t>1</a:t>
            </a:r>
            <a:r>
              <a:rPr lang="en-US" altLang="zh-CN" sz="2400" i="1" dirty="0"/>
              <a:t>b</a:t>
            </a:r>
            <a:r>
              <a:rPr lang="en-US" altLang="zh-CN" sz="2400" i="1" baseline="-25000" dirty="0"/>
              <a:t>2</a:t>
            </a:r>
            <a:r>
              <a:rPr lang="en-US" altLang="zh-CN" sz="2400" i="1" dirty="0"/>
              <a:t>…b</a:t>
            </a:r>
            <a:r>
              <a:rPr lang="en-US" altLang="zh-CN" sz="2400" i="1" baseline="-25000" dirty="0"/>
              <a:t>m</a:t>
            </a:r>
            <a:endParaRPr lang="en-US" altLang="zh-CN" sz="2400" kern="0" dirty="0"/>
          </a:p>
        </p:txBody>
      </p:sp>
    </p:spTree>
    <p:extLst>
      <p:ext uri="{BB962C8B-B14F-4D97-AF65-F5344CB8AC3E}">
        <p14:creationId xmlns:p14="http://schemas.microsoft.com/office/powerpoint/2010/main" val="18926647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Solution:</a:t>
            </a:r>
          </a:p>
          <a:p>
            <a:pPr lvl="1" indent="-342900">
              <a:lnSpc>
                <a:spcPct val="150000"/>
              </a:lnSpc>
              <a:buClr>
                <a:schemeClr val="tx2"/>
              </a:buClr>
              <a:buFont typeface="Wingdings" panose="05000000000000000000" pitchFamily="2" charset="2"/>
              <a:buChar char="l"/>
            </a:pPr>
            <a:r>
              <a:rPr lang="en-US" altLang="zh-CN" sz="2400" dirty="0"/>
              <a:t>That is, the encoding function e repeats each word of </a:t>
            </a:r>
            <a:r>
              <a:rPr lang="en-US" altLang="zh-CN" sz="2400" dirty="0" err="1"/>
              <a:t>B"three</a:t>
            </a:r>
            <a:r>
              <a:rPr lang="en-US" altLang="zh-CN" sz="2400" dirty="0"/>
              <a:t> times. For a concrete example, let m =3. Then</a:t>
            </a:r>
            <a:endParaRPr lang="en-US" altLang="zh-CN" sz="2400" kern="0" dirty="0"/>
          </a:p>
        </p:txBody>
      </p:sp>
      <p:pic>
        <p:nvPicPr>
          <p:cNvPr id="5" name="图片 4">
            <a:extLst>
              <a:ext uri="{FF2B5EF4-FFF2-40B4-BE49-F238E27FC236}">
                <a16:creationId xmlns:a16="http://schemas.microsoft.com/office/drawing/2014/main" id="{7B6F1911-DABC-4AF1-BE6F-C3EAA5996146}"/>
              </a:ext>
            </a:extLst>
          </p:cNvPr>
          <p:cNvPicPr>
            <a:picLocks noChangeAspect="1"/>
          </p:cNvPicPr>
          <p:nvPr/>
        </p:nvPicPr>
        <p:blipFill>
          <a:blip r:embed="rId3"/>
          <a:stretch>
            <a:fillRect/>
          </a:stretch>
        </p:blipFill>
        <p:spPr>
          <a:xfrm>
            <a:off x="4128433" y="2822714"/>
            <a:ext cx="3935134" cy="2363812"/>
          </a:xfrm>
          <a:prstGeom prst="rect">
            <a:avLst/>
          </a:prstGeom>
        </p:spPr>
      </p:pic>
      <p:sp>
        <p:nvSpPr>
          <p:cNvPr id="10" name="文本框 9">
            <a:extLst>
              <a:ext uri="{FF2B5EF4-FFF2-40B4-BE49-F238E27FC236}">
                <a16:creationId xmlns:a16="http://schemas.microsoft.com/office/drawing/2014/main" id="{8728D8C3-A2A5-4E22-872E-A2100A2A2B14}"/>
              </a:ext>
            </a:extLst>
          </p:cNvPr>
          <p:cNvSpPr txBox="1"/>
          <p:nvPr/>
        </p:nvSpPr>
        <p:spPr>
          <a:xfrm>
            <a:off x="1009651" y="5258168"/>
            <a:ext cx="10400471" cy="1584280"/>
          </a:xfrm>
          <a:prstGeom prst="rect">
            <a:avLst/>
          </a:prstGeom>
          <a:noFill/>
        </p:spPr>
        <p:txBody>
          <a:bodyPr wrap="square">
            <a:spAutoFit/>
          </a:bodyPr>
          <a:lstStyle/>
          <a:p>
            <a:pPr eaLnBrk="1" hangingPunct="1">
              <a:lnSpc>
                <a:spcPct val="140000"/>
              </a:lnSpc>
            </a:pPr>
            <a:r>
              <a:rPr lang="en-US" altLang="zh-CN" sz="2400" b="1" dirty="0"/>
              <a:t>Suppose now that b = 011,Then e(011) = 011011011. </a:t>
            </a:r>
          </a:p>
          <a:p>
            <a:pPr eaLnBrk="1" hangingPunct="1">
              <a:lnSpc>
                <a:spcPct val="140000"/>
              </a:lnSpc>
            </a:pPr>
            <a:r>
              <a:rPr lang="en-US" altLang="zh-CN" sz="2400" b="1" dirty="0"/>
              <a:t>Assume now we receive the word 011111011. This is not a code word, so we have detected the error.</a:t>
            </a:r>
          </a:p>
        </p:txBody>
      </p:sp>
    </p:spTree>
    <p:extLst>
      <p:ext uri="{BB962C8B-B14F-4D97-AF65-F5344CB8AC3E}">
        <p14:creationId xmlns:p14="http://schemas.microsoft.com/office/powerpoint/2010/main" val="230762555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7" name="Rectangle 2">
            <a:extLst>
              <a:ext uri="{FF2B5EF4-FFF2-40B4-BE49-F238E27FC236}">
                <a16:creationId xmlns:a16="http://schemas.microsoft.com/office/drawing/2014/main" id="{29A40646-1ED1-472E-99D7-E82E40C6D966}"/>
              </a:ext>
            </a:extLst>
          </p:cNvPr>
          <p:cNvSpPr txBox="1">
            <a:spLocks noChangeArrowheads="1"/>
          </p:cNvSpPr>
          <p:nvPr/>
        </p:nvSpPr>
        <p:spPr>
          <a:xfrm>
            <a:off x="1623481" y="902307"/>
            <a:ext cx="8229600" cy="1143000"/>
          </a:xfrm>
          <a:prstGeom prst="rect">
            <a:avLst/>
          </a:prstGeom>
        </p:spPr>
        <p:txBody>
          <a:bodyPr/>
          <a:lst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a:lstStyle>
          <a:p>
            <a:r>
              <a:rPr lang="en-US" altLang="zh-CN" kern="0" dirty="0"/>
              <a:t>(00,10,01,11)</a:t>
            </a:r>
            <a:br>
              <a:rPr lang="en-US" altLang="zh-CN" kern="0" dirty="0"/>
            </a:br>
            <a:r>
              <a:rPr lang="en-US" altLang="zh-CN" kern="0" dirty="0"/>
              <a:t>(00,11)</a:t>
            </a:r>
          </a:p>
        </p:txBody>
      </p:sp>
      <p:sp>
        <p:nvSpPr>
          <p:cNvPr id="8" name="Line 3">
            <a:extLst>
              <a:ext uri="{FF2B5EF4-FFF2-40B4-BE49-F238E27FC236}">
                <a16:creationId xmlns:a16="http://schemas.microsoft.com/office/drawing/2014/main" id="{18413838-64AF-4E45-A5A0-6CD479C82BE1}"/>
              </a:ext>
            </a:extLst>
          </p:cNvPr>
          <p:cNvSpPr>
            <a:spLocks noChangeShapeType="1"/>
          </p:cNvSpPr>
          <p:nvPr/>
        </p:nvSpPr>
        <p:spPr bwMode="auto">
          <a:xfrm flipV="1">
            <a:off x="2658979" y="2492564"/>
            <a:ext cx="0" cy="3733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4">
            <a:extLst>
              <a:ext uri="{FF2B5EF4-FFF2-40B4-BE49-F238E27FC236}">
                <a16:creationId xmlns:a16="http://schemas.microsoft.com/office/drawing/2014/main" id="{40AD57D1-DEAC-486F-B7C4-9D85565CC185}"/>
              </a:ext>
            </a:extLst>
          </p:cNvPr>
          <p:cNvSpPr>
            <a:spLocks noChangeShapeType="1"/>
          </p:cNvSpPr>
          <p:nvPr/>
        </p:nvSpPr>
        <p:spPr bwMode="auto">
          <a:xfrm>
            <a:off x="2658979" y="6226364"/>
            <a:ext cx="43434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Rectangle 5">
            <a:extLst>
              <a:ext uri="{FF2B5EF4-FFF2-40B4-BE49-F238E27FC236}">
                <a16:creationId xmlns:a16="http://schemas.microsoft.com/office/drawing/2014/main" id="{7B2BE849-AE7C-4D94-8ECA-0D4675201EEC}"/>
              </a:ext>
            </a:extLst>
          </p:cNvPr>
          <p:cNvSpPr>
            <a:spLocks noChangeArrowheads="1"/>
          </p:cNvSpPr>
          <p:nvPr/>
        </p:nvSpPr>
        <p:spPr bwMode="auto">
          <a:xfrm>
            <a:off x="2658979" y="4397564"/>
            <a:ext cx="1828800" cy="1828800"/>
          </a:xfrm>
          <a:prstGeom prst="rect">
            <a:avLst/>
          </a:prstGeom>
          <a:solidFill>
            <a:schemeClr val="accent1"/>
          </a:soli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 name="Rectangle 6">
            <a:extLst>
              <a:ext uri="{FF2B5EF4-FFF2-40B4-BE49-F238E27FC236}">
                <a16:creationId xmlns:a16="http://schemas.microsoft.com/office/drawing/2014/main" id="{CBEB9695-764D-47BC-BE96-8B20A44ED946}"/>
              </a:ext>
            </a:extLst>
          </p:cNvPr>
          <p:cNvSpPr>
            <a:spLocks noChangeArrowheads="1"/>
          </p:cNvSpPr>
          <p:nvPr/>
        </p:nvSpPr>
        <p:spPr bwMode="auto">
          <a:xfrm>
            <a:off x="4335379" y="4168964"/>
            <a:ext cx="1600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lnSpc>
                <a:spcPct val="90000"/>
              </a:lnSpc>
              <a:buFontTx/>
              <a:buChar char="•"/>
            </a:pPr>
            <a:r>
              <a:rPr kumimoji="1" lang="en-US" altLang="zh-CN" sz="2800" dirty="0">
                <a:latin typeface="Times New Roman" panose="02020603050405020304" pitchFamily="18" charset="0"/>
              </a:rPr>
              <a:t>(1,1)</a:t>
            </a:r>
          </a:p>
        </p:txBody>
      </p:sp>
      <p:sp>
        <p:nvSpPr>
          <p:cNvPr id="14" name="Rectangle 7">
            <a:extLst>
              <a:ext uri="{FF2B5EF4-FFF2-40B4-BE49-F238E27FC236}">
                <a16:creationId xmlns:a16="http://schemas.microsoft.com/office/drawing/2014/main" id="{2F87CC07-FDE3-4542-A8CC-D2275B53DC4B}"/>
              </a:ext>
            </a:extLst>
          </p:cNvPr>
          <p:cNvSpPr txBox="1">
            <a:spLocks noChangeArrowheads="1"/>
          </p:cNvSpPr>
          <p:nvPr/>
        </p:nvSpPr>
        <p:spPr>
          <a:xfrm>
            <a:off x="2602707" y="4067050"/>
            <a:ext cx="1693862" cy="336550"/>
          </a:xfrm>
          <a:prstGeom prst="rect">
            <a:avLst/>
          </a:prstGeom>
        </p:spPr>
        <p:txBody>
          <a:bodyPr/>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90000"/>
              </a:lnSpc>
              <a:buFontTx/>
              <a:buChar char="•"/>
            </a:pPr>
            <a:r>
              <a:rPr kumimoji="1" lang="en-US" altLang="zh-CN" sz="2800" dirty="0">
                <a:latin typeface="Times New Roman" panose="02020603050405020304" pitchFamily="18" charset="0"/>
                <a:ea typeface="宋体" panose="02010600030101010101" pitchFamily="2" charset="-122"/>
              </a:rPr>
              <a:t>(1,0)</a:t>
            </a:r>
          </a:p>
        </p:txBody>
      </p:sp>
      <p:sp>
        <p:nvSpPr>
          <p:cNvPr id="15" name="Rectangle 8">
            <a:extLst>
              <a:ext uri="{FF2B5EF4-FFF2-40B4-BE49-F238E27FC236}">
                <a16:creationId xmlns:a16="http://schemas.microsoft.com/office/drawing/2014/main" id="{88675980-F118-40F4-AC34-13487EE53265}"/>
              </a:ext>
            </a:extLst>
          </p:cNvPr>
          <p:cNvSpPr>
            <a:spLocks noChangeArrowheads="1"/>
          </p:cNvSpPr>
          <p:nvPr/>
        </p:nvSpPr>
        <p:spPr bwMode="auto">
          <a:xfrm>
            <a:off x="4335379" y="5997764"/>
            <a:ext cx="1600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dirty="0">
                <a:latin typeface="Times New Roman" panose="02020603050405020304" pitchFamily="18" charset="0"/>
              </a:rPr>
              <a:t>(0,1)</a:t>
            </a:r>
          </a:p>
        </p:txBody>
      </p:sp>
      <p:sp>
        <p:nvSpPr>
          <p:cNvPr id="16" name="Rectangle 9">
            <a:extLst>
              <a:ext uri="{FF2B5EF4-FFF2-40B4-BE49-F238E27FC236}">
                <a16:creationId xmlns:a16="http://schemas.microsoft.com/office/drawing/2014/main" id="{43618E97-BA54-4F6A-897F-64A427616038}"/>
              </a:ext>
            </a:extLst>
          </p:cNvPr>
          <p:cNvSpPr>
            <a:spLocks noChangeArrowheads="1"/>
          </p:cNvSpPr>
          <p:nvPr/>
        </p:nvSpPr>
        <p:spPr bwMode="auto">
          <a:xfrm>
            <a:off x="2553410" y="5997764"/>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dirty="0">
                <a:latin typeface="Times New Roman" panose="02020603050405020304" pitchFamily="18" charset="0"/>
              </a:rPr>
              <a:t>(0,0)</a:t>
            </a:r>
          </a:p>
        </p:txBody>
      </p:sp>
    </p:spTree>
    <p:extLst>
      <p:ext uri="{BB962C8B-B14F-4D97-AF65-F5344CB8AC3E}">
        <p14:creationId xmlns:p14="http://schemas.microsoft.com/office/powerpoint/2010/main" val="231294983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17" name="Rectangle 2">
            <a:extLst>
              <a:ext uri="{FF2B5EF4-FFF2-40B4-BE49-F238E27FC236}">
                <a16:creationId xmlns:a16="http://schemas.microsoft.com/office/drawing/2014/main" id="{D982A4D9-5BEA-4E77-9538-1D120BA72A51}"/>
              </a:ext>
            </a:extLst>
          </p:cNvPr>
          <p:cNvSpPr txBox="1">
            <a:spLocks noChangeArrowheads="1"/>
          </p:cNvSpPr>
          <p:nvPr/>
        </p:nvSpPr>
        <p:spPr>
          <a:xfrm>
            <a:off x="1981200" y="840123"/>
            <a:ext cx="8229600" cy="1143000"/>
          </a:xfrm>
          <a:prstGeom prst="rect">
            <a:avLst/>
          </a:prstGeom>
        </p:spPr>
        <p:txBody>
          <a:bodyPr/>
          <a:lst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a:lstStyle>
          <a:p>
            <a:r>
              <a:rPr lang="en-US" altLang="zh-CN" kern="0"/>
              <a:t>B</a:t>
            </a:r>
            <a:r>
              <a:rPr lang="en-US" altLang="zh-CN" kern="0" baseline="30000"/>
              <a:t>m</a:t>
            </a:r>
            <a:r>
              <a:rPr lang="en-US" altLang="zh-CN" kern="0"/>
              <a:t>(0,1)-&gt;B</a:t>
            </a:r>
            <a:r>
              <a:rPr lang="en-US" altLang="zh-CN" kern="0" baseline="30000"/>
              <a:t>n</a:t>
            </a:r>
            <a:r>
              <a:rPr lang="en-US" altLang="zh-CN" kern="0"/>
              <a:t>(000,111)</a:t>
            </a:r>
          </a:p>
        </p:txBody>
      </p:sp>
      <p:sp>
        <p:nvSpPr>
          <p:cNvPr id="18" name="Line 3">
            <a:extLst>
              <a:ext uri="{FF2B5EF4-FFF2-40B4-BE49-F238E27FC236}">
                <a16:creationId xmlns:a16="http://schemas.microsoft.com/office/drawing/2014/main" id="{0F0FFF2A-BB74-43D5-A1C1-06FEDCF9E13A}"/>
              </a:ext>
            </a:extLst>
          </p:cNvPr>
          <p:cNvSpPr>
            <a:spLocks noChangeShapeType="1"/>
          </p:cNvSpPr>
          <p:nvPr/>
        </p:nvSpPr>
        <p:spPr bwMode="auto">
          <a:xfrm flipV="1">
            <a:off x="4596064" y="1562100"/>
            <a:ext cx="0" cy="3733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Rectangle 4">
            <a:extLst>
              <a:ext uri="{FF2B5EF4-FFF2-40B4-BE49-F238E27FC236}">
                <a16:creationId xmlns:a16="http://schemas.microsoft.com/office/drawing/2014/main" id="{F7C8E87F-C5C8-48FA-B829-496398CBB72F}"/>
              </a:ext>
            </a:extLst>
          </p:cNvPr>
          <p:cNvSpPr>
            <a:spLocks noChangeArrowheads="1"/>
          </p:cNvSpPr>
          <p:nvPr/>
        </p:nvSpPr>
        <p:spPr bwMode="auto">
          <a:xfrm>
            <a:off x="5205664" y="4076700"/>
            <a:ext cx="1600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dirty="0">
                <a:latin typeface="Times New Roman" panose="02020603050405020304" pitchFamily="18" charset="0"/>
              </a:rPr>
              <a:t>(1,1,1)</a:t>
            </a:r>
          </a:p>
        </p:txBody>
      </p:sp>
      <p:sp>
        <p:nvSpPr>
          <p:cNvPr id="21" name="Rectangle 6">
            <a:extLst>
              <a:ext uri="{FF2B5EF4-FFF2-40B4-BE49-F238E27FC236}">
                <a16:creationId xmlns:a16="http://schemas.microsoft.com/office/drawing/2014/main" id="{B6DBF050-2D21-4A67-8386-056F87C74A93}"/>
              </a:ext>
            </a:extLst>
          </p:cNvPr>
          <p:cNvSpPr>
            <a:spLocks noChangeArrowheads="1"/>
          </p:cNvSpPr>
          <p:nvPr/>
        </p:nvSpPr>
        <p:spPr bwMode="auto">
          <a:xfrm>
            <a:off x="5205664" y="5905500"/>
            <a:ext cx="1600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a:latin typeface="Times New Roman" panose="02020603050405020304" pitchFamily="18" charset="0"/>
              </a:rPr>
              <a:t>(1,1,0)</a:t>
            </a:r>
          </a:p>
        </p:txBody>
      </p:sp>
      <p:sp>
        <p:nvSpPr>
          <p:cNvPr id="22" name="Rectangle 7">
            <a:extLst>
              <a:ext uri="{FF2B5EF4-FFF2-40B4-BE49-F238E27FC236}">
                <a16:creationId xmlns:a16="http://schemas.microsoft.com/office/drawing/2014/main" id="{348328DD-0C6A-4866-8872-2502D8C8B273}"/>
              </a:ext>
            </a:extLst>
          </p:cNvPr>
          <p:cNvSpPr>
            <a:spLocks noChangeArrowheads="1"/>
          </p:cNvSpPr>
          <p:nvPr/>
        </p:nvSpPr>
        <p:spPr bwMode="auto">
          <a:xfrm>
            <a:off x="3376864" y="5905500"/>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a:latin typeface="Times New Roman" panose="02020603050405020304" pitchFamily="18" charset="0"/>
              </a:rPr>
              <a:t>(0,1,0)</a:t>
            </a:r>
          </a:p>
        </p:txBody>
      </p:sp>
      <p:sp>
        <p:nvSpPr>
          <p:cNvPr id="23" name="Line 8">
            <a:extLst>
              <a:ext uri="{FF2B5EF4-FFF2-40B4-BE49-F238E27FC236}">
                <a16:creationId xmlns:a16="http://schemas.microsoft.com/office/drawing/2014/main" id="{CAA727C1-BCD1-46A0-8DAC-57170AABDAB1}"/>
              </a:ext>
            </a:extLst>
          </p:cNvPr>
          <p:cNvSpPr>
            <a:spLocks noChangeShapeType="1"/>
          </p:cNvSpPr>
          <p:nvPr/>
        </p:nvSpPr>
        <p:spPr bwMode="auto">
          <a:xfrm flipH="1">
            <a:off x="2767264" y="5219700"/>
            <a:ext cx="1828800" cy="144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9">
            <a:extLst>
              <a:ext uri="{FF2B5EF4-FFF2-40B4-BE49-F238E27FC236}">
                <a16:creationId xmlns:a16="http://schemas.microsoft.com/office/drawing/2014/main" id="{61E181A1-677E-4D09-B650-94BC58DFCEC3}"/>
              </a:ext>
            </a:extLst>
          </p:cNvPr>
          <p:cNvSpPr>
            <a:spLocks noChangeShapeType="1"/>
          </p:cNvSpPr>
          <p:nvPr/>
        </p:nvSpPr>
        <p:spPr bwMode="auto">
          <a:xfrm>
            <a:off x="4596064" y="5219700"/>
            <a:ext cx="43434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Rectangle 10">
            <a:extLst>
              <a:ext uri="{FF2B5EF4-FFF2-40B4-BE49-F238E27FC236}">
                <a16:creationId xmlns:a16="http://schemas.microsoft.com/office/drawing/2014/main" id="{5CA67990-2AA0-4F04-9F06-C68355CC779B}"/>
              </a:ext>
            </a:extLst>
          </p:cNvPr>
          <p:cNvSpPr>
            <a:spLocks noChangeArrowheads="1"/>
          </p:cNvSpPr>
          <p:nvPr/>
        </p:nvSpPr>
        <p:spPr bwMode="auto">
          <a:xfrm>
            <a:off x="4596064" y="3390900"/>
            <a:ext cx="1828800" cy="1828800"/>
          </a:xfrm>
          <a:prstGeom prst="rect">
            <a:avLst/>
          </a:prstGeom>
          <a:noFill/>
          <a:ln w="9525">
            <a:solidFill>
              <a:srgbClr val="FF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 name="Rectangle 11">
            <a:extLst>
              <a:ext uri="{FF2B5EF4-FFF2-40B4-BE49-F238E27FC236}">
                <a16:creationId xmlns:a16="http://schemas.microsoft.com/office/drawing/2014/main" id="{D2BAA71C-F347-44BE-8516-7C75CDF15743}"/>
              </a:ext>
            </a:extLst>
          </p:cNvPr>
          <p:cNvSpPr>
            <a:spLocks noChangeArrowheads="1"/>
          </p:cNvSpPr>
          <p:nvPr/>
        </p:nvSpPr>
        <p:spPr bwMode="auto">
          <a:xfrm>
            <a:off x="6272464" y="3162300"/>
            <a:ext cx="1600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a:latin typeface="Times New Roman" panose="02020603050405020304" pitchFamily="18" charset="0"/>
              </a:rPr>
              <a:t>(1,0,1)</a:t>
            </a:r>
          </a:p>
        </p:txBody>
      </p:sp>
      <p:sp>
        <p:nvSpPr>
          <p:cNvPr id="27" name="Rectangle 12">
            <a:extLst>
              <a:ext uri="{FF2B5EF4-FFF2-40B4-BE49-F238E27FC236}">
                <a16:creationId xmlns:a16="http://schemas.microsoft.com/office/drawing/2014/main" id="{2D78C837-031C-452D-86D6-6DC147D9118C}"/>
              </a:ext>
            </a:extLst>
          </p:cNvPr>
          <p:cNvSpPr>
            <a:spLocks noChangeArrowheads="1"/>
          </p:cNvSpPr>
          <p:nvPr/>
        </p:nvSpPr>
        <p:spPr bwMode="auto">
          <a:xfrm>
            <a:off x="4443664" y="3162300"/>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a:latin typeface="Times New Roman" panose="02020603050405020304" pitchFamily="18" charset="0"/>
              </a:rPr>
              <a:t>(0,0,1)</a:t>
            </a:r>
          </a:p>
        </p:txBody>
      </p:sp>
      <p:sp>
        <p:nvSpPr>
          <p:cNvPr id="28" name="Rectangle 13">
            <a:extLst>
              <a:ext uri="{FF2B5EF4-FFF2-40B4-BE49-F238E27FC236}">
                <a16:creationId xmlns:a16="http://schemas.microsoft.com/office/drawing/2014/main" id="{F0FD49AE-2B1A-4458-BD56-91538DDC73BB}"/>
              </a:ext>
            </a:extLst>
          </p:cNvPr>
          <p:cNvSpPr>
            <a:spLocks noChangeArrowheads="1"/>
          </p:cNvSpPr>
          <p:nvPr/>
        </p:nvSpPr>
        <p:spPr bwMode="auto">
          <a:xfrm>
            <a:off x="6272464" y="4991100"/>
            <a:ext cx="1600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dirty="0">
                <a:latin typeface="Times New Roman" panose="02020603050405020304" pitchFamily="18" charset="0"/>
              </a:rPr>
              <a:t>(1,0,0)</a:t>
            </a:r>
          </a:p>
        </p:txBody>
      </p:sp>
      <p:sp>
        <p:nvSpPr>
          <p:cNvPr id="29" name="Rectangle 14">
            <a:extLst>
              <a:ext uri="{FF2B5EF4-FFF2-40B4-BE49-F238E27FC236}">
                <a16:creationId xmlns:a16="http://schemas.microsoft.com/office/drawing/2014/main" id="{40D85DDF-192E-4BE6-9508-ED008C4938F0}"/>
              </a:ext>
            </a:extLst>
          </p:cNvPr>
          <p:cNvSpPr>
            <a:spLocks noChangeArrowheads="1"/>
          </p:cNvSpPr>
          <p:nvPr/>
        </p:nvSpPr>
        <p:spPr bwMode="auto">
          <a:xfrm>
            <a:off x="4443664" y="4991100"/>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Char char="•"/>
            </a:pPr>
            <a:r>
              <a:rPr kumimoji="1" lang="en-US" altLang="zh-CN" sz="2800">
                <a:latin typeface="Times New Roman" panose="02020603050405020304" pitchFamily="18" charset="0"/>
              </a:rPr>
              <a:t>(0,0,0)</a:t>
            </a:r>
          </a:p>
        </p:txBody>
      </p:sp>
      <p:sp>
        <p:nvSpPr>
          <p:cNvPr id="30" name="Rectangle 15">
            <a:extLst>
              <a:ext uri="{FF2B5EF4-FFF2-40B4-BE49-F238E27FC236}">
                <a16:creationId xmlns:a16="http://schemas.microsoft.com/office/drawing/2014/main" id="{651BBDE0-407D-454F-AF1D-F2F47F8E348C}"/>
              </a:ext>
            </a:extLst>
          </p:cNvPr>
          <p:cNvSpPr>
            <a:spLocks noChangeArrowheads="1"/>
          </p:cNvSpPr>
          <p:nvPr/>
        </p:nvSpPr>
        <p:spPr bwMode="auto">
          <a:xfrm>
            <a:off x="3529264" y="4305300"/>
            <a:ext cx="1828800" cy="1828800"/>
          </a:xfrm>
          <a:prstGeom prst="rect">
            <a:avLst/>
          </a:prstGeom>
          <a:noFill/>
          <a:ln w="9525">
            <a:solidFill>
              <a:srgbClr val="FF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1" name="Line 16">
            <a:extLst>
              <a:ext uri="{FF2B5EF4-FFF2-40B4-BE49-F238E27FC236}">
                <a16:creationId xmlns:a16="http://schemas.microsoft.com/office/drawing/2014/main" id="{09D37E09-E7AA-47A6-A0DA-117C75AF67FC}"/>
              </a:ext>
            </a:extLst>
          </p:cNvPr>
          <p:cNvSpPr>
            <a:spLocks noChangeShapeType="1"/>
          </p:cNvSpPr>
          <p:nvPr/>
        </p:nvSpPr>
        <p:spPr bwMode="auto">
          <a:xfrm flipH="1">
            <a:off x="3529264" y="3390900"/>
            <a:ext cx="1066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17">
            <a:extLst>
              <a:ext uri="{FF2B5EF4-FFF2-40B4-BE49-F238E27FC236}">
                <a16:creationId xmlns:a16="http://schemas.microsoft.com/office/drawing/2014/main" id="{8060F016-1055-4DB4-B997-DCD780FAD259}"/>
              </a:ext>
            </a:extLst>
          </p:cNvPr>
          <p:cNvSpPr>
            <a:spLocks noChangeShapeType="1"/>
          </p:cNvSpPr>
          <p:nvPr/>
        </p:nvSpPr>
        <p:spPr bwMode="auto">
          <a:xfrm flipH="1">
            <a:off x="5358064" y="3390900"/>
            <a:ext cx="1066800" cy="91440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18">
            <a:extLst>
              <a:ext uri="{FF2B5EF4-FFF2-40B4-BE49-F238E27FC236}">
                <a16:creationId xmlns:a16="http://schemas.microsoft.com/office/drawing/2014/main" id="{9377D84C-4636-437D-8C1C-B466316440F0}"/>
              </a:ext>
            </a:extLst>
          </p:cNvPr>
          <p:cNvSpPr>
            <a:spLocks noChangeShapeType="1"/>
          </p:cNvSpPr>
          <p:nvPr/>
        </p:nvSpPr>
        <p:spPr bwMode="auto">
          <a:xfrm flipH="1">
            <a:off x="5358064" y="5219700"/>
            <a:ext cx="1066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9">
            <a:extLst>
              <a:ext uri="{FF2B5EF4-FFF2-40B4-BE49-F238E27FC236}">
                <a16:creationId xmlns:a16="http://schemas.microsoft.com/office/drawing/2014/main" id="{DD659E8F-EAE4-4F76-880E-92571D2F9C7A}"/>
              </a:ext>
            </a:extLst>
          </p:cNvPr>
          <p:cNvSpPr>
            <a:spLocks noChangeShapeType="1"/>
          </p:cNvSpPr>
          <p:nvPr/>
        </p:nvSpPr>
        <p:spPr bwMode="auto">
          <a:xfrm flipV="1">
            <a:off x="4596064" y="3390900"/>
            <a:ext cx="0" cy="1828800"/>
          </a:xfrm>
          <a:prstGeom prst="line">
            <a:avLst/>
          </a:prstGeom>
          <a:noFill/>
          <a:ln w="9525">
            <a:solidFill>
              <a:srgbClr val="FF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Rectangle 5">
            <a:extLst>
              <a:ext uri="{FF2B5EF4-FFF2-40B4-BE49-F238E27FC236}">
                <a16:creationId xmlns:a16="http://schemas.microsoft.com/office/drawing/2014/main" id="{AC89AE4E-B431-4D92-8FD6-B93407E63578}"/>
              </a:ext>
            </a:extLst>
          </p:cNvPr>
          <p:cNvSpPr txBox="1">
            <a:spLocks noChangeArrowheads="1"/>
          </p:cNvSpPr>
          <p:nvPr/>
        </p:nvSpPr>
        <p:spPr>
          <a:xfrm>
            <a:off x="3376864" y="4076700"/>
            <a:ext cx="1693863" cy="334962"/>
          </a:xfrm>
          <a:prstGeom prst="rect">
            <a:avLst/>
          </a:prstGeom>
        </p:spPr>
        <p:txBody>
          <a:bodyPr/>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342900" lvl="1" indent="-342900">
              <a:lnSpc>
                <a:spcPct val="90000"/>
              </a:lnSpc>
              <a:buClrTx/>
              <a:buFontTx/>
              <a:buChar char="•"/>
            </a:pPr>
            <a:r>
              <a:rPr kumimoji="1" lang="en-US" altLang="zh-CN" b="0" dirty="0">
                <a:latin typeface="Times New Roman" panose="02020603050405020304" pitchFamily="18" charset="0"/>
                <a:ea typeface="宋体" panose="02010600030101010101" pitchFamily="2" charset="-122"/>
              </a:rPr>
              <a:t>(0,1,1)</a:t>
            </a:r>
          </a:p>
        </p:txBody>
      </p:sp>
    </p:spTree>
    <p:extLst>
      <p:ext uri="{BB962C8B-B14F-4D97-AF65-F5344CB8AC3E}">
        <p14:creationId xmlns:p14="http://schemas.microsoft.com/office/powerpoint/2010/main" val="152352507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E9EB9A2A-B8F3-4950-8428-CA6178E5864E}"/>
              </a:ext>
            </a:extLst>
          </p:cNvPr>
          <p:cNvSpPr txBox="1">
            <a:spLocks noChangeArrowheads="1"/>
          </p:cNvSpPr>
          <p:nvPr/>
        </p:nvSpPr>
        <p:spPr>
          <a:xfrm>
            <a:off x="585166" y="1741639"/>
            <a:ext cx="1123121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kern="0" dirty="0"/>
          </a:p>
        </p:txBody>
      </p:sp>
      <p:sp>
        <p:nvSpPr>
          <p:cNvPr id="7" name="Rectangle 3">
            <a:extLst>
              <a:ext uri="{FF2B5EF4-FFF2-40B4-BE49-F238E27FC236}">
                <a16:creationId xmlns:a16="http://schemas.microsoft.com/office/drawing/2014/main" id="{2812FC80-080C-44DA-B5CC-8A25CDD7EDA7}"/>
              </a:ext>
            </a:extLst>
          </p:cNvPr>
          <p:cNvSpPr txBox="1">
            <a:spLocks noChangeArrowheads="1"/>
          </p:cNvSpPr>
          <p:nvPr/>
        </p:nvSpPr>
        <p:spPr>
          <a:xfrm>
            <a:off x="439591" y="1913426"/>
            <a:ext cx="11522365"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sz="2800" kern="0" dirty="0"/>
              <a:t>Let </a:t>
            </a:r>
            <a:r>
              <a:rPr lang="en-US" altLang="zh-CN" sz="2800" i="1" kern="0" dirty="0"/>
              <a:t>x</a:t>
            </a:r>
            <a:r>
              <a:rPr lang="en-US" altLang="zh-CN" sz="2800" kern="0" dirty="0"/>
              <a:t> and </a:t>
            </a:r>
            <a:r>
              <a:rPr lang="en-US" altLang="zh-CN" sz="2800" i="1" kern="0" dirty="0"/>
              <a:t>y</a:t>
            </a:r>
            <a:r>
              <a:rPr lang="en-US" altLang="zh-CN" sz="2800" kern="0" dirty="0"/>
              <a:t> be words in </a:t>
            </a:r>
            <a:r>
              <a:rPr lang="en-US" altLang="zh-CN" sz="2800" i="1" kern="0" dirty="0"/>
              <a:t>B</a:t>
            </a:r>
            <a:r>
              <a:rPr lang="en-US" altLang="zh-CN" sz="2800" i="1" kern="0" baseline="30000" dirty="0"/>
              <a:t>m</a:t>
            </a:r>
            <a:r>
              <a:rPr lang="en-US" altLang="zh-CN" sz="2800" kern="0" dirty="0"/>
              <a:t>. The </a:t>
            </a:r>
            <a:r>
              <a:rPr lang="en-US" altLang="zh-CN" sz="2800" kern="0" dirty="0">
                <a:solidFill>
                  <a:srgbClr val="FF0000"/>
                </a:solidFill>
              </a:rPr>
              <a:t>Hamming distance</a:t>
            </a:r>
            <a:r>
              <a:rPr lang="en-US" altLang="zh-CN" sz="2800" kern="0" dirty="0"/>
              <a:t> </a:t>
            </a:r>
            <a:r>
              <a:rPr lang="en-US" altLang="zh-CN" sz="2800" kern="0" dirty="0">
                <a:sym typeface="Symbol" panose="05050102010706020507" pitchFamily="18" charset="2"/>
              </a:rPr>
              <a:t></a:t>
            </a:r>
            <a:r>
              <a:rPr lang="en-US" altLang="zh-CN" sz="2800" kern="0" dirty="0"/>
              <a:t>(</a:t>
            </a:r>
            <a:r>
              <a:rPr lang="en-US" altLang="zh-CN" sz="2800" i="1" kern="0" dirty="0"/>
              <a:t>x</a:t>
            </a:r>
            <a:r>
              <a:rPr lang="en-US" altLang="zh-CN" sz="2800" kern="0" dirty="0"/>
              <a:t>, </a:t>
            </a:r>
            <a:r>
              <a:rPr lang="en-US" altLang="zh-CN" sz="2800" i="1" kern="0" dirty="0"/>
              <a:t>y</a:t>
            </a:r>
            <a:r>
              <a:rPr lang="en-US" altLang="zh-CN" sz="2800" kern="0" dirty="0"/>
              <a:t>) between </a:t>
            </a:r>
            <a:r>
              <a:rPr lang="en-US" altLang="zh-CN" sz="2800" i="1" kern="0" dirty="0"/>
              <a:t>x</a:t>
            </a:r>
            <a:r>
              <a:rPr lang="en-US" altLang="zh-CN" sz="2800" kern="0" dirty="0"/>
              <a:t> and </a:t>
            </a:r>
            <a:r>
              <a:rPr lang="en-US" altLang="zh-CN" sz="2800" i="1" kern="0" dirty="0"/>
              <a:t>y</a:t>
            </a:r>
            <a:r>
              <a:rPr lang="en-US" altLang="zh-CN" sz="2800" kern="0" dirty="0"/>
              <a:t> is the weight, |</a:t>
            </a:r>
            <a:r>
              <a:rPr lang="en-US" altLang="zh-CN" sz="2800" i="1" kern="0" dirty="0"/>
              <a:t>x </a:t>
            </a:r>
            <a:r>
              <a:rPr lang="en-US" altLang="zh-CN" sz="2800" kern="0" dirty="0">
                <a:sym typeface="Symbol" panose="05050102010706020507" pitchFamily="18" charset="2"/>
              </a:rPr>
              <a:t> </a:t>
            </a:r>
            <a:r>
              <a:rPr lang="en-US" altLang="zh-CN" sz="2800" i="1" kern="0" dirty="0"/>
              <a:t>y</a:t>
            </a:r>
            <a:r>
              <a:rPr lang="en-US" altLang="zh-CN" sz="2800" kern="0" dirty="0"/>
              <a:t>|, of </a:t>
            </a:r>
            <a:r>
              <a:rPr lang="en-US" altLang="zh-CN" sz="2800" i="1" kern="0" dirty="0"/>
              <a:t>x</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y</a:t>
            </a:r>
            <a:r>
              <a:rPr lang="en-US" altLang="zh-CN" sz="2800" kern="0" dirty="0"/>
              <a:t>.</a:t>
            </a:r>
          </a:p>
          <a:p>
            <a:pPr marL="0" indent="0">
              <a:lnSpc>
                <a:spcPct val="150000"/>
              </a:lnSpc>
              <a:buNone/>
            </a:pPr>
            <a:r>
              <a:rPr lang="en-US" altLang="zh-CN" sz="2800" kern="0" dirty="0"/>
              <a:t>The distance between </a:t>
            </a:r>
            <a:r>
              <a:rPr lang="en-US" altLang="zh-CN" sz="2800" i="1" kern="0" dirty="0"/>
              <a:t>x</a:t>
            </a:r>
            <a:r>
              <a:rPr lang="en-US" altLang="zh-CN" sz="2800" kern="0" dirty="0"/>
              <a:t> = </a:t>
            </a:r>
            <a:r>
              <a:rPr lang="en-US" altLang="zh-CN" sz="2800" i="1" kern="0" dirty="0"/>
              <a:t>x</a:t>
            </a:r>
            <a:r>
              <a:rPr lang="en-US" altLang="zh-CN" sz="2800" i="1" kern="0" baseline="-25000" dirty="0"/>
              <a:t>1</a:t>
            </a:r>
            <a:r>
              <a:rPr lang="en-US" altLang="zh-CN" sz="2800" i="1" kern="0" dirty="0"/>
              <a:t>x</a:t>
            </a:r>
            <a:r>
              <a:rPr lang="en-US" altLang="zh-CN" sz="2800" i="1" kern="0" baseline="-25000" dirty="0"/>
              <a:t>2</a:t>
            </a:r>
            <a:r>
              <a:rPr lang="en-US" altLang="zh-CN" sz="2800" i="1" kern="0" dirty="0"/>
              <a:t>…x</a:t>
            </a:r>
            <a:r>
              <a:rPr lang="en-US" altLang="zh-CN" sz="2800" i="1" kern="0" baseline="-25000" dirty="0"/>
              <a:t>m</a:t>
            </a:r>
            <a:r>
              <a:rPr lang="en-US" altLang="zh-CN" sz="2800" kern="0" dirty="0"/>
              <a:t> and </a:t>
            </a:r>
            <a:r>
              <a:rPr lang="en-US" altLang="zh-CN" sz="2800" i="1" kern="0" dirty="0"/>
              <a:t>y </a:t>
            </a:r>
            <a:r>
              <a:rPr lang="en-US" altLang="zh-CN" sz="2800" kern="0" dirty="0"/>
              <a:t>= </a:t>
            </a:r>
            <a:r>
              <a:rPr lang="en-US" altLang="zh-CN" sz="2800" i="1" kern="0" dirty="0"/>
              <a:t>y</a:t>
            </a:r>
            <a:r>
              <a:rPr lang="en-US" altLang="zh-CN" sz="2800" i="1" kern="0" baseline="-25000" dirty="0"/>
              <a:t>1</a:t>
            </a:r>
            <a:r>
              <a:rPr lang="en-US" altLang="zh-CN" sz="2800" i="1" kern="0" dirty="0"/>
              <a:t>y</a:t>
            </a:r>
            <a:r>
              <a:rPr lang="en-US" altLang="zh-CN" sz="2800" i="1" kern="0" baseline="-25000" dirty="0"/>
              <a:t>2</a:t>
            </a:r>
            <a:r>
              <a:rPr lang="en-US" altLang="zh-CN" sz="2800" i="1" kern="0" dirty="0"/>
              <a:t>…y</a:t>
            </a:r>
            <a:r>
              <a:rPr lang="en-US" altLang="zh-CN" sz="2800" i="1" kern="0" baseline="-25000" dirty="0"/>
              <a:t>m</a:t>
            </a:r>
            <a:r>
              <a:rPr lang="en-US" altLang="zh-CN" sz="2800" kern="0" dirty="0"/>
              <a:t> is the number of various of </a:t>
            </a:r>
            <a:r>
              <a:rPr lang="en-US" altLang="zh-CN" sz="2800" i="1" kern="0" dirty="0"/>
              <a:t>i</a:t>
            </a:r>
            <a:r>
              <a:rPr lang="en-US" altLang="zh-CN" sz="2800" kern="0" dirty="0"/>
              <a:t> such that </a:t>
            </a:r>
            <a:r>
              <a:rPr lang="en-US" altLang="zh-CN" sz="2800" i="1" kern="0" dirty="0"/>
              <a:t>x</a:t>
            </a:r>
            <a:r>
              <a:rPr lang="en-US" altLang="zh-CN" sz="2800" i="1" kern="0" baseline="-25000" dirty="0"/>
              <a:t>i</a:t>
            </a:r>
            <a:r>
              <a:rPr lang="en-US" altLang="zh-CN" sz="2800" i="1" kern="0" dirty="0"/>
              <a:t> </a:t>
            </a:r>
            <a:r>
              <a:rPr lang="en-US" altLang="zh-CN" sz="2800" kern="0" dirty="0">
                <a:sym typeface="Symbol" panose="05050102010706020507" pitchFamily="18" charset="2"/>
              </a:rPr>
              <a:t></a:t>
            </a:r>
            <a:r>
              <a:rPr lang="en-US" altLang="zh-CN" sz="2800" i="1" kern="0" dirty="0"/>
              <a:t> y</a:t>
            </a:r>
            <a:r>
              <a:rPr lang="en-US" altLang="zh-CN" sz="2800" i="1" kern="0" baseline="-25000" dirty="0"/>
              <a:t>i</a:t>
            </a:r>
            <a:r>
              <a:rPr lang="en-US" altLang="zh-CN" sz="2800" kern="0" dirty="0"/>
              <a:t>, that is, the number of positions in which </a:t>
            </a:r>
            <a:r>
              <a:rPr lang="en-US" altLang="zh-CN" sz="2800" i="1" kern="0" dirty="0"/>
              <a:t>x</a:t>
            </a:r>
            <a:r>
              <a:rPr lang="en-US" altLang="zh-CN" sz="2800" kern="0" dirty="0"/>
              <a:t> and </a:t>
            </a:r>
            <a:r>
              <a:rPr lang="en-US" altLang="zh-CN" sz="2800" i="1" kern="0" dirty="0"/>
              <a:t>y</a:t>
            </a:r>
            <a:r>
              <a:rPr lang="en-US" altLang="zh-CN" sz="2800" kern="0" dirty="0"/>
              <a:t> differ.</a:t>
            </a:r>
          </a:p>
          <a:p>
            <a:pPr marL="0" indent="0">
              <a:lnSpc>
                <a:spcPct val="150000"/>
              </a:lnSpc>
              <a:buNone/>
            </a:pPr>
            <a:r>
              <a:rPr lang="en-US" altLang="zh-CN" sz="2800" kern="0" dirty="0"/>
              <a:t>Using the weight of </a:t>
            </a:r>
            <a:r>
              <a:rPr lang="en-US" altLang="zh-CN" sz="2800" i="1" kern="0" dirty="0"/>
              <a:t>x</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y</a:t>
            </a:r>
            <a:r>
              <a:rPr lang="en-US" altLang="zh-CN" sz="2800" kern="0" dirty="0"/>
              <a:t> is a convenient way to count the number of different positions.</a:t>
            </a:r>
          </a:p>
        </p:txBody>
      </p:sp>
      <p:sp>
        <p:nvSpPr>
          <p:cNvPr id="8" name="文本框 7">
            <a:extLst>
              <a:ext uri="{FF2B5EF4-FFF2-40B4-BE49-F238E27FC236}">
                <a16:creationId xmlns:a16="http://schemas.microsoft.com/office/drawing/2014/main" id="{370C99AF-A3E4-4128-88AA-7294F4F06BB4}"/>
              </a:ext>
            </a:extLst>
          </p:cNvPr>
          <p:cNvSpPr txBox="1"/>
          <p:nvPr/>
        </p:nvSpPr>
        <p:spPr>
          <a:xfrm>
            <a:off x="608556" y="972198"/>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Hamming distance - </a:t>
            </a:r>
            <a:r>
              <a:rPr kumimoji="0" lang="zh-CN" altLang="en-US" sz="4400" b="0" i="0" u="none" strike="noStrike" kern="0" cap="none" spc="0" normalizeH="0" baseline="0" noProof="0" dirty="0">
                <a:ln>
                  <a:noFill/>
                </a:ln>
                <a:solidFill>
                  <a:srgbClr val="000000"/>
                </a:solidFill>
                <a:effectLst/>
                <a:uLnTx/>
                <a:uFillTx/>
                <a:latin typeface="Arial"/>
                <a:ea typeface="宋体"/>
                <a:cs typeface="+mj-cs"/>
              </a:rPr>
              <a:t>海明距离</a:t>
            </a:r>
            <a:endParaRPr lang="zh-CN" altLang="en-US" dirty="0"/>
          </a:p>
        </p:txBody>
      </p:sp>
    </p:spTree>
    <p:extLst>
      <p:ext uri="{BB962C8B-B14F-4D97-AF65-F5344CB8AC3E}">
        <p14:creationId xmlns:p14="http://schemas.microsoft.com/office/powerpoint/2010/main" val="333899440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4:</a:t>
            </a:r>
          </a:p>
          <a:p>
            <a:pPr marL="400050" lvl="1" indent="0">
              <a:lnSpc>
                <a:spcPct val="150000"/>
              </a:lnSpc>
              <a:buNone/>
            </a:pPr>
            <a:r>
              <a:rPr lang="en-US" altLang="zh-CN" sz="2400" dirty="0"/>
              <a:t>Find the distance between </a:t>
            </a:r>
            <a:r>
              <a:rPr lang="en-US" altLang="zh-CN" sz="2400" i="1" dirty="0"/>
              <a:t>x</a:t>
            </a:r>
            <a:r>
              <a:rPr lang="en-US" altLang="zh-CN" sz="2400" dirty="0"/>
              <a:t> and </a:t>
            </a:r>
            <a:r>
              <a:rPr lang="en-US" altLang="zh-CN" sz="2400" i="1" dirty="0"/>
              <a:t>y</a:t>
            </a:r>
            <a:r>
              <a:rPr lang="en-US" altLang="zh-CN" sz="2400" dirty="0"/>
              <a:t>:</a:t>
            </a:r>
          </a:p>
          <a:p>
            <a:pPr marL="857250" lvl="2" indent="0">
              <a:lnSpc>
                <a:spcPct val="150000"/>
              </a:lnSpc>
              <a:buNone/>
            </a:pPr>
            <a:r>
              <a:rPr lang="en-US" altLang="zh-CN" dirty="0"/>
              <a:t>(a) </a:t>
            </a:r>
            <a:r>
              <a:rPr lang="en-US" altLang="zh-CN" i="1" dirty="0"/>
              <a:t>x</a:t>
            </a:r>
            <a:r>
              <a:rPr lang="en-US" altLang="zh-CN" dirty="0"/>
              <a:t> = 110110,  </a:t>
            </a:r>
            <a:r>
              <a:rPr lang="en-US" altLang="zh-CN" i="1" dirty="0"/>
              <a:t>y</a:t>
            </a:r>
            <a:r>
              <a:rPr lang="en-US" altLang="zh-CN" dirty="0"/>
              <a:t> = 000101</a:t>
            </a:r>
          </a:p>
          <a:p>
            <a:pPr marL="857250" lvl="2" indent="0">
              <a:lnSpc>
                <a:spcPct val="150000"/>
              </a:lnSpc>
              <a:buNone/>
            </a:pPr>
            <a:r>
              <a:rPr lang="en-US" altLang="zh-CN" dirty="0"/>
              <a:t>(b) </a:t>
            </a:r>
            <a:r>
              <a:rPr lang="en-US" altLang="zh-CN" i="1" dirty="0"/>
              <a:t>x</a:t>
            </a:r>
            <a:r>
              <a:rPr lang="en-US" altLang="zh-CN" dirty="0"/>
              <a:t> = 001100,  </a:t>
            </a:r>
            <a:r>
              <a:rPr lang="en-US" altLang="zh-CN" i="1" dirty="0"/>
              <a:t>y</a:t>
            </a:r>
            <a:r>
              <a:rPr lang="en-US" altLang="zh-CN" dirty="0"/>
              <a:t> = 010110.</a:t>
            </a:r>
          </a:p>
          <a:p>
            <a:pPr eaLnBrk="1" hangingPunct="1">
              <a:lnSpc>
                <a:spcPct val="150000"/>
              </a:lnSpc>
              <a:buFont typeface="Wingdings" panose="05000000000000000000" pitchFamily="2" charset="2"/>
              <a:buChar char="l"/>
            </a:pPr>
            <a:r>
              <a:rPr lang="en-US" altLang="zh-CN" dirty="0"/>
              <a:t>Solution:</a:t>
            </a:r>
          </a:p>
          <a:p>
            <a:pPr marL="857250" lvl="2" indent="0">
              <a:lnSpc>
                <a:spcPct val="150000"/>
              </a:lnSpc>
              <a:buNone/>
            </a:pPr>
            <a:r>
              <a:rPr lang="en-US" altLang="zh-CN" dirty="0"/>
              <a:t>(a) </a:t>
            </a:r>
            <a:r>
              <a:rPr lang="en-US" altLang="zh-CN" i="1" dirty="0"/>
              <a:t>x</a:t>
            </a:r>
            <a:r>
              <a:rPr lang="en-US" altLang="zh-CN" dirty="0"/>
              <a:t> </a:t>
            </a:r>
            <a:r>
              <a:rPr lang="en-US" altLang="zh-CN" dirty="0">
                <a:sym typeface="Symbol" panose="05050102010706020507" pitchFamily="18" charset="2"/>
              </a:rPr>
              <a:t></a:t>
            </a:r>
            <a:r>
              <a:rPr lang="en-US" altLang="zh-CN" dirty="0"/>
              <a:t> </a:t>
            </a:r>
            <a:r>
              <a:rPr lang="en-US" altLang="zh-CN" i="1" dirty="0"/>
              <a:t>y</a:t>
            </a:r>
            <a:r>
              <a:rPr lang="en-US" altLang="zh-CN" dirty="0"/>
              <a:t> = 110011, so | </a:t>
            </a:r>
            <a:r>
              <a:rPr lang="en-US" altLang="zh-CN" i="1" dirty="0"/>
              <a:t>x</a:t>
            </a:r>
            <a:r>
              <a:rPr lang="en-US" altLang="zh-CN" dirty="0"/>
              <a:t> </a:t>
            </a:r>
            <a:r>
              <a:rPr lang="en-US" altLang="zh-CN" dirty="0">
                <a:sym typeface="Symbol" panose="05050102010706020507" pitchFamily="18" charset="2"/>
              </a:rPr>
              <a:t></a:t>
            </a:r>
            <a:r>
              <a:rPr lang="en-US" altLang="zh-CN" dirty="0"/>
              <a:t> </a:t>
            </a:r>
            <a:r>
              <a:rPr lang="en-US" altLang="zh-CN" i="1" dirty="0"/>
              <a:t>y</a:t>
            </a:r>
            <a:r>
              <a:rPr lang="en-US" altLang="zh-CN" dirty="0"/>
              <a:t> | = 4</a:t>
            </a:r>
          </a:p>
          <a:p>
            <a:pPr marL="857250" lvl="2" indent="0">
              <a:lnSpc>
                <a:spcPct val="150000"/>
              </a:lnSpc>
              <a:buNone/>
            </a:pPr>
            <a:r>
              <a:rPr lang="en-US" altLang="zh-CN" dirty="0"/>
              <a:t>(b) </a:t>
            </a:r>
            <a:r>
              <a:rPr lang="en-US" altLang="zh-CN" i="1" dirty="0"/>
              <a:t>x</a:t>
            </a:r>
            <a:r>
              <a:rPr lang="en-US" altLang="zh-CN" dirty="0"/>
              <a:t> </a:t>
            </a:r>
            <a:r>
              <a:rPr lang="en-US" altLang="zh-CN" dirty="0">
                <a:sym typeface="Symbol" panose="05050102010706020507" pitchFamily="18" charset="2"/>
              </a:rPr>
              <a:t></a:t>
            </a:r>
            <a:r>
              <a:rPr lang="en-US" altLang="zh-CN" dirty="0"/>
              <a:t> </a:t>
            </a:r>
            <a:r>
              <a:rPr lang="en-US" altLang="zh-CN" i="1" dirty="0"/>
              <a:t>y</a:t>
            </a:r>
            <a:r>
              <a:rPr lang="en-US" altLang="zh-CN" dirty="0"/>
              <a:t> = 011010, so | </a:t>
            </a:r>
            <a:r>
              <a:rPr lang="en-US" altLang="zh-CN" i="1" dirty="0"/>
              <a:t>x</a:t>
            </a:r>
            <a:r>
              <a:rPr lang="en-US" altLang="zh-CN" dirty="0"/>
              <a:t> </a:t>
            </a:r>
            <a:r>
              <a:rPr lang="en-US" altLang="zh-CN" dirty="0">
                <a:sym typeface="Symbol" panose="05050102010706020507" pitchFamily="18" charset="2"/>
              </a:rPr>
              <a:t></a:t>
            </a:r>
            <a:r>
              <a:rPr lang="en-US" altLang="zh-CN" dirty="0"/>
              <a:t> </a:t>
            </a:r>
            <a:r>
              <a:rPr lang="en-US" altLang="zh-CN" i="1" dirty="0"/>
              <a:t>y</a:t>
            </a:r>
            <a:r>
              <a:rPr lang="en-US" altLang="zh-CN" dirty="0"/>
              <a:t> | = 3</a:t>
            </a:r>
          </a:p>
        </p:txBody>
      </p:sp>
    </p:spTree>
    <p:extLst>
      <p:ext uri="{BB962C8B-B14F-4D97-AF65-F5344CB8AC3E}">
        <p14:creationId xmlns:p14="http://schemas.microsoft.com/office/powerpoint/2010/main" val="24835124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5" name="Rectangle 3">
            <a:extLst>
              <a:ext uri="{FF2B5EF4-FFF2-40B4-BE49-F238E27FC236}">
                <a16:creationId xmlns:a16="http://schemas.microsoft.com/office/drawing/2014/main" id="{69BF0680-7018-451F-BBB4-F8DBDC2125D0}"/>
              </a:ext>
            </a:extLst>
          </p:cNvPr>
          <p:cNvSpPr txBox="1">
            <a:spLocks noChangeArrowheads="1"/>
          </p:cNvSpPr>
          <p:nvPr/>
        </p:nvSpPr>
        <p:spPr>
          <a:xfrm>
            <a:off x="210046" y="1419764"/>
            <a:ext cx="11642035" cy="5701748"/>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sz="2800" kern="0" dirty="0"/>
              <a:t>Let </a:t>
            </a:r>
            <a:r>
              <a:rPr lang="en-US" altLang="zh-CN" sz="2800" i="1" kern="0" dirty="0"/>
              <a:t>x</a:t>
            </a:r>
            <a:r>
              <a:rPr lang="en-US" altLang="zh-CN" sz="2800" kern="0" dirty="0"/>
              <a:t>, </a:t>
            </a:r>
            <a:r>
              <a:rPr lang="en-US" altLang="zh-CN" sz="2800" i="1" kern="0" dirty="0"/>
              <a:t>y</a:t>
            </a:r>
            <a:r>
              <a:rPr lang="en-US" altLang="zh-CN" sz="2800" kern="0" dirty="0"/>
              <a:t>, and </a:t>
            </a:r>
            <a:r>
              <a:rPr lang="en-US" altLang="zh-CN" sz="2800" i="1" kern="0" dirty="0"/>
              <a:t>z</a:t>
            </a:r>
            <a:r>
              <a:rPr lang="en-US" altLang="zh-CN" sz="2800" kern="0" dirty="0"/>
              <a:t> be elements of </a:t>
            </a:r>
            <a:r>
              <a:rPr lang="en-US" altLang="zh-CN" sz="2800" i="1" kern="0" dirty="0"/>
              <a:t>B</a:t>
            </a:r>
            <a:r>
              <a:rPr lang="en-US" altLang="zh-CN" sz="2800" i="1" kern="0" baseline="30000" dirty="0"/>
              <a:t>m</a:t>
            </a:r>
            <a:r>
              <a:rPr lang="en-US" altLang="zh-CN" sz="2800" kern="0" dirty="0"/>
              <a:t>. Then</a:t>
            </a:r>
          </a:p>
          <a:p>
            <a:pPr marL="457200" lvl="1" indent="0">
              <a:lnSpc>
                <a:spcPct val="150000"/>
              </a:lnSpc>
              <a:buNone/>
            </a:pPr>
            <a:r>
              <a:rPr lang="en-US" altLang="zh-CN" sz="2400" kern="0" dirty="0"/>
              <a:t>(a) </a:t>
            </a:r>
            <a:r>
              <a:rPr lang="en-US" altLang="zh-CN" sz="2400" kern="0" dirty="0">
                <a:sym typeface="Symbol" panose="05050102010706020507" pitchFamily="18" charset="2"/>
              </a:rPr>
              <a:t></a:t>
            </a:r>
            <a:r>
              <a:rPr lang="en-US" altLang="zh-CN" sz="2400" kern="0" dirty="0"/>
              <a:t>(</a:t>
            </a:r>
            <a:r>
              <a:rPr lang="en-US" altLang="zh-CN" sz="2400" i="1" kern="0" dirty="0"/>
              <a:t>x</a:t>
            </a:r>
            <a:r>
              <a:rPr lang="en-US" altLang="zh-CN" sz="2400" kern="0" dirty="0"/>
              <a:t>, </a:t>
            </a:r>
            <a:r>
              <a:rPr lang="en-US" altLang="zh-CN" sz="2400" i="1" kern="0" dirty="0"/>
              <a:t>y</a:t>
            </a:r>
            <a:r>
              <a:rPr lang="en-US" altLang="zh-CN" sz="2400" kern="0" dirty="0"/>
              <a:t>) = </a:t>
            </a:r>
            <a:r>
              <a:rPr lang="en-US" altLang="zh-CN" sz="2400" kern="0" dirty="0">
                <a:sym typeface="Symbol" panose="05050102010706020507" pitchFamily="18" charset="2"/>
              </a:rPr>
              <a:t></a:t>
            </a:r>
            <a:r>
              <a:rPr lang="en-US" altLang="zh-CN" sz="2400" kern="0" dirty="0"/>
              <a:t>(</a:t>
            </a:r>
            <a:r>
              <a:rPr lang="en-US" altLang="zh-CN" sz="2400" i="1" kern="0" dirty="0"/>
              <a:t>y</a:t>
            </a:r>
            <a:r>
              <a:rPr lang="en-US" altLang="zh-CN" sz="2400" kern="0" dirty="0"/>
              <a:t>, </a:t>
            </a:r>
            <a:r>
              <a:rPr lang="en-US" altLang="zh-CN" sz="2400" i="1" kern="0" dirty="0"/>
              <a:t>x</a:t>
            </a:r>
            <a:r>
              <a:rPr lang="en-US" altLang="zh-CN" sz="2400" kern="0" dirty="0"/>
              <a:t>) </a:t>
            </a:r>
          </a:p>
          <a:p>
            <a:pPr marL="457200" lvl="1" indent="0">
              <a:lnSpc>
                <a:spcPct val="150000"/>
              </a:lnSpc>
              <a:buNone/>
            </a:pPr>
            <a:r>
              <a:rPr lang="en-US" altLang="zh-CN" sz="2400" kern="0" dirty="0"/>
              <a:t>(b) </a:t>
            </a:r>
            <a:r>
              <a:rPr lang="en-US" altLang="zh-CN" sz="2400" kern="0" dirty="0">
                <a:sym typeface="Symbol" panose="05050102010706020507" pitchFamily="18" charset="2"/>
              </a:rPr>
              <a:t></a:t>
            </a:r>
            <a:r>
              <a:rPr lang="en-US" altLang="zh-CN" sz="2400" kern="0" dirty="0"/>
              <a:t>(</a:t>
            </a:r>
            <a:r>
              <a:rPr lang="en-US" altLang="zh-CN" sz="2400" i="1" kern="0" dirty="0"/>
              <a:t>x</a:t>
            </a:r>
            <a:r>
              <a:rPr lang="en-US" altLang="zh-CN" sz="2400" kern="0" dirty="0"/>
              <a:t>, </a:t>
            </a:r>
            <a:r>
              <a:rPr lang="en-US" altLang="zh-CN" sz="2400" i="1" kern="0" dirty="0"/>
              <a:t>y</a:t>
            </a:r>
            <a:r>
              <a:rPr lang="en-US" altLang="zh-CN" sz="2400" kern="0" dirty="0"/>
              <a:t>)</a:t>
            </a:r>
            <a:r>
              <a:rPr lang="en-US" altLang="zh-CN" sz="2400" kern="0" dirty="0">
                <a:cs typeface="Arial" panose="020B0604020202020204" pitchFamily="34" charset="0"/>
              </a:rPr>
              <a:t>≥</a:t>
            </a:r>
            <a:r>
              <a:rPr lang="en-US" altLang="zh-CN" sz="2400" kern="0" dirty="0"/>
              <a:t>0</a:t>
            </a:r>
          </a:p>
          <a:p>
            <a:pPr marL="457200" lvl="1" indent="0">
              <a:lnSpc>
                <a:spcPct val="150000"/>
              </a:lnSpc>
              <a:buNone/>
            </a:pPr>
            <a:r>
              <a:rPr lang="en-US" altLang="zh-CN" sz="2400" kern="0" dirty="0"/>
              <a:t>(c) </a:t>
            </a:r>
            <a:r>
              <a:rPr lang="en-US" altLang="zh-CN" sz="2400" kern="0" dirty="0">
                <a:sym typeface="Symbol" panose="05050102010706020507" pitchFamily="18" charset="2"/>
              </a:rPr>
              <a:t></a:t>
            </a:r>
            <a:r>
              <a:rPr lang="en-US" altLang="zh-CN" sz="2400" kern="0" dirty="0"/>
              <a:t>(</a:t>
            </a:r>
            <a:r>
              <a:rPr lang="en-US" altLang="zh-CN" sz="2400" i="1" kern="0" dirty="0"/>
              <a:t>x</a:t>
            </a:r>
            <a:r>
              <a:rPr lang="en-US" altLang="zh-CN" sz="2400" kern="0" dirty="0"/>
              <a:t>, </a:t>
            </a:r>
            <a:r>
              <a:rPr lang="en-US" altLang="zh-CN" sz="2400" i="1" kern="0" dirty="0"/>
              <a:t>y</a:t>
            </a:r>
            <a:r>
              <a:rPr lang="en-US" altLang="zh-CN" sz="2400" kern="0" dirty="0"/>
              <a:t>) = 0 if and only if </a:t>
            </a:r>
            <a:r>
              <a:rPr lang="en-US" altLang="zh-CN" sz="2400" i="1" kern="0" dirty="0"/>
              <a:t>x</a:t>
            </a:r>
            <a:r>
              <a:rPr lang="en-US" altLang="zh-CN" sz="2400" kern="0" dirty="0"/>
              <a:t> = </a:t>
            </a:r>
            <a:r>
              <a:rPr lang="en-US" altLang="zh-CN" sz="2400" i="1" kern="0" dirty="0"/>
              <a:t>y</a:t>
            </a:r>
          </a:p>
          <a:p>
            <a:pPr marL="457200" lvl="1" indent="0">
              <a:lnSpc>
                <a:spcPct val="150000"/>
              </a:lnSpc>
              <a:buNone/>
            </a:pPr>
            <a:r>
              <a:rPr lang="en-US" altLang="zh-CN" sz="2400" kern="0" dirty="0"/>
              <a:t>(d) </a:t>
            </a:r>
            <a:r>
              <a:rPr lang="en-US" altLang="zh-CN" sz="2400" kern="0" dirty="0">
                <a:sym typeface="Symbol" panose="05050102010706020507" pitchFamily="18" charset="2"/>
              </a:rPr>
              <a:t></a:t>
            </a:r>
            <a:r>
              <a:rPr lang="en-US" altLang="zh-CN" sz="2400" kern="0" dirty="0"/>
              <a:t>(</a:t>
            </a:r>
            <a:r>
              <a:rPr lang="en-US" altLang="zh-CN" sz="2400" i="1" kern="0" dirty="0"/>
              <a:t>x</a:t>
            </a:r>
            <a:r>
              <a:rPr lang="en-US" altLang="zh-CN" sz="2400" kern="0" dirty="0"/>
              <a:t>, </a:t>
            </a:r>
            <a:r>
              <a:rPr lang="en-US" altLang="zh-CN" sz="2400" i="1" kern="0" dirty="0"/>
              <a:t>y</a:t>
            </a:r>
            <a:r>
              <a:rPr lang="en-US" altLang="zh-CN" sz="2400" kern="0" dirty="0"/>
              <a:t>) </a:t>
            </a:r>
            <a:r>
              <a:rPr lang="en-US" altLang="zh-CN" sz="2400" kern="0" dirty="0">
                <a:cs typeface="Arial" panose="020B0604020202020204" pitchFamily="34" charset="0"/>
              </a:rPr>
              <a:t>≤ </a:t>
            </a:r>
            <a:r>
              <a:rPr lang="en-US" altLang="zh-CN" sz="2400" kern="0" dirty="0">
                <a:sym typeface="Symbol" panose="05050102010706020507" pitchFamily="18" charset="2"/>
              </a:rPr>
              <a:t></a:t>
            </a:r>
            <a:r>
              <a:rPr lang="en-US" altLang="zh-CN" sz="2400" kern="0" dirty="0"/>
              <a:t>(</a:t>
            </a:r>
            <a:r>
              <a:rPr lang="en-US" altLang="zh-CN" sz="2400" i="1" kern="0" dirty="0"/>
              <a:t>x</a:t>
            </a:r>
            <a:r>
              <a:rPr lang="en-US" altLang="zh-CN" sz="2400" kern="0" dirty="0"/>
              <a:t>, </a:t>
            </a:r>
            <a:r>
              <a:rPr lang="en-US" altLang="zh-CN" sz="2400" i="1" kern="0" dirty="0"/>
              <a:t>z</a:t>
            </a:r>
            <a:r>
              <a:rPr lang="en-US" altLang="zh-CN" sz="2400" kern="0" dirty="0"/>
              <a:t>) + </a:t>
            </a:r>
            <a:r>
              <a:rPr lang="en-US" altLang="zh-CN" sz="2400" kern="0" dirty="0">
                <a:sym typeface="Symbol" panose="05050102010706020507" pitchFamily="18" charset="2"/>
              </a:rPr>
              <a:t></a:t>
            </a:r>
            <a:r>
              <a:rPr lang="en-US" altLang="zh-CN" sz="2400" kern="0" dirty="0"/>
              <a:t>(</a:t>
            </a:r>
            <a:r>
              <a:rPr lang="en-US" altLang="zh-CN" sz="2400" i="1" kern="0" dirty="0"/>
              <a:t>z</a:t>
            </a:r>
            <a:r>
              <a:rPr lang="en-US" altLang="zh-CN" sz="2400" kern="0" dirty="0"/>
              <a:t>, </a:t>
            </a:r>
            <a:r>
              <a:rPr lang="en-US" altLang="zh-CN" sz="2400" i="1" kern="0" dirty="0"/>
              <a:t>y</a:t>
            </a:r>
            <a:r>
              <a:rPr lang="en-US" altLang="zh-CN" sz="2400" kern="0" dirty="0"/>
              <a:t>) </a:t>
            </a:r>
          </a:p>
          <a:p>
            <a:pPr marL="0" indent="0">
              <a:lnSpc>
                <a:spcPct val="150000"/>
              </a:lnSpc>
              <a:buNone/>
            </a:pPr>
            <a:r>
              <a:rPr lang="en-US" altLang="zh-CN" sz="2800" kern="0" dirty="0"/>
              <a:t>Proof of (d)</a:t>
            </a:r>
          </a:p>
          <a:p>
            <a:pPr marL="0" indent="0">
              <a:lnSpc>
                <a:spcPct val="150000"/>
              </a:lnSpc>
              <a:buNone/>
            </a:pPr>
            <a:r>
              <a:rPr lang="en-US" altLang="zh-CN" sz="2800" kern="0" dirty="0">
                <a:sym typeface="Symbol" panose="05050102010706020507" pitchFamily="18" charset="2"/>
              </a:rPr>
              <a:t></a:t>
            </a:r>
            <a:r>
              <a:rPr lang="en-US" altLang="zh-CN" sz="2800" kern="0" dirty="0"/>
              <a:t>(</a:t>
            </a:r>
            <a:r>
              <a:rPr lang="en-US" altLang="zh-CN" sz="2800" i="1" kern="0" dirty="0"/>
              <a:t>x</a:t>
            </a:r>
            <a:r>
              <a:rPr lang="en-US" altLang="zh-CN" sz="2800" kern="0" dirty="0"/>
              <a:t>, </a:t>
            </a:r>
            <a:r>
              <a:rPr lang="en-US" altLang="zh-CN" sz="2800" i="1" kern="0" dirty="0"/>
              <a:t>y</a:t>
            </a:r>
            <a:r>
              <a:rPr lang="en-US" altLang="zh-CN" sz="2800" kern="0" dirty="0"/>
              <a:t>) = | </a:t>
            </a:r>
            <a:r>
              <a:rPr lang="en-US" altLang="zh-CN" sz="2800" i="1" kern="0" dirty="0"/>
              <a:t>x</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y</a:t>
            </a:r>
            <a:r>
              <a:rPr lang="en-US" altLang="zh-CN" sz="2800" kern="0" dirty="0"/>
              <a:t> | = | </a:t>
            </a:r>
            <a:r>
              <a:rPr lang="en-US" altLang="zh-CN" sz="2800" i="1" kern="0" dirty="0"/>
              <a:t>x</a:t>
            </a:r>
            <a:r>
              <a:rPr lang="en-US" altLang="zh-CN" sz="2800" kern="0" dirty="0"/>
              <a:t> </a:t>
            </a:r>
            <a:r>
              <a:rPr lang="en-US" altLang="zh-CN" sz="2800" kern="0" dirty="0">
                <a:sym typeface="Symbol" panose="05050102010706020507" pitchFamily="18" charset="2"/>
              </a:rPr>
              <a:t> 0</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y</a:t>
            </a:r>
            <a:r>
              <a:rPr lang="en-US" altLang="zh-CN" sz="2800" kern="0" dirty="0"/>
              <a:t> | </a:t>
            </a:r>
          </a:p>
          <a:p>
            <a:pPr marL="0" indent="0">
              <a:lnSpc>
                <a:spcPct val="150000"/>
              </a:lnSpc>
              <a:buNone/>
            </a:pPr>
            <a:r>
              <a:rPr lang="en-US" altLang="zh-CN" sz="2800" kern="0" dirty="0"/>
              <a:t>	 	          = | </a:t>
            </a:r>
            <a:r>
              <a:rPr lang="en-US" altLang="zh-CN" sz="2800" i="1" kern="0" dirty="0"/>
              <a:t>x</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z </a:t>
            </a:r>
            <a:r>
              <a:rPr lang="en-US" altLang="zh-CN" sz="2800" kern="0" dirty="0">
                <a:sym typeface="Symbol" panose="05050102010706020507" pitchFamily="18" charset="2"/>
              </a:rPr>
              <a:t></a:t>
            </a:r>
            <a:r>
              <a:rPr lang="en-US" altLang="zh-CN" sz="2800" kern="0" dirty="0"/>
              <a:t> </a:t>
            </a:r>
            <a:r>
              <a:rPr lang="en-US" altLang="zh-CN" sz="2800" i="1" kern="0" dirty="0"/>
              <a:t>z </a:t>
            </a:r>
            <a:r>
              <a:rPr lang="en-US" altLang="zh-CN" sz="2800" kern="0" dirty="0">
                <a:sym typeface="Symbol" panose="05050102010706020507" pitchFamily="18" charset="2"/>
              </a:rPr>
              <a:t></a:t>
            </a:r>
            <a:r>
              <a:rPr lang="en-US" altLang="zh-CN" sz="2800" kern="0" dirty="0"/>
              <a:t> </a:t>
            </a:r>
            <a:r>
              <a:rPr lang="en-US" altLang="zh-CN" sz="2800" i="1" kern="0" dirty="0"/>
              <a:t>y</a:t>
            </a:r>
            <a:r>
              <a:rPr lang="en-US" altLang="zh-CN" sz="2800" kern="0" dirty="0"/>
              <a:t> | </a:t>
            </a:r>
            <a:r>
              <a:rPr lang="en-US" altLang="zh-CN" sz="2800" kern="0" dirty="0">
                <a:cs typeface="Arial" panose="020B0604020202020204" pitchFamily="34" charset="0"/>
              </a:rPr>
              <a:t>≤ </a:t>
            </a:r>
            <a:r>
              <a:rPr lang="en-US" altLang="zh-CN" sz="2800" kern="0" dirty="0"/>
              <a:t>| </a:t>
            </a:r>
            <a:r>
              <a:rPr lang="en-US" altLang="zh-CN" sz="2800" i="1" kern="0" dirty="0"/>
              <a:t>x</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z |+|</a:t>
            </a:r>
            <a:r>
              <a:rPr lang="en-US" altLang="zh-CN" sz="2800" kern="0" dirty="0"/>
              <a:t> </a:t>
            </a:r>
            <a:r>
              <a:rPr lang="en-US" altLang="zh-CN" sz="2800" i="1" kern="0" dirty="0"/>
              <a:t>z </a:t>
            </a:r>
            <a:r>
              <a:rPr lang="en-US" altLang="zh-CN" sz="2800" kern="0" dirty="0">
                <a:sym typeface="Symbol" panose="05050102010706020507" pitchFamily="18" charset="2"/>
              </a:rPr>
              <a:t></a:t>
            </a:r>
            <a:r>
              <a:rPr lang="en-US" altLang="zh-CN" sz="2800" kern="0" dirty="0"/>
              <a:t> </a:t>
            </a:r>
            <a:r>
              <a:rPr lang="en-US" altLang="zh-CN" sz="2800" i="1" kern="0" dirty="0"/>
              <a:t>y</a:t>
            </a:r>
            <a:r>
              <a:rPr lang="en-US" altLang="zh-CN" sz="2800" kern="0" dirty="0"/>
              <a:t> | = </a:t>
            </a:r>
            <a:r>
              <a:rPr lang="en-US" altLang="zh-CN" sz="2800" kern="0" dirty="0">
                <a:sym typeface="Symbol" panose="05050102010706020507" pitchFamily="18" charset="2"/>
              </a:rPr>
              <a:t></a:t>
            </a:r>
            <a:r>
              <a:rPr lang="en-US" altLang="zh-CN" sz="2800" kern="0" dirty="0"/>
              <a:t>(</a:t>
            </a:r>
            <a:r>
              <a:rPr lang="en-US" altLang="zh-CN" sz="2800" i="1" kern="0" dirty="0"/>
              <a:t>x</a:t>
            </a:r>
            <a:r>
              <a:rPr lang="en-US" altLang="zh-CN" sz="2800" kern="0" dirty="0"/>
              <a:t>, </a:t>
            </a:r>
            <a:r>
              <a:rPr lang="en-US" altLang="zh-CN" sz="2800" i="1" kern="0" dirty="0"/>
              <a:t>z</a:t>
            </a:r>
            <a:r>
              <a:rPr lang="en-US" altLang="zh-CN" sz="2800" kern="0" dirty="0"/>
              <a:t>) + </a:t>
            </a:r>
            <a:r>
              <a:rPr lang="en-US" altLang="zh-CN" sz="2800" kern="0" dirty="0">
                <a:sym typeface="Symbol" panose="05050102010706020507" pitchFamily="18" charset="2"/>
              </a:rPr>
              <a:t></a:t>
            </a:r>
            <a:r>
              <a:rPr lang="en-US" altLang="zh-CN" sz="2800" kern="0" dirty="0"/>
              <a:t>(</a:t>
            </a:r>
            <a:r>
              <a:rPr lang="en-US" altLang="zh-CN" sz="2800" i="1" kern="0" dirty="0"/>
              <a:t>z</a:t>
            </a:r>
            <a:r>
              <a:rPr lang="en-US" altLang="zh-CN" sz="2800" kern="0" dirty="0"/>
              <a:t>, </a:t>
            </a:r>
            <a:r>
              <a:rPr lang="en-US" altLang="zh-CN" sz="2800" i="1" kern="0" dirty="0"/>
              <a:t>y</a:t>
            </a:r>
            <a:r>
              <a:rPr lang="en-US" altLang="zh-CN" sz="2800" kern="0" dirty="0"/>
              <a:t>) </a:t>
            </a:r>
          </a:p>
        </p:txBody>
      </p:sp>
      <p:sp>
        <p:nvSpPr>
          <p:cNvPr id="7" name="文本框 6">
            <a:extLst>
              <a:ext uri="{FF2B5EF4-FFF2-40B4-BE49-F238E27FC236}">
                <a16:creationId xmlns:a16="http://schemas.microsoft.com/office/drawing/2014/main" id="{2802B64B-7A2A-4D36-8C2C-C4A959FABDE0}"/>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Theorem 1</a:t>
            </a:r>
            <a:endParaRPr lang="zh-CN" altLang="en-US" dirty="0"/>
          </a:p>
        </p:txBody>
      </p:sp>
    </p:spTree>
    <p:extLst>
      <p:ext uri="{BB962C8B-B14F-4D97-AF65-F5344CB8AC3E}">
        <p14:creationId xmlns:p14="http://schemas.microsoft.com/office/powerpoint/2010/main" val="89575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7" name="文本框 6">
            <a:extLst>
              <a:ext uri="{FF2B5EF4-FFF2-40B4-BE49-F238E27FC236}">
                <a16:creationId xmlns:a16="http://schemas.microsoft.com/office/drawing/2014/main" id="{2802B64B-7A2A-4D36-8C2C-C4A959FABDE0}"/>
              </a:ext>
            </a:extLst>
          </p:cNvPr>
          <p:cNvSpPr txBox="1"/>
          <p:nvPr/>
        </p:nvSpPr>
        <p:spPr>
          <a:xfrm>
            <a:off x="567765" y="839677"/>
            <a:ext cx="11056470" cy="769441"/>
          </a:xfrm>
          <a:prstGeom prst="rect">
            <a:avLst/>
          </a:prstGeom>
          <a:noFill/>
        </p:spPr>
        <p:txBody>
          <a:bodyPr wrap="square">
            <a:spAutoFit/>
          </a:bodyPr>
          <a:lstStyle/>
          <a:p>
            <a:pPr algn="ctr"/>
            <a:r>
              <a:rPr lang="en-US" altLang="zh-CN" sz="4400" kern="0" dirty="0">
                <a:solidFill>
                  <a:srgbClr val="000000"/>
                </a:solidFill>
                <a:cs typeface="+mj-cs"/>
              </a:rPr>
              <a:t>Minimum distance - </a:t>
            </a:r>
            <a:r>
              <a:rPr lang="zh-CN" altLang="en-US" sz="4400" kern="0" dirty="0">
                <a:solidFill>
                  <a:srgbClr val="000000"/>
                </a:solidFill>
                <a:cs typeface="+mj-cs"/>
              </a:rPr>
              <a:t>最小距离</a:t>
            </a:r>
            <a:endParaRPr lang="zh-CN" altLang="en-US" dirty="0"/>
          </a:p>
        </p:txBody>
      </p:sp>
      <p:sp>
        <p:nvSpPr>
          <p:cNvPr id="6" name="Rectangle 3">
            <a:extLst>
              <a:ext uri="{FF2B5EF4-FFF2-40B4-BE49-F238E27FC236}">
                <a16:creationId xmlns:a16="http://schemas.microsoft.com/office/drawing/2014/main" id="{981C527F-AA5F-40C0-AF03-EBFBD0A8EE25}"/>
              </a:ext>
            </a:extLst>
          </p:cNvPr>
          <p:cNvSpPr txBox="1">
            <a:spLocks noChangeArrowheads="1"/>
          </p:cNvSpPr>
          <p:nvPr/>
        </p:nvSpPr>
        <p:spPr>
          <a:xfrm>
            <a:off x="457200" y="1600200"/>
            <a:ext cx="11297478" cy="4654826"/>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kern="0" dirty="0"/>
              <a:t>The </a:t>
            </a:r>
            <a:r>
              <a:rPr lang="en-US" altLang="zh-CN" kern="0" dirty="0">
                <a:solidFill>
                  <a:srgbClr val="FF0000"/>
                </a:solidFill>
              </a:rPr>
              <a:t>minimum distance </a:t>
            </a:r>
            <a:r>
              <a:rPr lang="en-US" altLang="zh-CN" kern="0" dirty="0"/>
              <a:t>of an encoding function </a:t>
            </a:r>
            <a:r>
              <a:rPr lang="en-US" altLang="zh-CN" i="1" kern="0" dirty="0"/>
              <a:t>e</a:t>
            </a:r>
            <a:r>
              <a:rPr lang="en-US" altLang="zh-CN" kern="0" dirty="0"/>
              <a:t>: </a:t>
            </a:r>
          </a:p>
          <a:p>
            <a:pPr marL="0" indent="0">
              <a:lnSpc>
                <a:spcPct val="150000"/>
              </a:lnSpc>
              <a:buNone/>
            </a:pPr>
            <a:r>
              <a:rPr lang="en-US" altLang="zh-CN" i="1" kern="0" dirty="0"/>
              <a:t>B</a:t>
            </a:r>
            <a:r>
              <a:rPr lang="en-US" altLang="zh-CN" i="1" kern="0" baseline="30000" dirty="0"/>
              <a:t>m</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B</a:t>
            </a:r>
            <a:r>
              <a:rPr lang="en-US" altLang="zh-CN" i="1" kern="0" baseline="30000" dirty="0"/>
              <a:t>n</a:t>
            </a:r>
            <a:r>
              <a:rPr lang="en-US" altLang="zh-CN" kern="0" dirty="0"/>
              <a:t> is the minimum of the distances between all distinct pairs of code words; that is,</a:t>
            </a:r>
          </a:p>
          <a:p>
            <a:pPr marL="0" indent="0">
              <a:lnSpc>
                <a:spcPct val="150000"/>
              </a:lnSpc>
              <a:buNone/>
            </a:pPr>
            <a:r>
              <a:rPr lang="en-US" altLang="zh-CN" kern="0" dirty="0">
                <a:sym typeface="Symbol" panose="05050102010706020507" pitchFamily="18" charset="2"/>
              </a:rPr>
              <a:t>			min{</a:t>
            </a:r>
            <a:r>
              <a:rPr lang="en-US" altLang="zh-CN" kern="0" dirty="0"/>
              <a:t>(</a:t>
            </a:r>
            <a:r>
              <a:rPr lang="en-US" altLang="zh-CN" i="1" kern="0" dirty="0"/>
              <a:t>e</a:t>
            </a:r>
            <a:r>
              <a:rPr lang="en-US" altLang="zh-CN" kern="0" dirty="0"/>
              <a:t>(</a:t>
            </a:r>
            <a:r>
              <a:rPr lang="en-US" altLang="zh-CN" i="1" kern="0" dirty="0"/>
              <a:t>x</a:t>
            </a:r>
            <a:r>
              <a:rPr lang="en-US" altLang="zh-CN" kern="0" dirty="0"/>
              <a:t>), </a:t>
            </a:r>
            <a:r>
              <a:rPr lang="en-US" altLang="zh-CN" i="1" kern="0" dirty="0"/>
              <a:t>e</a:t>
            </a:r>
            <a:r>
              <a:rPr lang="en-US" altLang="zh-CN" kern="0" dirty="0"/>
              <a:t>(</a:t>
            </a:r>
            <a:r>
              <a:rPr lang="en-US" altLang="zh-CN" i="1" kern="0" dirty="0"/>
              <a:t>y</a:t>
            </a:r>
            <a:r>
              <a:rPr lang="en-US" altLang="zh-CN" kern="0" dirty="0"/>
              <a:t>)) | </a:t>
            </a:r>
            <a:r>
              <a:rPr lang="en-US" altLang="zh-CN" i="1" kern="0" dirty="0"/>
              <a:t>x, y</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B</a:t>
            </a:r>
            <a:r>
              <a:rPr lang="en-US" altLang="zh-CN" i="1" kern="0" baseline="30000" dirty="0"/>
              <a:t>m</a:t>
            </a:r>
            <a:r>
              <a:rPr lang="en-US" altLang="zh-CN" kern="0" dirty="0"/>
              <a:t>}</a:t>
            </a:r>
            <a:endParaRPr lang="en-US" altLang="zh-CN" kern="0" baseline="30000" dirty="0"/>
          </a:p>
        </p:txBody>
      </p:sp>
    </p:spTree>
    <p:extLst>
      <p:ext uri="{BB962C8B-B14F-4D97-AF65-F5344CB8AC3E}">
        <p14:creationId xmlns:p14="http://schemas.microsoft.com/office/powerpoint/2010/main" val="194736680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5:</a:t>
            </a:r>
          </a:p>
          <a:p>
            <a:pPr marL="400050" lvl="1" indent="0">
              <a:lnSpc>
                <a:spcPct val="150000"/>
              </a:lnSpc>
              <a:buNone/>
            </a:pPr>
            <a:r>
              <a:rPr lang="en-US" altLang="zh-CN" sz="2400" dirty="0"/>
              <a:t>Consider the following (2, 5) encoding function e:</a:t>
            </a:r>
          </a:p>
          <a:p>
            <a:pPr marL="400050" lvl="1" indent="0">
              <a:lnSpc>
                <a:spcPct val="150000"/>
              </a:lnSpc>
              <a:buNone/>
            </a:pPr>
            <a:endParaRPr lang="en-US" altLang="zh-CN" sz="2400" dirty="0"/>
          </a:p>
          <a:p>
            <a:pPr marL="400050" lvl="1" indent="0">
              <a:lnSpc>
                <a:spcPct val="150000"/>
              </a:lnSpc>
              <a:buNone/>
            </a:pPr>
            <a:endParaRPr lang="en-US" altLang="zh-CN" sz="2400" dirty="0"/>
          </a:p>
          <a:p>
            <a:pPr eaLnBrk="1" hangingPunct="1">
              <a:lnSpc>
                <a:spcPct val="150000"/>
              </a:lnSpc>
              <a:buFont typeface="Wingdings" panose="05000000000000000000" pitchFamily="2" charset="2"/>
              <a:buChar char="l"/>
            </a:pPr>
            <a:r>
              <a:rPr lang="en-US" altLang="zh-CN" dirty="0"/>
              <a:t>Solution:</a:t>
            </a:r>
          </a:p>
          <a:p>
            <a:pPr marL="857250" lvl="2" indent="0">
              <a:lnSpc>
                <a:spcPct val="150000"/>
              </a:lnSpc>
              <a:buNone/>
            </a:pPr>
            <a:r>
              <a:rPr lang="en-US" altLang="zh-CN" dirty="0"/>
              <a:t>The minimum distance is 2, as can be checked by computing the minimum of the distances between all six distinct pairs of code words.</a:t>
            </a:r>
          </a:p>
        </p:txBody>
      </p:sp>
      <p:pic>
        <p:nvPicPr>
          <p:cNvPr id="3" name="图片 2">
            <a:extLst>
              <a:ext uri="{FF2B5EF4-FFF2-40B4-BE49-F238E27FC236}">
                <a16:creationId xmlns:a16="http://schemas.microsoft.com/office/drawing/2014/main" id="{E0D63FFF-FBD0-4932-8DD1-D8AAADF19061}"/>
              </a:ext>
            </a:extLst>
          </p:cNvPr>
          <p:cNvPicPr>
            <a:picLocks noChangeAspect="1"/>
          </p:cNvPicPr>
          <p:nvPr/>
        </p:nvPicPr>
        <p:blipFill>
          <a:blip r:embed="rId3"/>
          <a:stretch>
            <a:fillRect/>
          </a:stretch>
        </p:blipFill>
        <p:spPr>
          <a:xfrm>
            <a:off x="4268559" y="2266121"/>
            <a:ext cx="3864432" cy="1398106"/>
          </a:xfrm>
          <a:prstGeom prst="rect">
            <a:avLst/>
          </a:prstGeom>
        </p:spPr>
      </p:pic>
    </p:spTree>
    <p:extLst>
      <p:ext uri="{BB962C8B-B14F-4D97-AF65-F5344CB8AC3E}">
        <p14:creationId xmlns:p14="http://schemas.microsoft.com/office/powerpoint/2010/main" val="310070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714646"/>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sz="2800" kern="0" dirty="0"/>
              <a:t>An (</a:t>
            </a:r>
            <a:r>
              <a:rPr lang="en-US" altLang="zh-CN" sz="2800" i="1" kern="0" dirty="0"/>
              <a:t>m, n</a:t>
            </a:r>
            <a:r>
              <a:rPr lang="en-US" altLang="zh-CN" sz="2800" kern="0" dirty="0"/>
              <a:t>) encoding function </a:t>
            </a:r>
            <a:r>
              <a:rPr lang="en-US" altLang="zh-CN" sz="2800" i="1" kern="0" dirty="0"/>
              <a:t>e</a:t>
            </a:r>
            <a:r>
              <a:rPr lang="en-US" altLang="zh-CN" sz="2800" kern="0" dirty="0"/>
              <a:t>: </a:t>
            </a:r>
            <a:r>
              <a:rPr lang="en-US" altLang="zh-CN" sz="2800" i="1" kern="0" dirty="0"/>
              <a:t>B</a:t>
            </a:r>
            <a:r>
              <a:rPr lang="en-US" altLang="zh-CN" sz="2800" i="1" kern="0" baseline="30000" dirty="0"/>
              <a:t>m</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B</a:t>
            </a:r>
            <a:r>
              <a:rPr lang="en-US" altLang="zh-CN" sz="2800" i="1" kern="0" baseline="30000" dirty="0"/>
              <a:t>n</a:t>
            </a:r>
            <a:r>
              <a:rPr lang="en-US" altLang="zh-CN" sz="2800" kern="0" dirty="0"/>
              <a:t> can detect </a:t>
            </a:r>
            <a:r>
              <a:rPr lang="en-US" altLang="zh-CN" sz="2800" i="1" kern="0" dirty="0"/>
              <a:t>k</a:t>
            </a:r>
            <a:r>
              <a:rPr lang="en-US" altLang="zh-CN" sz="2800" kern="0" dirty="0"/>
              <a:t> or fewer errors if and only if its minimum distance is at least </a:t>
            </a:r>
            <a:r>
              <a:rPr lang="en-US" altLang="zh-CN" sz="2800" i="1" kern="0" dirty="0"/>
              <a:t>k</a:t>
            </a:r>
            <a:r>
              <a:rPr lang="en-US" altLang="zh-CN" sz="2800" kern="0" dirty="0"/>
              <a:t> + 1.</a:t>
            </a:r>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Theorem 2</a:t>
            </a:r>
            <a:endParaRPr lang="zh-CN" altLang="en-US" dirty="0"/>
          </a:p>
        </p:txBody>
      </p:sp>
      <p:sp>
        <p:nvSpPr>
          <p:cNvPr id="2" name="矩形 1">
            <a:extLst>
              <a:ext uri="{FF2B5EF4-FFF2-40B4-BE49-F238E27FC236}">
                <a16:creationId xmlns:a16="http://schemas.microsoft.com/office/drawing/2014/main" id="{04B83368-D329-288F-92D1-A1E1C464E95C}"/>
              </a:ext>
            </a:extLst>
          </p:cNvPr>
          <p:cNvSpPr/>
          <p:nvPr/>
        </p:nvSpPr>
        <p:spPr>
          <a:xfrm>
            <a:off x="3866606" y="3141617"/>
            <a:ext cx="3468188" cy="22664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rPr>
              <a:t>补充一下中文</a:t>
            </a:r>
          </a:p>
        </p:txBody>
      </p:sp>
    </p:spTree>
    <p:extLst>
      <p:ext uri="{BB962C8B-B14F-4D97-AF65-F5344CB8AC3E}">
        <p14:creationId xmlns:p14="http://schemas.microsoft.com/office/powerpoint/2010/main" val="413343793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6" y="1600200"/>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800" kern="0"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1261884"/>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Proof</a:t>
            </a:r>
          </a:p>
          <a:p>
            <a:pPr algn="ctr"/>
            <a:r>
              <a:rPr lang="en-US" altLang="zh-CN" sz="3200" dirty="0">
                <a:sym typeface="Symbol" panose="05050102010706020507" pitchFamily="18" charset="2"/>
              </a:rPr>
              <a:t> </a:t>
            </a:r>
            <a:r>
              <a:rPr lang="en-US" altLang="zh-CN" sz="3200" dirty="0"/>
              <a:t>the minimum distance is at least </a:t>
            </a:r>
            <a:r>
              <a:rPr lang="en-US" altLang="zh-CN" sz="3200" i="1" dirty="0"/>
              <a:t>k</a:t>
            </a:r>
            <a:r>
              <a:rPr lang="en-US" altLang="zh-CN" sz="3200" dirty="0"/>
              <a:t> + 1</a:t>
            </a:r>
            <a:endParaRPr lang="zh-CN" altLang="en-US" sz="3200" dirty="0"/>
          </a:p>
        </p:txBody>
      </p:sp>
      <p:sp>
        <p:nvSpPr>
          <p:cNvPr id="5" name="Rectangle 3">
            <a:extLst>
              <a:ext uri="{FF2B5EF4-FFF2-40B4-BE49-F238E27FC236}">
                <a16:creationId xmlns:a16="http://schemas.microsoft.com/office/drawing/2014/main" id="{80CEAE94-1642-4123-8208-46AF761E9D21}"/>
              </a:ext>
            </a:extLst>
          </p:cNvPr>
          <p:cNvSpPr txBox="1">
            <a:spLocks noChangeArrowheads="1"/>
          </p:cNvSpPr>
          <p:nvPr/>
        </p:nvSpPr>
        <p:spPr>
          <a:xfrm>
            <a:off x="313497" y="2276295"/>
            <a:ext cx="11774556" cy="4137757"/>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sz="2800" kern="0" dirty="0"/>
              <a:t>Let </a:t>
            </a:r>
            <a:r>
              <a:rPr lang="en-US" altLang="zh-CN" sz="2800" i="1" kern="0" dirty="0"/>
              <a:t>b</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B</a:t>
            </a:r>
            <a:r>
              <a:rPr lang="en-US" altLang="zh-CN" sz="2800" i="1" kern="0" baseline="30000" dirty="0"/>
              <a:t>m</a:t>
            </a:r>
            <a:r>
              <a:rPr lang="en-US" altLang="zh-CN" sz="2800" kern="0" dirty="0"/>
              <a:t> , and let </a:t>
            </a:r>
            <a:r>
              <a:rPr lang="en-US" altLang="zh-CN" sz="2800" i="1" kern="0" dirty="0"/>
              <a:t>x</a:t>
            </a:r>
            <a:r>
              <a:rPr lang="en-US" altLang="zh-CN" sz="2800" kern="0" dirty="0"/>
              <a:t> = </a:t>
            </a:r>
            <a:r>
              <a:rPr lang="en-US" altLang="zh-CN" sz="2800" i="1" kern="0" dirty="0"/>
              <a:t>e</a:t>
            </a:r>
            <a:r>
              <a:rPr lang="en-US" altLang="zh-CN" sz="2800" kern="0" dirty="0"/>
              <a:t>(</a:t>
            </a:r>
            <a:r>
              <a:rPr lang="en-US" altLang="zh-CN" sz="2800" i="1" kern="0" dirty="0"/>
              <a:t>b</a:t>
            </a:r>
            <a:r>
              <a:rPr lang="en-US" altLang="zh-CN" sz="2800" kern="0" dirty="0"/>
              <a:t>) </a:t>
            </a:r>
            <a:r>
              <a:rPr lang="en-US" altLang="zh-CN" sz="2800" kern="0" dirty="0">
                <a:sym typeface="Symbol" panose="05050102010706020507" pitchFamily="18" charset="2"/>
              </a:rPr>
              <a:t></a:t>
            </a:r>
            <a:r>
              <a:rPr lang="en-US" altLang="zh-CN" sz="2800" kern="0" dirty="0"/>
              <a:t> </a:t>
            </a:r>
            <a:r>
              <a:rPr lang="en-US" altLang="zh-CN" sz="2800" i="1" kern="0" dirty="0"/>
              <a:t>B</a:t>
            </a:r>
            <a:r>
              <a:rPr lang="en-US" altLang="zh-CN" sz="2800" i="1" kern="0" baseline="30000" dirty="0"/>
              <a:t>n</a:t>
            </a:r>
            <a:r>
              <a:rPr lang="en-US" altLang="zh-CN" sz="2800" kern="0" dirty="0"/>
              <a:t> be the code word representing </a:t>
            </a:r>
            <a:r>
              <a:rPr lang="en-US" altLang="zh-CN" sz="2800" i="1" kern="0" dirty="0"/>
              <a:t>b</a:t>
            </a:r>
            <a:r>
              <a:rPr lang="en-US" altLang="zh-CN" sz="2800" kern="0" dirty="0"/>
              <a:t>. </a:t>
            </a:r>
          </a:p>
          <a:p>
            <a:pPr lvl="1">
              <a:lnSpc>
                <a:spcPct val="150000"/>
              </a:lnSpc>
              <a:buClr>
                <a:schemeClr val="tx1"/>
              </a:buClr>
              <a:buFont typeface="Wingdings" panose="05000000000000000000" pitchFamily="2" charset="2"/>
              <a:buChar char="l"/>
            </a:pPr>
            <a:r>
              <a:rPr lang="en-US" altLang="zh-CN" i="1" kern="0" dirty="0"/>
              <a:t>x</a:t>
            </a:r>
            <a:r>
              <a:rPr lang="en-US" altLang="zh-CN" kern="0" dirty="0"/>
              <a:t> is transmitted and is received as </a:t>
            </a:r>
            <a:r>
              <a:rPr lang="en-US" altLang="zh-CN" i="1" kern="0" dirty="0"/>
              <a:t>x</a:t>
            </a:r>
            <a:r>
              <a:rPr lang="en-US" altLang="zh-CN" i="1" kern="0" baseline="-25000" dirty="0"/>
              <a:t>t</a:t>
            </a:r>
            <a:r>
              <a:rPr lang="en-US" altLang="zh-CN" i="1" kern="0" dirty="0"/>
              <a:t> </a:t>
            </a:r>
            <a:r>
              <a:rPr lang="en-US" altLang="zh-CN" kern="0" dirty="0"/>
              <a:t>If </a:t>
            </a:r>
            <a:r>
              <a:rPr lang="en-US" altLang="zh-CN" i="1" kern="0" dirty="0"/>
              <a:t>x</a:t>
            </a:r>
            <a:r>
              <a:rPr lang="en-US" altLang="zh-CN" i="1" kern="0" baseline="-25000" dirty="0"/>
              <a:t>t</a:t>
            </a:r>
            <a:r>
              <a:rPr lang="en-US" altLang="zh-CN" kern="0" dirty="0"/>
              <a:t> were a code word different from </a:t>
            </a:r>
            <a:r>
              <a:rPr lang="en-US" altLang="zh-CN" i="1" kern="0" dirty="0"/>
              <a:t>x</a:t>
            </a:r>
            <a:r>
              <a:rPr lang="en-US" altLang="zh-CN" kern="0" dirty="0"/>
              <a:t>, then </a:t>
            </a:r>
            <a:r>
              <a:rPr lang="en-US" altLang="zh-CN" kern="0" dirty="0">
                <a:sym typeface="Symbol" panose="05050102010706020507" pitchFamily="18" charset="2"/>
              </a:rPr>
              <a:t></a:t>
            </a:r>
            <a:r>
              <a:rPr lang="en-US" altLang="zh-CN" kern="0" dirty="0"/>
              <a:t>(</a:t>
            </a:r>
            <a:r>
              <a:rPr lang="en-US" altLang="zh-CN" i="1" kern="0" dirty="0"/>
              <a:t>x</a:t>
            </a:r>
            <a:r>
              <a:rPr lang="en-US" altLang="zh-CN" kern="0" dirty="0"/>
              <a:t>, </a:t>
            </a:r>
            <a:r>
              <a:rPr lang="en-US" altLang="zh-CN" i="1" kern="0" dirty="0"/>
              <a:t>x</a:t>
            </a:r>
            <a:r>
              <a:rPr lang="en-US" altLang="zh-CN" i="1" kern="0" baseline="-25000" dirty="0"/>
              <a:t>t</a:t>
            </a:r>
            <a:r>
              <a:rPr lang="en-US" altLang="zh-CN" kern="0" dirty="0"/>
              <a:t>) </a:t>
            </a:r>
            <a:r>
              <a:rPr lang="en-US" altLang="zh-CN" kern="0" dirty="0">
                <a:cs typeface="Arial" panose="020B0604020202020204" pitchFamily="34" charset="0"/>
                <a:sym typeface="Euclid Math Two" panose="02050601010101010101" pitchFamily="18" charset="2"/>
              </a:rPr>
              <a:t>≥</a:t>
            </a:r>
            <a:r>
              <a:rPr lang="en-US" altLang="zh-CN" kern="0" dirty="0"/>
              <a:t> </a:t>
            </a:r>
            <a:r>
              <a:rPr lang="en-US" altLang="zh-CN" i="1" kern="0" dirty="0"/>
              <a:t>k</a:t>
            </a:r>
            <a:r>
              <a:rPr lang="en-US" altLang="zh-CN" kern="0" dirty="0"/>
              <a:t>+1, so </a:t>
            </a:r>
            <a:r>
              <a:rPr lang="en-US" altLang="zh-CN" i="1" kern="0" dirty="0"/>
              <a:t>x</a:t>
            </a:r>
            <a:r>
              <a:rPr lang="en-US" altLang="zh-CN" kern="0" dirty="0"/>
              <a:t> would be transmitted with </a:t>
            </a:r>
            <a:r>
              <a:rPr lang="en-US" altLang="zh-CN" i="1" kern="0" dirty="0"/>
              <a:t>k</a:t>
            </a:r>
            <a:r>
              <a:rPr lang="en-US" altLang="zh-CN" kern="0" dirty="0"/>
              <a:t> + l or more errors. Thus, if </a:t>
            </a:r>
            <a:r>
              <a:rPr lang="en-US" altLang="zh-CN" i="1" kern="0" dirty="0"/>
              <a:t>x</a:t>
            </a:r>
            <a:r>
              <a:rPr lang="en-US" altLang="zh-CN" kern="0" dirty="0"/>
              <a:t> is transmitted with </a:t>
            </a:r>
            <a:r>
              <a:rPr lang="en-US" altLang="zh-CN" i="1" kern="0" dirty="0"/>
              <a:t>k</a:t>
            </a:r>
            <a:r>
              <a:rPr lang="en-US" altLang="zh-CN" kern="0" dirty="0"/>
              <a:t> or fewer errors, then </a:t>
            </a:r>
            <a:r>
              <a:rPr lang="en-US" altLang="zh-CN" i="1" kern="0" dirty="0"/>
              <a:t>x</a:t>
            </a:r>
            <a:r>
              <a:rPr lang="en-US" altLang="zh-CN" i="1" kern="0" baseline="-25000" dirty="0"/>
              <a:t>t</a:t>
            </a:r>
            <a:r>
              <a:rPr lang="en-US" altLang="zh-CN" kern="0" dirty="0"/>
              <a:t> cannot be a code word. This means that </a:t>
            </a:r>
            <a:r>
              <a:rPr lang="en-US" altLang="zh-CN" i="1" kern="0" dirty="0"/>
              <a:t>e</a:t>
            </a:r>
            <a:r>
              <a:rPr lang="en-US" altLang="zh-CN" kern="0" dirty="0"/>
              <a:t> can detect </a:t>
            </a:r>
            <a:r>
              <a:rPr lang="en-US" altLang="zh-CN" i="1" kern="0" dirty="0"/>
              <a:t>k</a:t>
            </a:r>
            <a:r>
              <a:rPr lang="en-US" altLang="zh-CN" kern="0" dirty="0"/>
              <a:t> or fewer errors.</a:t>
            </a:r>
          </a:p>
        </p:txBody>
      </p:sp>
    </p:spTree>
    <p:extLst>
      <p:ext uri="{BB962C8B-B14F-4D97-AF65-F5344CB8AC3E}">
        <p14:creationId xmlns:p14="http://schemas.microsoft.com/office/powerpoint/2010/main" val="264993124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6" y="1600200"/>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800" kern="0"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1261884"/>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Proof</a:t>
            </a:r>
          </a:p>
          <a:p>
            <a:pPr algn="ctr"/>
            <a:r>
              <a:rPr lang="en-US" altLang="zh-CN" sz="3200" dirty="0">
                <a:sym typeface="Symbol" panose="05050102010706020507" pitchFamily="18" charset="2"/>
              </a:rPr>
              <a:t>e can detect k or fewer errors  </a:t>
            </a:r>
            <a:endParaRPr lang="zh-CN" altLang="en-US" sz="3200" dirty="0"/>
          </a:p>
        </p:txBody>
      </p:sp>
      <p:sp>
        <p:nvSpPr>
          <p:cNvPr id="8" name="Rectangle 3">
            <a:extLst>
              <a:ext uri="{FF2B5EF4-FFF2-40B4-BE49-F238E27FC236}">
                <a16:creationId xmlns:a16="http://schemas.microsoft.com/office/drawing/2014/main" id="{FE5B5543-C828-48A7-AEA4-5DD72DE13BE4}"/>
              </a:ext>
            </a:extLst>
          </p:cNvPr>
          <p:cNvSpPr txBox="1">
            <a:spLocks noChangeArrowheads="1"/>
          </p:cNvSpPr>
          <p:nvPr/>
        </p:nvSpPr>
        <p:spPr>
          <a:xfrm>
            <a:off x="210046" y="2201484"/>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kern="0" dirty="0"/>
              <a:t>Suppose that the minimum distance between code words is </a:t>
            </a:r>
            <a:r>
              <a:rPr lang="en-US" altLang="zh-CN" sz="2800" i="1" kern="0" dirty="0"/>
              <a:t>r</a:t>
            </a:r>
            <a:r>
              <a:rPr lang="en-US" altLang="zh-CN" sz="2800" kern="0" dirty="0"/>
              <a:t> </a:t>
            </a:r>
            <a:r>
              <a:rPr lang="en-US" altLang="zh-CN" sz="2800" kern="0" dirty="0">
                <a:cs typeface="Arial" panose="020B0604020202020204" pitchFamily="34" charset="0"/>
                <a:sym typeface="Euclid Math Two" panose="02050601010101010101" pitchFamily="18" charset="2"/>
              </a:rPr>
              <a:t>≤</a:t>
            </a:r>
            <a:r>
              <a:rPr lang="en-US" altLang="zh-CN" sz="2800" kern="0" dirty="0"/>
              <a:t> </a:t>
            </a:r>
            <a:r>
              <a:rPr lang="en-US" altLang="zh-CN" sz="2800" i="1" kern="0" dirty="0"/>
              <a:t>k</a:t>
            </a:r>
            <a:endParaRPr lang="en-US" altLang="zh-CN" sz="2800" kern="0" dirty="0"/>
          </a:p>
          <a:p>
            <a:pPr marL="400050" lvl="1" indent="0">
              <a:lnSpc>
                <a:spcPct val="150000"/>
              </a:lnSpc>
              <a:buNone/>
            </a:pPr>
            <a:r>
              <a:rPr lang="en-US" altLang="zh-CN" kern="0" dirty="0"/>
              <a:t>Let </a:t>
            </a:r>
            <a:r>
              <a:rPr lang="en-US" altLang="zh-CN" i="1" kern="0" dirty="0"/>
              <a:t>x</a:t>
            </a:r>
            <a:r>
              <a:rPr lang="en-US" altLang="zh-CN" kern="0" dirty="0"/>
              <a:t> and </a:t>
            </a:r>
            <a:r>
              <a:rPr lang="en-US" altLang="zh-CN" i="1" kern="0" dirty="0"/>
              <a:t>y</a:t>
            </a:r>
            <a:r>
              <a:rPr lang="en-US" altLang="zh-CN" kern="0" dirty="0"/>
              <a:t> be code words with </a:t>
            </a:r>
            <a:r>
              <a:rPr lang="en-US" altLang="zh-CN" kern="0" dirty="0">
                <a:sym typeface="Symbol" panose="05050102010706020507" pitchFamily="18" charset="2"/>
              </a:rPr>
              <a:t></a:t>
            </a:r>
            <a:r>
              <a:rPr lang="en-US" altLang="zh-CN" kern="0" dirty="0"/>
              <a:t> (</a:t>
            </a:r>
            <a:r>
              <a:rPr lang="en-US" altLang="zh-CN" i="1" kern="0" dirty="0"/>
              <a:t>x</a:t>
            </a:r>
            <a:r>
              <a:rPr lang="en-US" altLang="zh-CN" kern="0" dirty="0"/>
              <a:t>, </a:t>
            </a:r>
            <a:r>
              <a:rPr lang="en-US" altLang="zh-CN" i="1" kern="0" dirty="0"/>
              <a:t>y</a:t>
            </a:r>
            <a:r>
              <a:rPr lang="en-US" altLang="zh-CN" kern="0" dirty="0"/>
              <a:t>) = </a:t>
            </a:r>
            <a:r>
              <a:rPr lang="en-US" altLang="zh-CN" i="1" kern="0" dirty="0"/>
              <a:t>r</a:t>
            </a:r>
            <a:r>
              <a:rPr lang="en-US" altLang="zh-CN" kern="0" dirty="0"/>
              <a:t>.</a:t>
            </a:r>
          </a:p>
          <a:p>
            <a:pPr marL="857250" lvl="2" indent="0">
              <a:lnSpc>
                <a:spcPct val="150000"/>
              </a:lnSpc>
              <a:buNone/>
            </a:pPr>
            <a:r>
              <a:rPr lang="en-US" altLang="zh-CN" kern="0" dirty="0"/>
              <a:t>If </a:t>
            </a:r>
            <a:r>
              <a:rPr lang="en-US" altLang="zh-CN" i="1" kern="0" dirty="0"/>
              <a:t>x</a:t>
            </a:r>
            <a:r>
              <a:rPr lang="en-US" altLang="zh-CN" kern="0" dirty="0"/>
              <a:t> = </a:t>
            </a:r>
            <a:r>
              <a:rPr lang="en-US" altLang="zh-CN" i="1" kern="0" dirty="0"/>
              <a:t>y</a:t>
            </a:r>
            <a:r>
              <a:rPr lang="en-US" altLang="zh-CN" kern="0" dirty="0"/>
              <a:t>, that is, if </a:t>
            </a:r>
            <a:r>
              <a:rPr lang="en-US" altLang="zh-CN" i="1" kern="0" dirty="0"/>
              <a:t>x</a:t>
            </a:r>
            <a:r>
              <a:rPr lang="en-US" altLang="zh-CN" kern="0" dirty="0"/>
              <a:t> is transmitted and is mistakenly received as y, then </a:t>
            </a:r>
            <a:r>
              <a:rPr lang="en-US" altLang="zh-CN" i="1" kern="0" dirty="0"/>
              <a:t>r </a:t>
            </a:r>
            <a:r>
              <a:rPr lang="en-US" altLang="zh-CN" kern="0" dirty="0">
                <a:cs typeface="Arial" panose="020B0604020202020204" pitchFamily="34" charset="0"/>
              </a:rPr>
              <a:t>≤ </a:t>
            </a:r>
            <a:r>
              <a:rPr lang="en-US" altLang="zh-CN" i="1" kern="0" dirty="0"/>
              <a:t>k</a:t>
            </a:r>
            <a:r>
              <a:rPr lang="en-US" altLang="zh-CN" kern="0" dirty="0"/>
              <a:t> errors have been committed and have not been detected. </a:t>
            </a:r>
          </a:p>
          <a:p>
            <a:pPr marL="400050" lvl="1" indent="0">
              <a:lnSpc>
                <a:spcPct val="150000"/>
              </a:lnSpc>
              <a:buNone/>
            </a:pPr>
            <a:r>
              <a:rPr lang="en-US" altLang="zh-CN" kern="0" dirty="0"/>
              <a:t>Thus it contradict with </a:t>
            </a:r>
            <a:r>
              <a:rPr lang="en-US" altLang="zh-CN" i="1" kern="0" dirty="0"/>
              <a:t>e</a:t>
            </a:r>
            <a:r>
              <a:rPr lang="en-US" altLang="zh-CN" kern="0" dirty="0"/>
              <a:t> can detect </a:t>
            </a:r>
            <a:r>
              <a:rPr lang="en-US" altLang="zh-CN" i="1" kern="0" dirty="0"/>
              <a:t>k</a:t>
            </a:r>
            <a:r>
              <a:rPr lang="en-US" altLang="zh-CN" kern="0" dirty="0"/>
              <a:t> or fewer errors. </a:t>
            </a:r>
          </a:p>
        </p:txBody>
      </p:sp>
    </p:spTree>
    <p:extLst>
      <p:ext uri="{BB962C8B-B14F-4D97-AF65-F5344CB8AC3E}">
        <p14:creationId xmlns:p14="http://schemas.microsoft.com/office/powerpoint/2010/main" val="248298078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6:</a:t>
            </a:r>
          </a:p>
          <a:p>
            <a:pPr marL="400050" lvl="1" indent="0">
              <a:lnSpc>
                <a:spcPct val="150000"/>
              </a:lnSpc>
              <a:buNone/>
            </a:pPr>
            <a:r>
              <a:rPr lang="en-US" altLang="zh-CN" sz="2400" dirty="0"/>
              <a:t>Consider the (3, 8) encoding function e: </a:t>
            </a:r>
            <a:r>
              <a:rPr lang="en-US" altLang="zh-CN" sz="2400" i="1" dirty="0"/>
              <a:t>B</a:t>
            </a:r>
            <a:r>
              <a:rPr lang="en-US" altLang="zh-CN" sz="2400" i="1" baseline="30000" dirty="0"/>
              <a:t>3</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B</a:t>
            </a:r>
            <a:r>
              <a:rPr lang="en-US" altLang="zh-CN" sz="2400" i="1" baseline="30000" dirty="0"/>
              <a:t>8  </a:t>
            </a:r>
            <a:r>
              <a:rPr lang="en-US" altLang="zh-CN" sz="2400" dirty="0"/>
              <a:t>defined by</a:t>
            </a:r>
          </a:p>
          <a:p>
            <a:pPr marL="400050" lvl="1" indent="0">
              <a:lnSpc>
                <a:spcPct val="150000"/>
              </a:lnSpc>
              <a:buNone/>
            </a:pPr>
            <a:endParaRPr lang="en-US" altLang="zh-CN" sz="2400" dirty="0"/>
          </a:p>
          <a:p>
            <a:pPr marL="400050" lvl="1" indent="0">
              <a:lnSpc>
                <a:spcPct val="150000"/>
              </a:lnSpc>
              <a:buNone/>
            </a:pPr>
            <a:endParaRPr lang="en-US" altLang="zh-CN" sz="2400" dirty="0"/>
          </a:p>
          <a:p>
            <a:pPr marL="400050" lvl="1" indent="0">
              <a:lnSpc>
                <a:spcPct val="150000"/>
              </a:lnSpc>
              <a:buNone/>
            </a:pPr>
            <a:endParaRPr lang="en-US" altLang="zh-CN" sz="2400" dirty="0"/>
          </a:p>
          <a:p>
            <a:pPr marL="400050" lvl="1" indent="0">
              <a:lnSpc>
                <a:spcPct val="150000"/>
              </a:lnSpc>
              <a:buNone/>
            </a:pPr>
            <a:endParaRPr lang="en-US" altLang="zh-CN" sz="2400" dirty="0"/>
          </a:p>
          <a:p>
            <a:pPr marL="400050" lvl="1" indent="0">
              <a:lnSpc>
                <a:spcPct val="150000"/>
              </a:lnSpc>
              <a:buNone/>
            </a:pPr>
            <a:r>
              <a:rPr lang="en-US" altLang="zh-CN" sz="2400" dirty="0"/>
              <a:t>How many errors will e detect?</a:t>
            </a:r>
          </a:p>
        </p:txBody>
      </p:sp>
      <p:pic>
        <p:nvPicPr>
          <p:cNvPr id="5" name="图片 4">
            <a:extLst>
              <a:ext uri="{FF2B5EF4-FFF2-40B4-BE49-F238E27FC236}">
                <a16:creationId xmlns:a16="http://schemas.microsoft.com/office/drawing/2014/main" id="{A04AD848-5529-4A08-A0AB-2C37413F7470}"/>
              </a:ext>
            </a:extLst>
          </p:cNvPr>
          <p:cNvPicPr>
            <a:picLocks noChangeAspect="1"/>
          </p:cNvPicPr>
          <p:nvPr/>
        </p:nvPicPr>
        <p:blipFill>
          <a:blip r:embed="rId3"/>
          <a:stretch>
            <a:fillRect/>
          </a:stretch>
        </p:blipFill>
        <p:spPr>
          <a:xfrm>
            <a:off x="4220972" y="2330226"/>
            <a:ext cx="3959606" cy="2409580"/>
          </a:xfrm>
          <a:prstGeom prst="rect">
            <a:avLst/>
          </a:prstGeom>
        </p:spPr>
      </p:pic>
    </p:spTree>
    <p:extLst>
      <p:ext uri="{BB962C8B-B14F-4D97-AF65-F5344CB8AC3E}">
        <p14:creationId xmlns:p14="http://schemas.microsoft.com/office/powerpoint/2010/main" val="144726214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buFont typeface="Wingdings" panose="05000000000000000000" pitchFamily="2" charset="2"/>
              <a:buChar char="l"/>
            </a:pPr>
            <a:r>
              <a:rPr lang="en-US" altLang="zh-CN" dirty="0"/>
              <a:t>Solution:</a:t>
            </a:r>
          </a:p>
          <a:p>
            <a:pPr marL="800100" lvl="2" indent="0">
              <a:lnSpc>
                <a:spcPct val="150000"/>
              </a:lnSpc>
              <a:buNone/>
            </a:pPr>
            <a:r>
              <a:rPr lang="en-US" altLang="zh-CN" dirty="0"/>
              <a:t>The minimum distance of e is 3, as can be checked by computing the minimum of the distances between all 28 distinct pairs of code words. By Theorem 2, the code will detect k or fewer errors if and only if its minimum distance is at least k + 1. Since the minimum distance is 3, we have 3 ≥ k+1or k &lt; 2. Thus the code will detect two or fewer errors.</a:t>
            </a:r>
            <a:endParaRPr lang="zh-CN" altLang="en-US" dirty="0"/>
          </a:p>
        </p:txBody>
      </p:sp>
    </p:spTree>
    <p:extLst>
      <p:ext uri="{BB962C8B-B14F-4D97-AF65-F5344CB8AC3E}">
        <p14:creationId xmlns:p14="http://schemas.microsoft.com/office/powerpoint/2010/main" val="3945771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5" name="Rectangle 3">
            <a:extLst>
              <a:ext uri="{FF2B5EF4-FFF2-40B4-BE49-F238E27FC236}">
                <a16:creationId xmlns:a16="http://schemas.microsoft.com/office/drawing/2014/main" id="{4B026FA2-9274-4083-9BAB-CA455E66B5CF}"/>
              </a:ext>
            </a:extLst>
          </p:cNvPr>
          <p:cNvSpPr txBox="1">
            <a:spLocks noChangeArrowheads="1"/>
          </p:cNvSpPr>
          <p:nvPr/>
        </p:nvSpPr>
        <p:spPr>
          <a:xfrm>
            <a:off x="440635" y="1727898"/>
            <a:ext cx="11310730"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kern="0" dirty="0"/>
              <a:t>An (</a:t>
            </a:r>
            <a:r>
              <a:rPr lang="en-US" altLang="zh-CN" i="1" kern="0" dirty="0"/>
              <a:t>m, n</a:t>
            </a:r>
            <a:r>
              <a:rPr lang="en-US" altLang="zh-CN" kern="0" dirty="0"/>
              <a:t>) encoding function </a:t>
            </a:r>
            <a:r>
              <a:rPr lang="en-US" altLang="zh-CN" i="1" kern="0" dirty="0"/>
              <a:t>e</a:t>
            </a:r>
            <a:r>
              <a:rPr lang="en-US" altLang="zh-CN" kern="0" dirty="0"/>
              <a:t>: </a:t>
            </a:r>
            <a:r>
              <a:rPr lang="en-US" altLang="zh-CN" i="1" kern="0" dirty="0"/>
              <a:t>B</a:t>
            </a:r>
            <a:r>
              <a:rPr lang="en-US" altLang="zh-CN" i="1" kern="0" baseline="30000" dirty="0"/>
              <a:t>m</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B</a:t>
            </a:r>
            <a:r>
              <a:rPr lang="en-US" altLang="zh-CN" i="1" kern="0" baseline="30000" dirty="0"/>
              <a:t>n</a:t>
            </a:r>
            <a:r>
              <a:rPr lang="en-US" altLang="zh-CN" kern="0" dirty="0"/>
              <a:t> is called a </a:t>
            </a:r>
            <a:r>
              <a:rPr lang="en-US" altLang="zh-CN" kern="0" dirty="0">
                <a:solidFill>
                  <a:srgbClr val="FF0000"/>
                </a:solidFill>
              </a:rPr>
              <a:t>group code </a:t>
            </a:r>
            <a:r>
              <a:rPr lang="en-US" altLang="zh-CN" kern="0" dirty="0"/>
              <a:t>if</a:t>
            </a:r>
          </a:p>
          <a:p>
            <a:pPr marL="457200" lvl="1" indent="0" algn="ctr">
              <a:lnSpc>
                <a:spcPct val="150000"/>
              </a:lnSpc>
              <a:buNone/>
            </a:pPr>
            <a:r>
              <a:rPr lang="en-US" altLang="zh-CN" i="1" kern="0" dirty="0"/>
              <a:t>e</a:t>
            </a:r>
            <a:r>
              <a:rPr lang="en-US" altLang="zh-CN" kern="0" dirty="0"/>
              <a:t>(</a:t>
            </a:r>
            <a:r>
              <a:rPr lang="en-US" altLang="zh-CN" i="1" kern="0" dirty="0"/>
              <a:t>B</a:t>
            </a:r>
            <a:r>
              <a:rPr lang="en-US" altLang="zh-CN" i="1" kern="0" baseline="30000" dirty="0"/>
              <a:t>m</a:t>
            </a:r>
            <a:r>
              <a:rPr lang="en-US" altLang="zh-CN" kern="0" dirty="0"/>
              <a:t>) = {</a:t>
            </a:r>
            <a:r>
              <a:rPr lang="en-US" altLang="zh-CN" i="1" kern="0" dirty="0"/>
              <a:t>e</a:t>
            </a:r>
            <a:r>
              <a:rPr lang="en-US" altLang="zh-CN" kern="0" dirty="0"/>
              <a:t>(</a:t>
            </a:r>
            <a:r>
              <a:rPr lang="en-US" altLang="zh-CN" i="1" kern="0" dirty="0"/>
              <a:t>b</a:t>
            </a:r>
            <a:r>
              <a:rPr lang="en-US" altLang="zh-CN" kern="0" dirty="0"/>
              <a:t>) | </a:t>
            </a:r>
            <a:r>
              <a:rPr lang="en-US" altLang="zh-CN" i="1" kern="0" dirty="0"/>
              <a:t>e</a:t>
            </a:r>
            <a:r>
              <a:rPr lang="en-US" altLang="zh-CN" kern="0" dirty="0"/>
              <a:t>(</a:t>
            </a:r>
            <a:r>
              <a:rPr lang="en-US" altLang="zh-CN" i="1" kern="0" dirty="0"/>
              <a:t>b</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B</a:t>
            </a:r>
            <a:r>
              <a:rPr lang="en-US" altLang="zh-CN" i="1" kern="0" baseline="30000" dirty="0"/>
              <a:t>n</a:t>
            </a:r>
            <a:r>
              <a:rPr lang="en-US" altLang="zh-CN" kern="0" dirty="0"/>
              <a:t> } = Ran(</a:t>
            </a:r>
            <a:r>
              <a:rPr lang="en-US" altLang="zh-CN" i="1" kern="0" dirty="0"/>
              <a:t>e</a:t>
            </a:r>
            <a:r>
              <a:rPr lang="en-US" altLang="zh-CN" kern="0" dirty="0"/>
              <a:t>)</a:t>
            </a:r>
          </a:p>
          <a:p>
            <a:pPr marL="0" indent="0">
              <a:lnSpc>
                <a:spcPct val="150000"/>
              </a:lnSpc>
              <a:buNone/>
            </a:pPr>
            <a:r>
              <a:rPr lang="en-US" altLang="zh-CN" kern="0" dirty="0"/>
              <a:t>is a subgroup of </a:t>
            </a:r>
            <a:r>
              <a:rPr lang="en-US" altLang="zh-CN" i="1" kern="0" dirty="0"/>
              <a:t>B</a:t>
            </a:r>
            <a:r>
              <a:rPr lang="en-US" altLang="zh-CN" i="1" kern="0" baseline="30000" dirty="0"/>
              <a:t>n</a:t>
            </a:r>
          </a:p>
        </p:txBody>
      </p:sp>
      <p:sp>
        <p:nvSpPr>
          <p:cNvPr id="6" name="文本框 5">
            <a:extLst>
              <a:ext uri="{FF2B5EF4-FFF2-40B4-BE49-F238E27FC236}">
                <a16:creationId xmlns:a16="http://schemas.microsoft.com/office/drawing/2014/main" id="{EC84ED96-5EBE-49F8-AEBB-8C8ED826CDD6}"/>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Group Codes - </a:t>
            </a:r>
            <a:r>
              <a:rPr kumimoji="0" lang="zh-CN" altLang="en-US" sz="4400" b="0" i="0" u="none" strike="noStrike" kern="0" cap="none" spc="0" normalizeH="0" baseline="0" noProof="0" dirty="0">
                <a:ln>
                  <a:noFill/>
                </a:ln>
                <a:solidFill>
                  <a:srgbClr val="000000"/>
                </a:solidFill>
                <a:effectLst/>
                <a:uLnTx/>
                <a:uFillTx/>
                <a:latin typeface="Arial"/>
                <a:ea typeface="宋体"/>
                <a:cs typeface="+mj-cs"/>
              </a:rPr>
              <a:t>群码</a:t>
            </a:r>
            <a:endParaRPr kumimoji="0" lang="en-US" altLang="zh-CN" sz="4400" b="0" i="0" u="none" strike="noStrike" kern="0" cap="none" spc="0" normalizeH="0" baseline="0" noProof="0" dirty="0">
              <a:ln>
                <a:noFill/>
              </a:ln>
              <a:solidFill>
                <a:srgbClr val="000000"/>
              </a:solidFill>
              <a:effectLst/>
              <a:uLnTx/>
              <a:uFillTx/>
              <a:latin typeface="Arial"/>
              <a:ea typeface="宋体"/>
              <a:cs typeface="+mj-cs"/>
            </a:endParaRPr>
          </a:p>
        </p:txBody>
      </p:sp>
    </p:spTree>
    <p:extLst>
      <p:ext uri="{BB962C8B-B14F-4D97-AF65-F5344CB8AC3E}">
        <p14:creationId xmlns:p14="http://schemas.microsoft.com/office/powerpoint/2010/main" val="141024284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文本框 5">
            <a:extLst>
              <a:ext uri="{FF2B5EF4-FFF2-40B4-BE49-F238E27FC236}">
                <a16:creationId xmlns:a16="http://schemas.microsoft.com/office/drawing/2014/main" id="{EC84ED96-5EBE-49F8-AEBB-8C8ED826CDD6}"/>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Subgroups</a:t>
            </a:r>
          </a:p>
        </p:txBody>
      </p:sp>
      <p:sp>
        <p:nvSpPr>
          <p:cNvPr id="7" name="Rectangle 3">
            <a:extLst>
              <a:ext uri="{FF2B5EF4-FFF2-40B4-BE49-F238E27FC236}">
                <a16:creationId xmlns:a16="http://schemas.microsoft.com/office/drawing/2014/main" id="{3638E117-9102-4A22-A619-3CE81C0AF21F}"/>
              </a:ext>
            </a:extLst>
          </p:cNvPr>
          <p:cNvSpPr txBox="1">
            <a:spLocks noChangeArrowheads="1"/>
          </p:cNvSpPr>
          <p:nvPr/>
        </p:nvSpPr>
        <p:spPr>
          <a:xfrm>
            <a:off x="567765" y="1709041"/>
            <a:ext cx="11531470"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kern="0" dirty="0"/>
              <a:t>Recall from the definition of subgroup give in Section 9.4 that </a:t>
            </a:r>
            <a:r>
              <a:rPr lang="en-US" altLang="zh-CN" i="1" kern="0" dirty="0"/>
              <a:t>N</a:t>
            </a:r>
            <a:r>
              <a:rPr lang="en-US" altLang="zh-CN" kern="0" dirty="0"/>
              <a:t> is a subgroup of </a:t>
            </a:r>
            <a:r>
              <a:rPr lang="en-US" altLang="zh-CN" i="1" kern="0" dirty="0"/>
              <a:t>B</a:t>
            </a:r>
            <a:r>
              <a:rPr lang="en-US" altLang="zh-CN" i="1" kern="0" baseline="30000" dirty="0"/>
              <a:t>n</a:t>
            </a:r>
            <a:r>
              <a:rPr lang="en-US" altLang="zh-CN" kern="0" dirty="0"/>
              <a:t> if </a:t>
            </a:r>
          </a:p>
          <a:p>
            <a:pPr marL="457200" lvl="1" indent="0">
              <a:lnSpc>
                <a:spcPct val="150000"/>
              </a:lnSpc>
              <a:buNone/>
            </a:pPr>
            <a:r>
              <a:rPr lang="en-US" altLang="zh-CN" kern="0" dirty="0"/>
              <a:t>(a) the identity of </a:t>
            </a:r>
            <a:r>
              <a:rPr lang="en-US" altLang="zh-CN" i="1" kern="0" dirty="0"/>
              <a:t>B</a:t>
            </a:r>
            <a:r>
              <a:rPr lang="en-US" altLang="zh-CN" i="1" kern="0" baseline="30000" dirty="0"/>
              <a:t>n</a:t>
            </a:r>
            <a:r>
              <a:rPr lang="en-US" altLang="zh-CN" kern="0" dirty="0"/>
              <a:t> is in </a:t>
            </a:r>
            <a:r>
              <a:rPr lang="en-US" altLang="zh-CN" i="1" kern="0" dirty="0"/>
              <a:t>N</a:t>
            </a:r>
            <a:r>
              <a:rPr lang="en-US" altLang="zh-CN" kern="0" dirty="0"/>
              <a:t>, </a:t>
            </a:r>
          </a:p>
          <a:p>
            <a:pPr marL="457200" lvl="1" indent="0">
              <a:lnSpc>
                <a:spcPct val="150000"/>
              </a:lnSpc>
              <a:buNone/>
            </a:pPr>
            <a:r>
              <a:rPr lang="en-US" altLang="zh-CN" kern="0" dirty="0"/>
              <a:t>(b) if </a:t>
            </a:r>
            <a:r>
              <a:rPr lang="en-US" altLang="zh-CN" i="1" kern="0" dirty="0"/>
              <a:t>x</a:t>
            </a:r>
            <a:r>
              <a:rPr lang="en-US" altLang="zh-CN" kern="0" dirty="0"/>
              <a:t> and </a:t>
            </a:r>
            <a:r>
              <a:rPr lang="en-US" altLang="zh-CN" i="1" kern="0" dirty="0"/>
              <a:t>y</a:t>
            </a:r>
            <a:r>
              <a:rPr lang="en-US" altLang="zh-CN" kern="0" dirty="0"/>
              <a:t> belong to </a:t>
            </a:r>
            <a:r>
              <a:rPr lang="en-US" altLang="zh-CN" i="1" kern="0" dirty="0"/>
              <a:t>N</a:t>
            </a:r>
            <a:r>
              <a:rPr lang="en-US" altLang="zh-CN" kern="0" dirty="0"/>
              <a:t>, then </a:t>
            </a:r>
            <a:r>
              <a:rPr lang="en-US" altLang="zh-CN" i="1" kern="0" dirty="0"/>
              <a:t>x</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y</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N</a:t>
            </a:r>
            <a:r>
              <a:rPr lang="en-US" altLang="zh-CN" kern="0" dirty="0"/>
              <a:t>, and </a:t>
            </a:r>
          </a:p>
          <a:p>
            <a:pPr marL="457200" lvl="1" indent="0">
              <a:lnSpc>
                <a:spcPct val="150000"/>
              </a:lnSpc>
              <a:buNone/>
            </a:pPr>
            <a:r>
              <a:rPr lang="en-US" altLang="zh-CN" kern="0" dirty="0"/>
              <a:t>(c) if </a:t>
            </a:r>
            <a:r>
              <a:rPr lang="en-US" altLang="zh-CN" i="1" kern="0" dirty="0"/>
              <a:t>x</a:t>
            </a:r>
            <a:r>
              <a:rPr lang="en-US" altLang="zh-CN" kern="0" dirty="0"/>
              <a:t> is in </a:t>
            </a:r>
            <a:r>
              <a:rPr lang="en-US" altLang="zh-CN" i="1" kern="0" dirty="0"/>
              <a:t>N</a:t>
            </a:r>
            <a:r>
              <a:rPr lang="en-US" altLang="zh-CN" kern="0" dirty="0"/>
              <a:t>, then its inverse is in </a:t>
            </a:r>
            <a:r>
              <a:rPr lang="en-US" altLang="zh-CN" i="1" kern="0" dirty="0"/>
              <a:t>N</a:t>
            </a:r>
            <a:r>
              <a:rPr lang="en-US" altLang="zh-CN" kern="0" dirty="0"/>
              <a:t>.</a:t>
            </a:r>
          </a:p>
        </p:txBody>
      </p:sp>
    </p:spTree>
    <p:extLst>
      <p:ext uri="{BB962C8B-B14F-4D97-AF65-F5344CB8AC3E}">
        <p14:creationId xmlns:p14="http://schemas.microsoft.com/office/powerpoint/2010/main" val="209292360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7:</a:t>
            </a:r>
          </a:p>
          <a:p>
            <a:pPr marL="400050" lvl="1" indent="0">
              <a:buNone/>
            </a:pPr>
            <a:r>
              <a:rPr lang="en-US" altLang="zh-CN" sz="2400" dirty="0"/>
              <a:t>Consider the (3, 6) encoding function </a:t>
            </a:r>
            <a:r>
              <a:rPr lang="en-US" altLang="zh-CN" sz="2400" i="1" dirty="0"/>
              <a:t>e</a:t>
            </a:r>
            <a:r>
              <a:rPr lang="en-US" altLang="zh-CN" sz="2400" dirty="0"/>
              <a:t>: </a:t>
            </a:r>
            <a:r>
              <a:rPr lang="en-US" altLang="zh-CN" sz="2400" i="1" dirty="0"/>
              <a:t>B</a:t>
            </a:r>
            <a:r>
              <a:rPr lang="en-US" altLang="zh-CN" sz="2400" i="1" baseline="30000" dirty="0"/>
              <a:t>3</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B</a:t>
            </a:r>
            <a:r>
              <a:rPr lang="en-US" altLang="zh-CN" sz="2400" i="1" baseline="30000" dirty="0"/>
              <a:t>6</a:t>
            </a:r>
            <a:r>
              <a:rPr lang="en-US" altLang="zh-CN" sz="2400" dirty="0"/>
              <a:t> defined by</a:t>
            </a:r>
          </a:p>
          <a:p>
            <a:pPr marL="400050" lvl="1" indent="0">
              <a:lnSpc>
                <a:spcPct val="150000"/>
              </a:lnSpc>
              <a:buNone/>
            </a:pPr>
            <a:endParaRPr lang="en-US" altLang="zh-CN" sz="2400" dirty="0"/>
          </a:p>
          <a:p>
            <a:pPr marL="400050" lvl="1" indent="0">
              <a:lnSpc>
                <a:spcPct val="150000"/>
              </a:lnSpc>
              <a:buNone/>
            </a:pPr>
            <a:endParaRPr lang="en-US" altLang="zh-CN" sz="2400" dirty="0"/>
          </a:p>
          <a:p>
            <a:pPr marL="400050" lvl="1" indent="0">
              <a:lnSpc>
                <a:spcPct val="150000"/>
              </a:lnSpc>
              <a:buNone/>
            </a:pPr>
            <a:endParaRPr lang="en-US" altLang="zh-CN" sz="2400" dirty="0"/>
          </a:p>
          <a:p>
            <a:pPr marL="400050" lvl="1" indent="0">
              <a:lnSpc>
                <a:spcPct val="150000"/>
              </a:lnSpc>
              <a:buNone/>
            </a:pPr>
            <a:endParaRPr lang="en-US" altLang="zh-CN" sz="2400" dirty="0"/>
          </a:p>
          <a:p>
            <a:pPr marL="400050" lvl="1" indent="0">
              <a:lnSpc>
                <a:spcPct val="150000"/>
              </a:lnSpc>
              <a:buNone/>
            </a:pPr>
            <a:endParaRPr lang="en-US" altLang="zh-CN" sz="2400" dirty="0"/>
          </a:p>
          <a:p>
            <a:pPr marL="400050" lvl="1" indent="0">
              <a:lnSpc>
                <a:spcPct val="150000"/>
              </a:lnSpc>
              <a:buNone/>
            </a:pPr>
            <a:r>
              <a:rPr lang="en-US" altLang="zh-CN" sz="2400" dirty="0"/>
              <a:t>Show that this encoding function is a group code.</a:t>
            </a:r>
          </a:p>
        </p:txBody>
      </p:sp>
      <p:pic>
        <p:nvPicPr>
          <p:cNvPr id="3" name="图片 2">
            <a:extLst>
              <a:ext uri="{FF2B5EF4-FFF2-40B4-BE49-F238E27FC236}">
                <a16:creationId xmlns:a16="http://schemas.microsoft.com/office/drawing/2014/main" id="{3713F90F-A6E3-407A-84FA-8E482518DC2B}"/>
              </a:ext>
            </a:extLst>
          </p:cNvPr>
          <p:cNvPicPr>
            <a:picLocks noChangeAspect="1"/>
          </p:cNvPicPr>
          <p:nvPr/>
        </p:nvPicPr>
        <p:blipFill>
          <a:blip r:embed="rId3"/>
          <a:stretch>
            <a:fillRect/>
          </a:stretch>
        </p:blipFill>
        <p:spPr>
          <a:xfrm>
            <a:off x="4153255" y="2464230"/>
            <a:ext cx="3885490" cy="2452438"/>
          </a:xfrm>
          <a:prstGeom prst="rect">
            <a:avLst/>
          </a:prstGeom>
        </p:spPr>
      </p:pic>
    </p:spTree>
    <p:extLst>
      <p:ext uri="{BB962C8B-B14F-4D97-AF65-F5344CB8AC3E}">
        <p14:creationId xmlns:p14="http://schemas.microsoft.com/office/powerpoint/2010/main" val="62156197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Solution:</a:t>
            </a:r>
          </a:p>
          <a:p>
            <a:pPr marL="800100" lvl="2" indent="0">
              <a:lnSpc>
                <a:spcPct val="150000"/>
              </a:lnSpc>
              <a:buNone/>
            </a:pPr>
            <a:r>
              <a:rPr lang="en-US" altLang="zh-CN" dirty="0"/>
              <a:t>We must show that the set of all code words</a:t>
            </a:r>
          </a:p>
          <a:p>
            <a:pPr marL="1314450" lvl="3" indent="0">
              <a:lnSpc>
                <a:spcPct val="150000"/>
              </a:lnSpc>
              <a:buNone/>
            </a:pPr>
            <a:r>
              <a:rPr lang="en-US" altLang="zh-CN" i="1" dirty="0"/>
              <a:t>N </a:t>
            </a:r>
            <a:r>
              <a:rPr lang="en-US" altLang="zh-CN" dirty="0"/>
              <a:t>= {000000, 001100, 010011, 011111, 100101, 101001, 110110, 111010}</a:t>
            </a:r>
          </a:p>
          <a:p>
            <a:pPr marL="800100" lvl="2" indent="0">
              <a:lnSpc>
                <a:spcPct val="150000"/>
              </a:lnSpc>
              <a:buNone/>
            </a:pPr>
            <a:r>
              <a:rPr lang="en-US" altLang="zh-CN" dirty="0"/>
              <a:t>is a subgroup of </a:t>
            </a:r>
            <a:r>
              <a:rPr lang="en-US" altLang="zh-CN" i="1" dirty="0"/>
              <a:t>B</a:t>
            </a:r>
            <a:r>
              <a:rPr lang="en-US" altLang="zh-CN" i="1" baseline="30000" dirty="0"/>
              <a:t>6</a:t>
            </a:r>
            <a:r>
              <a:rPr lang="en-US" altLang="zh-CN" dirty="0"/>
              <a:t>. This is done by first noting that the identity of </a:t>
            </a:r>
            <a:r>
              <a:rPr lang="en-US" altLang="zh-CN" i="1" dirty="0"/>
              <a:t>B</a:t>
            </a:r>
            <a:r>
              <a:rPr lang="en-US" altLang="zh-CN" i="1" baseline="30000" dirty="0"/>
              <a:t>6 </a:t>
            </a:r>
            <a:r>
              <a:rPr lang="en-US" altLang="zh-CN" dirty="0"/>
              <a:t>belongs to N. Next we verify</a:t>
            </a:r>
            <a:r>
              <a:rPr lang="zh-CN" altLang="en-US" dirty="0"/>
              <a:t>，</a:t>
            </a:r>
            <a:r>
              <a:rPr lang="en-US" altLang="zh-CN" dirty="0"/>
              <a:t>by trying all possibilities</a:t>
            </a:r>
            <a:r>
              <a:rPr lang="zh-CN" altLang="en-US" dirty="0"/>
              <a:t>，</a:t>
            </a:r>
            <a:r>
              <a:rPr lang="en-US" altLang="zh-CN" dirty="0"/>
              <a:t>that if x and y are elements in N</a:t>
            </a:r>
            <a:r>
              <a:rPr lang="zh-CN" altLang="en-US" dirty="0"/>
              <a:t>，</a:t>
            </a:r>
            <a:r>
              <a:rPr lang="en-US" altLang="zh-CN" dirty="0"/>
              <a:t>then x y is in N. Hence N is a subgroup </a:t>
            </a:r>
            <a:r>
              <a:rPr lang="en-US" altLang="zh-CN"/>
              <a:t>of B6</a:t>
            </a:r>
            <a:r>
              <a:rPr lang="zh-CN" altLang="en-US"/>
              <a:t>，</a:t>
            </a:r>
            <a:r>
              <a:rPr lang="en-US" altLang="zh-CN" dirty="0"/>
              <a:t>and the given encoding function is a group code.</a:t>
            </a:r>
          </a:p>
        </p:txBody>
      </p:sp>
    </p:spTree>
    <p:extLst>
      <p:ext uri="{BB962C8B-B14F-4D97-AF65-F5344CB8AC3E}">
        <p14:creationId xmlns:p14="http://schemas.microsoft.com/office/powerpoint/2010/main" val="46901476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714646"/>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eaLnBrk="1" hangingPunct="1">
              <a:lnSpc>
                <a:spcPct val="150000"/>
              </a:lnSpc>
              <a:buNone/>
            </a:pPr>
            <a:r>
              <a:rPr lang="en-US" altLang="zh-CN" sz="2800" dirty="0"/>
              <a:t>Let </a:t>
            </a:r>
            <a:r>
              <a:rPr lang="en-US" altLang="zh-CN" sz="2800" i="1" dirty="0"/>
              <a:t>e</a:t>
            </a:r>
            <a:r>
              <a:rPr lang="en-US" altLang="zh-CN" sz="2800" dirty="0"/>
              <a:t>: </a:t>
            </a:r>
            <a:r>
              <a:rPr lang="en-US" altLang="zh-CN" sz="2800" i="1" dirty="0"/>
              <a:t>B</a:t>
            </a:r>
            <a:r>
              <a:rPr lang="en-US" altLang="zh-CN" sz="2800" i="1" baseline="30000" dirty="0"/>
              <a:t>m</a:t>
            </a:r>
            <a:r>
              <a:rPr lang="en-US" altLang="zh-CN" sz="2800" dirty="0"/>
              <a:t> </a:t>
            </a:r>
            <a:r>
              <a:rPr lang="en-US" altLang="zh-CN" sz="2800" dirty="0">
                <a:sym typeface="Symbol" panose="05050102010706020507" pitchFamily="18" charset="2"/>
              </a:rPr>
              <a:t></a:t>
            </a:r>
            <a:r>
              <a:rPr lang="en-US" altLang="zh-CN" sz="2800" dirty="0"/>
              <a:t> </a:t>
            </a:r>
            <a:r>
              <a:rPr lang="en-US" altLang="zh-CN" sz="2800" i="1" dirty="0"/>
              <a:t>B</a:t>
            </a:r>
            <a:r>
              <a:rPr lang="en-US" altLang="zh-CN" sz="2800" i="1" baseline="30000" dirty="0"/>
              <a:t>n</a:t>
            </a:r>
            <a:r>
              <a:rPr lang="en-US" altLang="zh-CN" sz="2800" dirty="0"/>
              <a:t> be a group code. The minimum distance of </a:t>
            </a:r>
            <a:r>
              <a:rPr lang="en-US" altLang="zh-CN" sz="2800" i="1" dirty="0"/>
              <a:t>e</a:t>
            </a:r>
            <a:r>
              <a:rPr lang="en-US" altLang="zh-CN" sz="2800" dirty="0"/>
              <a:t> is the minimum weight of a nonzero code word.</a:t>
            </a:r>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Theorem 3</a:t>
            </a:r>
            <a:endParaRPr lang="zh-CN" altLang="en-US" dirty="0"/>
          </a:p>
        </p:txBody>
      </p:sp>
    </p:spTree>
    <p:extLst>
      <p:ext uri="{BB962C8B-B14F-4D97-AF65-F5344CB8AC3E}">
        <p14:creationId xmlns:p14="http://schemas.microsoft.com/office/powerpoint/2010/main" val="80499734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714646"/>
            <a:ext cx="116771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eaLnBrk="1" hangingPunct="1">
              <a:lnSpc>
                <a:spcPct val="150000"/>
              </a:lnSpc>
              <a:buNone/>
            </a:pPr>
            <a:r>
              <a:rPr lang="en-US" altLang="zh-CN" sz="2800" dirty="0"/>
              <a:t>Let </a:t>
            </a:r>
            <a:r>
              <a:rPr lang="en-US" altLang="zh-CN" sz="2800" dirty="0">
                <a:sym typeface="Symbol" panose="05050102010706020507" pitchFamily="18" charset="2"/>
              </a:rPr>
              <a:t></a:t>
            </a:r>
            <a:r>
              <a:rPr lang="en-US" altLang="zh-CN" sz="2800" dirty="0"/>
              <a:t> be the minimum distance of the group code, and suppose that </a:t>
            </a:r>
            <a:r>
              <a:rPr lang="en-US" altLang="zh-CN" sz="2800" dirty="0">
                <a:sym typeface="Symbol" panose="05050102010706020507" pitchFamily="18" charset="2"/>
              </a:rPr>
              <a:t></a:t>
            </a:r>
            <a:r>
              <a:rPr lang="en-US" altLang="zh-CN" sz="2800" dirty="0"/>
              <a:t> = </a:t>
            </a:r>
            <a:r>
              <a:rPr lang="en-US" altLang="zh-CN" sz="2800" dirty="0">
                <a:sym typeface="Symbol" panose="05050102010706020507" pitchFamily="18" charset="2"/>
              </a:rPr>
              <a:t></a:t>
            </a:r>
            <a:r>
              <a:rPr lang="en-US" altLang="zh-CN" sz="2800" dirty="0"/>
              <a:t>(</a:t>
            </a:r>
            <a:r>
              <a:rPr lang="en-US" altLang="zh-CN" sz="2800" i="1" dirty="0"/>
              <a:t>x</a:t>
            </a:r>
            <a:r>
              <a:rPr lang="en-US" altLang="zh-CN" sz="2800" dirty="0"/>
              <a:t>, </a:t>
            </a:r>
            <a:r>
              <a:rPr lang="en-US" altLang="zh-CN" sz="2800" i="1" dirty="0"/>
              <a:t>y</a:t>
            </a:r>
            <a:r>
              <a:rPr lang="en-US" altLang="zh-CN" sz="2800" dirty="0"/>
              <a:t>), where </a:t>
            </a:r>
            <a:r>
              <a:rPr lang="en-US" altLang="zh-CN" sz="2800" i="1" dirty="0"/>
              <a:t>x</a:t>
            </a:r>
            <a:r>
              <a:rPr lang="en-US" altLang="zh-CN" sz="2800" dirty="0"/>
              <a:t> and </a:t>
            </a:r>
            <a:r>
              <a:rPr lang="en-US" altLang="zh-CN" sz="2800" i="1" dirty="0"/>
              <a:t>y</a:t>
            </a:r>
            <a:r>
              <a:rPr lang="en-US" altLang="zh-CN" sz="2800" dirty="0"/>
              <a:t> are distinct code words. </a:t>
            </a:r>
          </a:p>
          <a:p>
            <a:pPr marL="0" indent="0" eaLnBrk="1" hangingPunct="1">
              <a:lnSpc>
                <a:spcPct val="150000"/>
              </a:lnSpc>
              <a:buNone/>
            </a:pPr>
            <a:r>
              <a:rPr lang="en-US" altLang="zh-CN" sz="2800" dirty="0"/>
              <a:t>Also, let </a:t>
            </a:r>
            <a:r>
              <a:rPr lang="en-US" altLang="zh-CN" sz="2800" i="1" dirty="0">
                <a:sym typeface="Symbol" panose="05050102010706020507" pitchFamily="18" charset="2"/>
              </a:rPr>
              <a:t></a:t>
            </a:r>
            <a:r>
              <a:rPr lang="en-US" altLang="zh-CN" sz="2800" dirty="0"/>
              <a:t> be the minimum weight of a nonzero code word and suppose that </a:t>
            </a:r>
            <a:r>
              <a:rPr lang="en-US" altLang="zh-CN" sz="2800" i="1" dirty="0">
                <a:sym typeface="Symbol" panose="05050102010706020507" pitchFamily="18" charset="2"/>
              </a:rPr>
              <a:t></a:t>
            </a:r>
            <a:r>
              <a:rPr lang="en-US" altLang="zh-CN" sz="2800" dirty="0"/>
              <a:t> = |</a:t>
            </a:r>
            <a:r>
              <a:rPr lang="en-US" altLang="zh-CN" sz="2800" i="1" dirty="0"/>
              <a:t>z</a:t>
            </a:r>
            <a:r>
              <a:rPr lang="en-US" altLang="zh-CN" sz="2800" dirty="0"/>
              <a:t>| for a code word </a:t>
            </a:r>
            <a:r>
              <a:rPr lang="en-US" altLang="zh-CN" sz="2800" i="1" dirty="0"/>
              <a:t>z</a:t>
            </a:r>
            <a:r>
              <a:rPr lang="en-US" altLang="zh-CN" sz="2800" dirty="0"/>
              <a:t>. </a:t>
            </a:r>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Proof</a:t>
            </a:r>
          </a:p>
        </p:txBody>
      </p:sp>
    </p:spTree>
    <p:extLst>
      <p:ext uri="{BB962C8B-B14F-4D97-AF65-F5344CB8AC3E}">
        <p14:creationId xmlns:p14="http://schemas.microsoft.com/office/powerpoint/2010/main" val="381671182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714646"/>
            <a:ext cx="116771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eaLnBrk="1" hangingPunct="1">
              <a:lnSpc>
                <a:spcPct val="150000"/>
              </a:lnSpc>
              <a:buNone/>
            </a:pPr>
            <a:r>
              <a:rPr lang="en-US" altLang="zh-CN" dirty="0"/>
              <a:t>Since </a:t>
            </a:r>
            <a:r>
              <a:rPr lang="en-US" altLang="zh-CN" i="1" dirty="0"/>
              <a:t>e</a:t>
            </a:r>
            <a:r>
              <a:rPr lang="en-US" altLang="zh-CN" dirty="0"/>
              <a:t> is a group code, </a:t>
            </a:r>
            <a:r>
              <a:rPr lang="en-US" altLang="zh-CN" i="1" dirty="0"/>
              <a:t>x</a:t>
            </a:r>
            <a:r>
              <a:rPr lang="en-US" altLang="zh-CN" dirty="0"/>
              <a:t> </a:t>
            </a:r>
            <a:r>
              <a:rPr lang="en-US" altLang="zh-CN" dirty="0">
                <a:sym typeface="Symbol" panose="05050102010706020507" pitchFamily="18" charset="2"/>
              </a:rPr>
              <a:t></a:t>
            </a:r>
            <a:r>
              <a:rPr lang="en-US" altLang="zh-CN" dirty="0"/>
              <a:t> </a:t>
            </a:r>
            <a:r>
              <a:rPr lang="en-US" altLang="zh-CN" i="1" dirty="0"/>
              <a:t>y</a:t>
            </a:r>
            <a:r>
              <a:rPr lang="en-US" altLang="zh-CN" dirty="0"/>
              <a:t> is a nonzero code word. Thus</a:t>
            </a:r>
          </a:p>
          <a:p>
            <a:pPr marL="457200" lvl="1" indent="0" algn="ctr" eaLnBrk="1" hangingPunct="1">
              <a:lnSpc>
                <a:spcPct val="150000"/>
              </a:lnSpc>
              <a:buClr>
                <a:schemeClr val="tx1"/>
              </a:buClr>
              <a:buNone/>
            </a:pPr>
            <a:r>
              <a:rPr lang="en-US" altLang="zh-CN" dirty="0">
                <a:sym typeface="Symbol" panose="05050102010706020507" pitchFamily="18" charset="2"/>
              </a:rPr>
              <a:t></a:t>
            </a:r>
            <a:r>
              <a:rPr lang="en-US" altLang="zh-CN" dirty="0"/>
              <a:t> = </a:t>
            </a:r>
            <a:r>
              <a:rPr lang="en-US" altLang="zh-CN" dirty="0">
                <a:sym typeface="Symbol" panose="05050102010706020507" pitchFamily="18" charset="2"/>
              </a:rPr>
              <a:t></a:t>
            </a:r>
            <a:r>
              <a:rPr lang="en-US" altLang="zh-CN" dirty="0"/>
              <a:t>(</a:t>
            </a:r>
            <a:r>
              <a:rPr lang="en-US" altLang="zh-CN" i="1" dirty="0"/>
              <a:t>x</a:t>
            </a:r>
            <a:r>
              <a:rPr lang="en-US" altLang="zh-CN" dirty="0"/>
              <a:t>, </a:t>
            </a:r>
            <a:r>
              <a:rPr lang="en-US" altLang="zh-CN" i="1" dirty="0"/>
              <a:t>y</a:t>
            </a:r>
            <a:r>
              <a:rPr lang="en-US" altLang="zh-CN" dirty="0"/>
              <a:t>) = |</a:t>
            </a:r>
            <a:r>
              <a:rPr lang="en-US" altLang="zh-CN" i="1" dirty="0"/>
              <a:t>x</a:t>
            </a:r>
            <a:r>
              <a:rPr lang="en-US" altLang="zh-CN" dirty="0"/>
              <a:t> </a:t>
            </a:r>
            <a:r>
              <a:rPr lang="en-US" altLang="zh-CN" dirty="0">
                <a:sym typeface="Symbol" panose="05050102010706020507" pitchFamily="18" charset="2"/>
              </a:rPr>
              <a:t></a:t>
            </a:r>
            <a:r>
              <a:rPr lang="en-US" altLang="zh-CN" dirty="0"/>
              <a:t> </a:t>
            </a:r>
            <a:r>
              <a:rPr lang="en-US" altLang="zh-CN" i="1" dirty="0"/>
              <a:t>y</a:t>
            </a:r>
            <a:r>
              <a:rPr lang="en-US" altLang="zh-CN" dirty="0"/>
              <a:t>| </a:t>
            </a:r>
            <a:r>
              <a:rPr lang="en-US" altLang="zh-CN" dirty="0">
                <a:cs typeface="Arial" panose="020B0604020202020204" pitchFamily="34" charset="0"/>
                <a:sym typeface="Euclid Math Two" panose="02050601010101010101" pitchFamily="18" charset="2"/>
              </a:rPr>
              <a:t>≥</a:t>
            </a:r>
            <a:r>
              <a:rPr lang="en-US" altLang="zh-CN" dirty="0"/>
              <a:t> </a:t>
            </a:r>
            <a:r>
              <a:rPr lang="en-US" altLang="zh-CN" dirty="0">
                <a:sym typeface="Symbol" panose="05050102010706020507" pitchFamily="18" charset="2"/>
              </a:rPr>
              <a:t></a:t>
            </a:r>
            <a:r>
              <a:rPr lang="en-US" altLang="zh-CN" dirty="0"/>
              <a:t>.</a:t>
            </a:r>
          </a:p>
          <a:p>
            <a:pPr marL="0" indent="0" eaLnBrk="1" hangingPunct="1">
              <a:lnSpc>
                <a:spcPct val="150000"/>
              </a:lnSpc>
              <a:buNone/>
            </a:pPr>
            <a:r>
              <a:rPr lang="en-US" altLang="zh-CN" dirty="0"/>
              <a:t>On the other hand, since </a:t>
            </a:r>
            <a:r>
              <a:rPr lang="en-US" altLang="zh-CN" b="1" dirty="0"/>
              <a:t>0</a:t>
            </a:r>
            <a:r>
              <a:rPr lang="en-US" altLang="zh-CN" dirty="0"/>
              <a:t> and </a:t>
            </a:r>
            <a:r>
              <a:rPr lang="en-US" altLang="zh-CN" i="1" dirty="0"/>
              <a:t>z</a:t>
            </a:r>
            <a:r>
              <a:rPr lang="en-US" altLang="zh-CN" dirty="0"/>
              <a:t> are distinct code words,</a:t>
            </a:r>
          </a:p>
          <a:p>
            <a:pPr marL="457200" lvl="1" indent="0" algn="ctr" eaLnBrk="1" hangingPunct="1">
              <a:lnSpc>
                <a:spcPct val="150000"/>
              </a:lnSpc>
              <a:buNone/>
            </a:pPr>
            <a:r>
              <a:rPr lang="en-US" altLang="zh-CN" dirty="0">
                <a:sym typeface="Symbol" panose="05050102010706020507" pitchFamily="18" charset="2"/>
              </a:rPr>
              <a:t></a:t>
            </a:r>
            <a:r>
              <a:rPr lang="en-US" altLang="zh-CN" dirty="0"/>
              <a:t> = |</a:t>
            </a:r>
            <a:r>
              <a:rPr lang="en-US" altLang="zh-CN" i="1" dirty="0"/>
              <a:t>z</a:t>
            </a:r>
            <a:r>
              <a:rPr lang="en-US" altLang="zh-CN" dirty="0"/>
              <a:t>| = |</a:t>
            </a:r>
            <a:r>
              <a:rPr lang="en-US" altLang="zh-CN" i="1" dirty="0"/>
              <a:t>z</a:t>
            </a:r>
            <a:r>
              <a:rPr lang="en-US" altLang="zh-CN" dirty="0"/>
              <a:t> </a:t>
            </a:r>
            <a:r>
              <a:rPr lang="en-US" altLang="zh-CN" dirty="0">
                <a:sym typeface="Symbol" panose="05050102010706020507" pitchFamily="18" charset="2"/>
              </a:rPr>
              <a:t></a:t>
            </a:r>
            <a:r>
              <a:rPr lang="en-US" altLang="zh-CN" dirty="0"/>
              <a:t> </a:t>
            </a:r>
            <a:r>
              <a:rPr lang="en-US" altLang="zh-CN" b="1" dirty="0"/>
              <a:t>0</a:t>
            </a:r>
            <a:r>
              <a:rPr lang="en-US" altLang="zh-CN" dirty="0"/>
              <a:t> | = </a:t>
            </a:r>
            <a:r>
              <a:rPr lang="en-US" altLang="zh-CN" dirty="0">
                <a:sym typeface="Symbol" panose="05050102010706020507" pitchFamily="18" charset="2"/>
              </a:rPr>
              <a:t></a:t>
            </a:r>
            <a:r>
              <a:rPr lang="en-US" altLang="zh-CN" dirty="0"/>
              <a:t>(</a:t>
            </a:r>
            <a:r>
              <a:rPr lang="en-US" altLang="zh-CN" i="1" dirty="0"/>
              <a:t>z</a:t>
            </a:r>
            <a:r>
              <a:rPr lang="en-US" altLang="zh-CN" dirty="0"/>
              <a:t>, </a:t>
            </a:r>
            <a:r>
              <a:rPr lang="en-US" altLang="zh-CN" b="1" dirty="0"/>
              <a:t>0</a:t>
            </a:r>
            <a:r>
              <a:rPr lang="en-US" altLang="zh-CN" dirty="0"/>
              <a:t>) </a:t>
            </a:r>
            <a:r>
              <a:rPr lang="en-US" altLang="zh-CN" dirty="0">
                <a:cs typeface="Arial" panose="020B0604020202020204" pitchFamily="34" charset="0"/>
                <a:sym typeface="Euclid Math Two" panose="02050601010101010101" pitchFamily="18" charset="2"/>
              </a:rPr>
              <a:t>≥</a:t>
            </a:r>
            <a:r>
              <a:rPr lang="en-US" altLang="zh-CN" dirty="0"/>
              <a:t> </a:t>
            </a:r>
            <a:r>
              <a:rPr lang="en-US" altLang="zh-CN" dirty="0">
                <a:sym typeface="Symbol" panose="05050102010706020507" pitchFamily="18" charset="2"/>
              </a:rPr>
              <a:t></a:t>
            </a:r>
            <a:endParaRPr lang="en-US" altLang="zh-CN" dirty="0"/>
          </a:p>
          <a:p>
            <a:pPr marL="0" indent="0" eaLnBrk="1" hangingPunct="1">
              <a:lnSpc>
                <a:spcPct val="150000"/>
              </a:lnSpc>
              <a:buNone/>
            </a:pPr>
            <a:r>
              <a:rPr lang="en-US" altLang="zh-CN" dirty="0"/>
              <a:t>Hence </a:t>
            </a:r>
            <a:r>
              <a:rPr lang="en-US" altLang="zh-CN" i="1" dirty="0">
                <a:sym typeface="Symbol" panose="05050102010706020507" pitchFamily="18" charset="2"/>
              </a:rPr>
              <a:t></a:t>
            </a:r>
            <a:r>
              <a:rPr lang="en-US" altLang="zh-CN" dirty="0"/>
              <a:t> = </a:t>
            </a:r>
            <a:r>
              <a:rPr lang="en-US" altLang="zh-CN" dirty="0">
                <a:sym typeface="Symbol" panose="05050102010706020507" pitchFamily="18" charset="2"/>
              </a:rPr>
              <a:t></a:t>
            </a:r>
            <a:r>
              <a:rPr lang="en-US" altLang="zh-CN" dirty="0"/>
              <a:t>.</a:t>
            </a:r>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Proof</a:t>
            </a:r>
          </a:p>
        </p:txBody>
      </p:sp>
    </p:spTree>
    <p:extLst>
      <p:ext uri="{BB962C8B-B14F-4D97-AF65-F5344CB8AC3E}">
        <p14:creationId xmlns:p14="http://schemas.microsoft.com/office/powerpoint/2010/main" val="392458253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8:</a:t>
            </a:r>
          </a:p>
          <a:p>
            <a:pPr marL="400050" lvl="1" indent="0">
              <a:lnSpc>
                <a:spcPct val="150000"/>
              </a:lnSpc>
              <a:buNone/>
            </a:pPr>
            <a:r>
              <a:rPr lang="en-US" altLang="zh-CN" sz="2400" dirty="0"/>
              <a:t>The minimum distance of the group code in Example 7 is 2, since by Theorem 3: this distance is equal to the smallest number of 1's in any of the seven nonzero code words. To check this directly would require 28 different calculations.</a:t>
            </a:r>
          </a:p>
        </p:txBody>
      </p:sp>
      <p:pic>
        <p:nvPicPr>
          <p:cNvPr id="5" name="图片 4">
            <a:extLst>
              <a:ext uri="{FF2B5EF4-FFF2-40B4-BE49-F238E27FC236}">
                <a16:creationId xmlns:a16="http://schemas.microsoft.com/office/drawing/2014/main" id="{6F47B5E4-05FD-401A-BD3A-BD4C27980F27}"/>
              </a:ext>
            </a:extLst>
          </p:cNvPr>
          <p:cNvPicPr>
            <a:picLocks noChangeAspect="1"/>
          </p:cNvPicPr>
          <p:nvPr/>
        </p:nvPicPr>
        <p:blipFill>
          <a:blip r:embed="rId3"/>
          <a:stretch>
            <a:fillRect/>
          </a:stretch>
        </p:blipFill>
        <p:spPr>
          <a:xfrm>
            <a:off x="4981107" y="3979598"/>
            <a:ext cx="3934600" cy="2483436"/>
          </a:xfrm>
          <a:prstGeom prst="rect">
            <a:avLst/>
          </a:prstGeom>
        </p:spPr>
      </p:pic>
    </p:spTree>
    <p:extLst>
      <p:ext uri="{BB962C8B-B14F-4D97-AF65-F5344CB8AC3E}">
        <p14:creationId xmlns:p14="http://schemas.microsoft.com/office/powerpoint/2010/main" val="275902385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endParaRPr lang="en-US" altLang="zh-CN" sz="2400"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234CE12-1177-47D6-8018-58283D055D97}"/>
                  </a:ext>
                </a:extLst>
              </p:cNvPr>
              <p:cNvSpPr txBox="1"/>
              <p:nvPr/>
            </p:nvSpPr>
            <p:spPr>
              <a:xfrm>
                <a:off x="262972" y="1262112"/>
                <a:ext cx="11929028" cy="3816429"/>
              </a:xfrm>
              <a:prstGeom prst="rect">
                <a:avLst/>
              </a:prstGeom>
              <a:noFill/>
            </p:spPr>
            <p:txBody>
              <a:bodyPr wrap="square">
                <a:spAutoFit/>
              </a:bodyPr>
              <a:lstStyle/>
              <a:p>
                <a:pPr algn="just">
                  <a:lnSpc>
                    <a:spcPct val="150000"/>
                  </a:lnSpc>
                </a:pPr>
                <a:r>
                  <a:rPr lang="en-US" altLang="zh-CN" sz="2800" b="1" dirty="0"/>
                  <a:t>We shall now take a brief look at a procedure for generating group codes</a:t>
                </a:r>
                <a:r>
                  <a:rPr lang="zh-CN" altLang="en-US" sz="2800" b="1" dirty="0"/>
                  <a:t>．</a:t>
                </a:r>
                <a:r>
                  <a:rPr lang="en-US" altLang="zh-CN" sz="2800" b="1" dirty="0"/>
                  <a:t>First, we need several additional results on Boolean matrices. Consider the set B with operation + defined in Table 1. Now let D = [d</a:t>
                </a:r>
                <a:r>
                  <a:rPr lang="en-US" altLang="zh-CN" sz="2800" b="1" baseline="-25000" dirty="0"/>
                  <a:t>ij</a:t>
                </a:r>
                <a:r>
                  <a:rPr lang="en-US" altLang="zh-CN" sz="2800" b="1" dirty="0"/>
                  <a:t> ] and E = [e</a:t>
                </a:r>
                <a:r>
                  <a:rPr lang="en-US" altLang="zh-CN" sz="2800" b="1" baseline="-25000" dirty="0"/>
                  <a:t>ij</a:t>
                </a:r>
                <a:r>
                  <a:rPr lang="en-US" altLang="zh-CN" sz="2800" b="1" dirty="0"/>
                  <a:t>] be m × n Boolean matrices. We define the </a:t>
                </a:r>
                <a:r>
                  <a:rPr lang="en-US" altLang="zh-CN" sz="2800" b="1" dirty="0">
                    <a:solidFill>
                      <a:srgbClr val="FF0000"/>
                    </a:solidFill>
                  </a:rPr>
                  <a:t>mod-2 sum D</a:t>
                </a:r>
                <a:r>
                  <a:rPr lang="en-US" altLang="zh-CN" sz="2800" kern="0" dirty="0">
                    <a:sym typeface="Symbol" panose="05050102010706020507" pitchFamily="18" charset="2"/>
                  </a:rPr>
                  <a:t> </a:t>
                </a:r>
                <a:r>
                  <a:rPr lang="en-US" altLang="zh-CN" sz="2800" kern="0" dirty="0">
                    <a:solidFill>
                      <a:srgbClr val="FF0000"/>
                    </a:solidFill>
                    <a:sym typeface="Symbol" panose="05050102010706020507" pitchFamily="18" charset="2"/>
                  </a:rPr>
                  <a:t></a:t>
                </a:r>
                <a:r>
                  <a:rPr lang="en-US" altLang="zh-CN" sz="2800" b="1" dirty="0">
                    <a:solidFill>
                      <a:srgbClr val="FF0000"/>
                    </a:solidFill>
                  </a:rPr>
                  <a:t> E</a:t>
                </a:r>
                <a:r>
                  <a:rPr lang="en-US" altLang="zh-CN" sz="2800" b="1" dirty="0"/>
                  <a:t> as the m × n Boolean matrix F = [f</a:t>
                </a:r>
                <a:r>
                  <a:rPr lang="en-US" altLang="zh-CN" sz="2800" b="1" baseline="-25000" dirty="0"/>
                  <a:t>ij</a:t>
                </a:r>
                <a:r>
                  <a:rPr lang="en-US" altLang="zh-CN" sz="2800" b="1" dirty="0"/>
                  <a:t>], where</a:t>
                </a:r>
              </a:p>
              <a:p>
                <a:pPr algn="ctr"/>
                <a14:m>
                  <m:oMath xmlns:m="http://schemas.openxmlformats.org/officeDocument/2006/math">
                    <m:r>
                      <a:rPr lang="en-US" altLang="zh-CN" sz="2800" b="1" i="1" smtClean="0">
                        <a:latin typeface="Cambria Math" panose="02040503050406030204" pitchFamily="18" charset="0"/>
                      </a:rPr>
                      <m:t>𝒇</m:t>
                    </m:r>
                    <m:r>
                      <a:rPr lang="en-US" altLang="zh-CN" sz="2800" b="1" i="1" baseline="-25000" smtClean="0">
                        <a:latin typeface="Cambria Math" panose="02040503050406030204" pitchFamily="18" charset="0"/>
                      </a:rPr>
                      <m:t>𝒊𝒋</m:t>
                    </m:r>
                    <m:r>
                      <a:rPr lang="en-US" altLang="zh-CN" sz="2800" b="1" i="1" smtClean="0">
                        <a:latin typeface="Cambria Math" panose="02040503050406030204" pitchFamily="18" charset="0"/>
                      </a:rPr>
                      <m:t>=</m:t>
                    </m:r>
                    <m:r>
                      <a:rPr lang="en-US" altLang="zh-CN" sz="2800" b="1" i="0" smtClean="0">
                        <a:latin typeface="Cambria Math" panose="02040503050406030204" pitchFamily="18" charset="0"/>
                      </a:rPr>
                      <m:t>𝐝</m:t>
                    </m:r>
                    <m:r>
                      <a:rPr lang="en-US" altLang="zh-CN" sz="2800" b="1" i="0" baseline="-25000" smtClean="0">
                        <a:latin typeface="Cambria Math" panose="02040503050406030204" pitchFamily="18" charset="0"/>
                      </a:rPr>
                      <m:t>𝐢𝐣</m:t>
                    </m:r>
                    <m:r>
                      <a:rPr lang="en-US" altLang="zh-CN" sz="2800" b="1" i="0" smtClean="0">
                        <a:latin typeface="Cambria Math" panose="02040503050406030204" pitchFamily="18" charset="0"/>
                      </a:rPr>
                      <m:t>+</m:t>
                    </m:r>
                    <m:r>
                      <a:rPr lang="en-US" altLang="zh-CN" sz="2800" b="1" i="0" smtClean="0">
                        <a:latin typeface="Cambria Math" panose="02040503050406030204" pitchFamily="18" charset="0"/>
                      </a:rPr>
                      <m:t>𝐞𝐢𝐣</m:t>
                    </m:r>
                    <m:r>
                      <a:rPr lang="en-US" altLang="zh-CN" sz="2800" b="1" i="0" smtClean="0">
                        <a:latin typeface="Cambria Math" panose="02040503050406030204" pitchFamily="18" charset="0"/>
                      </a:rPr>
                      <m:t>,</m:t>
                    </m:r>
                    <m:r>
                      <a:rPr lang="en-US" altLang="zh-CN" sz="2800" b="1" i="0" smtClean="0">
                        <a:latin typeface="Cambria Math" panose="02040503050406030204" pitchFamily="18" charset="0"/>
                      </a:rPr>
                      <m:t>𝟏</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𝒊</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𝒎</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𝒋</m:t>
                    </m:r>
                    <m:r>
                      <a:rPr lang="en-US" altLang="zh-CN" sz="2800" b="1" i="1" smtClean="0">
                        <a:latin typeface="Cambria Math" panose="02040503050406030204" pitchFamily="18" charset="0"/>
                      </a:rPr>
                      <m:t>≤</m:t>
                    </m:r>
                  </m:oMath>
                </a14:m>
                <a:r>
                  <a:rPr lang="en-US" altLang="zh-CN" sz="2800" b="1" dirty="0"/>
                  <a:t>n   (Here + is addition in B. )</a:t>
                </a:r>
                <a:endParaRPr lang="zh-CN" altLang="en-US" sz="2800" b="1" dirty="0"/>
              </a:p>
            </p:txBody>
          </p:sp>
        </mc:Choice>
        <mc:Fallback xmlns="">
          <p:sp>
            <p:nvSpPr>
              <p:cNvPr id="6" name="文本框 5">
                <a:extLst>
                  <a:ext uri="{FF2B5EF4-FFF2-40B4-BE49-F238E27FC236}">
                    <a16:creationId xmlns:a16="http://schemas.microsoft.com/office/drawing/2014/main" id="{B234CE12-1177-47D6-8018-58283D055D97}"/>
                  </a:ext>
                </a:extLst>
              </p:cNvPr>
              <p:cNvSpPr txBox="1">
                <a:spLocks noRot="1" noChangeAspect="1" noMove="1" noResize="1" noEditPoints="1" noAdjustHandles="1" noChangeArrowheads="1" noChangeShapeType="1" noTextEdit="1"/>
              </p:cNvSpPr>
              <p:nvPr/>
            </p:nvSpPr>
            <p:spPr>
              <a:xfrm>
                <a:off x="262972" y="1262112"/>
                <a:ext cx="11929028" cy="3816429"/>
              </a:xfrm>
              <a:prstGeom prst="rect">
                <a:avLst/>
              </a:prstGeom>
              <a:blipFill>
                <a:blip r:embed="rId3"/>
                <a:stretch>
                  <a:fillRect l="-1022" r="-1891" b="-1917"/>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FC3F23CC-D49B-421D-AB90-3BBE71674DE1}"/>
              </a:ext>
            </a:extLst>
          </p:cNvPr>
          <p:cNvPicPr>
            <a:picLocks noChangeAspect="1"/>
          </p:cNvPicPr>
          <p:nvPr/>
        </p:nvPicPr>
        <p:blipFill>
          <a:blip r:embed="rId4"/>
          <a:stretch>
            <a:fillRect/>
          </a:stretch>
        </p:blipFill>
        <p:spPr>
          <a:xfrm>
            <a:off x="5048621" y="5222350"/>
            <a:ext cx="2672106" cy="1635650"/>
          </a:xfrm>
          <a:prstGeom prst="rect">
            <a:avLst/>
          </a:prstGeom>
        </p:spPr>
      </p:pic>
      <p:sp>
        <p:nvSpPr>
          <p:cNvPr id="8" name="文本框 7">
            <a:extLst>
              <a:ext uri="{FF2B5EF4-FFF2-40B4-BE49-F238E27FC236}">
                <a16:creationId xmlns:a16="http://schemas.microsoft.com/office/drawing/2014/main" id="{2ED98283-6086-4AB2-9C57-125C9AF71B65}"/>
              </a:ext>
            </a:extLst>
          </p:cNvPr>
          <p:cNvSpPr txBox="1"/>
          <p:nvPr/>
        </p:nvSpPr>
        <p:spPr>
          <a:xfrm>
            <a:off x="5789942" y="4922218"/>
            <a:ext cx="1596325" cy="400110"/>
          </a:xfrm>
          <a:prstGeom prst="rect">
            <a:avLst/>
          </a:prstGeom>
          <a:noFill/>
        </p:spPr>
        <p:txBody>
          <a:bodyPr wrap="square" rtlCol="0">
            <a:spAutoFit/>
          </a:bodyPr>
          <a:lstStyle/>
          <a:p>
            <a:r>
              <a:rPr lang="en-US" altLang="zh-CN" sz="2000" b="1" dirty="0"/>
              <a:t>Table 1</a:t>
            </a:r>
            <a:endParaRPr lang="zh-CN" altLang="en-US" sz="2000" b="1" dirty="0"/>
          </a:p>
        </p:txBody>
      </p:sp>
    </p:spTree>
    <p:extLst>
      <p:ext uri="{BB962C8B-B14F-4D97-AF65-F5344CB8AC3E}">
        <p14:creationId xmlns:p14="http://schemas.microsoft.com/office/powerpoint/2010/main" val="387992060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9:</a:t>
            </a:r>
          </a:p>
          <a:p>
            <a:pPr marL="400050" lvl="1" indent="0">
              <a:lnSpc>
                <a:spcPct val="150000"/>
              </a:lnSpc>
              <a:buNone/>
            </a:pPr>
            <a:r>
              <a:rPr lang="en-US" altLang="zh-CN" sz="2400" dirty="0"/>
              <a:t>We have</a:t>
            </a:r>
          </a:p>
        </p:txBody>
      </p:sp>
      <p:pic>
        <p:nvPicPr>
          <p:cNvPr id="3" name="图片 2">
            <a:extLst>
              <a:ext uri="{FF2B5EF4-FFF2-40B4-BE49-F238E27FC236}">
                <a16:creationId xmlns:a16="http://schemas.microsoft.com/office/drawing/2014/main" id="{4A7A96D6-DD0D-466E-B18A-1EFF33D1C251}"/>
              </a:ext>
            </a:extLst>
          </p:cNvPr>
          <p:cNvPicPr>
            <a:picLocks noChangeAspect="1"/>
          </p:cNvPicPr>
          <p:nvPr/>
        </p:nvPicPr>
        <p:blipFill>
          <a:blip r:embed="rId3"/>
          <a:stretch>
            <a:fillRect/>
          </a:stretch>
        </p:blipFill>
        <p:spPr>
          <a:xfrm>
            <a:off x="1955051" y="2478899"/>
            <a:ext cx="8281898" cy="2208506"/>
          </a:xfrm>
          <a:prstGeom prst="rect">
            <a:avLst/>
          </a:prstGeom>
        </p:spPr>
      </p:pic>
      <p:sp>
        <p:nvSpPr>
          <p:cNvPr id="8" name="文本框 7">
            <a:extLst>
              <a:ext uri="{FF2B5EF4-FFF2-40B4-BE49-F238E27FC236}">
                <a16:creationId xmlns:a16="http://schemas.microsoft.com/office/drawing/2014/main" id="{270AB721-A0EE-4C98-9B50-96F73C9E060D}"/>
              </a:ext>
            </a:extLst>
          </p:cNvPr>
          <p:cNvSpPr txBox="1"/>
          <p:nvPr/>
        </p:nvSpPr>
        <p:spPr>
          <a:xfrm>
            <a:off x="718088" y="4966773"/>
            <a:ext cx="10755824" cy="830997"/>
          </a:xfrm>
          <a:prstGeom prst="rect">
            <a:avLst/>
          </a:prstGeom>
          <a:noFill/>
        </p:spPr>
        <p:txBody>
          <a:bodyPr wrap="square">
            <a:spAutoFit/>
          </a:bodyPr>
          <a:lstStyle/>
          <a:p>
            <a:r>
              <a:rPr lang="en-US" altLang="zh-CN" sz="2400" b="1" dirty="0"/>
              <a:t>Observe that if F = D </a:t>
            </a:r>
            <a:r>
              <a:rPr lang="en-US" altLang="zh-CN" sz="2400" kern="0" dirty="0">
                <a:sym typeface="Symbol" panose="05050102010706020507" pitchFamily="18" charset="2"/>
              </a:rPr>
              <a:t></a:t>
            </a:r>
            <a:r>
              <a:rPr lang="en-US" altLang="zh-CN" sz="2400" kern="0" dirty="0">
                <a:solidFill>
                  <a:srgbClr val="FF0000"/>
                </a:solidFill>
                <a:sym typeface="Symbol" panose="05050102010706020507" pitchFamily="18" charset="2"/>
              </a:rPr>
              <a:t> </a:t>
            </a:r>
            <a:r>
              <a:rPr lang="en-US" altLang="zh-CN" sz="2400" b="1" dirty="0"/>
              <a:t>E, then f</a:t>
            </a:r>
            <a:r>
              <a:rPr lang="en-US" altLang="zh-CN" sz="2400" b="1" baseline="-25000" dirty="0"/>
              <a:t>ij</a:t>
            </a:r>
            <a:r>
              <a:rPr lang="en-US" altLang="zh-CN" sz="2400" b="1" dirty="0"/>
              <a:t>, is zero when both d</a:t>
            </a:r>
            <a:r>
              <a:rPr lang="en-US" altLang="zh-CN" sz="2400" b="1" baseline="-25000" dirty="0"/>
              <a:t>ij</a:t>
            </a:r>
            <a:r>
              <a:rPr lang="en-US" altLang="zh-CN" sz="2400" b="1" dirty="0"/>
              <a:t> and e</a:t>
            </a:r>
            <a:r>
              <a:rPr lang="en-US" altLang="zh-CN" sz="2400" b="1" baseline="-25000" dirty="0"/>
              <a:t>ij</a:t>
            </a:r>
            <a:r>
              <a:rPr lang="en-US" altLang="zh-CN" sz="2400" b="1" dirty="0"/>
              <a:t> are zero or both are one.</a:t>
            </a:r>
            <a:endParaRPr lang="zh-CN" altLang="en-US" sz="2400" b="1" dirty="0"/>
          </a:p>
        </p:txBody>
      </p:sp>
    </p:spTree>
    <p:extLst>
      <p:ext uri="{BB962C8B-B14F-4D97-AF65-F5344CB8AC3E}">
        <p14:creationId xmlns:p14="http://schemas.microsoft.com/office/powerpoint/2010/main" val="287692771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929027" cy="5970316"/>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00050" lvl="1" indent="0">
                  <a:lnSpc>
                    <a:spcPct val="150000"/>
                  </a:lnSpc>
                  <a:buNone/>
                </a:pPr>
                <a:r>
                  <a:rPr lang="en-US" altLang="zh-CN" sz="2400" dirty="0"/>
                  <a:t>Next, consider the set B = {0, 1} with the binary operation given in Table 2. This operation has been seen earlier in a different setting and with a different symbol. In Chapter 6 it was shown that B is the unique Boolean algebra with two elements. In particular, B is a lattice with partial order ≤ defined by 0 ≤ 0,0 ≤ 1,1 ≤ 1. Then the reader may easily check that if a and b are any two elements of B, </a:t>
                </a:r>
              </a:p>
              <a:p>
                <a:pPr marL="400050" lvl="1" indent="0" algn="ctr">
                  <a:lnSpc>
                    <a:spcPct val="150000"/>
                  </a:lnSpc>
                  <a:buNone/>
                </a:pPr>
                <a:r>
                  <a:rPr lang="en-US" altLang="zh-CN" sz="2400" dirty="0"/>
                  <a:t>a · b = a </a:t>
                </a:r>
                <a14:m>
                  <m:oMath xmlns:m="http://schemas.openxmlformats.org/officeDocument/2006/math">
                    <m:r>
                      <a:rPr lang="en-US" altLang="zh-CN" sz="2400" i="1" dirty="0" smtClean="0">
                        <a:latin typeface="Cambria Math" panose="02040503050406030204" pitchFamily="18" charset="0"/>
                      </a:rPr>
                      <m:t>^</m:t>
                    </m:r>
                  </m:oMath>
                </a14:m>
                <a:r>
                  <a:rPr lang="en-US" altLang="zh-CN" sz="2400" dirty="0"/>
                  <a:t> b (the greatest lower bound of a and b).</a:t>
                </a:r>
              </a:p>
              <a:p>
                <a:pPr marL="400050" lvl="1" indent="0">
                  <a:lnSpc>
                    <a:spcPct val="150000"/>
                  </a:lnSpc>
                  <a:buNone/>
                </a:pPr>
                <a:r>
                  <a:rPr lang="en-US" altLang="zh-CN" sz="2400" dirty="0"/>
                  <a:t>Thus Table 2 for ·  is just a copy of the table for </a:t>
                </a:r>
                <a14:m>
                  <m:oMath xmlns:m="http://schemas.openxmlformats.org/officeDocument/2006/math">
                    <m:r>
                      <a:rPr lang="en-US" altLang="zh-CN" sz="2400" i="1" dirty="0" smtClean="0">
                        <a:latin typeface="Cambria Math" panose="02040503050406030204" pitchFamily="18" charset="0"/>
                      </a:rPr>
                      <m:t>^</m:t>
                    </m:r>
                  </m:oMath>
                </a14:m>
                <a:r>
                  <a:rPr lang="en-US" altLang="zh-CN" sz="2400" dirty="0"/>
                  <a:t> .</a:t>
                </a:r>
              </a:p>
            </p:txBody>
          </p:sp>
        </mc:Choice>
        <mc:Fallback xmlns="">
          <p:sp>
            <p:nvSpPr>
              <p:cNvPr id="9" name="Rectangle 3">
                <a:extLst>
                  <a:ext uri="{FF2B5EF4-FFF2-40B4-BE49-F238E27FC236}">
                    <a16:creationId xmlns:a16="http://schemas.microsoft.com/office/drawing/2014/main" id="{D34A0B28-7990-448C-95D7-6B81D3053AB1}"/>
                  </a:ext>
                </a:extLst>
              </p:cNvPr>
              <p:cNvSpPr txBox="1">
                <a:spLocks noRot="1" noChangeAspect="1" noMove="1" noResize="1" noEditPoints="1" noAdjustHandles="1" noChangeArrowheads="1" noChangeShapeType="1" noTextEdit="1"/>
              </p:cNvSpPr>
              <p:nvPr/>
            </p:nvSpPr>
            <p:spPr>
              <a:xfrm>
                <a:off x="262973" y="887684"/>
                <a:ext cx="11929027" cy="5970316"/>
              </a:xfrm>
              <a:prstGeom prst="rect">
                <a:avLst/>
              </a:prstGeom>
              <a:blipFill>
                <a:blip r:embed="rId3"/>
                <a:stretch>
                  <a:fillRect r="-25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AFB15D25-1185-481F-878C-A1BAA8D4CCAD}"/>
              </a:ext>
            </a:extLst>
          </p:cNvPr>
          <p:cNvPicPr>
            <a:picLocks noChangeAspect="1"/>
          </p:cNvPicPr>
          <p:nvPr/>
        </p:nvPicPr>
        <p:blipFill>
          <a:blip r:embed="rId4"/>
          <a:stretch>
            <a:fillRect/>
          </a:stretch>
        </p:blipFill>
        <p:spPr>
          <a:xfrm>
            <a:off x="10024872" y="5486400"/>
            <a:ext cx="2167128" cy="1371600"/>
          </a:xfrm>
          <a:prstGeom prst="rect">
            <a:avLst/>
          </a:prstGeom>
        </p:spPr>
      </p:pic>
      <p:sp>
        <p:nvSpPr>
          <p:cNvPr id="6" name="文本框 5">
            <a:extLst>
              <a:ext uri="{FF2B5EF4-FFF2-40B4-BE49-F238E27FC236}">
                <a16:creationId xmlns:a16="http://schemas.microsoft.com/office/drawing/2014/main" id="{5C22582A-4ECA-49F9-9C0B-4E1B27FCA293}"/>
              </a:ext>
            </a:extLst>
          </p:cNvPr>
          <p:cNvSpPr txBox="1"/>
          <p:nvPr/>
        </p:nvSpPr>
        <p:spPr>
          <a:xfrm>
            <a:off x="10631085" y="5138415"/>
            <a:ext cx="1270861" cy="400110"/>
          </a:xfrm>
          <a:prstGeom prst="rect">
            <a:avLst/>
          </a:prstGeom>
          <a:noFill/>
        </p:spPr>
        <p:txBody>
          <a:bodyPr wrap="square" rtlCol="0">
            <a:spAutoFit/>
          </a:bodyPr>
          <a:lstStyle/>
          <a:p>
            <a:r>
              <a:rPr lang="en-US" altLang="zh-CN" sz="2000" b="1" dirty="0"/>
              <a:t>Table 2</a:t>
            </a:r>
            <a:endParaRPr lang="zh-CN" altLang="en-US" sz="2000" b="1" dirty="0"/>
          </a:p>
        </p:txBody>
      </p:sp>
    </p:spTree>
    <p:extLst>
      <p:ext uri="{BB962C8B-B14F-4D97-AF65-F5344CB8AC3E}">
        <p14:creationId xmlns:p14="http://schemas.microsoft.com/office/powerpoint/2010/main" val="428100649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929027" cy="5970316"/>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00050" lvl="1" indent="0">
              <a:lnSpc>
                <a:spcPct val="150000"/>
              </a:lnSpc>
              <a:buNone/>
            </a:pPr>
            <a:endParaRPr lang="en-US" altLang="zh-CN" sz="2400" dirty="0"/>
          </a:p>
        </p:txBody>
      </p:sp>
      <p:sp>
        <p:nvSpPr>
          <p:cNvPr id="6" name="文本框 5">
            <a:extLst>
              <a:ext uri="{FF2B5EF4-FFF2-40B4-BE49-F238E27FC236}">
                <a16:creationId xmlns:a16="http://schemas.microsoft.com/office/drawing/2014/main" id="{5C22582A-4ECA-49F9-9C0B-4E1B27FCA293}"/>
              </a:ext>
            </a:extLst>
          </p:cNvPr>
          <p:cNvSpPr txBox="1"/>
          <p:nvPr/>
        </p:nvSpPr>
        <p:spPr>
          <a:xfrm>
            <a:off x="8352835" y="1698761"/>
            <a:ext cx="1270861" cy="400110"/>
          </a:xfrm>
          <a:prstGeom prst="rect">
            <a:avLst/>
          </a:prstGeom>
          <a:noFill/>
        </p:spPr>
        <p:txBody>
          <a:bodyPr wrap="square" rtlCol="0">
            <a:spAutoFit/>
          </a:bodyPr>
          <a:lstStyle/>
          <a:p>
            <a:r>
              <a:rPr lang="en-US" altLang="zh-CN" sz="2000" b="1" dirty="0"/>
              <a:t>Figure 1</a:t>
            </a:r>
            <a:endParaRPr lang="zh-CN" altLang="en-US" sz="2000" b="1"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CEE3B3B-53D9-42A3-BE63-C231F43163FC}"/>
                  </a:ext>
                </a:extLst>
              </p:cNvPr>
              <p:cNvSpPr txBox="1"/>
              <p:nvPr/>
            </p:nvSpPr>
            <p:spPr>
              <a:xfrm>
                <a:off x="262973" y="873687"/>
                <a:ext cx="4807499" cy="5551071"/>
              </a:xfrm>
              <a:prstGeom prst="rect">
                <a:avLst/>
              </a:prstGeom>
              <a:noFill/>
            </p:spPr>
            <p:txBody>
              <a:bodyPr wrap="square">
                <a:spAutoFit/>
              </a:bodyPr>
              <a:lstStyle/>
              <a:p>
                <a:pPr algn="just">
                  <a:lnSpc>
                    <a:spcPct val="150000"/>
                  </a:lnSpc>
                </a:pPr>
                <a:r>
                  <a:rPr lang="en-US" altLang="zh-CN" sz="2400" b="1" dirty="0"/>
                  <a:t>Let D =[ d</a:t>
                </a:r>
                <a:r>
                  <a:rPr lang="en-US" altLang="zh-CN" sz="2400" b="1" baseline="-25000" dirty="0"/>
                  <a:t>ij</a:t>
                </a:r>
                <a:r>
                  <a:rPr lang="en-US" altLang="zh-CN" sz="2400" b="1" dirty="0"/>
                  <a:t> ] be an m × p Boolean matrix, and let E =[ e</a:t>
                </a:r>
                <a:r>
                  <a:rPr lang="en-US" altLang="zh-CN" sz="2400" b="1" baseline="-25000" dirty="0"/>
                  <a:t>ij</a:t>
                </a:r>
                <a:r>
                  <a:rPr lang="en-US" altLang="zh-CN" sz="2400" b="1" dirty="0"/>
                  <a:t> ] be a p × n Boolean matrix. We define the </a:t>
                </a:r>
                <a:r>
                  <a:rPr lang="en-US" altLang="zh-CN" sz="2400" b="1" dirty="0">
                    <a:solidFill>
                      <a:srgbClr val="FF0000"/>
                    </a:solidFill>
                  </a:rPr>
                  <a:t>mod-2 Boolean product D * E(</a:t>
                </a:r>
                <a:r>
                  <a:rPr lang="zh-CN" altLang="en-US" sz="2400" b="1" dirty="0">
                    <a:solidFill>
                      <a:srgbClr val="FF0000"/>
                    </a:solidFill>
                  </a:rPr>
                  <a:t>布尔乘积</a:t>
                </a:r>
                <a:r>
                  <a:rPr lang="en-US" altLang="zh-CN" sz="2400" b="1" dirty="0">
                    <a:solidFill>
                      <a:srgbClr val="FF0000"/>
                    </a:solidFill>
                  </a:rPr>
                  <a:t>) </a:t>
                </a:r>
                <a:r>
                  <a:rPr lang="en-US" altLang="zh-CN" sz="2400" b="1" dirty="0"/>
                  <a:t>as the m x n matrix F=[ f</a:t>
                </a:r>
                <a:r>
                  <a:rPr lang="en-US" altLang="zh-CN" sz="2400" b="1" baseline="-25000" dirty="0"/>
                  <a:t>ij</a:t>
                </a:r>
                <a:r>
                  <a:rPr lang="en-US" altLang="zh-CN" sz="2400" b="1" dirty="0"/>
                  <a:t> ], where </a:t>
                </a:r>
              </a:p>
              <a:p>
                <a:pPr algn="ctr">
                  <a:lnSpc>
                    <a:spcPct val="150000"/>
                  </a:lnSpc>
                </a:pPr>
                <a14:m>
                  <m:oMath xmlns:m="http://schemas.openxmlformats.org/officeDocument/2006/math">
                    <m:r>
                      <a:rPr lang="en-US" altLang="zh-CN" sz="2400" b="1" i="1" smtClean="0">
                        <a:latin typeface="Cambria Math" panose="02040503050406030204" pitchFamily="18" charset="0"/>
                      </a:rPr>
                      <m:t>𝒇</m:t>
                    </m:r>
                    <m:r>
                      <a:rPr lang="en-US" altLang="zh-CN" sz="2400" b="1" i="1" baseline="-25000" smtClean="0">
                        <a:latin typeface="Cambria Math" panose="02040503050406030204" pitchFamily="18" charset="0"/>
                      </a:rPr>
                      <m:t>𝒊𝒋</m:t>
                    </m:r>
                    <m:r>
                      <a:rPr lang="en-US" altLang="zh-CN" sz="2400" b="1" i="1" smtClean="0">
                        <a:latin typeface="Cambria Math" panose="02040503050406030204" pitchFamily="18" charset="0"/>
                      </a:rPr>
                      <m:t>=</m:t>
                    </m:r>
                    <m:r>
                      <a:rPr lang="en-US" altLang="zh-CN" sz="2400" b="1" i="0" smtClean="0">
                        <a:latin typeface="Cambria Math" panose="02040503050406030204" pitchFamily="18" charset="0"/>
                      </a:rPr>
                      <m:t>𝐝</m:t>
                    </m:r>
                    <m:r>
                      <a:rPr lang="en-US" altLang="zh-CN" sz="2400" b="1" i="0" baseline="-25000" smtClean="0">
                        <a:latin typeface="Cambria Math" panose="02040503050406030204" pitchFamily="18" charset="0"/>
                      </a:rPr>
                      <m:t>𝐢𝟏</m:t>
                    </m:r>
                    <m:r>
                      <a:rPr lang="en-US" altLang="zh-CN" sz="2400" b="1" i="1" smtClean="0">
                        <a:latin typeface="Cambria Math" panose="02040503050406030204" pitchFamily="18" charset="0"/>
                      </a:rPr>
                      <m:t>·</m:t>
                    </m:r>
                    <m:r>
                      <a:rPr lang="en-US" altLang="zh-CN" sz="2400" b="1" i="0" smtClean="0">
                        <a:latin typeface="Cambria Math" panose="02040503050406030204" pitchFamily="18" charset="0"/>
                      </a:rPr>
                      <m:t>𝐞</m:t>
                    </m:r>
                    <m:r>
                      <a:rPr lang="en-US" altLang="zh-CN" sz="2400" b="1" i="0" baseline="-25000" smtClean="0">
                        <a:latin typeface="Cambria Math" panose="02040503050406030204" pitchFamily="18" charset="0"/>
                      </a:rPr>
                      <m:t>𝟏𝐣</m:t>
                    </m:r>
                    <m:r>
                      <a:rPr lang="en-US" altLang="zh-CN" sz="2400" b="1">
                        <a:latin typeface="Cambria Math" panose="02040503050406030204" pitchFamily="18" charset="0"/>
                      </a:rPr>
                      <m:t>+</m:t>
                    </m:r>
                    <m:r>
                      <a:rPr lang="en-US" altLang="zh-CN" sz="2400" b="1">
                        <a:latin typeface="Cambria Math" panose="02040503050406030204" pitchFamily="18" charset="0"/>
                      </a:rPr>
                      <m:t>𝐝𝐢𝟐</m:t>
                    </m:r>
                    <m:r>
                      <a:rPr lang="en-US" altLang="zh-CN" sz="2400" b="1" i="1">
                        <a:latin typeface="Cambria Math" panose="02040503050406030204" pitchFamily="18" charset="0"/>
                      </a:rPr>
                      <m:t>·</m:t>
                    </m:r>
                    <m:r>
                      <a:rPr lang="en-US" altLang="zh-CN" sz="2400" b="1">
                        <a:latin typeface="Cambria Math" panose="02040503050406030204" pitchFamily="18" charset="0"/>
                      </a:rPr>
                      <m:t>𝐞</m:t>
                    </m:r>
                    <m:r>
                      <a:rPr lang="en-US" altLang="zh-CN" sz="2400" b="1" i="0" baseline="-25000" smtClean="0">
                        <a:latin typeface="Cambria Math" panose="02040503050406030204" pitchFamily="18" charset="0"/>
                      </a:rPr>
                      <m:t>𝟐</m:t>
                    </m:r>
                    <m:r>
                      <a:rPr lang="en-US" altLang="zh-CN" sz="2400" b="1" baseline="-25000">
                        <a:latin typeface="Cambria Math" panose="02040503050406030204" pitchFamily="18" charset="0"/>
                      </a:rPr>
                      <m:t>𝐣</m:t>
                    </m:r>
                    <m:r>
                      <a:rPr lang="en-US" altLang="zh-CN" sz="2400" b="1" i="0" smtClean="0">
                        <a:latin typeface="Cambria Math" panose="02040503050406030204" pitchFamily="18" charset="0"/>
                      </a:rPr>
                      <m:t>+…+</m:t>
                    </m:r>
                    <m:r>
                      <a:rPr lang="en-US" altLang="zh-CN" sz="2400" b="1">
                        <a:latin typeface="Cambria Math" panose="02040503050406030204" pitchFamily="18" charset="0"/>
                      </a:rPr>
                      <m:t>𝐝</m:t>
                    </m:r>
                    <m:r>
                      <a:rPr lang="en-US" altLang="zh-CN" sz="2400" b="1" baseline="-25000">
                        <a:latin typeface="Cambria Math" panose="02040503050406030204" pitchFamily="18" charset="0"/>
                      </a:rPr>
                      <m:t>𝐢</m:t>
                    </m:r>
                    <m:r>
                      <a:rPr lang="en-US" altLang="zh-CN" sz="2400" b="1" i="0" baseline="-25000" smtClean="0">
                        <a:latin typeface="Cambria Math" panose="02040503050406030204" pitchFamily="18" charset="0"/>
                      </a:rPr>
                      <m:t>𝐩</m:t>
                    </m:r>
                    <m:r>
                      <a:rPr lang="en-US" altLang="zh-CN" sz="2400" b="1" i="1">
                        <a:latin typeface="Cambria Math" panose="02040503050406030204" pitchFamily="18" charset="0"/>
                      </a:rPr>
                      <m:t>·</m:t>
                    </m:r>
                    <m:r>
                      <a:rPr lang="en-US" altLang="zh-CN" sz="2400" b="1">
                        <a:latin typeface="Cambria Math" panose="02040503050406030204" pitchFamily="18" charset="0"/>
                      </a:rPr>
                      <m:t>𝐞</m:t>
                    </m:r>
                    <m:r>
                      <a:rPr lang="en-US" altLang="zh-CN" sz="2400" b="1" i="0" baseline="-25000" smtClean="0">
                        <a:latin typeface="Cambria Math" panose="02040503050406030204" pitchFamily="18" charset="0"/>
                      </a:rPr>
                      <m:t>𝐩</m:t>
                    </m:r>
                    <m:r>
                      <a:rPr lang="en-US" altLang="zh-CN" sz="2400" b="1" baseline="-25000">
                        <a:latin typeface="Cambria Math" panose="02040503050406030204" pitchFamily="18" charset="0"/>
                      </a:rPr>
                      <m:t>𝐣</m:t>
                    </m:r>
                    <m:r>
                      <a:rPr lang="en-US" altLang="zh-CN" sz="2400" b="1">
                        <a:latin typeface="Cambria Math" panose="02040503050406030204" pitchFamily="18" charset="0"/>
                      </a:rPr>
                      <m:t>,</m:t>
                    </m:r>
                    <m:r>
                      <a:rPr lang="en-US" altLang="zh-CN" sz="2400" b="1">
                        <a:latin typeface="Cambria Math" panose="02040503050406030204" pitchFamily="18" charset="0"/>
                      </a:rPr>
                      <m:t>𝟏</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𝒊</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𝒎</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𝒋</m:t>
                    </m:r>
                    <m:r>
                      <a:rPr lang="en-US" altLang="zh-CN" sz="2400" b="1" i="1" smtClean="0">
                        <a:latin typeface="Cambria Math" panose="02040503050406030204" pitchFamily="18" charset="0"/>
                      </a:rPr>
                      <m:t>≤</m:t>
                    </m:r>
                  </m:oMath>
                </a14:m>
                <a:r>
                  <a:rPr lang="en-US" altLang="zh-CN" sz="2400" b="1" dirty="0"/>
                  <a:t>n </a:t>
                </a:r>
              </a:p>
              <a:p>
                <a:pPr algn="just">
                  <a:lnSpc>
                    <a:spcPct val="150000"/>
                  </a:lnSpc>
                </a:pPr>
                <a:r>
                  <a:rPr lang="en-US" altLang="zh-CN" sz="2400" b="1" dirty="0"/>
                  <a:t>This type of multiplication is illustrated in Figure 1. </a:t>
                </a:r>
                <a:endParaRPr lang="zh-CN" altLang="en-US" sz="2400" b="1" dirty="0"/>
              </a:p>
            </p:txBody>
          </p:sp>
        </mc:Choice>
        <mc:Fallback xmlns="">
          <p:sp>
            <p:nvSpPr>
              <p:cNvPr id="7" name="文本框 6">
                <a:extLst>
                  <a:ext uri="{FF2B5EF4-FFF2-40B4-BE49-F238E27FC236}">
                    <a16:creationId xmlns:a16="http://schemas.microsoft.com/office/drawing/2014/main" id="{DCEE3B3B-53D9-42A3-BE63-C231F43163FC}"/>
                  </a:ext>
                </a:extLst>
              </p:cNvPr>
              <p:cNvSpPr txBox="1">
                <a:spLocks noRot="1" noChangeAspect="1" noMove="1" noResize="1" noEditPoints="1" noAdjustHandles="1" noChangeArrowheads="1" noChangeShapeType="1" noTextEdit="1"/>
              </p:cNvSpPr>
              <p:nvPr/>
            </p:nvSpPr>
            <p:spPr>
              <a:xfrm>
                <a:off x="262973" y="873687"/>
                <a:ext cx="4807499" cy="5551071"/>
              </a:xfrm>
              <a:prstGeom prst="rect">
                <a:avLst/>
              </a:prstGeom>
              <a:blipFill>
                <a:blip r:embed="rId3"/>
                <a:stretch>
                  <a:fillRect l="-1901" r="-2028" b="-1537"/>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27D79783-58E5-4EE9-AC8C-4F7995E81060}"/>
              </a:ext>
            </a:extLst>
          </p:cNvPr>
          <p:cNvPicPr>
            <a:picLocks noChangeAspect="1"/>
          </p:cNvPicPr>
          <p:nvPr/>
        </p:nvPicPr>
        <p:blipFill>
          <a:blip r:embed="rId4"/>
          <a:stretch>
            <a:fillRect/>
          </a:stretch>
        </p:blipFill>
        <p:spPr>
          <a:xfrm>
            <a:off x="5070472" y="2198058"/>
            <a:ext cx="7121528" cy="3564708"/>
          </a:xfrm>
          <a:prstGeom prst="rect">
            <a:avLst/>
          </a:prstGeom>
        </p:spPr>
      </p:pic>
    </p:spTree>
    <p:extLst>
      <p:ext uri="{BB962C8B-B14F-4D97-AF65-F5344CB8AC3E}">
        <p14:creationId xmlns:p14="http://schemas.microsoft.com/office/powerpoint/2010/main" val="231900843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9" name="Rectangle 3">
            <a:extLst>
              <a:ext uri="{FF2B5EF4-FFF2-40B4-BE49-F238E27FC236}">
                <a16:creationId xmlns:a16="http://schemas.microsoft.com/office/drawing/2014/main" id="{D34A0B28-7990-448C-95D7-6B81D3053AB1}"/>
              </a:ext>
            </a:extLst>
          </p:cNvPr>
          <p:cNvSpPr txBox="1">
            <a:spLocks noChangeArrowheads="1"/>
          </p:cNvSpPr>
          <p:nvPr/>
        </p:nvSpPr>
        <p:spPr>
          <a:xfrm>
            <a:off x="262973" y="887684"/>
            <a:ext cx="11343861" cy="5082631"/>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endParaRPr lang="en-US" altLang="zh-CN" sz="2400" dirty="0"/>
          </a:p>
        </p:txBody>
      </p:sp>
      <p:sp>
        <p:nvSpPr>
          <p:cNvPr id="6" name="文本框 5">
            <a:extLst>
              <a:ext uri="{FF2B5EF4-FFF2-40B4-BE49-F238E27FC236}">
                <a16:creationId xmlns:a16="http://schemas.microsoft.com/office/drawing/2014/main" id="{B234CE12-1177-47D6-8018-58283D055D97}"/>
              </a:ext>
            </a:extLst>
          </p:cNvPr>
          <p:cNvSpPr txBox="1"/>
          <p:nvPr/>
        </p:nvSpPr>
        <p:spPr>
          <a:xfrm>
            <a:off x="262973" y="1048137"/>
            <a:ext cx="11929028" cy="1859163"/>
          </a:xfrm>
          <a:prstGeom prst="rect">
            <a:avLst/>
          </a:prstGeom>
          <a:noFill/>
        </p:spPr>
        <p:txBody>
          <a:bodyPr wrap="square">
            <a:spAutoFit/>
          </a:bodyPr>
          <a:lstStyle/>
          <a:p>
            <a:pPr marL="457200" indent="-457200" algn="just">
              <a:lnSpc>
                <a:spcPct val="150000"/>
              </a:lnSpc>
              <a:buFont typeface="Wingdings" panose="05000000000000000000" pitchFamily="2" charset="2"/>
              <a:buChar char="l"/>
            </a:pPr>
            <a:r>
              <a:rPr lang="en-US" altLang="zh-CN" sz="2800" b="1" dirty="0"/>
              <a:t>Example 10:</a:t>
            </a:r>
          </a:p>
          <a:p>
            <a:pPr lvl="1" algn="just">
              <a:lnSpc>
                <a:spcPct val="150000"/>
              </a:lnSpc>
            </a:pPr>
            <a:r>
              <a:rPr lang="en-US" altLang="zh-CN" sz="2400" b="1" dirty="0"/>
              <a:t>We have</a:t>
            </a:r>
          </a:p>
          <a:p>
            <a:pPr algn="just">
              <a:lnSpc>
                <a:spcPct val="150000"/>
              </a:lnSpc>
            </a:pPr>
            <a:endParaRPr lang="zh-CN" altLang="en-US" sz="2800" b="1" dirty="0"/>
          </a:p>
        </p:txBody>
      </p:sp>
      <p:pic>
        <p:nvPicPr>
          <p:cNvPr id="3" name="图片 2">
            <a:extLst>
              <a:ext uri="{FF2B5EF4-FFF2-40B4-BE49-F238E27FC236}">
                <a16:creationId xmlns:a16="http://schemas.microsoft.com/office/drawing/2014/main" id="{4E40B695-9A38-43D2-80DC-BA352C056D7A}"/>
              </a:ext>
            </a:extLst>
          </p:cNvPr>
          <p:cNvPicPr>
            <a:picLocks noChangeAspect="1"/>
          </p:cNvPicPr>
          <p:nvPr/>
        </p:nvPicPr>
        <p:blipFill>
          <a:blip r:embed="rId3"/>
          <a:stretch>
            <a:fillRect/>
          </a:stretch>
        </p:blipFill>
        <p:spPr>
          <a:xfrm>
            <a:off x="1437371" y="2619214"/>
            <a:ext cx="9317258" cy="2235024"/>
          </a:xfrm>
          <a:prstGeom prst="rect">
            <a:avLst/>
          </a:prstGeom>
        </p:spPr>
      </p:pic>
      <p:sp>
        <p:nvSpPr>
          <p:cNvPr id="8" name="文本框 7">
            <a:extLst>
              <a:ext uri="{FF2B5EF4-FFF2-40B4-BE49-F238E27FC236}">
                <a16:creationId xmlns:a16="http://schemas.microsoft.com/office/drawing/2014/main" id="{7346B2DF-7BDF-41BF-BA1A-F39BCC8F2F74}"/>
              </a:ext>
            </a:extLst>
          </p:cNvPr>
          <p:cNvSpPr txBox="1"/>
          <p:nvPr/>
        </p:nvSpPr>
        <p:spPr>
          <a:xfrm>
            <a:off x="798162" y="4926917"/>
            <a:ext cx="8883610" cy="461665"/>
          </a:xfrm>
          <a:prstGeom prst="rect">
            <a:avLst/>
          </a:prstGeom>
          <a:noFill/>
        </p:spPr>
        <p:txBody>
          <a:bodyPr wrap="square">
            <a:spAutoFit/>
          </a:bodyPr>
          <a:lstStyle/>
          <a:p>
            <a:pPr algn="just"/>
            <a:r>
              <a:rPr lang="en-US" altLang="zh-CN" sz="2400" b="1" dirty="0"/>
              <a:t>The proof of the following theorem is left as an exercise.</a:t>
            </a:r>
            <a:endParaRPr lang="zh-CN" altLang="en-US" sz="2400" b="1" dirty="0"/>
          </a:p>
        </p:txBody>
      </p:sp>
    </p:spTree>
    <p:extLst>
      <p:ext uri="{BB962C8B-B14F-4D97-AF65-F5344CB8AC3E}">
        <p14:creationId xmlns:p14="http://schemas.microsoft.com/office/powerpoint/2010/main" val="192982822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r>
              <a:rPr lang="en-US" altLang="zh-CN" dirty="0"/>
              <a:t>Let </a:t>
            </a:r>
            <a:r>
              <a:rPr lang="en-US" altLang="zh-CN" b="1" dirty="0">
                <a:solidFill>
                  <a:srgbClr val="FF0000"/>
                </a:solidFill>
              </a:rPr>
              <a:t>A</a:t>
            </a:r>
            <a:r>
              <a:rPr lang="en-US" altLang="zh-CN" dirty="0">
                <a:solidFill>
                  <a:srgbClr val="FF0000"/>
                </a:solidFill>
              </a:rPr>
              <a:t>=[</a:t>
            </a:r>
            <a:r>
              <a:rPr lang="en-US" altLang="zh-CN" i="1" dirty="0" err="1">
                <a:solidFill>
                  <a:srgbClr val="FF0000"/>
                </a:solidFill>
              </a:rPr>
              <a:t>a</a:t>
            </a:r>
            <a:r>
              <a:rPr lang="en-US" altLang="zh-CN" i="1" baseline="-25000" dirty="0" err="1">
                <a:solidFill>
                  <a:srgbClr val="FF0000"/>
                </a:solidFill>
              </a:rPr>
              <a:t>ij</a:t>
            </a:r>
            <a:r>
              <a:rPr lang="en-US" altLang="zh-CN" dirty="0">
                <a:solidFill>
                  <a:srgbClr val="FF0000"/>
                </a:solidFill>
              </a:rPr>
              <a:t>]</a:t>
            </a:r>
            <a:r>
              <a:rPr lang="en-US" altLang="zh-CN" dirty="0"/>
              <a:t> be an </a:t>
            </a:r>
            <a:r>
              <a:rPr lang="en-US" altLang="zh-CN" i="1" dirty="0" err="1"/>
              <a:t>m</a:t>
            </a:r>
            <a:r>
              <a:rPr lang="en-US" altLang="zh-CN" dirty="0" err="1">
                <a:sym typeface="Symbol" panose="05050102010706020507" pitchFamily="18" charset="2"/>
              </a:rPr>
              <a:t></a:t>
            </a:r>
            <a:r>
              <a:rPr lang="en-US" altLang="zh-CN" i="1" dirty="0" err="1">
                <a:sym typeface="Symbol" panose="05050102010706020507" pitchFamily="18" charset="2"/>
              </a:rPr>
              <a:t>k</a:t>
            </a:r>
            <a:r>
              <a:rPr lang="en-US" altLang="zh-CN" dirty="0">
                <a:sym typeface="Symbol" panose="05050102010706020507" pitchFamily="18" charset="2"/>
              </a:rPr>
              <a:t> zero-one matrix,</a:t>
            </a:r>
            <a:br>
              <a:rPr lang="en-US" altLang="zh-CN" dirty="0">
                <a:sym typeface="Symbol" panose="05050102010706020507" pitchFamily="18" charset="2"/>
              </a:rPr>
            </a:br>
            <a:r>
              <a:rPr lang="en-US" altLang="zh-CN" dirty="0">
                <a:sym typeface="Symbol" panose="05050102010706020507" pitchFamily="18" charset="2"/>
              </a:rPr>
              <a:t>&amp; let </a:t>
            </a:r>
            <a:r>
              <a:rPr lang="en-US" altLang="zh-CN" b="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r>
              <a:rPr lang="en-US" altLang="zh-CN" i="1" dirty="0" err="1">
                <a:solidFill>
                  <a:srgbClr val="FF0000"/>
                </a:solidFill>
                <a:sym typeface="Symbol" panose="05050102010706020507" pitchFamily="18" charset="2"/>
              </a:rPr>
              <a:t>b</a:t>
            </a:r>
            <a:r>
              <a:rPr lang="en-US" altLang="zh-CN" i="1" baseline="-25000" dirty="0" err="1">
                <a:solidFill>
                  <a:srgbClr val="FF0000"/>
                </a:solidFill>
                <a:sym typeface="Symbol" panose="05050102010706020507" pitchFamily="18" charset="2"/>
              </a:rPr>
              <a:t>ij</a:t>
            </a:r>
            <a:r>
              <a:rPr lang="en-US" altLang="zh-CN" dirty="0">
                <a:solidFill>
                  <a:srgbClr val="FF0000"/>
                </a:solidFill>
                <a:sym typeface="Symbol" panose="05050102010706020507" pitchFamily="18" charset="2"/>
              </a:rPr>
              <a:t>]</a:t>
            </a:r>
            <a:r>
              <a:rPr lang="en-US" altLang="zh-CN" dirty="0">
                <a:sym typeface="Symbol" panose="05050102010706020507" pitchFamily="18" charset="2"/>
              </a:rPr>
              <a:t> be a </a:t>
            </a:r>
            <a:r>
              <a:rPr lang="en-US" altLang="zh-CN" i="1" dirty="0" err="1"/>
              <a:t>k</a:t>
            </a:r>
            <a:r>
              <a:rPr lang="en-US" altLang="zh-CN" dirty="0" err="1">
                <a:sym typeface="Symbol" panose="05050102010706020507" pitchFamily="18" charset="2"/>
              </a:rPr>
              <a:t></a:t>
            </a:r>
            <a:r>
              <a:rPr lang="en-US" altLang="zh-CN" i="1" dirty="0" err="1">
                <a:sym typeface="Symbol" panose="05050102010706020507" pitchFamily="18" charset="2"/>
              </a:rPr>
              <a:t>n</a:t>
            </a:r>
            <a:r>
              <a:rPr lang="en-US" altLang="zh-CN" dirty="0">
                <a:sym typeface="Symbol" panose="05050102010706020507" pitchFamily="18" charset="2"/>
              </a:rPr>
              <a:t> zero-one matrix,</a:t>
            </a:r>
          </a:p>
          <a:p>
            <a:pPr eaLnBrk="1" hangingPunct="1"/>
            <a:r>
              <a:rPr lang="en-US" altLang="zh-CN" dirty="0">
                <a:solidFill>
                  <a:schemeClr val="accent2"/>
                </a:solidFill>
                <a:sym typeface="Symbol" panose="05050102010706020507" pitchFamily="18" charset="2"/>
              </a:rPr>
              <a:t>The </a:t>
            </a:r>
            <a:r>
              <a:rPr lang="en-US" altLang="zh-CN" i="1" dirty="0" err="1">
                <a:solidFill>
                  <a:schemeClr val="accent2"/>
                </a:solidFill>
                <a:sym typeface="Symbol" panose="05050102010706020507" pitchFamily="18" charset="2"/>
              </a:rPr>
              <a:t>boolean</a:t>
            </a:r>
            <a:r>
              <a:rPr lang="en-US" altLang="zh-CN" i="1" dirty="0">
                <a:solidFill>
                  <a:schemeClr val="accent2"/>
                </a:solidFill>
                <a:sym typeface="Symbol" panose="05050102010706020507" pitchFamily="18" charset="2"/>
              </a:rPr>
              <a:t> product</a:t>
            </a:r>
            <a:r>
              <a:rPr lang="en-US" altLang="zh-CN" dirty="0">
                <a:solidFill>
                  <a:schemeClr val="accent2"/>
                </a:solidFill>
                <a:sym typeface="Symbol" panose="05050102010706020507" pitchFamily="18" charset="2"/>
              </a:rPr>
              <a:t> of </a:t>
            </a:r>
            <a:r>
              <a:rPr lang="en-US" altLang="zh-CN" b="1" dirty="0">
                <a:solidFill>
                  <a:schemeClr val="accent2"/>
                </a:solidFill>
                <a:sym typeface="Symbol" panose="05050102010706020507" pitchFamily="18" charset="2"/>
              </a:rPr>
              <a:t>A</a:t>
            </a:r>
            <a:r>
              <a:rPr lang="en-US" altLang="zh-CN" dirty="0">
                <a:solidFill>
                  <a:schemeClr val="accent2"/>
                </a:solidFill>
                <a:sym typeface="Symbol" panose="05050102010706020507" pitchFamily="18" charset="2"/>
              </a:rPr>
              <a:t> and </a:t>
            </a:r>
            <a:r>
              <a:rPr lang="en-US" altLang="zh-CN" b="1" dirty="0">
                <a:solidFill>
                  <a:schemeClr val="accent2"/>
                </a:solidFill>
                <a:sym typeface="Symbol" panose="05050102010706020507" pitchFamily="18" charset="2"/>
              </a:rPr>
              <a:t>B</a:t>
            </a:r>
            <a:r>
              <a:rPr lang="en-US" altLang="zh-CN" dirty="0">
                <a:solidFill>
                  <a:schemeClr val="accent2"/>
                </a:solidFill>
                <a:sym typeface="Symbol" panose="05050102010706020507" pitchFamily="18" charset="2"/>
              </a:rPr>
              <a:t> is like normal matrix , but using  instead of + in the row-column </a:t>
            </a:r>
            <a:r>
              <a:rPr lang="en-US" altLang="zh-CN" dirty="0">
                <a:solidFill>
                  <a:schemeClr val="accent2"/>
                </a:solidFill>
                <a:latin typeface="Times New Roman" panose="02020603050405020304" pitchFamily="18" charset="0"/>
                <a:sym typeface="Symbol" panose="05050102010706020507" pitchFamily="18" charset="2"/>
              </a:rPr>
              <a:t>“</a:t>
            </a:r>
            <a:r>
              <a:rPr lang="en-US" altLang="zh-CN" dirty="0">
                <a:solidFill>
                  <a:schemeClr val="accent2"/>
                </a:solidFill>
                <a:sym typeface="Symbol" panose="05050102010706020507" pitchFamily="18" charset="2"/>
              </a:rPr>
              <a:t>vector dot product</a:t>
            </a:r>
            <a:r>
              <a:rPr lang="en-US" altLang="zh-CN" dirty="0">
                <a:solidFill>
                  <a:schemeClr val="accent2"/>
                </a:solidFill>
                <a:latin typeface="Times New Roman" panose="02020603050405020304" pitchFamily="18" charset="0"/>
                <a:sym typeface="Symbol" panose="05050102010706020507" pitchFamily="18" charset="2"/>
              </a:rPr>
              <a:t>”</a:t>
            </a:r>
            <a:r>
              <a:rPr lang="en-US" altLang="zh-CN" dirty="0">
                <a:solidFill>
                  <a:schemeClr val="accent2"/>
                </a:solidFill>
                <a:sym typeface="Symbol" panose="05050102010706020507" pitchFamily="18" charset="2"/>
              </a:rPr>
              <a:t>:</a:t>
            </a:r>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Boolean Products</a:t>
            </a:r>
            <a:endParaRPr lang="zh-CN" altLang="en-US" dirty="0"/>
          </a:p>
        </p:txBody>
      </p:sp>
      <p:graphicFrame>
        <p:nvGraphicFramePr>
          <p:cNvPr id="5" name="Object 4">
            <a:extLst>
              <a:ext uri="{FF2B5EF4-FFF2-40B4-BE49-F238E27FC236}">
                <a16:creationId xmlns:a16="http://schemas.microsoft.com/office/drawing/2014/main" id="{D430BD1E-D849-4CCC-9D63-8E7108FCF06B}"/>
              </a:ext>
            </a:extLst>
          </p:cNvPr>
          <p:cNvGraphicFramePr>
            <a:graphicFrameLocks noChangeAspect="1"/>
          </p:cNvGraphicFramePr>
          <p:nvPr>
            <p:extLst>
              <p:ext uri="{D42A27DB-BD31-4B8C-83A1-F6EECF244321}">
                <p14:modId xmlns:p14="http://schemas.microsoft.com/office/powerpoint/2010/main" val="813708707"/>
              </p:ext>
            </p:extLst>
          </p:nvPr>
        </p:nvGraphicFramePr>
        <p:xfrm>
          <a:off x="3561682" y="4207042"/>
          <a:ext cx="5495925" cy="1501775"/>
        </p:xfrm>
        <a:graphic>
          <a:graphicData uri="http://schemas.openxmlformats.org/presentationml/2006/ole">
            <mc:AlternateContent xmlns:mc="http://schemas.openxmlformats.org/markup-compatibility/2006">
              <mc:Choice xmlns:v="urn:schemas-microsoft-com:vml" Requires="v">
                <p:oleObj name="Equation" r:id="rId3" imgW="1574800" imgH="431800" progId="Equation.3">
                  <p:embed/>
                </p:oleObj>
              </mc:Choice>
              <mc:Fallback>
                <p:oleObj name="Equation" r:id="rId3" imgW="1574800" imgH="431800" progId="Equation.3">
                  <p:embed/>
                  <p:pic>
                    <p:nvPicPr>
                      <p:cNvPr id="45060" name="Object 4">
                        <a:extLst>
                          <a:ext uri="{FF2B5EF4-FFF2-40B4-BE49-F238E27FC236}">
                            <a16:creationId xmlns:a16="http://schemas.microsoft.com/office/drawing/2014/main" id="{A69E5EEF-C57E-4C74-ACC0-F67042716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1682" y="4207042"/>
                        <a:ext cx="5495925" cy="1501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5">
            <a:extLst>
              <a:ext uri="{FF2B5EF4-FFF2-40B4-BE49-F238E27FC236}">
                <a16:creationId xmlns:a16="http://schemas.microsoft.com/office/drawing/2014/main" id="{982D1D67-DFFA-47EC-A8A4-0F44A9DA9725}"/>
              </a:ext>
            </a:extLst>
          </p:cNvPr>
          <p:cNvSpPr txBox="1">
            <a:spLocks noChangeArrowheads="1"/>
          </p:cNvSpPr>
          <p:nvPr/>
        </p:nvSpPr>
        <p:spPr bwMode="auto">
          <a:xfrm>
            <a:off x="2290095" y="4551530"/>
            <a:ext cx="1295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000" b="1">
                <a:latin typeface="Times New Roman" panose="02020603050405020304" pitchFamily="18" charset="0"/>
                <a:ea typeface="Arial Unicode MS" pitchFamily="34" charset="-122"/>
              </a:rPr>
              <a:t>A</a:t>
            </a:r>
            <a:r>
              <a:rPr lang="en-US" altLang="zh-CN" sz="4000">
                <a:latin typeface="Arial Unicode MS" pitchFamily="34" charset="-122"/>
              </a:rPr>
              <a:t>⊙</a:t>
            </a:r>
            <a:r>
              <a:rPr lang="en-US" altLang="zh-CN" sz="4000" b="1">
                <a:latin typeface="Times New Roman" panose="02020603050405020304" pitchFamily="18" charset="0"/>
              </a:rPr>
              <a:t>B</a:t>
            </a:r>
          </a:p>
        </p:txBody>
      </p:sp>
    </p:spTree>
    <p:extLst>
      <p:ext uri="{BB962C8B-B14F-4D97-AF65-F5344CB8AC3E}">
        <p14:creationId xmlns:p14="http://schemas.microsoft.com/office/powerpoint/2010/main" val="340557817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pic>
        <p:nvPicPr>
          <p:cNvPr id="9" name="Picture 3">
            <a:extLst>
              <a:ext uri="{FF2B5EF4-FFF2-40B4-BE49-F238E27FC236}">
                <a16:creationId xmlns:a16="http://schemas.microsoft.com/office/drawing/2014/main" id="{2EF51B15-E668-49EC-B681-5DEE600FEF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4716"/>
            <a:ext cx="8877384" cy="553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495778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r>
              <a:rPr lang="en-US" altLang="zh-CN" dirty="0"/>
              <a:t>We shall now consider the element </a:t>
            </a:r>
          </a:p>
          <a:p>
            <a:pPr lvl="1" eaLnBrk="1" hangingPunct="1"/>
            <a:r>
              <a:rPr lang="en-US" altLang="zh-CN" i="1" dirty="0"/>
              <a:t>x</a:t>
            </a:r>
            <a:r>
              <a:rPr lang="en-US" altLang="zh-CN" dirty="0"/>
              <a:t> = </a:t>
            </a:r>
            <a:r>
              <a:rPr lang="en-US" altLang="zh-CN" i="1" dirty="0"/>
              <a:t>x</a:t>
            </a:r>
            <a:r>
              <a:rPr lang="en-US" altLang="zh-CN" i="1" baseline="-25000" dirty="0"/>
              <a:t>1</a:t>
            </a:r>
            <a:r>
              <a:rPr lang="en-US" altLang="zh-CN" i="1" dirty="0"/>
              <a:t>x</a:t>
            </a:r>
            <a:r>
              <a:rPr lang="en-US" altLang="zh-CN" i="1" baseline="-25000" dirty="0"/>
              <a:t>2</a:t>
            </a:r>
            <a:r>
              <a:rPr lang="en-US" altLang="zh-CN" i="1" dirty="0"/>
              <a:t>…</a:t>
            </a:r>
            <a:r>
              <a:rPr lang="en-US" altLang="zh-CN" i="1" dirty="0" err="1"/>
              <a:t>x</a:t>
            </a:r>
            <a:r>
              <a:rPr lang="en-US" altLang="zh-CN" i="1" baseline="-25000" dirty="0" err="1"/>
              <a:t>n</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i="1" baseline="30000" dirty="0"/>
              <a:t>n</a:t>
            </a:r>
            <a:r>
              <a:rPr lang="en-US" altLang="zh-CN" dirty="0"/>
              <a:t> </a:t>
            </a:r>
          </a:p>
          <a:p>
            <a:pPr marL="457200" lvl="1" indent="0" eaLnBrk="1" hangingPunct="1">
              <a:buNone/>
            </a:pPr>
            <a:r>
              <a:rPr lang="en-US" altLang="zh-CN" sz="3200" dirty="0"/>
              <a:t>as the 1 </a:t>
            </a:r>
            <a:r>
              <a:rPr lang="en-US" altLang="zh-CN" sz="3200" dirty="0">
                <a:sym typeface="Symbol" panose="05050102010706020507" pitchFamily="18" charset="2"/>
              </a:rPr>
              <a:t></a:t>
            </a:r>
            <a:r>
              <a:rPr lang="en-US" altLang="zh-CN" sz="3200" dirty="0"/>
              <a:t> </a:t>
            </a:r>
            <a:r>
              <a:rPr lang="en-US" altLang="zh-CN" sz="3200" i="1" dirty="0"/>
              <a:t>n</a:t>
            </a:r>
            <a:r>
              <a:rPr lang="en-US" altLang="zh-CN" sz="3200" dirty="0"/>
              <a:t> matrix</a:t>
            </a:r>
          </a:p>
          <a:p>
            <a:pPr lvl="1" eaLnBrk="1" hangingPunct="1"/>
            <a:r>
              <a:rPr lang="en-US" altLang="zh-CN" dirty="0"/>
              <a:t>[</a:t>
            </a:r>
            <a:r>
              <a:rPr lang="en-US" altLang="zh-CN" i="1" dirty="0"/>
              <a:t>x</a:t>
            </a:r>
            <a:r>
              <a:rPr lang="en-US" altLang="zh-CN" i="1" baseline="-25000" dirty="0"/>
              <a:t>1 </a:t>
            </a:r>
            <a:r>
              <a:rPr lang="en-US" altLang="zh-CN" i="1" dirty="0"/>
              <a:t>x</a:t>
            </a:r>
            <a:r>
              <a:rPr lang="en-US" altLang="zh-CN" i="1" baseline="-25000" dirty="0"/>
              <a:t>2 </a:t>
            </a:r>
            <a:r>
              <a:rPr lang="en-US" altLang="zh-CN" i="1" dirty="0"/>
              <a:t>… </a:t>
            </a:r>
            <a:r>
              <a:rPr lang="en-US" altLang="zh-CN" i="1" dirty="0" err="1"/>
              <a:t>x</a:t>
            </a:r>
            <a:r>
              <a:rPr lang="en-US" altLang="zh-CN" i="1" baseline="-25000" dirty="0" err="1"/>
              <a:t>n</a:t>
            </a:r>
            <a:r>
              <a:rPr lang="en-US" altLang="zh-CN" dirty="0"/>
              <a:t> ]</a:t>
            </a:r>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Notation</a:t>
            </a:r>
            <a:endParaRPr lang="zh-CN" altLang="en-US" dirty="0"/>
          </a:p>
        </p:txBody>
      </p:sp>
    </p:spTree>
    <p:extLst>
      <p:ext uri="{BB962C8B-B14F-4D97-AF65-F5344CB8AC3E}">
        <p14:creationId xmlns:p14="http://schemas.microsoft.com/office/powerpoint/2010/main" val="284764293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eaLnBrk="1" hangingPunct="1">
                  <a:lnSpc>
                    <a:spcPct val="150000"/>
                  </a:lnSpc>
                  <a:buNone/>
                </a:pPr>
                <a:r>
                  <a:rPr lang="en-US" altLang="zh-CN" dirty="0"/>
                  <a:t>Let </a:t>
                </a:r>
                <a:r>
                  <a:rPr lang="en-US" altLang="zh-CN" i="1" dirty="0"/>
                  <a:t>m</a:t>
                </a:r>
                <a:r>
                  <a:rPr lang="en-US" altLang="zh-CN" dirty="0"/>
                  <a:t> and </a:t>
                </a:r>
                <a:r>
                  <a:rPr lang="en-US" altLang="zh-CN" i="1" dirty="0"/>
                  <a:t>n</a:t>
                </a:r>
                <a:r>
                  <a:rPr lang="en-US" altLang="zh-CN" dirty="0"/>
                  <a:t> be nonnegative integers with </a:t>
                </a:r>
                <a:r>
                  <a:rPr lang="en-US" altLang="zh-CN" i="1" dirty="0"/>
                  <a:t>m</a:t>
                </a:r>
                <a:r>
                  <a:rPr lang="en-US" altLang="zh-CN" dirty="0"/>
                  <a:t> &lt; </a:t>
                </a:r>
                <a:r>
                  <a:rPr lang="en-US" altLang="zh-CN" i="1" dirty="0"/>
                  <a:t>n</a:t>
                </a:r>
                <a:r>
                  <a:rPr lang="en-US" altLang="zh-CN" dirty="0"/>
                  <a:t>, </a:t>
                </a:r>
                <a:r>
                  <a:rPr lang="en-US" altLang="zh-CN" i="1" dirty="0"/>
                  <a:t>r</a:t>
                </a:r>
                <a:r>
                  <a:rPr lang="en-US" altLang="zh-CN" dirty="0"/>
                  <a:t> = </a:t>
                </a:r>
                <a:r>
                  <a:rPr lang="en-US" altLang="zh-CN" i="1" dirty="0"/>
                  <a:t>n</a:t>
                </a:r>
                <a:r>
                  <a:rPr lang="en-US" altLang="zh-CN" dirty="0"/>
                  <a:t> - </a:t>
                </a:r>
                <a:r>
                  <a:rPr lang="en-US" altLang="zh-CN" i="1" dirty="0"/>
                  <a:t>m</a:t>
                </a:r>
                <a:r>
                  <a:rPr lang="en-US" altLang="zh-CN" dirty="0"/>
                  <a:t>, and let </a:t>
                </a:r>
                <a:r>
                  <a:rPr lang="en-US" altLang="zh-CN" b="1" dirty="0"/>
                  <a:t>H</a:t>
                </a:r>
                <a:r>
                  <a:rPr lang="en-US" altLang="zh-CN" dirty="0"/>
                  <a:t> be an </a:t>
                </a:r>
                <a:r>
                  <a:rPr lang="en-US" altLang="zh-CN" i="1" dirty="0"/>
                  <a:t>n</a:t>
                </a:r>
                <a:r>
                  <a:rPr lang="en-US" altLang="zh-CN" dirty="0"/>
                  <a:t> </a:t>
                </a:r>
                <a:r>
                  <a:rPr lang="en-US" altLang="zh-CN" dirty="0">
                    <a:sym typeface="Symbol" panose="05050102010706020507" pitchFamily="18" charset="2"/>
                  </a:rPr>
                  <a:t></a:t>
                </a:r>
                <a:r>
                  <a:rPr lang="en-US" altLang="zh-CN" dirty="0"/>
                  <a:t> </a:t>
                </a:r>
                <a:r>
                  <a:rPr lang="en-US" altLang="zh-CN" i="1" dirty="0"/>
                  <a:t>r</a:t>
                </a:r>
                <a:r>
                  <a:rPr lang="en-US" altLang="zh-CN" dirty="0"/>
                  <a:t> Boolean matrix. </a:t>
                </a:r>
              </a:p>
              <a:p>
                <a:pPr marL="0" indent="0" eaLnBrk="1" hangingPunct="1">
                  <a:lnSpc>
                    <a:spcPct val="150000"/>
                  </a:lnSpc>
                  <a:buNone/>
                </a:pPr>
                <a:r>
                  <a:rPr lang="en-US" altLang="zh-CN" dirty="0"/>
                  <a:t>Then the function </a:t>
                </a:r>
                <a:r>
                  <a:rPr lang="en-US" altLang="zh-CN" i="1" dirty="0"/>
                  <a:t>f</a:t>
                </a:r>
                <a:r>
                  <a:rPr lang="en-US" altLang="zh-CN" i="1" baseline="-25000" dirty="0"/>
                  <a:t>H</a:t>
                </a:r>
                <a:r>
                  <a:rPr lang="en-US" altLang="zh-CN" dirty="0"/>
                  <a:t>: </a:t>
                </a:r>
                <a:r>
                  <a:rPr lang="en-US" altLang="zh-CN" i="1" dirty="0"/>
                  <a:t>B</a:t>
                </a:r>
                <a:r>
                  <a:rPr lang="en-US" altLang="zh-CN" i="1" baseline="30000" dirty="0"/>
                  <a:t>n</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i="1" baseline="30000" dirty="0"/>
                  <a:t>r</a:t>
                </a:r>
                <a:r>
                  <a:rPr lang="en-US" altLang="zh-CN" dirty="0"/>
                  <a:t> defined by</a:t>
                </a:r>
              </a:p>
              <a:p>
                <a:pPr marL="457200" lvl="1" indent="0" algn="ctr" eaLnBrk="1" hangingPunct="1">
                  <a:lnSpc>
                    <a:spcPct val="150000"/>
                  </a:lnSpc>
                  <a:buNone/>
                </a:pPr>
                <a:r>
                  <a:rPr lang="en-US" altLang="zh-CN" i="1" dirty="0"/>
                  <a:t>f</a:t>
                </a:r>
                <a:r>
                  <a:rPr lang="en-US" altLang="zh-CN" i="1" baseline="-25000" dirty="0"/>
                  <a:t>H</a:t>
                </a:r>
                <a:r>
                  <a:rPr lang="en-US" altLang="zh-CN" dirty="0"/>
                  <a:t>(</a:t>
                </a:r>
                <a:r>
                  <a:rPr lang="en-US" altLang="zh-CN" i="1" dirty="0"/>
                  <a:t>x</a:t>
                </a:r>
                <a:r>
                  <a:rPr lang="en-US" altLang="zh-CN" dirty="0"/>
                  <a:t>) = </a:t>
                </a:r>
                <a:r>
                  <a:rPr lang="en-US" altLang="zh-CN" i="1" dirty="0"/>
                  <a:t>x</a:t>
                </a:r>
                <a:r>
                  <a:rPr lang="en-US" altLang="zh-CN" dirty="0"/>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 </m:t>
                    </m:r>
                  </m:oMath>
                </a14:m>
                <a:r>
                  <a:rPr lang="en-US" altLang="zh-CN" b="1" dirty="0"/>
                  <a:t>H</a:t>
                </a:r>
                <a:r>
                  <a:rPr lang="en-US" altLang="zh-CN" dirty="0"/>
                  <a:t>,  </a:t>
                </a:r>
                <a:r>
                  <a:rPr lang="en-US" altLang="zh-CN" i="1" dirty="0"/>
                  <a:t>x</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i="1" baseline="30000" dirty="0"/>
                  <a:t>n</a:t>
                </a:r>
                <a:r>
                  <a:rPr lang="en-US" altLang="zh-CN" dirty="0"/>
                  <a:t> ;</a:t>
                </a:r>
              </a:p>
              <a:p>
                <a:pPr marL="0" indent="0" eaLnBrk="1" hangingPunct="1">
                  <a:lnSpc>
                    <a:spcPct val="150000"/>
                  </a:lnSpc>
                  <a:buNone/>
                </a:pPr>
                <a:r>
                  <a:rPr lang="en-US" altLang="zh-CN" dirty="0"/>
                  <a:t>is a homomorphism from the group </a:t>
                </a:r>
                <a:r>
                  <a:rPr lang="en-US" altLang="zh-CN" i="1" dirty="0"/>
                  <a:t>B</a:t>
                </a:r>
                <a:r>
                  <a:rPr lang="en-US" altLang="zh-CN" i="1" baseline="30000" dirty="0"/>
                  <a:t>n</a:t>
                </a:r>
                <a:r>
                  <a:rPr lang="en-US" altLang="zh-CN" dirty="0"/>
                  <a:t> to the group  </a:t>
                </a:r>
                <a:r>
                  <a:rPr lang="en-US" altLang="zh-CN" i="1" dirty="0"/>
                  <a:t>B</a:t>
                </a:r>
                <a:r>
                  <a:rPr lang="en-US" altLang="zh-CN" i="1" baseline="30000" dirty="0"/>
                  <a:t>r</a:t>
                </a:r>
                <a:r>
                  <a:rPr lang="en-US" altLang="zh-CN" dirty="0"/>
                  <a:t>.</a:t>
                </a:r>
              </a:p>
            </p:txBody>
          </p:sp>
        </mc:Choice>
        <mc:Fallback xmlns="">
          <p:sp>
            <p:nvSpPr>
              <p:cNvPr id="6" name="Rectangle 3">
                <a:extLst>
                  <a:ext uri="{FF2B5EF4-FFF2-40B4-BE49-F238E27FC236}">
                    <a16:creationId xmlns:a16="http://schemas.microsoft.com/office/drawing/2014/main" id="{0B65FDE1-77C3-47D9-B593-72934BA01B9E}"/>
                  </a:ext>
                </a:extLst>
              </p:cNvPr>
              <p:cNvSpPr txBox="1">
                <a:spLocks noRot="1" noChangeAspect="1" noMove="1" noResize="1" noEditPoints="1" noAdjustHandles="1" noChangeArrowheads="1" noChangeShapeType="1" noTextEdit="1"/>
              </p:cNvSpPr>
              <p:nvPr/>
            </p:nvSpPr>
            <p:spPr>
              <a:xfrm>
                <a:off x="210047" y="1609118"/>
                <a:ext cx="11981953" cy="4525963"/>
              </a:xfrm>
              <a:prstGeom prst="rect">
                <a:avLst/>
              </a:prstGeom>
              <a:blipFill>
                <a:blip r:embed="rId3"/>
                <a:stretch>
                  <a:fillRect l="-1272"/>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Theorem 5</a:t>
            </a:r>
            <a:endParaRPr lang="zh-CN" altLang="en-US" dirty="0"/>
          </a:p>
        </p:txBody>
      </p:sp>
    </p:spTree>
    <p:extLst>
      <p:ext uri="{BB962C8B-B14F-4D97-AF65-F5344CB8AC3E}">
        <p14:creationId xmlns:p14="http://schemas.microsoft.com/office/powerpoint/2010/main" val="1397975237"/>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eaLnBrk="1" hangingPunct="1">
                  <a:lnSpc>
                    <a:spcPct val="150000"/>
                  </a:lnSpc>
                  <a:buNone/>
                </a:pPr>
                <a:r>
                  <a:rPr lang="en-US" altLang="zh-CN" dirty="0"/>
                  <a:t>If </a:t>
                </a:r>
                <a:r>
                  <a:rPr lang="en-US" altLang="zh-CN" i="1" dirty="0"/>
                  <a:t>x</a:t>
                </a:r>
                <a:r>
                  <a:rPr lang="en-US" altLang="zh-CN" dirty="0"/>
                  <a:t> and </a:t>
                </a:r>
                <a:r>
                  <a:rPr lang="en-US" altLang="zh-CN" i="1" dirty="0"/>
                  <a:t>y</a:t>
                </a:r>
                <a:r>
                  <a:rPr lang="en-US" altLang="zh-CN" dirty="0"/>
                  <a:t> are elements in </a:t>
                </a:r>
                <a:r>
                  <a:rPr lang="en-US" altLang="zh-CN" i="1" dirty="0"/>
                  <a:t>B</a:t>
                </a:r>
                <a:r>
                  <a:rPr lang="en-US" altLang="zh-CN" i="1" baseline="30000" dirty="0"/>
                  <a:t>n</a:t>
                </a:r>
                <a:r>
                  <a:rPr lang="en-US" altLang="zh-CN" dirty="0"/>
                  <a:t>, then</a:t>
                </a:r>
              </a:p>
              <a:p>
                <a:pPr marL="0" indent="0" eaLnBrk="1" hangingPunct="1">
                  <a:lnSpc>
                    <a:spcPct val="150000"/>
                  </a:lnSpc>
                  <a:buNone/>
                </a:pPr>
                <a:r>
                  <a:rPr lang="en-US" altLang="zh-CN" i="1" dirty="0"/>
                  <a:t>		 f</a:t>
                </a:r>
                <a:r>
                  <a:rPr lang="en-US" altLang="zh-CN" i="1" baseline="-25000" dirty="0"/>
                  <a:t>H</a:t>
                </a:r>
                <a:r>
                  <a:rPr lang="en-US" altLang="zh-CN" dirty="0"/>
                  <a:t>(</a:t>
                </a:r>
                <a:r>
                  <a:rPr lang="en-US" altLang="zh-CN" i="1" dirty="0"/>
                  <a:t>x </a:t>
                </a:r>
                <a:r>
                  <a:rPr lang="en-US" altLang="zh-CN" dirty="0">
                    <a:sym typeface="Symbol" panose="05050102010706020507" pitchFamily="18" charset="2"/>
                  </a:rPr>
                  <a:t></a:t>
                </a:r>
                <a:r>
                  <a:rPr lang="en-US" altLang="zh-CN" i="1" dirty="0"/>
                  <a:t> y</a:t>
                </a:r>
                <a:r>
                  <a:rPr lang="en-US" altLang="zh-CN" dirty="0"/>
                  <a:t>) = (</a:t>
                </a:r>
                <a:r>
                  <a:rPr lang="en-US" altLang="zh-CN" i="1" dirty="0"/>
                  <a:t>x </a:t>
                </a:r>
                <a:r>
                  <a:rPr lang="en-US" altLang="zh-CN" dirty="0">
                    <a:sym typeface="Symbol" panose="05050102010706020507" pitchFamily="18" charset="2"/>
                  </a:rPr>
                  <a:t></a:t>
                </a:r>
                <a:r>
                  <a:rPr lang="en-US" altLang="zh-CN" i="1" dirty="0"/>
                  <a:t> y</a:t>
                </a:r>
                <a:r>
                  <a:rPr lang="en-US" altLang="zh-CN" dirty="0"/>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a:t>
                </a:r>
                <a:r>
                  <a:rPr lang="en-US" altLang="zh-CN" b="1" dirty="0"/>
                  <a:t>H</a:t>
                </a:r>
                <a:r>
                  <a:rPr lang="en-US" altLang="zh-CN" dirty="0"/>
                  <a:t> </a:t>
                </a:r>
              </a:p>
              <a:p>
                <a:pPr marL="0" indent="0" algn="ctr">
                  <a:lnSpc>
                    <a:spcPct val="150000"/>
                  </a:lnSpc>
                  <a:buNone/>
                </a:pPr>
                <a:r>
                  <a:rPr lang="en-US" altLang="zh-CN" dirty="0"/>
                  <a:t>		= (x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a:t>
                </a:r>
                <a:r>
                  <a:rPr lang="en-US" altLang="zh-CN" b="1" dirty="0"/>
                  <a:t>H</a:t>
                </a:r>
                <a:r>
                  <a:rPr lang="en-US" altLang="zh-CN" dirty="0"/>
                  <a:t>) </a:t>
                </a:r>
                <a:r>
                  <a:rPr lang="en-US" altLang="zh-CN" dirty="0">
                    <a:sym typeface="Symbol" panose="05050102010706020507" pitchFamily="18" charset="2"/>
                  </a:rPr>
                  <a:t></a:t>
                </a:r>
                <a:r>
                  <a:rPr lang="en-US" altLang="zh-CN" dirty="0"/>
                  <a:t> (y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 </a:t>
                </a:r>
                <a:r>
                  <a:rPr lang="en-US" altLang="zh-CN" b="1" dirty="0"/>
                  <a:t>H</a:t>
                </a:r>
                <a:r>
                  <a:rPr lang="en-US" altLang="zh-CN" dirty="0"/>
                  <a:t>)	by Theorem 4</a:t>
                </a:r>
              </a:p>
              <a:p>
                <a:pPr marL="0" indent="0" eaLnBrk="1" hangingPunct="1">
                  <a:lnSpc>
                    <a:spcPct val="150000"/>
                  </a:lnSpc>
                  <a:buNone/>
                </a:pPr>
                <a:r>
                  <a:rPr lang="en-US" altLang="zh-CN" dirty="0"/>
                  <a:t>				= </a:t>
                </a:r>
                <a:r>
                  <a:rPr lang="en-US" altLang="zh-CN" i="1" dirty="0"/>
                  <a:t>f</a:t>
                </a:r>
                <a:r>
                  <a:rPr lang="en-US" altLang="zh-CN" i="1" baseline="-25000" dirty="0"/>
                  <a:t>H</a:t>
                </a:r>
                <a:r>
                  <a:rPr lang="en-US" altLang="zh-CN" dirty="0"/>
                  <a:t>(</a:t>
                </a:r>
                <a:r>
                  <a:rPr lang="en-US" altLang="zh-CN" i="1" dirty="0"/>
                  <a:t>x </a:t>
                </a:r>
                <a:r>
                  <a:rPr lang="en-US" altLang="zh-CN" dirty="0"/>
                  <a:t>) </a:t>
                </a:r>
                <a:r>
                  <a:rPr lang="en-US" altLang="zh-CN" dirty="0">
                    <a:sym typeface="Symbol" panose="05050102010706020507" pitchFamily="18" charset="2"/>
                  </a:rPr>
                  <a:t></a:t>
                </a:r>
                <a:r>
                  <a:rPr lang="en-US" altLang="zh-CN" dirty="0"/>
                  <a:t> </a:t>
                </a:r>
                <a:r>
                  <a:rPr lang="en-US" altLang="zh-CN" i="1" dirty="0"/>
                  <a:t>f</a:t>
                </a:r>
                <a:r>
                  <a:rPr lang="en-US" altLang="zh-CN" i="1" baseline="-25000" dirty="0"/>
                  <a:t>H</a:t>
                </a:r>
                <a:r>
                  <a:rPr lang="en-US" altLang="zh-CN" dirty="0"/>
                  <a:t>(y).</a:t>
                </a:r>
              </a:p>
              <a:p>
                <a:pPr marL="0" indent="0" eaLnBrk="1" hangingPunct="1">
                  <a:lnSpc>
                    <a:spcPct val="150000"/>
                  </a:lnSpc>
                  <a:buNone/>
                </a:pPr>
                <a:r>
                  <a:rPr lang="en-US" altLang="zh-CN" dirty="0"/>
                  <a:t>Hence </a:t>
                </a:r>
                <a:r>
                  <a:rPr lang="en-US" altLang="zh-CN" i="1" dirty="0"/>
                  <a:t>f</a:t>
                </a:r>
                <a:r>
                  <a:rPr lang="en-US" altLang="zh-CN" i="1" baseline="-25000" dirty="0"/>
                  <a:t>H</a:t>
                </a:r>
                <a:r>
                  <a:rPr lang="en-US" altLang="zh-CN" dirty="0"/>
                  <a:t> is a homomorphism from </a:t>
                </a:r>
                <a:r>
                  <a:rPr lang="en-US" altLang="zh-CN" i="1" dirty="0"/>
                  <a:t>B</a:t>
                </a:r>
                <a:r>
                  <a:rPr lang="en-US" altLang="zh-CN" i="1" baseline="30000" dirty="0"/>
                  <a:t>n</a:t>
                </a:r>
                <a:r>
                  <a:rPr lang="en-US" altLang="zh-CN" dirty="0"/>
                  <a:t> to </a:t>
                </a:r>
                <a:r>
                  <a:rPr lang="en-US" altLang="zh-CN" i="1" dirty="0"/>
                  <a:t>B</a:t>
                </a:r>
                <a:r>
                  <a:rPr lang="en-US" altLang="zh-CN" i="1" baseline="30000" dirty="0"/>
                  <a:t>r</a:t>
                </a:r>
                <a:endParaRPr lang="en-US" altLang="zh-CN" i="1" dirty="0"/>
              </a:p>
              <a:p>
                <a:pPr marL="0" indent="0" eaLnBrk="1" hangingPunct="1">
                  <a:lnSpc>
                    <a:spcPct val="150000"/>
                  </a:lnSpc>
                  <a:buNone/>
                </a:pPr>
                <a:endParaRPr lang="en-US" altLang="zh-CN" dirty="0"/>
              </a:p>
            </p:txBody>
          </p:sp>
        </mc:Choice>
        <mc:Fallback xmlns="">
          <p:sp>
            <p:nvSpPr>
              <p:cNvPr id="6" name="Rectangle 3">
                <a:extLst>
                  <a:ext uri="{FF2B5EF4-FFF2-40B4-BE49-F238E27FC236}">
                    <a16:creationId xmlns:a16="http://schemas.microsoft.com/office/drawing/2014/main" id="{0B65FDE1-77C3-47D9-B593-72934BA01B9E}"/>
                  </a:ext>
                </a:extLst>
              </p:cNvPr>
              <p:cNvSpPr txBox="1">
                <a:spLocks noRot="1" noChangeAspect="1" noMove="1" noResize="1" noEditPoints="1" noAdjustHandles="1" noChangeArrowheads="1" noChangeShapeType="1" noTextEdit="1"/>
              </p:cNvSpPr>
              <p:nvPr/>
            </p:nvSpPr>
            <p:spPr>
              <a:xfrm>
                <a:off x="210047" y="1609118"/>
                <a:ext cx="11981953" cy="4525963"/>
              </a:xfrm>
              <a:prstGeom prst="rect">
                <a:avLst/>
              </a:prstGeom>
              <a:blipFill>
                <a:blip r:embed="rId3"/>
                <a:stretch>
                  <a:fillRect l="-1272"/>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Proof</a:t>
            </a:r>
            <a:endParaRPr lang="zh-CN" altLang="en-US" dirty="0"/>
          </a:p>
        </p:txBody>
      </p:sp>
    </p:spTree>
    <p:extLst>
      <p:ext uri="{BB962C8B-B14F-4D97-AF65-F5344CB8AC3E}">
        <p14:creationId xmlns:p14="http://schemas.microsoft.com/office/powerpoint/2010/main" val="1019299100"/>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eaLnBrk="1" hangingPunct="1">
              <a:lnSpc>
                <a:spcPct val="150000"/>
              </a:lnSpc>
              <a:buNone/>
            </a:pPr>
            <a:r>
              <a:rPr lang="en-US" altLang="zh-CN" dirty="0"/>
              <a:t>Let </a:t>
            </a:r>
            <a:r>
              <a:rPr lang="en-US" altLang="zh-CN" i="1" dirty="0"/>
              <a:t>m, n, r</a:t>
            </a:r>
            <a:r>
              <a:rPr lang="en-US" altLang="zh-CN" dirty="0"/>
              <a:t>, </a:t>
            </a:r>
            <a:r>
              <a:rPr lang="en-US" altLang="zh-CN" b="1" dirty="0"/>
              <a:t>H</a:t>
            </a:r>
            <a:r>
              <a:rPr lang="en-US" altLang="zh-CN" dirty="0"/>
              <a:t>, and </a:t>
            </a:r>
            <a:r>
              <a:rPr lang="en-US" altLang="zh-CN" i="1" dirty="0"/>
              <a:t>f</a:t>
            </a:r>
            <a:r>
              <a:rPr lang="en-US" altLang="zh-CN" i="1" baseline="-25000" dirty="0"/>
              <a:t>H</a:t>
            </a:r>
            <a:r>
              <a:rPr lang="en-US" altLang="zh-CN" dirty="0"/>
              <a:t> be as in Theorem 5. Then</a:t>
            </a:r>
          </a:p>
          <a:p>
            <a:pPr marL="0" indent="0" algn="ctr" eaLnBrk="1" hangingPunct="1">
              <a:lnSpc>
                <a:spcPct val="150000"/>
              </a:lnSpc>
              <a:buNone/>
            </a:pPr>
            <a:r>
              <a:rPr lang="en-US" altLang="zh-CN" i="1" dirty="0"/>
              <a:t>N</a:t>
            </a:r>
            <a:r>
              <a:rPr lang="en-US" altLang="zh-CN" dirty="0"/>
              <a:t> = {</a:t>
            </a:r>
            <a:r>
              <a:rPr lang="en-US" altLang="zh-CN" i="1" dirty="0"/>
              <a:t>x</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i="1" baseline="30000" dirty="0"/>
              <a:t>n</a:t>
            </a:r>
            <a:r>
              <a:rPr lang="en-US" altLang="zh-CN" dirty="0"/>
              <a:t> | </a:t>
            </a:r>
            <a:r>
              <a:rPr lang="en-US" altLang="zh-CN" i="1" dirty="0"/>
              <a:t>x</a:t>
            </a:r>
            <a:r>
              <a:rPr lang="en-US" altLang="zh-CN" dirty="0"/>
              <a:t> * </a:t>
            </a:r>
            <a:r>
              <a:rPr lang="en-US" altLang="zh-CN" b="1" dirty="0"/>
              <a:t>H</a:t>
            </a:r>
            <a:r>
              <a:rPr lang="en-US" altLang="zh-CN" dirty="0"/>
              <a:t> = </a:t>
            </a:r>
            <a:r>
              <a:rPr lang="en-US" altLang="zh-CN" b="1" dirty="0"/>
              <a:t>0</a:t>
            </a:r>
            <a:r>
              <a:rPr lang="en-US" altLang="zh-CN" dirty="0"/>
              <a:t>}</a:t>
            </a:r>
          </a:p>
          <a:p>
            <a:pPr marL="0" indent="0" eaLnBrk="1" hangingPunct="1">
              <a:lnSpc>
                <a:spcPct val="150000"/>
              </a:lnSpc>
              <a:buNone/>
            </a:pPr>
            <a:r>
              <a:rPr lang="en-US" altLang="zh-CN" sz="3200" dirty="0"/>
              <a:t>is a normal subgroup of </a:t>
            </a:r>
            <a:r>
              <a:rPr lang="en-US" altLang="zh-CN" sz="3200" i="1" dirty="0"/>
              <a:t>B</a:t>
            </a:r>
            <a:r>
              <a:rPr lang="en-US" altLang="zh-CN" sz="3200" i="1" baseline="30000" dirty="0"/>
              <a:t>n</a:t>
            </a:r>
            <a:r>
              <a:rPr lang="en-US" altLang="zh-CN" sz="3200" dirty="0"/>
              <a:t>.</a:t>
            </a:r>
          </a:p>
          <a:p>
            <a:pPr marL="0" indent="0" eaLnBrk="1" hangingPunct="1">
              <a:lnSpc>
                <a:spcPct val="150000"/>
              </a:lnSpc>
              <a:buNone/>
            </a:pPr>
            <a:r>
              <a:rPr lang="en-US" altLang="zh-CN" dirty="0"/>
              <a:t>Proof: </a:t>
            </a:r>
          </a:p>
          <a:p>
            <a:pPr marL="457200" lvl="1" indent="0" eaLnBrk="1" hangingPunct="1">
              <a:lnSpc>
                <a:spcPct val="150000"/>
              </a:lnSpc>
              <a:buNone/>
            </a:pPr>
            <a:r>
              <a:rPr lang="en-US" altLang="zh-CN" i="1" dirty="0"/>
              <a:t>N</a:t>
            </a:r>
            <a:r>
              <a:rPr lang="en-US" altLang="zh-CN" dirty="0"/>
              <a:t> is the kernel of the homomorphism </a:t>
            </a:r>
            <a:r>
              <a:rPr lang="en-US" altLang="zh-CN" i="1" dirty="0"/>
              <a:t>f</a:t>
            </a:r>
            <a:r>
              <a:rPr lang="en-US" altLang="zh-CN" i="1" baseline="-25000" dirty="0"/>
              <a:t>H</a:t>
            </a:r>
            <a:r>
              <a:rPr lang="en-US" altLang="zh-CN" dirty="0"/>
              <a:t>, so it is a normal subgroup of </a:t>
            </a:r>
            <a:r>
              <a:rPr lang="en-US" altLang="zh-CN" i="1" dirty="0"/>
              <a:t>B</a:t>
            </a:r>
            <a:r>
              <a:rPr lang="en-US" altLang="zh-CN" i="1" baseline="30000" dirty="0"/>
              <a:t>n</a:t>
            </a:r>
            <a:r>
              <a:rPr lang="en-US" altLang="zh-CN" i="1" dirty="0"/>
              <a:t>.</a:t>
            </a:r>
          </a:p>
          <a:p>
            <a:pPr marL="0" indent="0" eaLnBrk="1" hangingPunct="1">
              <a:lnSpc>
                <a:spcPct val="150000"/>
              </a:lnSpc>
              <a:buNone/>
            </a:pPr>
            <a:endParaRPr lang="en-US" altLang="zh-CN"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Corollary 1</a:t>
            </a:r>
            <a:endParaRPr lang="zh-CN" altLang="en-US" dirty="0"/>
          </a:p>
        </p:txBody>
      </p:sp>
    </p:spTree>
    <p:extLst>
      <p:ext uri="{BB962C8B-B14F-4D97-AF65-F5344CB8AC3E}">
        <p14:creationId xmlns:p14="http://schemas.microsoft.com/office/powerpoint/2010/main" val="207861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52696" y="1709041"/>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None/>
            </a:pPr>
            <a:r>
              <a:rPr lang="pt-BR" altLang="zh-CN" dirty="0"/>
              <a:t>Let m &lt; n and r = n - m. </a:t>
            </a:r>
            <a:r>
              <a:rPr lang="en-US" altLang="zh-CN" dirty="0"/>
              <a:t>the following n </a:t>
            </a:r>
            <a:r>
              <a:rPr lang="en-US" altLang="zh-CN" dirty="0">
                <a:sym typeface="Symbol" panose="05050102010706020507" pitchFamily="18" charset="2"/>
              </a:rPr>
              <a:t> </a:t>
            </a:r>
            <a:r>
              <a:rPr lang="en-US" altLang="zh-CN" dirty="0"/>
              <a:t> r Boolean matrix is called a </a:t>
            </a:r>
            <a:r>
              <a:rPr lang="en-US" altLang="zh-CN" dirty="0">
                <a:solidFill>
                  <a:srgbClr val="FF0000"/>
                </a:solidFill>
              </a:rPr>
              <a:t>parity check matrix</a:t>
            </a:r>
            <a:r>
              <a:rPr lang="en-US" altLang="zh-CN" dirty="0"/>
              <a:t>.</a:t>
            </a:r>
            <a:endParaRPr lang="en-US" altLang="zh-CN" i="1" dirty="0"/>
          </a:p>
          <a:p>
            <a:pPr marL="0" indent="0" eaLnBrk="1" hangingPunct="1">
              <a:lnSpc>
                <a:spcPct val="150000"/>
              </a:lnSpc>
              <a:buNone/>
            </a:pPr>
            <a:endParaRPr lang="en-US" altLang="zh-CN"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lang="en-US" altLang="zh-CN" sz="4400" dirty="0"/>
              <a:t>Parity check matrix - </a:t>
            </a:r>
            <a:r>
              <a:rPr lang="zh-CN" altLang="en-US" sz="4400" dirty="0"/>
              <a:t>一致性检验矩阵</a:t>
            </a:r>
            <a:endParaRPr lang="zh-CN" altLang="en-US" dirty="0"/>
          </a:p>
        </p:txBody>
      </p:sp>
      <p:pic>
        <p:nvPicPr>
          <p:cNvPr id="3" name="图片 2">
            <a:extLst>
              <a:ext uri="{FF2B5EF4-FFF2-40B4-BE49-F238E27FC236}">
                <a16:creationId xmlns:a16="http://schemas.microsoft.com/office/drawing/2014/main" id="{28C7A837-D342-4D42-A5BA-E74711C6327D}"/>
              </a:ext>
            </a:extLst>
          </p:cNvPr>
          <p:cNvPicPr>
            <a:picLocks noChangeAspect="1"/>
          </p:cNvPicPr>
          <p:nvPr/>
        </p:nvPicPr>
        <p:blipFill>
          <a:blip r:embed="rId3"/>
          <a:stretch>
            <a:fillRect/>
          </a:stretch>
        </p:blipFill>
        <p:spPr>
          <a:xfrm>
            <a:off x="3343149" y="3053166"/>
            <a:ext cx="5505702" cy="3585388"/>
          </a:xfrm>
          <a:prstGeom prst="rect">
            <a:avLst/>
          </a:prstGeom>
        </p:spPr>
      </p:pic>
    </p:spTree>
    <p:extLst>
      <p:ext uri="{BB962C8B-B14F-4D97-AF65-F5344CB8AC3E}">
        <p14:creationId xmlns:p14="http://schemas.microsoft.com/office/powerpoint/2010/main" val="3064464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52696"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None/>
            </a:pPr>
            <a:r>
              <a:rPr lang="pt-BR" altLang="zh-CN" dirty="0"/>
              <a:t>Define an encoding function </a:t>
            </a:r>
            <a:r>
              <a:rPr lang="en-US" altLang="zh-CN" i="1" dirty="0"/>
              <a:t>e</a:t>
            </a:r>
            <a:r>
              <a:rPr lang="en-US" altLang="zh-CN" i="1" baseline="-25000" dirty="0"/>
              <a:t>H</a:t>
            </a:r>
            <a:r>
              <a:rPr lang="en-US" altLang="zh-CN" dirty="0"/>
              <a:t>: </a:t>
            </a:r>
            <a:r>
              <a:rPr lang="en-US" altLang="zh-CN" i="1" dirty="0"/>
              <a:t>B</a:t>
            </a:r>
            <a:r>
              <a:rPr lang="en-US" altLang="zh-CN" i="1" baseline="30000" dirty="0"/>
              <a:t>m</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i="1" baseline="30000" dirty="0"/>
              <a:t>n</a:t>
            </a:r>
            <a:endParaRPr lang="en-US" altLang="zh-CN" dirty="0"/>
          </a:p>
          <a:p>
            <a:pPr marL="457200" lvl="1" indent="0">
              <a:lnSpc>
                <a:spcPct val="150000"/>
              </a:lnSpc>
              <a:buNone/>
            </a:pPr>
            <a:r>
              <a:rPr lang="en-US" altLang="zh-CN" dirty="0"/>
              <a:t>If </a:t>
            </a:r>
            <a:r>
              <a:rPr lang="en-US" altLang="zh-CN" i="1" dirty="0"/>
              <a:t>b</a:t>
            </a:r>
            <a:r>
              <a:rPr lang="en-US" altLang="zh-CN" dirty="0"/>
              <a:t> = </a:t>
            </a:r>
            <a:r>
              <a:rPr lang="en-US" altLang="zh-CN" i="1" dirty="0"/>
              <a:t>b</a:t>
            </a:r>
            <a:r>
              <a:rPr lang="en-US" altLang="zh-CN" i="1" baseline="-25000" dirty="0"/>
              <a:t>1</a:t>
            </a:r>
            <a:r>
              <a:rPr lang="en-US" altLang="zh-CN" i="1" dirty="0"/>
              <a:t>b</a:t>
            </a:r>
            <a:r>
              <a:rPr lang="en-US" altLang="zh-CN" i="1" baseline="-25000" dirty="0"/>
              <a:t>2</a:t>
            </a:r>
            <a:r>
              <a:rPr lang="en-US" altLang="zh-CN" i="1" dirty="0"/>
              <a:t>…b</a:t>
            </a:r>
            <a:r>
              <a:rPr lang="en-US" altLang="zh-CN" i="1" baseline="-25000" dirty="0"/>
              <a:t>m</a:t>
            </a:r>
            <a:r>
              <a:rPr lang="en-US" altLang="zh-CN" dirty="0"/>
              <a:t>, let </a:t>
            </a:r>
            <a:r>
              <a:rPr lang="en-US" altLang="zh-CN" i="1" dirty="0"/>
              <a:t>x</a:t>
            </a:r>
            <a:r>
              <a:rPr lang="en-US" altLang="zh-CN" dirty="0"/>
              <a:t> = </a:t>
            </a:r>
            <a:r>
              <a:rPr lang="en-US" altLang="zh-CN" i="1" dirty="0"/>
              <a:t>e</a:t>
            </a:r>
            <a:r>
              <a:rPr lang="en-US" altLang="zh-CN" i="1" baseline="-25000" dirty="0"/>
              <a:t>H</a:t>
            </a:r>
            <a:r>
              <a:rPr lang="en-US" altLang="zh-CN" dirty="0"/>
              <a:t>(</a:t>
            </a:r>
            <a:r>
              <a:rPr lang="en-US" altLang="zh-CN" i="1" dirty="0"/>
              <a:t>b</a:t>
            </a:r>
            <a:r>
              <a:rPr lang="en-US" altLang="zh-CN" dirty="0"/>
              <a:t>) = </a:t>
            </a:r>
            <a:r>
              <a:rPr lang="en-US" altLang="zh-CN" i="1" dirty="0"/>
              <a:t>b</a:t>
            </a:r>
            <a:r>
              <a:rPr lang="en-US" altLang="zh-CN" i="1" baseline="-25000" dirty="0"/>
              <a:t>1</a:t>
            </a:r>
            <a:r>
              <a:rPr lang="en-US" altLang="zh-CN" i="1" dirty="0"/>
              <a:t>b</a:t>
            </a:r>
            <a:r>
              <a:rPr lang="en-US" altLang="zh-CN" i="1" baseline="-25000" dirty="0"/>
              <a:t>2</a:t>
            </a:r>
            <a:r>
              <a:rPr lang="en-US" altLang="zh-CN" i="1" dirty="0"/>
              <a:t>…b</a:t>
            </a:r>
            <a:r>
              <a:rPr lang="en-US" altLang="zh-CN" i="1" baseline="-25000" dirty="0"/>
              <a:t>m</a:t>
            </a:r>
            <a:r>
              <a:rPr lang="en-US" altLang="zh-CN" dirty="0"/>
              <a:t> </a:t>
            </a:r>
            <a:r>
              <a:rPr lang="en-US" altLang="zh-CN" i="1" dirty="0"/>
              <a:t>x</a:t>
            </a:r>
            <a:r>
              <a:rPr lang="en-US" altLang="zh-CN" i="1" baseline="-25000" dirty="0"/>
              <a:t>1</a:t>
            </a:r>
            <a:r>
              <a:rPr lang="en-US" altLang="zh-CN" i="1" dirty="0"/>
              <a:t>x</a:t>
            </a:r>
            <a:r>
              <a:rPr lang="en-US" altLang="zh-CN" i="1" baseline="-25000" dirty="0"/>
              <a:t>2</a:t>
            </a:r>
            <a:r>
              <a:rPr lang="en-US" altLang="zh-CN" i="1" dirty="0"/>
              <a:t>…x</a:t>
            </a:r>
            <a:r>
              <a:rPr lang="en-US" altLang="zh-CN" i="1" baseline="-25000" dirty="0"/>
              <a:t>r</a:t>
            </a:r>
            <a:r>
              <a:rPr lang="en-US" altLang="zh-CN" dirty="0"/>
              <a:t>, where</a:t>
            </a:r>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lang="en-US" altLang="zh-CN" sz="4400" dirty="0"/>
              <a:t>Encoding function</a:t>
            </a:r>
            <a:endParaRPr lang="zh-CN" altLang="en-US" dirty="0"/>
          </a:p>
        </p:txBody>
      </p:sp>
      <p:pic>
        <p:nvPicPr>
          <p:cNvPr id="5" name="图片 4">
            <a:extLst>
              <a:ext uri="{FF2B5EF4-FFF2-40B4-BE49-F238E27FC236}">
                <a16:creationId xmlns:a16="http://schemas.microsoft.com/office/drawing/2014/main" id="{C830124A-15FF-4184-ABFB-1202B3EEA9CF}"/>
              </a:ext>
            </a:extLst>
          </p:cNvPr>
          <p:cNvPicPr>
            <a:picLocks noChangeAspect="1"/>
          </p:cNvPicPr>
          <p:nvPr/>
        </p:nvPicPr>
        <p:blipFill>
          <a:blip r:embed="rId3"/>
          <a:stretch>
            <a:fillRect/>
          </a:stretch>
        </p:blipFill>
        <p:spPr>
          <a:xfrm>
            <a:off x="2931466" y="3102366"/>
            <a:ext cx="6538618" cy="2146516"/>
          </a:xfrm>
          <a:prstGeom prst="rect">
            <a:avLst/>
          </a:prstGeom>
        </p:spPr>
      </p:pic>
    </p:spTree>
    <p:extLst>
      <p:ext uri="{BB962C8B-B14F-4D97-AF65-F5344CB8AC3E}">
        <p14:creationId xmlns:p14="http://schemas.microsoft.com/office/powerpoint/2010/main" val="42278188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1" u="none" strike="noStrike" kern="0" cap="none" spc="0" normalizeH="0" baseline="0" noProof="0" dirty="0" err="1">
                <a:ln>
                  <a:noFill/>
                </a:ln>
                <a:solidFill>
                  <a:srgbClr val="000000"/>
                </a:solidFill>
                <a:effectLst/>
                <a:uLnTx/>
                <a:uFillTx/>
                <a:latin typeface="Times New Roman" panose="02020603050405020304" pitchFamily="18" charset="0"/>
                <a:ea typeface="宋体"/>
                <a:cs typeface="+mj-cs"/>
              </a:rPr>
              <a:t>e</a:t>
            </a:r>
            <a:r>
              <a:rPr kumimoji="0" lang="en-US" altLang="zh-CN" sz="4400" b="0" i="1" u="none" strike="noStrike" kern="0" cap="none" spc="0" normalizeH="0" baseline="-25000" noProof="0" dirty="0" err="1">
                <a:ln>
                  <a:noFill/>
                </a:ln>
                <a:solidFill>
                  <a:srgbClr val="000000"/>
                </a:solidFill>
                <a:effectLst/>
                <a:uLnTx/>
                <a:uFillTx/>
                <a:latin typeface="Times New Roman" panose="02020603050405020304" pitchFamily="18" charset="0"/>
                <a:ea typeface="宋体"/>
                <a:cs typeface="+mj-cs"/>
              </a:rPr>
              <a:t>H</a:t>
            </a:r>
            <a:r>
              <a:rPr kumimoji="0" lang="en-US" altLang="zh-CN" sz="4400" b="0" i="0" u="none" strike="noStrike" kern="0" cap="none" spc="0" normalizeH="0" baseline="0" noProof="0" dirty="0">
                <a:ln>
                  <a:noFill/>
                </a:ln>
                <a:solidFill>
                  <a:srgbClr val="000000"/>
                </a:solidFill>
                <a:effectLst/>
                <a:uLnTx/>
                <a:uFillTx/>
                <a:latin typeface="Times New Roman" panose="02020603050405020304" pitchFamily="18" charset="0"/>
                <a:ea typeface="宋体"/>
                <a:cs typeface="+mj-cs"/>
              </a:rPr>
              <a:t>: </a:t>
            </a:r>
            <a:r>
              <a:rPr kumimoji="0" lang="en-US" altLang="zh-CN" sz="4400" b="0" i="1" u="none" strike="noStrike" kern="0" cap="none" spc="0" normalizeH="0" baseline="0" noProof="0" dirty="0">
                <a:ln>
                  <a:noFill/>
                </a:ln>
                <a:solidFill>
                  <a:srgbClr val="000000"/>
                </a:solidFill>
                <a:effectLst/>
                <a:uLnTx/>
                <a:uFillTx/>
                <a:latin typeface="Times New Roman" panose="02020603050405020304" pitchFamily="18" charset="0"/>
                <a:ea typeface="宋体"/>
                <a:cs typeface="+mj-cs"/>
              </a:rPr>
              <a:t>B</a:t>
            </a:r>
            <a:r>
              <a:rPr kumimoji="0" lang="en-US" altLang="zh-CN" sz="4400" b="0" i="1" u="none" strike="noStrike" kern="0" cap="none" spc="0" normalizeH="0" baseline="30000" noProof="0" dirty="0">
                <a:ln>
                  <a:noFill/>
                </a:ln>
                <a:solidFill>
                  <a:srgbClr val="000000"/>
                </a:solidFill>
                <a:effectLst/>
                <a:uLnTx/>
                <a:uFillTx/>
                <a:latin typeface="Times New Roman" panose="02020603050405020304" pitchFamily="18" charset="0"/>
                <a:ea typeface="宋体"/>
                <a:cs typeface="+mj-cs"/>
              </a:rPr>
              <a:t>m</a:t>
            </a:r>
            <a:r>
              <a:rPr kumimoji="0" lang="en-US" altLang="zh-CN" sz="4400" b="0" i="0" u="none" strike="noStrike" kern="0" cap="none" spc="0" normalizeH="0" baseline="0" noProof="0" dirty="0">
                <a:ln>
                  <a:noFill/>
                </a:ln>
                <a:solidFill>
                  <a:srgbClr val="000000"/>
                </a:solidFill>
                <a:effectLst/>
                <a:uLnTx/>
                <a:uFillTx/>
                <a:latin typeface="Times New Roman" panose="02020603050405020304" pitchFamily="18" charset="0"/>
                <a:ea typeface="宋体"/>
                <a:cs typeface="+mj-cs"/>
              </a:rPr>
              <a:t> </a:t>
            </a:r>
            <a:r>
              <a:rPr kumimoji="0" lang="en-US" altLang="zh-CN" sz="4400" b="0" i="0" u="none" strike="noStrike" kern="0" cap="none" spc="0" normalizeH="0" baseline="0" noProof="0" dirty="0">
                <a:ln>
                  <a:noFill/>
                </a:ln>
                <a:solidFill>
                  <a:srgbClr val="000000"/>
                </a:solidFill>
                <a:effectLst/>
                <a:uLnTx/>
                <a:uFillTx/>
                <a:latin typeface="Times New Roman" panose="02020603050405020304" pitchFamily="18" charset="0"/>
                <a:ea typeface="宋体"/>
                <a:cs typeface="+mj-cs"/>
                <a:sym typeface="Symbol" panose="05050102010706020507" pitchFamily="18" charset="2"/>
              </a:rPr>
              <a:t></a:t>
            </a:r>
            <a:r>
              <a:rPr kumimoji="0" lang="en-US" altLang="zh-CN" sz="4400" b="0" i="0" u="none" strike="noStrike" kern="0" cap="none" spc="0" normalizeH="0" baseline="0" noProof="0" dirty="0">
                <a:ln>
                  <a:noFill/>
                </a:ln>
                <a:solidFill>
                  <a:srgbClr val="000000"/>
                </a:solidFill>
                <a:effectLst/>
                <a:uLnTx/>
                <a:uFillTx/>
                <a:latin typeface="Times New Roman" panose="02020603050405020304" pitchFamily="18" charset="0"/>
                <a:ea typeface="宋体"/>
                <a:cs typeface="+mj-cs"/>
              </a:rPr>
              <a:t> </a:t>
            </a:r>
            <a:r>
              <a:rPr kumimoji="0" lang="en-US" altLang="zh-CN" sz="4400" b="0" i="1" u="none" strike="noStrike" kern="0" cap="none" spc="0" normalizeH="0" baseline="0" noProof="0" dirty="0">
                <a:ln>
                  <a:noFill/>
                </a:ln>
                <a:solidFill>
                  <a:srgbClr val="000000"/>
                </a:solidFill>
                <a:effectLst/>
                <a:uLnTx/>
                <a:uFillTx/>
                <a:latin typeface="Times New Roman" panose="02020603050405020304" pitchFamily="18" charset="0"/>
                <a:ea typeface="宋体"/>
                <a:cs typeface="+mj-cs"/>
              </a:rPr>
              <a:t>B</a:t>
            </a:r>
            <a:r>
              <a:rPr kumimoji="0" lang="en-US" altLang="zh-CN" sz="4400" b="0" i="1" u="none" strike="noStrike" kern="0" cap="none" spc="0" normalizeH="0" baseline="30000" noProof="0" dirty="0">
                <a:ln>
                  <a:noFill/>
                </a:ln>
                <a:solidFill>
                  <a:srgbClr val="000000"/>
                </a:solidFill>
                <a:effectLst/>
                <a:uLnTx/>
                <a:uFillTx/>
                <a:latin typeface="Times New Roman" panose="02020603050405020304" pitchFamily="18" charset="0"/>
                <a:ea typeface="宋体"/>
                <a:cs typeface="+mj-cs"/>
              </a:rPr>
              <a:t>n  </a:t>
            </a:r>
            <a:r>
              <a:rPr kumimoji="0" lang="en-US" altLang="zh-CN" sz="4400" b="0" i="0" u="none" strike="noStrike" kern="0" cap="none" spc="0" normalizeH="0" baseline="0" noProof="0" dirty="0">
                <a:ln>
                  <a:noFill/>
                </a:ln>
                <a:solidFill>
                  <a:srgbClr val="000000"/>
                </a:solidFill>
                <a:effectLst/>
                <a:uLnTx/>
                <a:uFillTx/>
                <a:latin typeface="Times New Roman" panose="02020603050405020304" pitchFamily="18" charset="0"/>
                <a:ea typeface="宋体"/>
                <a:cs typeface="+mj-cs"/>
              </a:rPr>
              <a:t>in matrix format</a:t>
            </a:r>
            <a:endParaRPr lang="zh-CN" altLang="en-US" dirty="0"/>
          </a:p>
        </p:txBody>
      </p:sp>
      <p:graphicFrame>
        <p:nvGraphicFramePr>
          <p:cNvPr id="9" name="Object 4">
            <a:extLst>
              <a:ext uri="{FF2B5EF4-FFF2-40B4-BE49-F238E27FC236}">
                <a16:creationId xmlns:a16="http://schemas.microsoft.com/office/drawing/2014/main" id="{48D23DDC-45A7-4407-AC44-D0C60550F75B}"/>
              </a:ext>
            </a:extLst>
          </p:cNvPr>
          <p:cNvGraphicFramePr>
            <a:graphicFrameLocks noChangeAspect="1"/>
          </p:cNvGraphicFramePr>
          <p:nvPr>
            <p:extLst>
              <p:ext uri="{D42A27DB-BD31-4B8C-83A1-F6EECF244321}">
                <p14:modId xmlns:p14="http://schemas.microsoft.com/office/powerpoint/2010/main" val="1467000578"/>
              </p:ext>
            </p:extLst>
          </p:nvPr>
        </p:nvGraphicFramePr>
        <p:xfrm>
          <a:off x="2411412" y="2198798"/>
          <a:ext cx="7369175" cy="3819525"/>
        </p:xfrm>
        <a:graphic>
          <a:graphicData uri="http://schemas.openxmlformats.org/presentationml/2006/ole">
            <mc:AlternateContent xmlns:mc="http://schemas.openxmlformats.org/markup-compatibility/2006">
              <mc:Choice xmlns:v="urn:schemas-microsoft-com:vml" Requires="v">
                <p:oleObj name="Equation" r:id="rId2" imgW="4216400" imgH="2184400" progId="Equation.DSMT4">
                  <p:embed/>
                </p:oleObj>
              </mc:Choice>
              <mc:Fallback>
                <p:oleObj name="Equation" r:id="rId2" imgW="4216400" imgH="2184400" progId="Equation.DSMT4">
                  <p:embed/>
                  <p:pic>
                    <p:nvPicPr>
                      <p:cNvPr id="53252" name="Object 4">
                        <a:extLst>
                          <a:ext uri="{FF2B5EF4-FFF2-40B4-BE49-F238E27FC236}">
                            <a16:creationId xmlns:a16="http://schemas.microsoft.com/office/drawing/2014/main" id="{101EA9F1-3F0A-4FAE-A1E9-3C4D6C98D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2" y="2198798"/>
                        <a:ext cx="7369175" cy="3819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09113435"/>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52696"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None/>
            </a:pPr>
            <a:endParaRPr lang="en-US" altLang="zh-CN"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620276" y="839677"/>
            <a:ext cx="11056470" cy="769441"/>
          </a:xfrm>
          <a:prstGeom prst="rect">
            <a:avLst/>
          </a:prstGeom>
          <a:noFill/>
        </p:spPr>
        <p:txBody>
          <a:bodyPr wrap="square">
            <a:spAutoFit/>
          </a:bodyPr>
          <a:lstStyle/>
          <a:p>
            <a:pPr algn="ctr"/>
            <a:r>
              <a:rPr lang="en-US" altLang="zh-CN" sz="4400" dirty="0"/>
              <a:t>Theorem 6</a:t>
            </a:r>
          </a:p>
        </p:txBody>
      </p:sp>
      <p:sp>
        <p:nvSpPr>
          <p:cNvPr id="10" name="Rectangle 3">
            <a:extLst>
              <a:ext uri="{FF2B5EF4-FFF2-40B4-BE49-F238E27FC236}">
                <a16:creationId xmlns:a16="http://schemas.microsoft.com/office/drawing/2014/main" id="{F89572DB-F4C4-416E-9CE9-7C1634025F5E}"/>
              </a:ext>
            </a:extLst>
          </p:cNvPr>
          <p:cNvSpPr txBox="1">
            <a:spLocks noChangeArrowheads="1"/>
          </p:cNvSpPr>
          <p:nvPr/>
        </p:nvSpPr>
        <p:spPr>
          <a:xfrm>
            <a:off x="462743" y="1721834"/>
            <a:ext cx="11167035"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kern="0" dirty="0"/>
              <a:t>Let </a:t>
            </a:r>
            <a:r>
              <a:rPr lang="en-US" altLang="zh-CN" i="1" kern="0" dirty="0"/>
              <a:t>x</a:t>
            </a:r>
            <a:r>
              <a:rPr lang="en-US" altLang="zh-CN" kern="0" dirty="0"/>
              <a:t> = </a:t>
            </a:r>
            <a:r>
              <a:rPr lang="en-US" altLang="zh-CN" i="1" kern="0" dirty="0"/>
              <a:t>y</a:t>
            </a:r>
            <a:r>
              <a:rPr lang="en-US" altLang="zh-CN" i="1" kern="0" baseline="-25000" dirty="0"/>
              <a:t>1</a:t>
            </a:r>
            <a:r>
              <a:rPr lang="en-US" altLang="zh-CN" i="1" kern="0" dirty="0"/>
              <a:t>y</a:t>
            </a:r>
            <a:r>
              <a:rPr lang="en-US" altLang="zh-CN" i="1" kern="0" baseline="-25000" dirty="0"/>
              <a:t>2</a:t>
            </a:r>
            <a:r>
              <a:rPr lang="en-US" altLang="zh-CN" i="1" kern="0" dirty="0"/>
              <a:t>…y</a:t>
            </a:r>
            <a:r>
              <a:rPr lang="en-US" altLang="zh-CN" i="1" kern="0" baseline="-25000" dirty="0"/>
              <a:t>m</a:t>
            </a:r>
            <a:r>
              <a:rPr lang="en-US" altLang="zh-CN" i="1" kern="0" dirty="0"/>
              <a:t>x</a:t>
            </a:r>
            <a:r>
              <a:rPr lang="en-US" altLang="zh-CN" i="1" kern="0" baseline="-25000" dirty="0"/>
              <a:t>1</a:t>
            </a:r>
            <a:r>
              <a:rPr lang="en-US" altLang="zh-CN" i="1" kern="0" dirty="0"/>
              <a:t>… x</a:t>
            </a:r>
            <a:r>
              <a:rPr lang="en-US" altLang="zh-CN" i="1" kern="0" baseline="-25000" dirty="0"/>
              <a:t>r</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B</a:t>
            </a:r>
            <a:r>
              <a:rPr lang="en-US" altLang="zh-CN" i="1" kern="0" baseline="30000" dirty="0"/>
              <a:t>n</a:t>
            </a:r>
            <a:r>
              <a:rPr lang="en-US" altLang="zh-CN" kern="0" dirty="0"/>
              <a:t>. Then </a:t>
            </a:r>
          </a:p>
          <a:p>
            <a:pPr marL="457200" lvl="1" indent="0" algn="ctr">
              <a:lnSpc>
                <a:spcPct val="150000"/>
              </a:lnSpc>
              <a:buNone/>
            </a:pPr>
            <a:r>
              <a:rPr lang="en-US" altLang="zh-CN" i="1" kern="0" dirty="0"/>
              <a:t>x</a:t>
            </a:r>
            <a:r>
              <a:rPr lang="en-US" altLang="zh-CN" kern="0" dirty="0"/>
              <a:t> * H = 0 </a:t>
            </a:r>
          </a:p>
          <a:p>
            <a:pPr marL="0" indent="0">
              <a:lnSpc>
                <a:spcPct val="150000"/>
              </a:lnSpc>
              <a:buNone/>
            </a:pPr>
            <a:r>
              <a:rPr lang="en-US" altLang="zh-CN" kern="0" dirty="0"/>
              <a:t>if and only if </a:t>
            </a:r>
          </a:p>
          <a:p>
            <a:pPr marL="457200" lvl="1" indent="0" algn="ctr">
              <a:lnSpc>
                <a:spcPct val="150000"/>
              </a:lnSpc>
              <a:buNone/>
            </a:pPr>
            <a:r>
              <a:rPr lang="en-US" altLang="zh-CN" i="1" kern="0" dirty="0"/>
              <a:t>x</a:t>
            </a:r>
            <a:r>
              <a:rPr lang="en-US" altLang="zh-CN" kern="0" dirty="0"/>
              <a:t> = </a:t>
            </a:r>
            <a:r>
              <a:rPr lang="en-US" altLang="zh-CN" i="1" kern="0" dirty="0"/>
              <a:t>e</a:t>
            </a:r>
            <a:r>
              <a:rPr lang="en-US" altLang="zh-CN" i="1" kern="0" baseline="-25000" dirty="0"/>
              <a:t>H</a:t>
            </a:r>
            <a:r>
              <a:rPr lang="en-US" altLang="zh-CN" kern="0" dirty="0"/>
              <a:t>(</a:t>
            </a:r>
            <a:r>
              <a:rPr lang="en-US" altLang="zh-CN" i="1" kern="0" dirty="0"/>
              <a:t>b</a:t>
            </a:r>
            <a:r>
              <a:rPr lang="en-US" altLang="zh-CN" kern="0" dirty="0"/>
              <a:t>) for some </a:t>
            </a:r>
            <a:r>
              <a:rPr lang="en-US" altLang="zh-CN" i="1" kern="0" dirty="0"/>
              <a:t>b</a:t>
            </a:r>
            <a:r>
              <a:rPr lang="en-US" altLang="zh-CN" kern="0" dirty="0"/>
              <a:t> </a:t>
            </a:r>
            <a:r>
              <a:rPr lang="en-US" altLang="zh-CN" kern="0" dirty="0">
                <a:sym typeface="Symbol" panose="05050102010706020507" pitchFamily="18" charset="2"/>
              </a:rPr>
              <a:t></a:t>
            </a:r>
            <a:r>
              <a:rPr lang="en-US" altLang="zh-CN" kern="0" dirty="0"/>
              <a:t> </a:t>
            </a:r>
            <a:r>
              <a:rPr lang="en-US" altLang="zh-CN" i="1" kern="0" dirty="0"/>
              <a:t>B</a:t>
            </a:r>
            <a:r>
              <a:rPr lang="en-US" altLang="zh-CN" i="1" kern="0" baseline="30000" dirty="0"/>
              <a:t>m</a:t>
            </a:r>
            <a:r>
              <a:rPr lang="en-US" altLang="zh-CN" kern="0" dirty="0"/>
              <a:t>.</a:t>
            </a:r>
            <a:endParaRPr lang="en-US" altLang="zh-CN" sz="2400" i="1" kern="0" baseline="30000" dirty="0"/>
          </a:p>
        </p:txBody>
      </p:sp>
    </p:spTree>
    <p:extLst>
      <p:ext uri="{BB962C8B-B14F-4D97-AF65-F5344CB8AC3E}">
        <p14:creationId xmlns:p14="http://schemas.microsoft.com/office/powerpoint/2010/main" val="3685625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52696"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None/>
            </a:pPr>
            <a:endParaRPr lang="en-US" altLang="zh-CN"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620276" y="839677"/>
            <a:ext cx="11056470" cy="769441"/>
          </a:xfrm>
          <a:prstGeom prst="rect">
            <a:avLst/>
          </a:prstGeom>
          <a:noFill/>
        </p:spPr>
        <p:txBody>
          <a:bodyPr wrap="square">
            <a:spAutoFit/>
          </a:bodyPr>
          <a:lstStyle/>
          <a:p>
            <a:pPr algn="ctr"/>
            <a:r>
              <a:rPr lang="en-US" altLang="zh-CN" sz="4400" dirty="0"/>
              <a:t>Proof:</a:t>
            </a:r>
            <a:r>
              <a:rPr lang="en-US" altLang="zh-CN" sz="4400" i="1" dirty="0">
                <a:latin typeface="Times New Roman" panose="02020603050405020304" pitchFamily="18" charset="0"/>
              </a:rPr>
              <a:t> </a:t>
            </a:r>
            <a:r>
              <a:rPr lang="en-US" altLang="zh-CN" sz="3200" i="1" dirty="0">
                <a:latin typeface="Times New Roman" panose="02020603050405020304" pitchFamily="18" charset="0"/>
              </a:rPr>
              <a:t>x</a:t>
            </a:r>
            <a:r>
              <a:rPr lang="en-US" altLang="zh-CN" sz="3200" dirty="0">
                <a:latin typeface="Times New Roman" panose="02020603050405020304" pitchFamily="18" charset="0"/>
              </a:rPr>
              <a:t> * </a:t>
            </a:r>
            <a:r>
              <a:rPr lang="en-US" altLang="zh-CN" sz="3200" b="1" dirty="0">
                <a:latin typeface="Times New Roman" panose="02020603050405020304" pitchFamily="18" charset="0"/>
              </a:rPr>
              <a:t>H</a:t>
            </a:r>
            <a:r>
              <a:rPr lang="en-US" altLang="zh-CN" sz="3200" dirty="0">
                <a:latin typeface="Times New Roman" panose="02020603050405020304" pitchFamily="18" charset="0"/>
              </a:rPr>
              <a:t> = </a:t>
            </a:r>
            <a:r>
              <a:rPr lang="en-US" altLang="zh-CN" sz="3200" b="1" dirty="0">
                <a:latin typeface="Times New Roman" panose="02020603050405020304" pitchFamily="18" charset="0"/>
              </a:rPr>
              <a:t>0</a:t>
            </a:r>
            <a:r>
              <a:rPr lang="en-US" altLang="zh-CN" sz="3200" dirty="0">
                <a:latin typeface="Times New Roman" panose="02020603050405020304" pitchFamily="18" charset="0"/>
              </a:rPr>
              <a:t> </a:t>
            </a:r>
            <a:r>
              <a:rPr lang="en-US" altLang="zh-CN" sz="3200" dirty="0">
                <a:latin typeface="Times New Roman" panose="02020603050405020304" pitchFamily="18" charset="0"/>
                <a:sym typeface="Symbol" panose="05050102010706020507" pitchFamily="18" charset="2"/>
              </a:rPr>
              <a:t> </a:t>
            </a:r>
            <a:r>
              <a:rPr lang="en-US" altLang="zh-CN" sz="3200" i="1" dirty="0">
                <a:latin typeface="Times New Roman" panose="02020603050405020304" pitchFamily="18" charset="0"/>
              </a:rPr>
              <a:t>x</a:t>
            </a:r>
            <a:r>
              <a:rPr lang="en-US" altLang="zh-CN" sz="3200" dirty="0">
                <a:latin typeface="Times New Roman" panose="02020603050405020304" pitchFamily="18" charset="0"/>
              </a:rPr>
              <a:t> = </a:t>
            </a:r>
            <a:r>
              <a:rPr lang="en-US" altLang="zh-CN" sz="3200" i="1" dirty="0" err="1">
                <a:latin typeface="Times New Roman" panose="02020603050405020304" pitchFamily="18" charset="0"/>
              </a:rPr>
              <a:t>e</a:t>
            </a:r>
            <a:r>
              <a:rPr lang="en-US" altLang="zh-CN" sz="3200" i="1" baseline="-25000" dirty="0" err="1">
                <a:latin typeface="Times New Roman" panose="02020603050405020304" pitchFamily="18" charset="0"/>
              </a:rPr>
              <a:t>H</a:t>
            </a:r>
            <a:r>
              <a:rPr lang="en-US" altLang="zh-CN" sz="3200" dirty="0">
                <a:latin typeface="Times New Roman" panose="02020603050405020304" pitchFamily="18" charset="0"/>
              </a:rPr>
              <a:t>(</a:t>
            </a:r>
            <a:r>
              <a:rPr lang="en-US" altLang="zh-CN" sz="3200" i="1" dirty="0">
                <a:latin typeface="Times New Roman" panose="02020603050405020304" pitchFamily="18" charset="0"/>
              </a:rPr>
              <a:t>b</a:t>
            </a:r>
            <a:r>
              <a:rPr lang="en-US" altLang="zh-CN" sz="3200" dirty="0">
                <a:latin typeface="Times New Roman" panose="02020603050405020304" pitchFamily="18" charset="0"/>
              </a:rPr>
              <a:t>) for some </a:t>
            </a:r>
            <a:r>
              <a:rPr lang="en-US" altLang="zh-CN" sz="3200" i="1" dirty="0">
                <a:latin typeface="Times New Roman" panose="02020603050405020304" pitchFamily="18" charset="0"/>
              </a:rPr>
              <a:t>b</a:t>
            </a:r>
            <a:r>
              <a:rPr lang="en-US" altLang="zh-CN" sz="3200" dirty="0">
                <a:latin typeface="Times New Roman" panose="02020603050405020304" pitchFamily="18" charset="0"/>
              </a:rPr>
              <a:t> </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 </a:t>
            </a:r>
            <a:r>
              <a:rPr lang="en-US" altLang="zh-CN" sz="3200" i="1" dirty="0">
                <a:latin typeface="Times New Roman" panose="02020603050405020304" pitchFamily="18" charset="0"/>
              </a:rPr>
              <a:t>B</a:t>
            </a:r>
            <a:r>
              <a:rPr lang="en-US" altLang="zh-CN" sz="3200" i="1" baseline="30000" dirty="0">
                <a:latin typeface="Times New Roman" panose="02020603050405020304" pitchFamily="18" charset="0"/>
              </a:rPr>
              <a:t>m</a:t>
            </a:r>
            <a:endParaRPr lang="en-US" altLang="zh-CN" sz="3200" dirty="0"/>
          </a:p>
        </p:txBody>
      </p:sp>
      <p:sp>
        <p:nvSpPr>
          <p:cNvPr id="10" name="Rectangle 3">
            <a:extLst>
              <a:ext uri="{FF2B5EF4-FFF2-40B4-BE49-F238E27FC236}">
                <a16:creationId xmlns:a16="http://schemas.microsoft.com/office/drawing/2014/main" id="{F89572DB-F4C4-416E-9CE9-7C1634025F5E}"/>
              </a:ext>
            </a:extLst>
          </p:cNvPr>
          <p:cNvSpPr txBox="1">
            <a:spLocks noChangeArrowheads="1"/>
          </p:cNvSpPr>
          <p:nvPr/>
        </p:nvSpPr>
        <p:spPr>
          <a:xfrm>
            <a:off x="462743" y="1721834"/>
            <a:ext cx="11167035"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i="1" kern="0" baseline="30000" dirty="0"/>
          </a:p>
        </p:txBody>
      </p:sp>
      <p:sp>
        <p:nvSpPr>
          <p:cNvPr id="8" name="Rectangle 3">
            <a:extLst>
              <a:ext uri="{FF2B5EF4-FFF2-40B4-BE49-F238E27FC236}">
                <a16:creationId xmlns:a16="http://schemas.microsoft.com/office/drawing/2014/main" id="{B9C69CB2-3FB1-4433-AC10-0ECA9B7C3850}"/>
              </a:ext>
            </a:extLst>
          </p:cNvPr>
          <p:cNvSpPr txBox="1">
            <a:spLocks noChangeArrowheads="1"/>
          </p:cNvSpPr>
          <p:nvPr/>
        </p:nvSpPr>
        <p:spPr>
          <a:xfrm>
            <a:off x="363264" y="1721834"/>
            <a:ext cx="8229600"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buNone/>
            </a:pPr>
            <a:r>
              <a:rPr lang="en-US" altLang="zh-CN" kern="0" dirty="0"/>
              <a:t>Suppose that </a:t>
            </a:r>
            <a:r>
              <a:rPr lang="en-US" altLang="zh-CN" i="1" kern="0" dirty="0"/>
              <a:t>x</a:t>
            </a:r>
            <a:r>
              <a:rPr lang="en-US" altLang="zh-CN" kern="0" dirty="0"/>
              <a:t> * H = 0</a:t>
            </a:r>
          </a:p>
        </p:txBody>
      </p:sp>
      <p:pic>
        <p:nvPicPr>
          <p:cNvPr id="3" name="图片 2">
            <a:extLst>
              <a:ext uri="{FF2B5EF4-FFF2-40B4-BE49-F238E27FC236}">
                <a16:creationId xmlns:a16="http://schemas.microsoft.com/office/drawing/2014/main" id="{20AA2B64-5905-4DE9-ADF5-10E40C5CB14A}"/>
              </a:ext>
            </a:extLst>
          </p:cNvPr>
          <p:cNvPicPr>
            <a:picLocks noChangeAspect="1"/>
          </p:cNvPicPr>
          <p:nvPr/>
        </p:nvPicPr>
        <p:blipFill>
          <a:blip r:embed="rId3"/>
          <a:stretch>
            <a:fillRect/>
          </a:stretch>
        </p:blipFill>
        <p:spPr>
          <a:xfrm>
            <a:off x="2092270" y="2565616"/>
            <a:ext cx="8471199" cy="2387338"/>
          </a:xfrm>
          <a:prstGeom prst="rect">
            <a:avLst/>
          </a:prstGeom>
        </p:spPr>
      </p:pic>
    </p:spTree>
    <p:extLst>
      <p:ext uri="{BB962C8B-B14F-4D97-AF65-F5344CB8AC3E}">
        <p14:creationId xmlns:p14="http://schemas.microsoft.com/office/powerpoint/2010/main" val="37361492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52696"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None/>
            </a:pPr>
            <a:endParaRPr lang="en-US" altLang="zh-CN"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620276" y="839677"/>
            <a:ext cx="11056470"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000000"/>
                </a:solidFill>
                <a:effectLst/>
                <a:uLnTx/>
                <a:uFillTx/>
                <a:latin typeface="Arial"/>
                <a:ea typeface="宋体"/>
                <a:cs typeface="+mn-cs"/>
              </a:rPr>
              <a:t>Proof:</a:t>
            </a:r>
            <a:r>
              <a:rPr kumimoji="0" lang="en-US" altLang="zh-CN" sz="44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x</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 </a:t>
            </a: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H</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 </a:t>
            </a: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0</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sym typeface="Symbol" panose="05050102010706020507" pitchFamily="18" charset="2"/>
              </a:rPr>
              <a:t> </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x</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 </a:t>
            </a:r>
            <a:r>
              <a:rPr kumimoji="0" lang="en-US" altLang="zh-CN" sz="3200" b="0" i="1" u="none" strike="noStrike" kern="1200" cap="none" spc="0" normalizeH="0" baseline="0" noProof="0" dirty="0" err="1">
                <a:ln>
                  <a:noFill/>
                </a:ln>
                <a:solidFill>
                  <a:srgbClr val="000000"/>
                </a:solidFill>
                <a:effectLst/>
                <a:uLnTx/>
                <a:uFillTx/>
                <a:latin typeface="Times New Roman" panose="02020603050405020304" pitchFamily="18" charset="0"/>
                <a:ea typeface="宋体"/>
                <a:cs typeface="+mn-cs"/>
              </a:rPr>
              <a:t>e</a:t>
            </a:r>
            <a:r>
              <a:rPr kumimoji="0" lang="en-US" altLang="zh-CN" sz="3200" b="0" i="1" u="none" strike="noStrike" kern="1200" cap="none" spc="0" normalizeH="0" baseline="-25000" noProof="0" dirty="0" err="1">
                <a:ln>
                  <a:noFill/>
                </a:ln>
                <a:solidFill>
                  <a:srgbClr val="000000"/>
                </a:solidFill>
                <a:effectLst/>
                <a:uLnTx/>
                <a:uFillTx/>
                <a:latin typeface="Times New Roman" panose="02020603050405020304" pitchFamily="18" charset="0"/>
                <a:ea typeface="宋体"/>
                <a:cs typeface="+mn-cs"/>
              </a:rPr>
              <a:t>H</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b</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for some </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b</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sym typeface="Symbol" panose="05050102010706020507" pitchFamily="18" charset="2"/>
              </a:rPr>
              <a:t></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B</a:t>
            </a:r>
            <a:r>
              <a:rPr kumimoji="0" lang="en-US" altLang="zh-CN" sz="3200" b="0" i="1" u="none" strike="noStrike" kern="1200" cap="none" spc="0" normalizeH="0" baseline="30000" noProof="0" dirty="0">
                <a:ln>
                  <a:noFill/>
                </a:ln>
                <a:solidFill>
                  <a:srgbClr val="000000"/>
                </a:solidFill>
                <a:effectLst/>
                <a:uLnTx/>
                <a:uFillTx/>
                <a:latin typeface="Times New Roman" panose="02020603050405020304" pitchFamily="18" charset="0"/>
                <a:ea typeface="宋体"/>
                <a:cs typeface="+mn-cs"/>
              </a:rPr>
              <a:t>m</a:t>
            </a:r>
            <a:endParaRPr kumimoji="0" lang="en-US" altLang="zh-CN" sz="3200" b="0" i="0" u="none" strike="noStrike" kern="1200" cap="none" spc="0" normalizeH="0" baseline="0" noProof="0" dirty="0">
              <a:ln>
                <a:noFill/>
              </a:ln>
              <a:solidFill>
                <a:srgbClr val="000000"/>
              </a:solidFill>
              <a:effectLst/>
              <a:uLnTx/>
              <a:uFillTx/>
              <a:latin typeface="Arial"/>
              <a:ea typeface="宋体"/>
              <a:cs typeface="+mn-cs"/>
            </a:endParaRPr>
          </a:p>
        </p:txBody>
      </p:sp>
      <p:sp>
        <p:nvSpPr>
          <p:cNvPr id="10" name="Rectangle 3">
            <a:extLst>
              <a:ext uri="{FF2B5EF4-FFF2-40B4-BE49-F238E27FC236}">
                <a16:creationId xmlns:a16="http://schemas.microsoft.com/office/drawing/2014/main" id="{F89572DB-F4C4-416E-9CE9-7C1634025F5E}"/>
              </a:ext>
            </a:extLst>
          </p:cNvPr>
          <p:cNvSpPr txBox="1">
            <a:spLocks noChangeArrowheads="1"/>
          </p:cNvSpPr>
          <p:nvPr/>
        </p:nvSpPr>
        <p:spPr>
          <a:xfrm>
            <a:off x="462743" y="1721834"/>
            <a:ext cx="11167035"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i="1" kern="0" baseline="30000" dirty="0"/>
          </a:p>
        </p:txBody>
      </p:sp>
      <p:sp>
        <p:nvSpPr>
          <p:cNvPr id="9" name="Rectangle 3">
            <a:extLst>
              <a:ext uri="{FF2B5EF4-FFF2-40B4-BE49-F238E27FC236}">
                <a16:creationId xmlns:a16="http://schemas.microsoft.com/office/drawing/2014/main" id="{6A9AD5FE-F277-480E-819D-1C6DF61CA841}"/>
              </a:ext>
            </a:extLst>
          </p:cNvPr>
          <p:cNvSpPr txBox="1">
            <a:spLocks noChangeArrowheads="1"/>
          </p:cNvSpPr>
          <p:nvPr/>
        </p:nvSpPr>
        <p:spPr>
          <a:xfrm>
            <a:off x="620276" y="1609118"/>
            <a:ext cx="1146099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buNone/>
            </a:pPr>
            <a:endParaRPr lang="en-US" altLang="zh-CN" kern="0" dirty="0"/>
          </a:p>
        </p:txBody>
      </p:sp>
      <p:sp>
        <p:nvSpPr>
          <p:cNvPr id="11" name="文本框 10">
            <a:extLst>
              <a:ext uri="{FF2B5EF4-FFF2-40B4-BE49-F238E27FC236}">
                <a16:creationId xmlns:a16="http://schemas.microsoft.com/office/drawing/2014/main" id="{49CDBDC4-BCBC-4680-A9AB-F14332225441}"/>
              </a:ext>
            </a:extLst>
          </p:cNvPr>
          <p:cNvSpPr txBox="1"/>
          <p:nvPr/>
        </p:nvSpPr>
        <p:spPr>
          <a:xfrm>
            <a:off x="620276" y="1741560"/>
            <a:ext cx="6238068" cy="461665"/>
          </a:xfrm>
          <a:prstGeom prst="rect">
            <a:avLst/>
          </a:prstGeom>
          <a:noFill/>
        </p:spPr>
        <p:txBody>
          <a:bodyPr wrap="square">
            <a:spAutoFit/>
          </a:bodyPr>
          <a:lstStyle/>
          <a:p>
            <a:r>
              <a:rPr lang="en-US" altLang="zh-CN" sz="2400" b="1" dirty="0"/>
              <a:t>The first equation is of the form</a:t>
            </a:r>
            <a:endParaRPr lang="zh-CN" altLang="en-US" sz="2400" b="1" dirty="0"/>
          </a:p>
        </p:txBody>
      </p:sp>
      <p:pic>
        <p:nvPicPr>
          <p:cNvPr id="5" name="图片 4">
            <a:extLst>
              <a:ext uri="{FF2B5EF4-FFF2-40B4-BE49-F238E27FC236}">
                <a16:creationId xmlns:a16="http://schemas.microsoft.com/office/drawing/2014/main" id="{8B04E9E5-353C-4241-8D36-A5E4A2145023}"/>
              </a:ext>
            </a:extLst>
          </p:cNvPr>
          <p:cNvPicPr>
            <a:picLocks noChangeAspect="1"/>
          </p:cNvPicPr>
          <p:nvPr/>
        </p:nvPicPr>
        <p:blipFill>
          <a:blip r:embed="rId3"/>
          <a:stretch>
            <a:fillRect/>
          </a:stretch>
        </p:blipFill>
        <p:spPr>
          <a:xfrm>
            <a:off x="1441342" y="2242019"/>
            <a:ext cx="9309316" cy="701706"/>
          </a:xfrm>
          <a:prstGeom prst="rect">
            <a:avLst/>
          </a:prstGeom>
        </p:spPr>
      </p:pic>
      <p:sp>
        <p:nvSpPr>
          <p:cNvPr id="13" name="文本框 12">
            <a:extLst>
              <a:ext uri="{FF2B5EF4-FFF2-40B4-BE49-F238E27FC236}">
                <a16:creationId xmlns:a16="http://schemas.microsoft.com/office/drawing/2014/main" id="{13C5DEC8-B8F1-40E5-9CA7-0574420E391B}"/>
              </a:ext>
            </a:extLst>
          </p:cNvPr>
          <p:cNvSpPr txBox="1"/>
          <p:nvPr/>
        </p:nvSpPr>
        <p:spPr>
          <a:xfrm>
            <a:off x="747792" y="3044867"/>
            <a:ext cx="6238068" cy="461665"/>
          </a:xfrm>
          <a:prstGeom prst="rect">
            <a:avLst/>
          </a:prstGeom>
          <a:noFill/>
        </p:spPr>
        <p:txBody>
          <a:bodyPr wrap="square">
            <a:spAutoFit/>
          </a:bodyPr>
          <a:lstStyle/>
          <a:p>
            <a:pPr algn="just"/>
            <a:r>
              <a:rPr lang="en-US" altLang="zh-CN" sz="2400" b="1" dirty="0"/>
              <a:t>Adding a to both sides, we obtain</a:t>
            </a:r>
            <a:endParaRPr lang="zh-CN" altLang="en-US" sz="2400" b="1" dirty="0"/>
          </a:p>
        </p:txBody>
      </p:sp>
      <p:pic>
        <p:nvPicPr>
          <p:cNvPr id="15" name="图片 14">
            <a:extLst>
              <a:ext uri="{FF2B5EF4-FFF2-40B4-BE49-F238E27FC236}">
                <a16:creationId xmlns:a16="http://schemas.microsoft.com/office/drawing/2014/main" id="{D0622795-8C89-400D-BE09-2575A12F949E}"/>
              </a:ext>
            </a:extLst>
          </p:cNvPr>
          <p:cNvPicPr>
            <a:picLocks noChangeAspect="1"/>
          </p:cNvPicPr>
          <p:nvPr/>
        </p:nvPicPr>
        <p:blipFill>
          <a:blip r:embed="rId4"/>
          <a:stretch>
            <a:fillRect/>
          </a:stretch>
        </p:blipFill>
        <p:spPr>
          <a:xfrm>
            <a:off x="3876846" y="3648780"/>
            <a:ext cx="4647858" cy="1697478"/>
          </a:xfrm>
          <a:prstGeom prst="rect">
            <a:avLst/>
          </a:prstGeom>
        </p:spPr>
      </p:pic>
      <p:sp>
        <p:nvSpPr>
          <p:cNvPr id="17" name="文本框 16">
            <a:extLst>
              <a:ext uri="{FF2B5EF4-FFF2-40B4-BE49-F238E27FC236}">
                <a16:creationId xmlns:a16="http://schemas.microsoft.com/office/drawing/2014/main" id="{C95BB986-8441-4116-8608-DC76ADE0115D}"/>
              </a:ext>
            </a:extLst>
          </p:cNvPr>
          <p:cNvSpPr txBox="1"/>
          <p:nvPr/>
        </p:nvSpPr>
        <p:spPr>
          <a:xfrm>
            <a:off x="747792" y="5346258"/>
            <a:ext cx="6238068" cy="461665"/>
          </a:xfrm>
          <a:prstGeom prst="rect">
            <a:avLst/>
          </a:prstGeom>
          <a:noFill/>
        </p:spPr>
        <p:txBody>
          <a:bodyPr wrap="square">
            <a:spAutoFit/>
          </a:bodyPr>
          <a:lstStyle/>
          <a:p>
            <a:r>
              <a:rPr lang="en-US" altLang="zh-CN" sz="2400" b="1" dirty="0"/>
              <a:t>This can be done for each row; therefore,</a:t>
            </a:r>
            <a:endParaRPr lang="zh-CN" altLang="en-US" sz="2400" b="1" dirty="0"/>
          </a:p>
        </p:txBody>
      </p:sp>
      <p:pic>
        <p:nvPicPr>
          <p:cNvPr id="19" name="图片 18">
            <a:extLst>
              <a:ext uri="{FF2B5EF4-FFF2-40B4-BE49-F238E27FC236}">
                <a16:creationId xmlns:a16="http://schemas.microsoft.com/office/drawing/2014/main" id="{1EC50DD0-DA0D-4DBA-BD5A-164A6C33CF24}"/>
              </a:ext>
            </a:extLst>
          </p:cNvPr>
          <p:cNvPicPr>
            <a:picLocks noChangeAspect="1"/>
          </p:cNvPicPr>
          <p:nvPr/>
        </p:nvPicPr>
        <p:blipFill>
          <a:blip r:embed="rId5"/>
          <a:stretch>
            <a:fillRect/>
          </a:stretch>
        </p:blipFill>
        <p:spPr>
          <a:xfrm>
            <a:off x="2712204" y="5856076"/>
            <a:ext cx="7659068" cy="700258"/>
          </a:xfrm>
          <a:prstGeom prst="rect">
            <a:avLst/>
          </a:prstGeom>
        </p:spPr>
      </p:pic>
    </p:spTree>
    <p:extLst>
      <p:ext uri="{BB962C8B-B14F-4D97-AF65-F5344CB8AC3E}">
        <p14:creationId xmlns:p14="http://schemas.microsoft.com/office/powerpoint/2010/main" val="34441235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52696"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None/>
            </a:pPr>
            <a:endParaRPr lang="en-US" altLang="zh-CN"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620276" y="839677"/>
            <a:ext cx="11056470"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000000"/>
                </a:solidFill>
                <a:effectLst/>
                <a:uLnTx/>
                <a:uFillTx/>
                <a:latin typeface="Arial"/>
                <a:ea typeface="宋体"/>
                <a:cs typeface="+mn-cs"/>
              </a:rPr>
              <a:t>Proof:</a:t>
            </a:r>
            <a:r>
              <a:rPr kumimoji="0" lang="en-US" altLang="zh-CN" sz="44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x</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 </a:t>
            </a: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H</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 </a:t>
            </a: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0</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sym typeface="Symbol" panose="05050102010706020507" pitchFamily="18" charset="2"/>
              </a:rPr>
              <a:t> </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x</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 </a:t>
            </a:r>
            <a:r>
              <a:rPr kumimoji="0" lang="en-US" altLang="zh-CN" sz="3200" b="0" i="1" u="none" strike="noStrike" kern="1200" cap="none" spc="0" normalizeH="0" baseline="0" noProof="0" dirty="0" err="1">
                <a:ln>
                  <a:noFill/>
                </a:ln>
                <a:solidFill>
                  <a:srgbClr val="000000"/>
                </a:solidFill>
                <a:effectLst/>
                <a:uLnTx/>
                <a:uFillTx/>
                <a:latin typeface="Times New Roman" panose="02020603050405020304" pitchFamily="18" charset="0"/>
                <a:ea typeface="宋体"/>
                <a:cs typeface="+mn-cs"/>
              </a:rPr>
              <a:t>e</a:t>
            </a:r>
            <a:r>
              <a:rPr kumimoji="0" lang="en-US" altLang="zh-CN" sz="3200" b="0" i="1" u="none" strike="noStrike" kern="1200" cap="none" spc="0" normalizeH="0" baseline="-25000" noProof="0" dirty="0" err="1">
                <a:ln>
                  <a:noFill/>
                </a:ln>
                <a:solidFill>
                  <a:srgbClr val="000000"/>
                </a:solidFill>
                <a:effectLst/>
                <a:uLnTx/>
                <a:uFillTx/>
                <a:latin typeface="Times New Roman" panose="02020603050405020304" pitchFamily="18" charset="0"/>
                <a:ea typeface="宋体"/>
                <a:cs typeface="+mn-cs"/>
              </a:rPr>
              <a:t>H</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b</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for some </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b</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sym typeface="Symbol" panose="05050102010706020507" pitchFamily="18" charset="2"/>
              </a:rPr>
              <a:t></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 </a:t>
            </a:r>
            <a:r>
              <a:rPr kumimoji="0" lang="en-US" altLang="zh-CN" sz="32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mn-cs"/>
              </a:rPr>
              <a:t>B</a:t>
            </a:r>
            <a:r>
              <a:rPr kumimoji="0" lang="en-US" altLang="zh-CN" sz="3200" b="0" i="1" u="none" strike="noStrike" kern="1200" cap="none" spc="0" normalizeH="0" baseline="30000" noProof="0" dirty="0">
                <a:ln>
                  <a:noFill/>
                </a:ln>
                <a:solidFill>
                  <a:srgbClr val="000000"/>
                </a:solidFill>
                <a:effectLst/>
                <a:uLnTx/>
                <a:uFillTx/>
                <a:latin typeface="Times New Roman" panose="02020603050405020304" pitchFamily="18" charset="0"/>
                <a:ea typeface="宋体"/>
                <a:cs typeface="+mn-cs"/>
              </a:rPr>
              <a:t>m</a:t>
            </a:r>
            <a:endParaRPr kumimoji="0" lang="en-US" altLang="zh-CN" sz="3200" b="0" i="0" u="none" strike="noStrike" kern="1200" cap="none" spc="0" normalizeH="0" baseline="0" noProof="0" dirty="0">
              <a:ln>
                <a:noFill/>
              </a:ln>
              <a:solidFill>
                <a:srgbClr val="000000"/>
              </a:solidFill>
              <a:effectLst/>
              <a:uLnTx/>
              <a:uFillTx/>
              <a:latin typeface="Arial"/>
              <a:ea typeface="宋体"/>
              <a:cs typeface="+mn-cs"/>
            </a:endParaRPr>
          </a:p>
        </p:txBody>
      </p:sp>
      <p:sp>
        <p:nvSpPr>
          <p:cNvPr id="10" name="Rectangle 3">
            <a:extLst>
              <a:ext uri="{FF2B5EF4-FFF2-40B4-BE49-F238E27FC236}">
                <a16:creationId xmlns:a16="http://schemas.microsoft.com/office/drawing/2014/main" id="{F89572DB-F4C4-416E-9CE9-7C1634025F5E}"/>
              </a:ext>
            </a:extLst>
          </p:cNvPr>
          <p:cNvSpPr txBox="1">
            <a:spLocks noChangeArrowheads="1"/>
          </p:cNvSpPr>
          <p:nvPr/>
        </p:nvSpPr>
        <p:spPr>
          <a:xfrm>
            <a:off x="462743" y="1721834"/>
            <a:ext cx="11167035"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endParaRPr lang="en-US" altLang="zh-CN" sz="2400" i="1" kern="0" baseline="30000" dirty="0"/>
          </a:p>
        </p:txBody>
      </p:sp>
      <p:sp>
        <p:nvSpPr>
          <p:cNvPr id="9" name="Rectangle 3">
            <a:extLst>
              <a:ext uri="{FF2B5EF4-FFF2-40B4-BE49-F238E27FC236}">
                <a16:creationId xmlns:a16="http://schemas.microsoft.com/office/drawing/2014/main" id="{6A9AD5FE-F277-480E-819D-1C6DF61CA841}"/>
              </a:ext>
            </a:extLst>
          </p:cNvPr>
          <p:cNvSpPr txBox="1">
            <a:spLocks noChangeArrowheads="1"/>
          </p:cNvSpPr>
          <p:nvPr/>
        </p:nvSpPr>
        <p:spPr>
          <a:xfrm>
            <a:off x="620276" y="1609118"/>
            <a:ext cx="11460997"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buNone/>
            </a:pPr>
            <a:endParaRPr lang="en-US" altLang="zh-CN" kern="0" dirty="0"/>
          </a:p>
        </p:txBody>
      </p:sp>
      <p:sp>
        <p:nvSpPr>
          <p:cNvPr id="11" name="文本框 10">
            <a:extLst>
              <a:ext uri="{FF2B5EF4-FFF2-40B4-BE49-F238E27FC236}">
                <a16:creationId xmlns:a16="http://schemas.microsoft.com/office/drawing/2014/main" id="{49CDBDC4-BCBC-4680-A9AB-F14332225441}"/>
              </a:ext>
            </a:extLst>
          </p:cNvPr>
          <p:cNvSpPr txBox="1"/>
          <p:nvPr/>
        </p:nvSpPr>
        <p:spPr>
          <a:xfrm>
            <a:off x="315762" y="1727585"/>
            <a:ext cx="11460996" cy="2793842"/>
          </a:xfrm>
          <a:prstGeom prst="rect">
            <a:avLst/>
          </a:prstGeom>
          <a:noFill/>
        </p:spPr>
        <p:txBody>
          <a:bodyPr wrap="square">
            <a:spAutoFit/>
          </a:bodyPr>
          <a:lstStyle/>
          <a:p>
            <a:pPr eaLnBrk="1" hangingPunct="1">
              <a:lnSpc>
                <a:spcPct val="150000"/>
              </a:lnSpc>
            </a:pPr>
            <a:r>
              <a:rPr lang="en-US" altLang="zh-CN" sz="2400" b="1" dirty="0"/>
              <a:t>Letting </a:t>
            </a:r>
            <a:r>
              <a:rPr lang="en-US" altLang="zh-CN" sz="2400" b="1" i="1" dirty="0"/>
              <a:t>b</a:t>
            </a:r>
            <a:r>
              <a:rPr lang="en-US" altLang="zh-CN" sz="2400" b="1" i="1" baseline="-25000" dirty="0"/>
              <a:t>1</a:t>
            </a:r>
            <a:r>
              <a:rPr lang="en-US" altLang="zh-CN" sz="2400" b="1" dirty="0"/>
              <a:t> = </a:t>
            </a:r>
            <a:r>
              <a:rPr lang="en-US" altLang="zh-CN" sz="2400" b="1" i="1" dirty="0"/>
              <a:t>y</a:t>
            </a:r>
            <a:r>
              <a:rPr lang="en-US" altLang="zh-CN" sz="2400" b="1" i="1" baseline="-25000" dirty="0"/>
              <a:t>1</a:t>
            </a:r>
            <a:r>
              <a:rPr lang="en-US" altLang="zh-CN" sz="2400" b="1" dirty="0"/>
              <a:t>, </a:t>
            </a:r>
            <a:r>
              <a:rPr lang="en-US" altLang="zh-CN" sz="2400" b="1" i="1" dirty="0"/>
              <a:t>b</a:t>
            </a:r>
            <a:r>
              <a:rPr lang="en-US" altLang="zh-CN" sz="2400" b="1" i="1" baseline="-25000" dirty="0"/>
              <a:t>2</a:t>
            </a:r>
            <a:r>
              <a:rPr lang="en-US" altLang="zh-CN" sz="2400" b="1" dirty="0"/>
              <a:t> = </a:t>
            </a:r>
            <a:r>
              <a:rPr lang="en-US" altLang="zh-CN" sz="2400" b="1" i="1" dirty="0"/>
              <a:t>y</a:t>
            </a:r>
            <a:r>
              <a:rPr lang="en-US" altLang="zh-CN" sz="2400" b="1" i="1" baseline="-25000" dirty="0"/>
              <a:t>2</a:t>
            </a:r>
            <a:r>
              <a:rPr lang="en-US" altLang="zh-CN" sz="2400" b="1" dirty="0"/>
              <a:t>,..., </a:t>
            </a:r>
            <a:r>
              <a:rPr lang="en-US" altLang="zh-CN" sz="2400" b="1" i="1" dirty="0"/>
              <a:t>b</a:t>
            </a:r>
            <a:r>
              <a:rPr lang="en-US" altLang="zh-CN" sz="2400" b="1" i="1" baseline="-25000" dirty="0"/>
              <a:t>m</a:t>
            </a:r>
            <a:r>
              <a:rPr lang="en-US" altLang="zh-CN" sz="2400" b="1" dirty="0"/>
              <a:t> = </a:t>
            </a:r>
            <a:r>
              <a:rPr lang="en-US" altLang="zh-CN" sz="2400" b="1" i="1" dirty="0"/>
              <a:t>y</a:t>
            </a:r>
            <a:r>
              <a:rPr lang="en-US" altLang="zh-CN" sz="2400" b="1" i="1" baseline="-25000" dirty="0"/>
              <a:t>m</a:t>
            </a:r>
            <a:r>
              <a:rPr lang="en-US" altLang="zh-CN" sz="2400" b="1" dirty="0"/>
              <a:t>, we see that </a:t>
            </a:r>
            <a:r>
              <a:rPr lang="en-US" altLang="zh-CN" sz="2400" b="1" i="1" dirty="0"/>
              <a:t>x</a:t>
            </a:r>
            <a:r>
              <a:rPr lang="en-US" altLang="zh-CN" sz="2400" b="1" i="1" baseline="-25000" dirty="0"/>
              <a:t>1</a:t>
            </a:r>
            <a:r>
              <a:rPr lang="en-US" altLang="zh-CN" sz="2400" b="1" i="1" dirty="0"/>
              <a:t>, x</a:t>
            </a:r>
            <a:r>
              <a:rPr lang="en-US" altLang="zh-CN" sz="2400" b="1" i="1" baseline="-25000" dirty="0"/>
              <a:t>2</a:t>
            </a:r>
            <a:r>
              <a:rPr lang="en-US" altLang="zh-CN" sz="2400" b="1" i="1" dirty="0"/>
              <a:t>,..., x</a:t>
            </a:r>
            <a:r>
              <a:rPr lang="en-US" altLang="zh-CN" sz="2400" b="1" i="1" baseline="-25000" dirty="0"/>
              <a:t>r</a:t>
            </a:r>
            <a:r>
              <a:rPr lang="en-US" altLang="zh-CN" sz="2400" b="1" dirty="0"/>
              <a:t> satisfy the equations in (l). Thus </a:t>
            </a:r>
            <a:r>
              <a:rPr lang="en-US" altLang="zh-CN" sz="2400" b="1" i="1" dirty="0"/>
              <a:t>b</a:t>
            </a:r>
            <a:r>
              <a:rPr lang="en-US" altLang="zh-CN" sz="2400" b="1" dirty="0"/>
              <a:t> = </a:t>
            </a:r>
            <a:r>
              <a:rPr lang="en-US" altLang="zh-CN" sz="2400" b="1" i="1" dirty="0"/>
              <a:t>b</a:t>
            </a:r>
            <a:r>
              <a:rPr lang="en-US" altLang="zh-CN" sz="2400" b="1" i="1" baseline="-25000" dirty="0"/>
              <a:t>1</a:t>
            </a:r>
            <a:r>
              <a:rPr lang="en-US" altLang="zh-CN" sz="2400" b="1" i="1" dirty="0"/>
              <a:t>b</a:t>
            </a:r>
            <a:r>
              <a:rPr lang="en-US" altLang="zh-CN" sz="2400" b="1" i="1" baseline="-25000" dirty="0"/>
              <a:t>2</a:t>
            </a:r>
            <a:r>
              <a:rPr lang="en-US" altLang="zh-CN" sz="2400" b="1" i="1" dirty="0"/>
              <a:t>…b</a:t>
            </a:r>
            <a:r>
              <a:rPr lang="en-US" altLang="zh-CN" sz="2400" b="1" i="1" baseline="-25000" dirty="0"/>
              <a:t>m</a:t>
            </a:r>
            <a:r>
              <a:rPr lang="en-US" altLang="zh-CN" sz="2400" b="1" dirty="0"/>
              <a:t> </a:t>
            </a:r>
            <a:r>
              <a:rPr lang="en-US" altLang="zh-CN" sz="2400" b="1" dirty="0">
                <a:sym typeface="Symbol" panose="05050102010706020507" pitchFamily="18" charset="2"/>
              </a:rPr>
              <a:t></a:t>
            </a:r>
            <a:r>
              <a:rPr lang="en-US" altLang="zh-CN" sz="2400" b="1" dirty="0"/>
              <a:t> </a:t>
            </a:r>
            <a:r>
              <a:rPr lang="en-US" altLang="zh-CN" sz="2400" b="1" i="1" dirty="0"/>
              <a:t>B</a:t>
            </a:r>
            <a:r>
              <a:rPr lang="en-US" altLang="zh-CN" sz="2400" b="1" i="1" baseline="30000" dirty="0"/>
              <a:t>m</a:t>
            </a:r>
            <a:r>
              <a:rPr lang="en-US" altLang="zh-CN" sz="2400" b="1" dirty="0"/>
              <a:t> and </a:t>
            </a:r>
            <a:r>
              <a:rPr lang="en-US" altLang="zh-CN" sz="2400" b="1" i="1" dirty="0"/>
              <a:t>x</a:t>
            </a:r>
            <a:r>
              <a:rPr lang="en-US" altLang="zh-CN" sz="2400" b="1" dirty="0"/>
              <a:t> = </a:t>
            </a:r>
            <a:r>
              <a:rPr lang="en-US" altLang="zh-CN" sz="2400" b="1" i="1" dirty="0"/>
              <a:t>e</a:t>
            </a:r>
            <a:r>
              <a:rPr lang="en-US" altLang="zh-CN" sz="2400" b="1" i="1" baseline="-25000" dirty="0"/>
              <a:t>H</a:t>
            </a:r>
            <a:r>
              <a:rPr lang="en-US" altLang="zh-CN" sz="2400" b="1" dirty="0"/>
              <a:t>(</a:t>
            </a:r>
            <a:r>
              <a:rPr lang="en-US" altLang="zh-CN" sz="2400" b="1" i="1" dirty="0"/>
              <a:t>b</a:t>
            </a:r>
            <a:r>
              <a:rPr lang="en-US" altLang="zh-CN" sz="2400" b="1" dirty="0"/>
              <a:t>).</a:t>
            </a:r>
          </a:p>
          <a:p>
            <a:pPr eaLnBrk="1" hangingPunct="1">
              <a:lnSpc>
                <a:spcPct val="150000"/>
              </a:lnSpc>
            </a:pPr>
            <a:r>
              <a:rPr lang="en-US" altLang="zh-CN" sz="2400" b="1" dirty="0"/>
              <a:t>Conversely if x = e</a:t>
            </a:r>
            <a:r>
              <a:rPr lang="en-US" altLang="zh-CN" sz="2400" b="1" baseline="-25000" dirty="0"/>
              <a:t>H</a:t>
            </a:r>
            <a:r>
              <a:rPr lang="en-US" altLang="zh-CN" sz="2400" b="1" dirty="0"/>
              <a:t>(b), the equations in (1) can be rewritten by adding x</a:t>
            </a:r>
            <a:r>
              <a:rPr lang="en-US" altLang="zh-CN" sz="2400" b="1" baseline="-25000" dirty="0"/>
              <a:t>i</a:t>
            </a:r>
            <a:r>
              <a:rPr lang="en-US" altLang="zh-CN" sz="2400" b="1" dirty="0"/>
              <a:t> to both sides of the ith equation, i = l, 2,..., n, as</a:t>
            </a:r>
          </a:p>
          <a:p>
            <a:pPr eaLnBrk="1" hangingPunct="1">
              <a:lnSpc>
                <a:spcPct val="150000"/>
              </a:lnSpc>
            </a:pPr>
            <a:endParaRPr lang="en-US" altLang="zh-CN" sz="2400" b="1" dirty="0"/>
          </a:p>
        </p:txBody>
      </p:sp>
      <p:pic>
        <p:nvPicPr>
          <p:cNvPr id="3" name="图片 2">
            <a:extLst>
              <a:ext uri="{FF2B5EF4-FFF2-40B4-BE49-F238E27FC236}">
                <a16:creationId xmlns:a16="http://schemas.microsoft.com/office/drawing/2014/main" id="{821A97CC-42D2-4DB7-8B1E-36BD087A95A5}"/>
              </a:ext>
            </a:extLst>
          </p:cNvPr>
          <p:cNvPicPr>
            <a:picLocks noChangeAspect="1"/>
          </p:cNvPicPr>
          <p:nvPr/>
        </p:nvPicPr>
        <p:blipFill>
          <a:blip r:embed="rId3"/>
          <a:stretch>
            <a:fillRect/>
          </a:stretch>
        </p:blipFill>
        <p:spPr>
          <a:xfrm>
            <a:off x="2771429" y="3986227"/>
            <a:ext cx="7158690" cy="2166866"/>
          </a:xfrm>
          <a:prstGeom prst="rect">
            <a:avLst/>
          </a:prstGeom>
        </p:spPr>
      </p:pic>
      <p:sp>
        <p:nvSpPr>
          <p:cNvPr id="16" name="文本框 15">
            <a:extLst>
              <a:ext uri="{FF2B5EF4-FFF2-40B4-BE49-F238E27FC236}">
                <a16:creationId xmlns:a16="http://schemas.microsoft.com/office/drawing/2014/main" id="{68EDA59F-DAD0-4770-8345-310A164C6E5D}"/>
              </a:ext>
            </a:extLst>
          </p:cNvPr>
          <p:cNvSpPr txBox="1"/>
          <p:nvPr/>
        </p:nvSpPr>
        <p:spPr>
          <a:xfrm>
            <a:off x="462743" y="6236045"/>
            <a:ext cx="6238068" cy="461665"/>
          </a:xfrm>
          <a:prstGeom prst="rect">
            <a:avLst/>
          </a:prstGeom>
          <a:noFill/>
        </p:spPr>
        <p:txBody>
          <a:bodyPr wrap="square">
            <a:spAutoFit/>
          </a:bodyPr>
          <a:lstStyle/>
          <a:p>
            <a:r>
              <a:rPr lang="en-US" altLang="zh-CN" sz="2400" b="1" dirty="0"/>
              <a:t>which shows x * H = 0.</a:t>
            </a:r>
            <a:endParaRPr lang="zh-CN" altLang="en-US" sz="2400" b="1" dirty="0"/>
          </a:p>
        </p:txBody>
      </p:sp>
    </p:spTree>
    <p:extLst>
      <p:ext uri="{BB962C8B-B14F-4D97-AF65-F5344CB8AC3E}">
        <p14:creationId xmlns:p14="http://schemas.microsoft.com/office/powerpoint/2010/main" val="40805791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1609118"/>
            <a:ext cx="11981953" cy="4525963"/>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None/>
            </a:pPr>
            <a:r>
              <a:rPr lang="en-US" altLang="zh-CN" sz="3200" i="1" dirty="0"/>
              <a:t>e</a:t>
            </a:r>
            <a:r>
              <a:rPr lang="en-US" altLang="zh-CN" sz="3200" i="1" baseline="-25000" dirty="0"/>
              <a:t>H</a:t>
            </a:r>
            <a:r>
              <a:rPr lang="en-US" altLang="zh-CN" sz="3200" dirty="0"/>
              <a:t>(</a:t>
            </a:r>
            <a:r>
              <a:rPr lang="en-US" altLang="zh-CN" sz="3200" i="1" dirty="0"/>
              <a:t>B</a:t>
            </a:r>
            <a:r>
              <a:rPr lang="en-US" altLang="zh-CN" sz="3200" i="1" baseline="30000" dirty="0"/>
              <a:t>m</a:t>
            </a:r>
            <a:r>
              <a:rPr lang="en-US" altLang="zh-CN" sz="3200" dirty="0"/>
              <a:t> ) = {</a:t>
            </a:r>
            <a:r>
              <a:rPr lang="en-US" altLang="zh-CN" sz="3200" i="1" dirty="0"/>
              <a:t>e</a:t>
            </a:r>
            <a:r>
              <a:rPr lang="en-US" altLang="zh-CN" sz="3200" i="1" baseline="-25000" dirty="0"/>
              <a:t>H</a:t>
            </a:r>
            <a:r>
              <a:rPr lang="en-US" altLang="zh-CN" sz="3200" dirty="0"/>
              <a:t>(</a:t>
            </a:r>
            <a:r>
              <a:rPr lang="en-US" altLang="zh-CN" sz="3200" i="1" dirty="0"/>
              <a:t>b</a:t>
            </a:r>
            <a:r>
              <a:rPr lang="en-US" altLang="zh-CN" sz="3200" dirty="0"/>
              <a:t>) | b </a:t>
            </a:r>
            <a:r>
              <a:rPr lang="en-US" altLang="zh-CN" sz="3200" dirty="0">
                <a:sym typeface="Symbol" panose="05050102010706020507" pitchFamily="18" charset="2"/>
              </a:rPr>
              <a:t></a:t>
            </a:r>
            <a:r>
              <a:rPr lang="en-US" altLang="zh-CN" sz="3200" dirty="0"/>
              <a:t> </a:t>
            </a:r>
            <a:r>
              <a:rPr lang="en-US" altLang="zh-CN" sz="3200" i="1" dirty="0"/>
              <a:t>B</a:t>
            </a:r>
            <a:r>
              <a:rPr lang="en-US" altLang="zh-CN" sz="3200" i="1" baseline="30000" dirty="0"/>
              <a:t>m</a:t>
            </a:r>
            <a:r>
              <a:rPr lang="en-US" altLang="zh-CN" sz="3200" dirty="0"/>
              <a:t>} is a subgroup of </a:t>
            </a:r>
            <a:r>
              <a:rPr lang="en-US" altLang="zh-CN" sz="3200" i="1" dirty="0"/>
              <a:t>B</a:t>
            </a:r>
            <a:r>
              <a:rPr lang="en-US" altLang="zh-CN" sz="3200" i="1" baseline="30000" dirty="0"/>
              <a:t>n</a:t>
            </a:r>
            <a:r>
              <a:rPr lang="en-US" altLang="zh-CN" sz="3200" dirty="0"/>
              <a:t> </a:t>
            </a:r>
          </a:p>
          <a:p>
            <a:pPr marL="0" indent="0">
              <a:buNone/>
            </a:pPr>
            <a:r>
              <a:rPr lang="en-US" altLang="zh-CN" dirty="0"/>
              <a:t>Proof :</a:t>
            </a:r>
          </a:p>
          <a:p>
            <a:pPr marL="0" indent="0">
              <a:lnSpc>
                <a:spcPct val="150000"/>
              </a:lnSpc>
              <a:buNone/>
            </a:pPr>
            <a:r>
              <a:rPr lang="en-US" altLang="zh-CN" sz="2800" dirty="0"/>
              <a:t>The result follows from the observation that</a:t>
            </a:r>
          </a:p>
          <a:p>
            <a:pPr marL="0" indent="0" algn="ctr">
              <a:lnSpc>
                <a:spcPct val="150000"/>
              </a:lnSpc>
              <a:buNone/>
            </a:pPr>
            <a:r>
              <a:rPr lang="en-US" altLang="zh-CN" sz="2800" i="1" dirty="0"/>
              <a:t>e</a:t>
            </a:r>
            <a:r>
              <a:rPr lang="en-US" altLang="zh-CN" sz="2800" i="1" baseline="-25000" dirty="0"/>
              <a:t>H</a:t>
            </a:r>
            <a:r>
              <a:rPr lang="en-US" altLang="zh-CN" sz="2800" dirty="0"/>
              <a:t>(</a:t>
            </a:r>
            <a:r>
              <a:rPr lang="en-US" altLang="zh-CN" sz="2800" i="1" dirty="0"/>
              <a:t>B</a:t>
            </a:r>
            <a:r>
              <a:rPr lang="en-US" altLang="zh-CN" sz="2800" i="1" baseline="30000" dirty="0"/>
              <a:t>m</a:t>
            </a:r>
            <a:r>
              <a:rPr lang="en-US" altLang="zh-CN" sz="2800" dirty="0"/>
              <a:t> ) = ker(</a:t>
            </a:r>
            <a:r>
              <a:rPr lang="en-US" altLang="zh-CN" sz="2800" i="1" dirty="0"/>
              <a:t>f</a:t>
            </a:r>
            <a:r>
              <a:rPr lang="en-US" altLang="zh-CN" sz="2800" i="1" baseline="-25000" dirty="0"/>
              <a:t>H</a:t>
            </a:r>
            <a:r>
              <a:rPr lang="en-US" altLang="zh-CN" sz="2800" dirty="0"/>
              <a:t>)</a:t>
            </a:r>
          </a:p>
          <a:p>
            <a:pPr marL="0" indent="0">
              <a:lnSpc>
                <a:spcPct val="150000"/>
              </a:lnSpc>
              <a:buNone/>
            </a:pPr>
            <a:r>
              <a:rPr lang="en-US" altLang="zh-CN" sz="2800" dirty="0"/>
              <a:t>and from Corollary 1,Thus </a:t>
            </a:r>
            <a:r>
              <a:rPr lang="en-US" altLang="zh-CN" sz="2800" i="1" dirty="0"/>
              <a:t>e</a:t>
            </a:r>
            <a:r>
              <a:rPr lang="en-US" altLang="zh-CN" sz="2800" i="1" baseline="-25000" dirty="0"/>
              <a:t>H</a:t>
            </a:r>
            <a:r>
              <a:rPr lang="en-US" altLang="zh-CN" sz="2800" dirty="0"/>
              <a:t> is a group code.</a:t>
            </a:r>
          </a:p>
          <a:p>
            <a:pPr marL="0" indent="0" eaLnBrk="1" hangingPunct="1">
              <a:lnSpc>
                <a:spcPct val="150000"/>
              </a:lnSpc>
              <a:buNone/>
            </a:pPr>
            <a:endParaRPr lang="en-US" altLang="zh-CN" dirty="0"/>
          </a:p>
        </p:txBody>
      </p:sp>
      <p:sp>
        <p:nvSpPr>
          <p:cNvPr id="7" name="文本框 6">
            <a:extLst>
              <a:ext uri="{FF2B5EF4-FFF2-40B4-BE49-F238E27FC236}">
                <a16:creationId xmlns:a16="http://schemas.microsoft.com/office/drawing/2014/main" id="{96050DE3-1E62-4A39-9C5D-A9518DA9EE5F}"/>
              </a:ext>
            </a:extLst>
          </p:cNvPr>
          <p:cNvSpPr txBox="1"/>
          <p:nvPr/>
        </p:nvSpPr>
        <p:spPr>
          <a:xfrm>
            <a:off x="567765" y="839677"/>
            <a:ext cx="11056470" cy="769441"/>
          </a:xfrm>
          <a:prstGeom prst="rect">
            <a:avLst/>
          </a:prstGeom>
          <a:noFill/>
        </p:spPr>
        <p:txBody>
          <a:bodyPr wrap="square">
            <a:spAutoFit/>
          </a:bodyPr>
          <a:lstStyle/>
          <a:p>
            <a:pPr algn="ctr"/>
            <a:r>
              <a:rPr kumimoji="0" lang="en-US" altLang="zh-CN" sz="4400" b="0" i="0" u="none" strike="noStrike" kern="0" cap="none" spc="0" normalizeH="0" baseline="0" noProof="0" dirty="0">
                <a:ln>
                  <a:noFill/>
                </a:ln>
                <a:solidFill>
                  <a:srgbClr val="000000"/>
                </a:solidFill>
                <a:effectLst/>
                <a:uLnTx/>
                <a:uFillTx/>
                <a:latin typeface="Arial"/>
                <a:ea typeface="宋体"/>
                <a:cs typeface="+mj-cs"/>
              </a:rPr>
              <a:t>Corollary 2</a:t>
            </a:r>
            <a:endParaRPr lang="zh-CN" altLang="en-US" dirty="0"/>
          </a:p>
        </p:txBody>
      </p:sp>
    </p:spTree>
    <p:extLst>
      <p:ext uri="{BB962C8B-B14F-4D97-AF65-F5344CB8AC3E}">
        <p14:creationId xmlns:p14="http://schemas.microsoft.com/office/powerpoint/2010/main" val="333370629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811946"/>
            <a:ext cx="11981953" cy="4525963"/>
          </a:xfrm>
          <a:prstGeom prst="rect">
            <a:avLst/>
          </a:prstGeom>
        </p:spPr>
        <p:txBody>
          <a:bodyPr/>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buFont typeface="Wingdings" panose="05000000000000000000" pitchFamily="2" charset="2"/>
              <a:buChar char="l"/>
            </a:pPr>
            <a:r>
              <a:rPr lang="en-US" altLang="zh-CN" dirty="0">
                <a:sym typeface="Symbol" panose="05050102010706020507" pitchFamily="18" charset="2"/>
              </a:rPr>
              <a:t>Example 11:</a:t>
            </a:r>
          </a:p>
          <a:p>
            <a:pPr marL="0" indent="0" eaLnBrk="1" hangingPunct="1">
              <a:lnSpc>
                <a:spcPct val="150000"/>
              </a:lnSpc>
              <a:buNone/>
            </a:pPr>
            <a:r>
              <a:rPr lang="en-US" altLang="zh-CN" sz="2400" dirty="0">
                <a:sym typeface="Symbol" panose="05050102010706020507" pitchFamily="18" charset="2"/>
              </a:rPr>
              <a:t>	</a:t>
            </a:r>
            <a:r>
              <a:rPr lang="en-US" altLang="zh-CN" sz="2800" dirty="0">
                <a:sym typeface="Symbol" panose="05050102010706020507" pitchFamily="18" charset="2"/>
              </a:rPr>
              <a:t>Let </a:t>
            </a:r>
            <a:r>
              <a:rPr lang="en-US" altLang="zh-CN" sz="2800" i="1" dirty="0">
                <a:sym typeface="Symbol" panose="05050102010706020507" pitchFamily="18" charset="2"/>
              </a:rPr>
              <a:t>m</a:t>
            </a:r>
            <a:r>
              <a:rPr lang="en-US" altLang="zh-CN" sz="2800" dirty="0">
                <a:sym typeface="Symbol" panose="05050102010706020507" pitchFamily="18" charset="2"/>
              </a:rPr>
              <a:t> = 2, </a:t>
            </a:r>
            <a:r>
              <a:rPr lang="en-US" altLang="zh-CN" sz="2800" i="1" dirty="0">
                <a:sym typeface="Symbol" panose="05050102010706020507" pitchFamily="18" charset="2"/>
              </a:rPr>
              <a:t>n</a:t>
            </a:r>
            <a:r>
              <a:rPr lang="en-US" altLang="zh-CN" sz="2800" dirty="0">
                <a:sym typeface="Symbol" panose="05050102010706020507" pitchFamily="18" charset="2"/>
              </a:rPr>
              <a:t> = 5, and</a:t>
            </a:r>
          </a:p>
          <a:p>
            <a:pPr marL="0" indent="0" eaLnBrk="1" hangingPunct="1">
              <a:lnSpc>
                <a:spcPct val="150000"/>
              </a:lnSpc>
              <a:buNone/>
            </a:pPr>
            <a:endParaRPr lang="en-US" altLang="zh-CN" sz="2800" dirty="0">
              <a:sym typeface="Symbol" panose="05050102010706020507" pitchFamily="18" charset="2"/>
            </a:endParaRPr>
          </a:p>
          <a:p>
            <a:pPr marL="0" indent="0" eaLnBrk="1" hangingPunct="1">
              <a:lnSpc>
                <a:spcPct val="150000"/>
              </a:lnSpc>
              <a:buNone/>
            </a:pPr>
            <a:endParaRPr lang="en-US" altLang="zh-CN" sz="2800" dirty="0">
              <a:sym typeface="Symbol" panose="05050102010706020507" pitchFamily="18" charset="2"/>
            </a:endParaRPr>
          </a:p>
          <a:p>
            <a:pPr marL="0" indent="0" eaLnBrk="1" hangingPunct="1">
              <a:lnSpc>
                <a:spcPct val="150000"/>
              </a:lnSpc>
              <a:buNone/>
            </a:pPr>
            <a:endParaRPr lang="en-US" altLang="zh-CN" sz="2800" dirty="0">
              <a:sym typeface="Symbol" panose="05050102010706020507" pitchFamily="18" charset="2"/>
            </a:endParaRPr>
          </a:p>
          <a:p>
            <a:pPr marL="0" indent="0" eaLnBrk="1" hangingPunct="1">
              <a:lnSpc>
                <a:spcPct val="150000"/>
              </a:lnSpc>
              <a:buNone/>
            </a:pPr>
            <a:r>
              <a:rPr lang="en-US" altLang="zh-CN" sz="2800" dirty="0">
                <a:sym typeface="Symbol" panose="05050102010706020507" pitchFamily="18" charset="2"/>
              </a:rPr>
              <a:t>	Determine the group code </a:t>
            </a:r>
            <a:r>
              <a:rPr lang="en-US" altLang="zh-CN" sz="2800" i="1" dirty="0">
                <a:sym typeface="Symbol" panose="05050102010706020507" pitchFamily="18" charset="2"/>
              </a:rPr>
              <a:t>e</a:t>
            </a:r>
            <a:r>
              <a:rPr lang="en-US" altLang="zh-CN" sz="2800" i="1" baseline="-25000" dirty="0">
                <a:sym typeface="Symbol" panose="05050102010706020507" pitchFamily="18" charset="2"/>
              </a:rPr>
              <a:t>H</a:t>
            </a:r>
            <a:r>
              <a:rPr lang="en-US" altLang="zh-CN" sz="2800" dirty="0">
                <a:sym typeface="Symbol" panose="05050102010706020507" pitchFamily="18" charset="2"/>
              </a:rPr>
              <a:t>: </a:t>
            </a:r>
            <a:r>
              <a:rPr lang="en-US" altLang="zh-CN" sz="2800" i="1" dirty="0">
                <a:sym typeface="Symbol" panose="05050102010706020507" pitchFamily="18" charset="2"/>
              </a:rPr>
              <a:t>B</a:t>
            </a:r>
            <a:r>
              <a:rPr lang="en-US" altLang="zh-CN" sz="2800" i="1" baseline="30000" dirty="0">
                <a:sym typeface="Symbol" panose="05050102010706020507" pitchFamily="18" charset="2"/>
              </a:rPr>
              <a:t>2</a:t>
            </a:r>
            <a:r>
              <a:rPr lang="en-US" altLang="zh-CN" sz="2800" dirty="0">
                <a:sym typeface="Symbol" panose="05050102010706020507" pitchFamily="18" charset="2"/>
              </a:rPr>
              <a:t> </a:t>
            </a:r>
            <a:r>
              <a:rPr lang="en-US" altLang="zh-CN" sz="2800" i="1" dirty="0">
                <a:sym typeface="Symbol" panose="05050102010706020507" pitchFamily="18" charset="2"/>
              </a:rPr>
              <a:t>B</a:t>
            </a:r>
            <a:r>
              <a:rPr lang="en-US" altLang="zh-CN" sz="2800" i="1" baseline="30000" dirty="0">
                <a:sym typeface="Symbol" panose="05050102010706020507" pitchFamily="18" charset="2"/>
              </a:rPr>
              <a:t>5</a:t>
            </a:r>
            <a:r>
              <a:rPr lang="en-US" altLang="zh-CN" sz="2800" dirty="0">
                <a:sym typeface="Symbol" panose="05050102010706020507" pitchFamily="18" charset="2"/>
              </a:rPr>
              <a:t>.</a:t>
            </a:r>
          </a:p>
          <a:p>
            <a:pPr lvl="1">
              <a:lnSpc>
                <a:spcPct val="150000"/>
              </a:lnSpc>
              <a:buClr>
                <a:schemeClr val="tx1"/>
              </a:buClr>
              <a:buFont typeface="Wingdings" panose="05000000000000000000" pitchFamily="2" charset="2"/>
              <a:buChar char="l"/>
            </a:pPr>
            <a:endParaRPr lang="en-US" altLang="zh-CN" sz="3200" b="1" dirty="0"/>
          </a:p>
        </p:txBody>
      </p:sp>
      <p:pic>
        <p:nvPicPr>
          <p:cNvPr id="3" name="图片 2">
            <a:extLst>
              <a:ext uri="{FF2B5EF4-FFF2-40B4-BE49-F238E27FC236}">
                <a16:creationId xmlns:a16="http://schemas.microsoft.com/office/drawing/2014/main" id="{704728B3-A503-48C4-89DD-52A4459CBF4D}"/>
              </a:ext>
            </a:extLst>
          </p:cNvPr>
          <p:cNvPicPr>
            <a:picLocks noChangeAspect="1"/>
          </p:cNvPicPr>
          <p:nvPr/>
        </p:nvPicPr>
        <p:blipFill>
          <a:blip r:embed="rId4"/>
          <a:stretch>
            <a:fillRect/>
          </a:stretch>
        </p:blipFill>
        <p:spPr>
          <a:xfrm>
            <a:off x="3093237" y="2610584"/>
            <a:ext cx="2645044" cy="1934010"/>
          </a:xfrm>
          <a:prstGeom prst="rect">
            <a:avLst/>
          </a:prstGeom>
        </p:spPr>
      </p:pic>
    </p:spTree>
    <p:extLst>
      <p:ext uri="{BB962C8B-B14F-4D97-AF65-F5344CB8AC3E}">
        <p14:creationId xmlns:p14="http://schemas.microsoft.com/office/powerpoint/2010/main" val="228326946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349737" y="739754"/>
            <a:ext cx="11981953" cy="5940015"/>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buFont typeface="Wingdings" panose="05000000000000000000" pitchFamily="2" charset="2"/>
              <a:buChar char="l"/>
            </a:pPr>
            <a:r>
              <a:rPr lang="en-US" altLang="zh-CN" dirty="0">
                <a:sym typeface="Symbol" panose="05050102010706020507" pitchFamily="18" charset="2"/>
              </a:rPr>
              <a:t>Solution 11:</a:t>
            </a:r>
          </a:p>
          <a:p>
            <a:pPr marL="0" indent="0" algn="just">
              <a:lnSpc>
                <a:spcPct val="150000"/>
              </a:lnSpc>
              <a:buNone/>
            </a:pPr>
            <a:r>
              <a:rPr lang="en-US" altLang="zh-CN" sz="2400" dirty="0">
                <a:latin typeface="Times New Roman" panose="02020603050405020304" pitchFamily="18" charset="0"/>
              </a:rPr>
              <a:t>We have B2=(00, 10, 01, 11). Then</a:t>
            </a:r>
          </a:p>
          <a:p>
            <a:pPr marL="0" indent="0" algn="ctr">
              <a:lnSpc>
                <a:spcPct val="150000"/>
              </a:lnSpc>
              <a:buNone/>
            </a:pPr>
            <a:r>
              <a:rPr lang="en-US" altLang="zh-CN" sz="2400" dirty="0">
                <a:latin typeface="Times New Roman" panose="02020603050405020304" pitchFamily="18" charset="0"/>
              </a:rPr>
              <a:t>e(00) = 00x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 </a:t>
            </a:r>
            <a:endParaRPr lang="zh-CN" altLang="en-US" sz="2400" dirty="0">
              <a:latin typeface="Times New Roman" panose="02020603050405020304" pitchFamily="18" charset="0"/>
            </a:endParaRPr>
          </a:p>
          <a:p>
            <a:pPr marL="0" indent="0" algn="just">
              <a:lnSpc>
                <a:spcPct val="150000"/>
              </a:lnSpc>
              <a:buNone/>
            </a:pPr>
            <a:r>
              <a:rPr lang="en-US" altLang="zh-CN" sz="2400" dirty="0">
                <a:latin typeface="Times New Roman" panose="02020603050405020304" pitchFamily="18" charset="0"/>
              </a:rPr>
              <a:t>where 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and x</a:t>
            </a:r>
            <a:r>
              <a:rPr lang="en-US" altLang="zh-CN" sz="2400" baseline="-25000" dirty="0">
                <a:latin typeface="Times New Roman" panose="02020603050405020304" pitchFamily="18" charset="0"/>
              </a:rPr>
              <a:t>3 </a:t>
            </a:r>
            <a:r>
              <a:rPr lang="en-US" altLang="zh-CN" sz="2400" dirty="0">
                <a:latin typeface="Times New Roman" panose="02020603050405020304" pitchFamily="18" charset="0"/>
              </a:rPr>
              <a:t>are determined by the equations in (1). Thus</a:t>
            </a:r>
            <a:endParaRPr lang="zh-CN" altLang="en-US" sz="2400" dirty="0">
              <a:latin typeface="Times New Roman" panose="02020603050405020304" pitchFamily="18" charset="0"/>
            </a:endParaRPr>
          </a:p>
          <a:p>
            <a:pPr marL="0" indent="0" algn="ctr">
              <a:lnSpc>
                <a:spcPct val="150000"/>
              </a:lnSpc>
              <a:buNone/>
            </a:pPr>
            <a:r>
              <a:rPr lang="zh-CN" altLang="en-US" sz="2400" dirty="0">
                <a:latin typeface="Times New Roman" panose="02020603050405020304" pitchFamily="18" charset="0"/>
              </a:rPr>
              <a:t> </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1 </a:t>
            </a:r>
            <a:r>
              <a:rPr lang="en-US" altLang="zh-CN" sz="2400" dirty="0">
                <a:latin typeface="Times New Roman" panose="02020603050405020304" pitchFamily="18" charset="0"/>
              </a:rPr>
              <a:t>= x</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 x</a:t>
            </a:r>
            <a:r>
              <a:rPr lang="en-US" altLang="zh-CN" sz="2400" baseline="-25000" dirty="0">
                <a:latin typeface="Times New Roman" panose="02020603050405020304" pitchFamily="18" charset="0"/>
              </a:rPr>
              <a:t>3 </a:t>
            </a:r>
            <a:r>
              <a:rPr lang="en-US" altLang="zh-CN" sz="2400" dirty="0">
                <a:latin typeface="Times New Roman" panose="02020603050405020304" pitchFamily="18" charset="0"/>
              </a:rPr>
              <a:t>= 0</a:t>
            </a:r>
            <a:endParaRPr lang="zh-CN" altLang="en-US" sz="2400" dirty="0">
              <a:latin typeface="Times New Roman" panose="02020603050405020304" pitchFamily="18" charset="0"/>
            </a:endParaRPr>
          </a:p>
          <a:p>
            <a:pPr marL="0" indent="0" algn="just">
              <a:lnSpc>
                <a:spcPct val="150000"/>
              </a:lnSpc>
              <a:buNone/>
            </a:pPr>
            <a:r>
              <a:rPr lang="en-US" altLang="zh-CN" sz="2400" dirty="0">
                <a:latin typeface="Times New Roman" panose="02020603050405020304" pitchFamily="18" charset="0"/>
              </a:rPr>
              <a:t>And					      </a:t>
            </a:r>
          </a:p>
          <a:p>
            <a:pPr marL="0" indent="0" algn="ctr">
              <a:lnSpc>
                <a:spcPct val="130000"/>
              </a:lnSpc>
              <a:buNone/>
            </a:pPr>
            <a:r>
              <a:rPr lang="en-US" altLang="zh-CN" sz="2400" dirty="0">
                <a:latin typeface="Times New Roman" panose="02020603050405020304" pitchFamily="18" charset="0"/>
              </a:rPr>
              <a:t>e(00) = 00000.</a:t>
            </a:r>
            <a:endParaRPr lang="zh-CN" altLang="en-US" sz="2400" dirty="0">
              <a:latin typeface="Times New Roman" panose="02020603050405020304" pitchFamily="18" charset="0"/>
            </a:endParaRPr>
          </a:p>
          <a:p>
            <a:pPr marL="0" indent="0" algn="just">
              <a:lnSpc>
                <a:spcPct val="150000"/>
              </a:lnSpc>
              <a:buNone/>
            </a:pPr>
            <a:r>
              <a:rPr lang="en-US" altLang="zh-CN" sz="2400" dirty="0">
                <a:latin typeface="Times New Roman" panose="02020603050405020304" pitchFamily="18" charset="0"/>
              </a:rPr>
              <a:t>Next 					      </a:t>
            </a:r>
          </a:p>
          <a:p>
            <a:pPr marL="0" indent="0" algn="ctr">
              <a:lnSpc>
                <a:spcPct val="150000"/>
              </a:lnSpc>
              <a:buNone/>
            </a:pPr>
            <a:r>
              <a:rPr lang="en-US" altLang="zh-CN" sz="2400" dirty="0">
                <a:latin typeface="Times New Roman" panose="02020603050405020304" pitchFamily="18" charset="0"/>
              </a:rPr>
              <a:t>   e(10) = 10x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a:t>
            </a:r>
            <a:endParaRPr lang="zh-CN" altLang="en-US" sz="2400" dirty="0">
              <a:latin typeface="Times New Roman" panose="02020603050405020304" pitchFamily="18" charset="0"/>
            </a:endParaRPr>
          </a:p>
          <a:p>
            <a:pPr lvl="1">
              <a:lnSpc>
                <a:spcPct val="150000"/>
              </a:lnSpc>
              <a:buClr>
                <a:schemeClr val="tx1"/>
              </a:buClr>
              <a:buFont typeface="Wingdings" panose="05000000000000000000" pitchFamily="2" charset="2"/>
              <a:buChar char="l"/>
            </a:pPr>
            <a:endParaRPr lang="en-US" altLang="zh-CN" sz="3200" b="1" dirty="0"/>
          </a:p>
        </p:txBody>
      </p:sp>
    </p:spTree>
    <p:extLst>
      <p:ext uri="{BB962C8B-B14F-4D97-AF65-F5344CB8AC3E}">
        <p14:creationId xmlns:p14="http://schemas.microsoft.com/office/powerpoint/2010/main" val="1930458176"/>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
        <p:nvSpPr>
          <p:cNvPr id="6" name="Rectangle 3">
            <a:extLst>
              <a:ext uri="{FF2B5EF4-FFF2-40B4-BE49-F238E27FC236}">
                <a16:creationId xmlns:a16="http://schemas.microsoft.com/office/drawing/2014/main" id="{0B65FDE1-77C3-47D9-B593-72934BA01B9E}"/>
              </a:ext>
            </a:extLst>
          </p:cNvPr>
          <p:cNvSpPr txBox="1">
            <a:spLocks noChangeArrowheads="1"/>
          </p:cNvSpPr>
          <p:nvPr/>
        </p:nvSpPr>
        <p:spPr>
          <a:xfrm>
            <a:off x="210047" y="643823"/>
            <a:ext cx="11981953" cy="5940015"/>
          </a:xfrm>
          <a:prstGeom prst="rect">
            <a:avLst/>
          </a:prstGeom>
        </p:spPr>
        <p:txBody>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i="0" u="none" strike="noStrike" kern="1200" cap="none" spc="0" normalizeH="0" baseline="0" noProof="0" dirty="0">
                <a:ln>
                  <a:noFill/>
                </a:ln>
                <a:solidFill>
                  <a:srgbClr val="000000"/>
                </a:solidFill>
                <a:effectLst/>
                <a:uLnTx/>
                <a:uFillTx/>
                <a:latin typeface="Arial"/>
                <a:ea typeface="宋体"/>
                <a:cs typeface="+mn-cs"/>
                <a:sym typeface="Symbol" panose="05050102010706020507" pitchFamily="18" charset="2"/>
              </a:rPr>
              <a:t>Solution 11</a:t>
            </a:r>
            <a:r>
              <a:rPr kumimoji="0" lang="en-US" altLang="zh-CN" b="0" i="0" u="none" strike="noStrike" kern="1200" cap="none" spc="0" normalizeH="0" baseline="0" noProof="0" dirty="0">
                <a:ln>
                  <a:noFill/>
                </a:ln>
                <a:solidFill>
                  <a:srgbClr val="000000"/>
                </a:solidFill>
                <a:effectLst/>
                <a:uLnTx/>
                <a:uFillTx/>
                <a:latin typeface="Arial"/>
                <a:ea typeface="宋体"/>
                <a:cs typeface="+mn-cs"/>
                <a:sym typeface="Symbol" panose="05050102010706020507" pitchFamily="18" charset="2"/>
              </a:rPr>
              <a:t>:</a:t>
            </a:r>
            <a:endParaRPr lang="en-US" altLang="zh-CN" dirty="0">
              <a:latin typeface="Times New Roman" panose="02020603050405020304" pitchFamily="18" charset="0"/>
            </a:endParaRPr>
          </a:p>
          <a:p>
            <a:pPr marL="0" indent="0" algn="just">
              <a:lnSpc>
                <a:spcPct val="150000"/>
              </a:lnSpc>
              <a:buNone/>
            </a:pPr>
            <a:r>
              <a:rPr lang="en-US" altLang="zh-CN" sz="2400" dirty="0">
                <a:latin typeface="Times New Roman" panose="02020603050405020304" pitchFamily="18" charset="0"/>
              </a:rPr>
              <a:t>Using the equations in (1) with b</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 1 and b</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 0, we obtain </a:t>
            </a:r>
            <a:endParaRPr lang="zh-CN" altLang="en-US" sz="2400" dirty="0">
              <a:latin typeface="Times New Roman" panose="02020603050405020304" pitchFamily="18" charset="0"/>
            </a:endParaRPr>
          </a:p>
          <a:p>
            <a:pPr marL="0" indent="0" algn="ctr">
              <a:lnSpc>
                <a:spcPct val="150000"/>
              </a:lnSpc>
              <a:buNone/>
            </a:pP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1  </a:t>
            </a:r>
            <a:r>
              <a:rPr lang="en-US" altLang="zh-CN" sz="2400" dirty="0">
                <a:latin typeface="Times New Roman" panose="02020603050405020304" pitchFamily="18" charset="0"/>
              </a:rPr>
              <a:t>= 1·1 + 0·0 = 1</a:t>
            </a:r>
          </a:p>
          <a:p>
            <a:pPr marL="0" indent="0" algn="ctr">
              <a:lnSpc>
                <a:spcPct val="150000"/>
              </a:lnSpc>
              <a:buNone/>
            </a:pP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 1·1 + 0·1 = 1</a:t>
            </a:r>
            <a:endParaRPr lang="zh-CN" altLang="en-US" sz="2400" dirty="0">
              <a:latin typeface="Times New Roman" panose="02020603050405020304" pitchFamily="18" charset="0"/>
            </a:endParaRPr>
          </a:p>
          <a:p>
            <a:pPr marL="0" indent="0" algn="ctr">
              <a:lnSpc>
                <a:spcPct val="150000"/>
              </a:lnSpc>
              <a:buNone/>
            </a:pP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3 </a:t>
            </a:r>
            <a:r>
              <a:rPr lang="en-US" altLang="zh-CN" sz="2400" dirty="0">
                <a:latin typeface="Times New Roman" panose="02020603050405020304" pitchFamily="18" charset="0"/>
              </a:rPr>
              <a:t>= 1·0 + 0·1 = 0.</a:t>
            </a:r>
            <a:endParaRPr lang="zh-CN" altLang="en-US" sz="2400" dirty="0">
              <a:latin typeface="Times New Roman" panose="02020603050405020304" pitchFamily="18" charset="0"/>
            </a:endParaRPr>
          </a:p>
          <a:p>
            <a:pPr marL="0" indent="0" algn="just">
              <a:lnSpc>
                <a:spcPct val="150000"/>
              </a:lnSpc>
              <a:buNone/>
            </a:pPr>
            <a:r>
              <a:rPr lang="en-US" altLang="zh-CN" sz="2400" dirty="0">
                <a:latin typeface="Times New Roman" panose="02020603050405020304" pitchFamily="18" charset="0"/>
              </a:rPr>
              <a:t>Thus x</a:t>
            </a:r>
            <a:r>
              <a:rPr lang="en-US" altLang="zh-CN" sz="2400" baseline="-25000" dirty="0">
                <a:latin typeface="Times New Roman" panose="02020603050405020304" pitchFamily="18" charset="0"/>
              </a:rPr>
              <a:t>1 </a:t>
            </a:r>
            <a:r>
              <a:rPr lang="en-US" altLang="zh-CN" sz="2400" dirty="0">
                <a:latin typeface="Times New Roman" panose="02020603050405020304" pitchFamily="18" charset="0"/>
              </a:rPr>
              <a:t>= 1, 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 1, and x</a:t>
            </a:r>
            <a:r>
              <a:rPr lang="en-US" altLang="zh-CN" sz="2400" baseline="-25000" dirty="0">
                <a:latin typeface="Times New Roman" panose="02020603050405020304" pitchFamily="18" charset="0"/>
              </a:rPr>
              <a:t>3 </a:t>
            </a:r>
            <a:r>
              <a:rPr lang="en-US" altLang="zh-CN" sz="2400" dirty="0">
                <a:latin typeface="Times New Roman" panose="02020603050405020304" pitchFamily="18" charset="0"/>
              </a:rPr>
              <a:t>= 0, so 	      </a:t>
            </a:r>
          </a:p>
          <a:p>
            <a:pPr marL="0" indent="0" algn="ctr">
              <a:lnSpc>
                <a:spcPct val="150000"/>
              </a:lnSpc>
              <a:buNone/>
            </a:pPr>
            <a:r>
              <a:rPr lang="en-US" altLang="zh-CN" sz="2400" dirty="0">
                <a:latin typeface="Times New Roman" panose="02020603050405020304" pitchFamily="18" charset="0"/>
              </a:rPr>
              <a:t>e(10) = 10110.</a:t>
            </a:r>
            <a:endParaRPr lang="zh-CN" altLang="en-US" sz="2400" dirty="0">
              <a:latin typeface="Times New Roman" panose="02020603050405020304" pitchFamily="18" charset="0"/>
            </a:endParaRPr>
          </a:p>
          <a:p>
            <a:pPr marL="0" indent="0" algn="just">
              <a:lnSpc>
                <a:spcPct val="150000"/>
              </a:lnSpc>
              <a:buNone/>
            </a:pPr>
            <a:r>
              <a:rPr lang="en-US" altLang="zh-CN" sz="2400" dirty="0">
                <a:latin typeface="Times New Roman" panose="02020603050405020304" pitchFamily="18" charset="0"/>
              </a:rPr>
              <a:t>Similarly (verify), 		         </a:t>
            </a:r>
          </a:p>
          <a:p>
            <a:pPr marL="0" indent="0" algn="ctr">
              <a:lnSpc>
                <a:spcPct val="130000"/>
              </a:lnSpc>
              <a:buNone/>
            </a:pPr>
            <a:r>
              <a:rPr lang="en-US" altLang="zh-CN" sz="2400" dirty="0">
                <a:latin typeface="Times New Roman" panose="02020603050405020304" pitchFamily="18" charset="0"/>
              </a:rPr>
              <a:t>e(01) = 01011</a:t>
            </a:r>
          </a:p>
          <a:p>
            <a:pPr marL="0" indent="0" algn="ctr">
              <a:lnSpc>
                <a:spcPct val="130000"/>
              </a:lnSpc>
              <a:buNone/>
            </a:pPr>
            <a:r>
              <a:rPr lang="en-US" altLang="zh-CN" sz="2400" dirty="0">
                <a:latin typeface="Times New Roman" panose="02020603050405020304" pitchFamily="18" charset="0"/>
              </a:rPr>
              <a:t> e(11) = 11101.</a:t>
            </a:r>
            <a:endParaRPr lang="en-US" altLang="zh-CN" sz="2400" dirty="0">
              <a:sym typeface="Symbol" panose="05050102010706020507" pitchFamily="18" charset="2"/>
            </a:endParaRPr>
          </a:p>
          <a:p>
            <a:pPr lvl="1">
              <a:lnSpc>
                <a:spcPct val="150000"/>
              </a:lnSpc>
              <a:buClr>
                <a:schemeClr val="tx1"/>
              </a:buClr>
              <a:buFont typeface="Wingdings" panose="05000000000000000000" pitchFamily="2" charset="2"/>
              <a:buChar char="l"/>
            </a:pPr>
            <a:endParaRPr lang="en-US" altLang="zh-CN" sz="3200" b="1" dirty="0"/>
          </a:p>
        </p:txBody>
      </p:sp>
      <p:graphicFrame>
        <p:nvGraphicFramePr>
          <p:cNvPr id="5" name="Object 4">
            <a:extLst>
              <a:ext uri="{FF2B5EF4-FFF2-40B4-BE49-F238E27FC236}">
                <a16:creationId xmlns:a16="http://schemas.microsoft.com/office/drawing/2014/main" id="{A82216EC-154A-4FC1-A7C6-6EF55B844E40}"/>
              </a:ext>
            </a:extLst>
          </p:cNvPr>
          <p:cNvGraphicFramePr>
            <a:graphicFrameLocks noChangeAspect="1"/>
          </p:cNvGraphicFramePr>
          <p:nvPr>
            <p:extLst>
              <p:ext uri="{D42A27DB-BD31-4B8C-83A1-F6EECF244321}">
                <p14:modId xmlns:p14="http://schemas.microsoft.com/office/powerpoint/2010/main" val="4104706093"/>
              </p:ext>
            </p:extLst>
          </p:nvPr>
        </p:nvGraphicFramePr>
        <p:xfrm>
          <a:off x="7687948" y="2394285"/>
          <a:ext cx="4404959" cy="4356601"/>
        </p:xfrm>
        <a:graphic>
          <a:graphicData uri="http://schemas.openxmlformats.org/presentationml/2006/ole">
            <mc:AlternateContent xmlns:mc="http://schemas.openxmlformats.org/markup-compatibility/2006">
              <mc:Choice xmlns:v="urn:schemas-microsoft-com:vml" Requires="v">
                <p:oleObj name="Equation" r:id="rId3" imgW="2133600" imgH="2108200" progId="Equation.DSMT4">
                  <p:embed/>
                </p:oleObj>
              </mc:Choice>
              <mc:Fallback>
                <p:oleObj name="Equation" r:id="rId3" imgW="2133600" imgH="2108200" progId="Equation.DSMT4">
                  <p:embed/>
                  <p:pic>
                    <p:nvPicPr>
                      <p:cNvPr id="60420" name="Object 4">
                        <a:extLst>
                          <a:ext uri="{FF2B5EF4-FFF2-40B4-BE49-F238E27FC236}">
                            <a16:creationId xmlns:a16="http://schemas.microsoft.com/office/drawing/2014/main" id="{95EBB5E1-6E3D-46D1-94CD-09CD6B0BBC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7948" y="2394285"/>
                        <a:ext cx="4404959" cy="435660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56629021"/>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612CE0F-AFF5-44B6-8894-F3B9CB3A4F89}"/>
              </a:ext>
            </a:extLst>
          </p:cNvPr>
          <p:cNvSpPr txBox="1"/>
          <p:nvPr/>
        </p:nvSpPr>
        <p:spPr>
          <a:xfrm>
            <a:off x="4661806" y="995044"/>
            <a:ext cx="6123214" cy="769441"/>
          </a:xfrm>
          <a:prstGeom prst="rect">
            <a:avLst/>
          </a:prstGeom>
          <a:noFill/>
        </p:spPr>
        <p:txBody>
          <a:bodyPr wrap="square">
            <a:spAutoFit/>
          </a:bodyPr>
          <a:lstStyle/>
          <a:p>
            <a:r>
              <a:rPr kumimoji="0" lang="en-US" altLang="zh-CN" sz="4400" b="0" i="0" u="none" strike="noStrike" kern="0" cap="none" spc="0" normalizeH="0" baseline="0" noProof="0" dirty="0">
                <a:ln>
                  <a:noFill/>
                </a:ln>
                <a:solidFill>
                  <a:srgbClr val="000000"/>
                </a:solidFill>
                <a:effectLst/>
                <a:uLnTx/>
                <a:uFillTx/>
                <a:latin typeface="Arial"/>
                <a:ea typeface="宋体"/>
                <a:cs typeface="+mj-cs"/>
              </a:rPr>
              <a:t>Homework</a:t>
            </a:r>
            <a:endParaRPr lang="zh-CN" altLang="en-US" dirty="0"/>
          </a:p>
        </p:txBody>
      </p:sp>
      <p:sp>
        <p:nvSpPr>
          <p:cNvPr id="9" name="Rectangle 3">
            <a:extLst>
              <a:ext uri="{FF2B5EF4-FFF2-40B4-BE49-F238E27FC236}">
                <a16:creationId xmlns:a16="http://schemas.microsoft.com/office/drawing/2014/main" id="{A309A1EB-B4EC-48DD-B0BD-295BB190DDB3}"/>
              </a:ext>
            </a:extLst>
          </p:cNvPr>
          <p:cNvSpPr txBox="1">
            <a:spLocks noChangeArrowheads="1"/>
          </p:cNvSpPr>
          <p:nvPr/>
        </p:nvSpPr>
        <p:spPr bwMode="auto">
          <a:xfrm>
            <a:off x="324194" y="1847127"/>
            <a:ext cx="11543612"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defRPr/>
            </a:pPr>
            <a:r>
              <a:rPr lang="en-US" altLang="zh-CN" sz="3600" dirty="0"/>
              <a:t>11.1(</a:t>
            </a:r>
            <a:r>
              <a:rPr lang="zh-CN" altLang="en-US" sz="3600" dirty="0"/>
              <a:t>补</a:t>
            </a:r>
            <a:r>
              <a:rPr lang="en-US" altLang="zh-CN" sz="3600" dirty="0"/>
              <a:t>) </a:t>
            </a:r>
          </a:p>
          <a:p>
            <a:pPr lvl="1">
              <a:lnSpc>
                <a:spcPct val="150000"/>
              </a:lnSpc>
              <a:defRPr/>
            </a:pPr>
            <a:r>
              <a:rPr lang="en-US" altLang="zh-CN" sz="3200" dirty="0"/>
              <a:t>19,23,25,27 		P412</a:t>
            </a:r>
          </a:p>
        </p:txBody>
      </p:sp>
      <p:sp>
        <p:nvSpPr>
          <p:cNvPr id="5" name="文本框 4">
            <a:extLst>
              <a:ext uri="{FF2B5EF4-FFF2-40B4-BE49-F238E27FC236}">
                <a16:creationId xmlns:a16="http://schemas.microsoft.com/office/drawing/2014/main" id="{7E035B34-5908-4F36-96BE-B9F07C22851C}"/>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Tree>
    <p:extLst>
      <p:ext uri="{BB962C8B-B14F-4D97-AF65-F5344CB8AC3E}">
        <p14:creationId xmlns:p14="http://schemas.microsoft.com/office/powerpoint/2010/main" val="357362179"/>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612CE0F-AFF5-44B6-8894-F3B9CB3A4F89}"/>
              </a:ext>
            </a:extLst>
          </p:cNvPr>
          <p:cNvSpPr txBox="1"/>
          <p:nvPr/>
        </p:nvSpPr>
        <p:spPr>
          <a:xfrm>
            <a:off x="4938532" y="995044"/>
            <a:ext cx="6123214" cy="769441"/>
          </a:xfrm>
          <a:prstGeom prst="rect">
            <a:avLst/>
          </a:prstGeom>
          <a:noFill/>
        </p:spPr>
        <p:txBody>
          <a:bodyPr wrap="square">
            <a:spAutoFit/>
          </a:bodyPr>
          <a:lstStyle/>
          <a:p>
            <a:r>
              <a:rPr kumimoji="0" lang="zh-CN" altLang="en-US" sz="4400" b="0" i="0" u="none" strike="noStrike" kern="0" cap="none" spc="0" normalizeH="0" baseline="0" noProof="0" dirty="0">
                <a:ln>
                  <a:noFill/>
                </a:ln>
                <a:solidFill>
                  <a:srgbClr val="000000"/>
                </a:solidFill>
                <a:effectLst/>
                <a:uLnTx/>
                <a:uFillTx/>
                <a:latin typeface="Arial"/>
                <a:ea typeface="宋体"/>
                <a:cs typeface="+mj-cs"/>
              </a:rPr>
              <a:t>练习</a:t>
            </a:r>
            <a:endParaRPr lang="zh-CN" altLang="en-US" dirty="0"/>
          </a:p>
        </p:txBody>
      </p:sp>
      <p:pic>
        <p:nvPicPr>
          <p:cNvPr id="5" name="内容占位符 3">
            <a:extLst>
              <a:ext uri="{FF2B5EF4-FFF2-40B4-BE49-F238E27FC236}">
                <a16:creationId xmlns:a16="http://schemas.microsoft.com/office/drawing/2014/main" id="{5E096DC2-C489-4692-805E-735E9AC12A2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93862" y="2019775"/>
            <a:ext cx="7735887" cy="3314700"/>
          </a:xfrm>
          <a:prstGeom prst="rect">
            <a:avLst/>
          </a:prstGeom>
        </p:spPr>
      </p:pic>
      <p:sp>
        <p:nvSpPr>
          <p:cNvPr id="7" name="文本框 6">
            <a:extLst>
              <a:ext uri="{FF2B5EF4-FFF2-40B4-BE49-F238E27FC236}">
                <a16:creationId xmlns:a16="http://schemas.microsoft.com/office/drawing/2014/main" id="{96E61961-2029-42C8-8B8D-CA2ED45C49D3}"/>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Tree>
    <p:extLst>
      <p:ext uri="{BB962C8B-B14F-4D97-AF65-F5344CB8AC3E}">
        <p14:creationId xmlns:p14="http://schemas.microsoft.com/office/powerpoint/2010/main" val="2028446006"/>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612CE0F-AFF5-44B6-8894-F3B9CB3A4F89}"/>
              </a:ext>
            </a:extLst>
          </p:cNvPr>
          <p:cNvSpPr txBox="1"/>
          <p:nvPr/>
        </p:nvSpPr>
        <p:spPr>
          <a:xfrm>
            <a:off x="4938532" y="995044"/>
            <a:ext cx="6123214" cy="769441"/>
          </a:xfrm>
          <a:prstGeom prst="rect">
            <a:avLst/>
          </a:prstGeom>
          <a:noFill/>
        </p:spPr>
        <p:txBody>
          <a:bodyPr wrap="square">
            <a:spAutoFit/>
          </a:bodyPr>
          <a:lstStyle/>
          <a:p>
            <a:r>
              <a:rPr kumimoji="0" lang="zh-CN" altLang="en-US" sz="4400" b="0" i="0" u="none" strike="noStrike" kern="0" cap="none" spc="0" normalizeH="0" baseline="0" noProof="0" dirty="0">
                <a:ln>
                  <a:noFill/>
                </a:ln>
                <a:solidFill>
                  <a:srgbClr val="000000"/>
                </a:solidFill>
                <a:effectLst/>
                <a:uLnTx/>
                <a:uFillTx/>
                <a:latin typeface="Arial"/>
                <a:ea typeface="宋体"/>
                <a:cs typeface="+mj-cs"/>
              </a:rPr>
              <a:t>练习</a:t>
            </a:r>
            <a:endParaRPr lang="zh-CN" altLang="en-US" dirty="0"/>
          </a:p>
        </p:txBody>
      </p:sp>
      <p:pic>
        <p:nvPicPr>
          <p:cNvPr id="18" name="图片 17">
            <a:extLst>
              <a:ext uri="{FF2B5EF4-FFF2-40B4-BE49-F238E27FC236}">
                <a16:creationId xmlns:a16="http://schemas.microsoft.com/office/drawing/2014/main" id="{DA2C8FA4-BAEC-494B-8DEB-26887D158E81}"/>
              </a:ext>
            </a:extLst>
          </p:cNvPr>
          <p:cNvPicPr>
            <a:picLocks noChangeAspect="1"/>
          </p:cNvPicPr>
          <p:nvPr/>
        </p:nvPicPr>
        <p:blipFill>
          <a:blip r:embed="rId3"/>
          <a:stretch>
            <a:fillRect/>
          </a:stretch>
        </p:blipFill>
        <p:spPr>
          <a:xfrm>
            <a:off x="210046" y="3186855"/>
            <a:ext cx="8931414" cy="1591194"/>
          </a:xfrm>
          <a:prstGeom prst="rect">
            <a:avLst/>
          </a:prstGeom>
        </p:spPr>
      </p:pic>
      <p:pic>
        <p:nvPicPr>
          <p:cNvPr id="20" name="图片 19">
            <a:extLst>
              <a:ext uri="{FF2B5EF4-FFF2-40B4-BE49-F238E27FC236}">
                <a16:creationId xmlns:a16="http://schemas.microsoft.com/office/drawing/2014/main" id="{52BFC220-CB9A-4B18-90A2-141D9BB6A6E7}"/>
              </a:ext>
            </a:extLst>
          </p:cNvPr>
          <p:cNvPicPr>
            <a:picLocks noChangeAspect="1"/>
          </p:cNvPicPr>
          <p:nvPr/>
        </p:nvPicPr>
        <p:blipFill>
          <a:blip r:embed="rId4"/>
          <a:stretch>
            <a:fillRect/>
          </a:stretch>
        </p:blipFill>
        <p:spPr>
          <a:xfrm>
            <a:off x="-1736914" y="2334376"/>
            <a:ext cx="8230313" cy="4523624"/>
          </a:xfrm>
          <a:prstGeom prst="rect">
            <a:avLst/>
          </a:prstGeom>
        </p:spPr>
      </p:pic>
      <p:sp>
        <p:nvSpPr>
          <p:cNvPr id="7" name="文本框 6">
            <a:extLst>
              <a:ext uri="{FF2B5EF4-FFF2-40B4-BE49-F238E27FC236}">
                <a16:creationId xmlns:a16="http://schemas.microsoft.com/office/drawing/2014/main" id="{3CE820B8-A728-48B0-A013-47D813E4ACF3}"/>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11.1(</a:t>
            </a:r>
            <a:r>
              <a:rPr lang="zh-CN" altLang="en-US" sz="3200" dirty="0"/>
              <a:t>补</a:t>
            </a:r>
            <a:r>
              <a:rPr lang="en-US" altLang="zh-CN" sz="3200" dirty="0"/>
              <a:t>) Groups and Coding</a:t>
            </a:r>
          </a:p>
        </p:txBody>
      </p:sp>
    </p:spTree>
    <p:extLst>
      <p:ext uri="{BB962C8B-B14F-4D97-AF65-F5344CB8AC3E}">
        <p14:creationId xmlns:p14="http://schemas.microsoft.com/office/powerpoint/2010/main" val="3298171783"/>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940020"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Consider an (m, n) encoding function e: B</a:t>
            </a:r>
            <a:r>
              <a:rPr lang="en-US" altLang="zh-CN" baseline="30000"/>
              <a:t>m</a:t>
            </a:r>
            <a:r>
              <a:rPr lang="zh-CN" altLang="en-US"/>
              <a:t>→</a:t>
            </a:r>
            <a:r>
              <a:rPr lang="en-US" altLang="zh-CN"/>
              <a:t>B</a:t>
            </a:r>
            <a:r>
              <a:rPr lang="en-US" altLang="zh-CN" baseline="30000"/>
              <a:t>n</a:t>
            </a:r>
            <a:r>
              <a:rPr lang="en-US" altLang="zh-CN"/>
              <a:t>. Once the encoded word x = e(b)</a:t>
            </a:r>
            <a:r>
              <a:rPr lang="zh-CN" altLang="en-US"/>
              <a:t>∈</a:t>
            </a:r>
            <a:r>
              <a:rPr lang="en-US" altLang="zh-CN"/>
              <a:t>B</a:t>
            </a:r>
            <a:r>
              <a:rPr lang="en-US" altLang="zh-CN" baseline="30000"/>
              <a:t>n</a:t>
            </a:r>
            <a:r>
              <a:rPr lang="en-US" altLang="zh-CN"/>
              <a:t>, for b</a:t>
            </a:r>
            <a:r>
              <a:rPr lang="zh-CN" altLang="en-US"/>
              <a:t>∈</a:t>
            </a:r>
            <a:r>
              <a:rPr lang="en-US" altLang="zh-CN"/>
              <a:t>B</a:t>
            </a:r>
            <a:r>
              <a:rPr lang="en-US" altLang="zh-CN" baseline="30000"/>
              <a:t>m</a:t>
            </a:r>
            <a:r>
              <a:rPr lang="en-US" altLang="zh-CN"/>
              <a:t>, is received as the word x</a:t>
            </a:r>
            <a:r>
              <a:rPr lang="en-US" altLang="zh-CN" baseline="-25000"/>
              <a:t>t</a:t>
            </a:r>
            <a:r>
              <a:rPr lang="en-US" altLang="zh-CN"/>
              <a:t>, we are faced with the problem of identifying the word b that was the original message.</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940020"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An onto function d: </a:t>
            </a:r>
            <a:r>
              <a:rPr lang="en-US" altLang="zh-CN" dirty="0" err="1"/>
              <a:t>B</a:t>
            </a:r>
            <a:r>
              <a:rPr lang="en-US" altLang="zh-CN" baseline="30000" dirty="0" err="1"/>
              <a:t>n</a:t>
            </a:r>
            <a:r>
              <a:rPr lang="zh-CN" altLang="en-US" dirty="0"/>
              <a:t>→</a:t>
            </a:r>
            <a:r>
              <a:rPr lang="en-US" altLang="zh-CN" dirty="0" err="1"/>
              <a:t>B</a:t>
            </a:r>
            <a:r>
              <a:rPr lang="en-US" altLang="zh-CN" baseline="30000" dirty="0" err="1"/>
              <a:t>m</a:t>
            </a:r>
            <a:r>
              <a:rPr lang="en-US" altLang="zh-CN" dirty="0"/>
              <a:t> is called an (n, m) </a:t>
            </a:r>
            <a:r>
              <a:rPr lang="en-US" altLang="zh-CN" dirty="0">
                <a:solidFill>
                  <a:srgbClr val="FF0000"/>
                </a:solidFill>
              </a:rPr>
              <a:t>decoding function associated with e(</a:t>
            </a:r>
            <a:r>
              <a:rPr lang="zh-CN" altLang="en-US" dirty="0">
                <a:solidFill>
                  <a:srgbClr val="FF0000"/>
                </a:solidFill>
              </a:rPr>
              <a:t>与</a:t>
            </a:r>
            <a:r>
              <a:rPr lang="en-US" altLang="zh-CN" dirty="0">
                <a:solidFill>
                  <a:srgbClr val="FF0000"/>
                </a:solidFill>
              </a:rPr>
              <a:t>e</a:t>
            </a:r>
            <a:r>
              <a:rPr lang="zh-CN" altLang="en-US" dirty="0">
                <a:solidFill>
                  <a:srgbClr val="FF0000"/>
                </a:solidFill>
              </a:rPr>
              <a:t>关联的译码函数</a:t>
            </a:r>
            <a:r>
              <a:rPr lang="en-US" altLang="zh-CN" dirty="0">
                <a:solidFill>
                  <a:srgbClr val="FF0000"/>
                </a:solidFill>
              </a:rPr>
              <a:t>) </a:t>
            </a:r>
            <a:r>
              <a:rPr lang="en-US" altLang="zh-CN" dirty="0"/>
              <a:t>if d(</a:t>
            </a:r>
            <a:r>
              <a:rPr lang="en-US" altLang="zh-CN" dirty="0" err="1"/>
              <a:t>x</a:t>
            </a:r>
            <a:r>
              <a:rPr lang="en-US" altLang="zh-CN" baseline="-25000" dirty="0" err="1"/>
              <a:t>t</a:t>
            </a:r>
            <a:r>
              <a:rPr lang="en-US" altLang="zh-CN" dirty="0"/>
              <a:t>) = b' </a:t>
            </a:r>
            <a:r>
              <a:rPr lang="zh-CN" altLang="en-US" dirty="0"/>
              <a:t>∈</a:t>
            </a:r>
            <a:r>
              <a:rPr lang="en-US" altLang="zh-CN" dirty="0"/>
              <a:t> </a:t>
            </a:r>
            <a:r>
              <a:rPr lang="en-US" altLang="zh-CN" dirty="0" err="1"/>
              <a:t>B</a:t>
            </a:r>
            <a:r>
              <a:rPr lang="en-US" altLang="zh-CN" baseline="30000" dirty="0" err="1"/>
              <a:t>m</a:t>
            </a:r>
            <a:r>
              <a:rPr lang="en-US" altLang="zh-CN" dirty="0"/>
              <a:t> is such that when the transmission channel has no noise, then b' = b, that is, </a:t>
            </a:r>
          </a:p>
          <a:p>
            <a:pPr lvl="1" algn="ctr">
              <a:lnSpc>
                <a:spcPct val="150000"/>
              </a:lnSpc>
            </a:pPr>
            <a:r>
              <a:rPr lang="en-US" altLang="zh-CN" dirty="0"/>
              <a:t>d o e = </a:t>
            </a:r>
            <a:r>
              <a:rPr lang="en-US" altLang="zh-CN" dirty="0" err="1"/>
              <a:t>I</a:t>
            </a:r>
            <a:r>
              <a:rPr lang="en-US" altLang="zh-CN" baseline="-25000" dirty="0" err="1"/>
              <a:t>B</a:t>
            </a:r>
            <a:r>
              <a:rPr lang="en-US" altLang="zh-CN" baseline="-15000" dirty="0" err="1"/>
              <a:t>m</a:t>
            </a:r>
            <a:endParaRPr lang="en-US" altLang="zh-CN" baseline="-15000" dirty="0"/>
          </a:p>
          <a:p>
            <a:pPr>
              <a:lnSpc>
                <a:spcPct val="150000"/>
              </a:lnSpc>
            </a:pPr>
            <a:r>
              <a:rPr lang="en-US" altLang="zh-CN" dirty="0"/>
              <a:t>Where </a:t>
            </a:r>
            <a:r>
              <a:rPr lang="en-US" altLang="zh-CN" dirty="0" err="1"/>
              <a:t>I</a:t>
            </a:r>
            <a:r>
              <a:rPr lang="en-US" altLang="zh-CN" baseline="-25000" dirty="0" err="1"/>
              <a:t>B</a:t>
            </a:r>
            <a:r>
              <a:rPr lang="en-US" altLang="zh-CN" baseline="-15000" dirty="0" err="1"/>
              <a:t>m</a:t>
            </a:r>
            <a:r>
              <a:rPr lang="en-US" altLang="zh-CN" baseline="-15000" dirty="0"/>
              <a:t> </a:t>
            </a:r>
            <a:r>
              <a:rPr lang="en-US" altLang="zh-CN" dirty="0"/>
              <a:t> is the identity function on </a:t>
            </a:r>
            <a:r>
              <a:rPr lang="en-US" altLang="zh-CN" dirty="0" err="1"/>
              <a:t>B</a:t>
            </a:r>
            <a:r>
              <a:rPr lang="en-US" altLang="zh-CN" baseline="30000" dirty="0" err="1"/>
              <a:t>m</a:t>
            </a:r>
            <a:endParaRPr lang="en-US" altLang="zh-CN" dirty="0"/>
          </a:p>
          <a:p>
            <a:pPr lvl="1" algn="ctr">
              <a:lnSpc>
                <a:spcPct val="150000"/>
              </a:lnSpc>
            </a:pPr>
            <a:endParaRPr lang="en-US" altLang="zh-CN" baseline="-15000" dirty="0"/>
          </a:p>
          <a:p>
            <a:pPr lvl="1" algn="ctr">
              <a:lnSpc>
                <a:spcPct val="150000"/>
              </a:lnSpc>
            </a:pPr>
            <a:endParaRPr lang="en-US" altLang="zh-CN"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940020"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The decoding function d is required to be onto so that every received word can be decoded to give a word in B</a:t>
            </a:r>
            <a:r>
              <a:rPr lang="en-US" altLang="zh-CN" baseline="30000" dirty="0"/>
              <a:t>m</a:t>
            </a:r>
            <a:r>
              <a:rPr lang="en-US" altLang="zh-CN" dirty="0"/>
              <a:t>. It decodes properly received words correctly, but the decoding of improperly received words may or may not be correct.</a:t>
            </a:r>
          </a:p>
          <a:p>
            <a:pPr lvl="1" algn="ctr">
              <a:lnSpc>
                <a:spcPct val="150000"/>
              </a:lnSpc>
            </a:pPr>
            <a:endParaRPr lang="en-US" altLang="zh-CN" baseline="-15000" dirty="0"/>
          </a:p>
          <a:p>
            <a:pPr lvl="1" algn="ctr">
              <a:lnSpc>
                <a:spcPct val="150000"/>
              </a:lnSpc>
            </a:pPr>
            <a:endParaRPr lang="en-US" altLang="zh-CN"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1:</a:t>
            </a:r>
          </a:p>
          <a:p>
            <a:pPr lvl="1">
              <a:lnSpc>
                <a:spcPct val="150000"/>
              </a:lnSpc>
              <a:buClrTx/>
              <a:buFont typeface="Wingdings" panose="05000000000000000000" pitchFamily="2" charset="2"/>
              <a:buChar char="l"/>
            </a:pPr>
            <a:r>
              <a:rPr lang="en-US" altLang="zh-CN" sz="2400" dirty="0"/>
              <a:t>Consider the parity check code that is defined in Example 2 of Section 11.1. We now define the decoding function d: B</a:t>
            </a:r>
            <a:r>
              <a:rPr lang="en-US" altLang="zh-CN" sz="2400" baseline="30000" dirty="0"/>
              <a:t>m+1</a:t>
            </a:r>
            <a:r>
              <a:rPr lang="zh-CN" altLang="en-US" sz="2400" dirty="0"/>
              <a:t>→</a:t>
            </a:r>
            <a:r>
              <a:rPr lang="en-US" altLang="zh-CN" sz="2400" dirty="0"/>
              <a:t>B</a:t>
            </a:r>
            <a:r>
              <a:rPr lang="en-US" altLang="zh-CN" sz="2400" baseline="30000" dirty="0"/>
              <a:t>m</a:t>
            </a:r>
            <a:r>
              <a:rPr lang="en-US" altLang="zh-CN" sz="2400" dirty="0"/>
              <a:t>. If y = y</a:t>
            </a:r>
            <a:r>
              <a:rPr lang="en-US" altLang="zh-CN" sz="2400" baseline="-25000" dirty="0"/>
              <a:t>1</a:t>
            </a:r>
            <a:r>
              <a:rPr lang="en-US" altLang="zh-CN" sz="2400" dirty="0"/>
              <a:t> y</a:t>
            </a:r>
            <a:r>
              <a:rPr lang="en-US" altLang="zh-CN" sz="2400" baseline="-25000" dirty="0"/>
              <a:t>2</a:t>
            </a:r>
            <a:r>
              <a:rPr lang="en-US" altLang="zh-CN" sz="2400" dirty="0"/>
              <a:t> … </a:t>
            </a:r>
            <a:r>
              <a:rPr lang="en-US" altLang="zh-CN" sz="2400" dirty="0" err="1"/>
              <a:t>y</a:t>
            </a:r>
            <a:r>
              <a:rPr lang="en-US" altLang="zh-CN" sz="2400" baseline="-25000" dirty="0" err="1"/>
              <a:t>m</a:t>
            </a:r>
            <a:r>
              <a:rPr lang="en-US" altLang="zh-CN" sz="2400" dirty="0"/>
              <a:t> y</a:t>
            </a:r>
            <a:r>
              <a:rPr lang="en-US" altLang="zh-CN" sz="2400" baseline="-25000" dirty="0"/>
              <a:t>m+1</a:t>
            </a:r>
            <a:r>
              <a:rPr lang="zh-CN" altLang="en-US" sz="2400" dirty="0"/>
              <a:t>∈</a:t>
            </a:r>
            <a:r>
              <a:rPr lang="en-US" altLang="zh-CN" sz="2400" dirty="0"/>
              <a:t> B</a:t>
            </a:r>
            <a:r>
              <a:rPr lang="en-US" altLang="zh-CN" sz="2400" baseline="30000" dirty="0"/>
              <a:t>m+1</a:t>
            </a:r>
            <a:r>
              <a:rPr lang="en-US" altLang="zh-CN" sz="2400" dirty="0"/>
              <a:t>, then </a:t>
            </a:r>
          </a:p>
          <a:p>
            <a:pPr lvl="2" algn="ctr">
              <a:lnSpc>
                <a:spcPct val="150000"/>
              </a:lnSpc>
              <a:buClrTx/>
              <a:buFont typeface="Wingdings" panose="05000000000000000000" pitchFamily="2" charset="2"/>
              <a:buChar char="l"/>
            </a:pPr>
            <a:r>
              <a:rPr lang="en-US" altLang="zh-CN" sz="2000" dirty="0"/>
              <a:t>d(y) = y</a:t>
            </a:r>
            <a:r>
              <a:rPr lang="en-US" altLang="zh-CN" sz="2000" baseline="-25000" dirty="0"/>
              <a:t>1</a:t>
            </a:r>
            <a:r>
              <a:rPr lang="en-US" altLang="zh-CN" sz="2000" dirty="0"/>
              <a:t> y</a:t>
            </a:r>
            <a:r>
              <a:rPr lang="en-US" altLang="zh-CN" sz="2000" baseline="-25000" dirty="0"/>
              <a:t>2</a:t>
            </a:r>
            <a:r>
              <a:rPr lang="en-US" altLang="zh-CN" sz="2000" dirty="0"/>
              <a:t> … </a:t>
            </a:r>
            <a:r>
              <a:rPr lang="en-US" altLang="zh-CN" sz="2000" dirty="0" err="1"/>
              <a:t>y</a:t>
            </a:r>
            <a:r>
              <a:rPr lang="en-US" altLang="zh-CN" sz="2000" baseline="-25000" dirty="0" err="1"/>
              <a:t>m</a:t>
            </a:r>
            <a:endParaRPr lang="en-US" altLang="zh-CN" sz="2000" baseline="-25000" dirty="0"/>
          </a:p>
          <a:p>
            <a:pPr lvl="1">
              <a:lnSpc>
                <a:spcPct val="150000"/>
              </a:lnSpc>
              <a:buClrTx/>
              <a:buFont typeface="Wingdings" panose="05000000000000000000" pitchFamily="2" charset="2"/>
              <a:buChar char="l"/>
            </a:pPr>
            <a:r>
              <a:rPr lang="en-US" altLang="zh-CN" sz="2400" dirty="0"/>
              <a:t>Observe that if b = b</a:t>
            </a:r>
            <a:r>
              <a:rPr lang="en-US" altLang="zh-CN" sz="2400" baseline="-25000" dirty="0"/>
              <a:t>1</a:t>
            </a:r>
            <a:r>
              <a:rPr lang="en-US" altLang="zh-CN" sz="2400" dirty="0"/>
              <a:t> b</a:t>
            </a:r>
            <a:r>
              <a:rPr lang="en-US" altLang="zh-CN" sz="2400" baseline="-25000" dirty="0"/>
              <a:t>2 </a:t>
            </a:r>
            <a:r>
              <a:rPr lang="en-US" altLang="zh-CN" sz="2400" dirty="0"/>
              <a:t>… </a:t>
            </a:r>
            <a:r>
              <a:rPr lang="en-US" altLang="zh-CN" sz="2400" dirty="0" err="1"/>
              <a:t>b</a:t>
            </a:r>
            <a:r>
              <a:rPr lang="en-US" altLang="zh-CN" sz="2400" baseline="-25000" dirty="0" err="1"/>
              <a:t>m</a:t>
            </a:r>
            <a:r>
              <a:rPr lang="zh-CN" altLang="en-US" sz="2400" dirty="0"/>
              <a:t>∈</a:t>
            </a:r>
            <a:r>
              <a:rPr lang="en-US" altLang="zh-CN" sz="2400" dirty="0"/>
              <a:t> </a:t>
            </a:r>
            <a:r>
              <a:rPr lang="en-US" altLang="zh-CN" sz="2400" dirty="0" err="1"/>
              <a:t>B</a:t>
            </a:r>
            <a:r>
              <a:rPr lang="en-US" altLang="zh-CN" sz="2400" baseline="30000" dirty="0" err="1"/>
              <a:t>m</a:t>
            </a:r>
            <a:r>
              <a:rPr lang="en-US" altLang="zh-CN" sz="2400" dirty="0"/>
              <a:t>, then</a:t>
            </a:r>
          </a:p>
          <a:p>
            <a:pPr lvl="2" algn="ctr">
              <a:lnSpc>
                <a:spcPct val="150000"/>
              </a:lnSpc>
              <a:buClrTx/>
              <a:buFont typeface="Wingdings" panose="05000000000000000000" pitchFamily="2" charset="2"/>
              <a:buChar char="l"/>
            </a:pPr>
            <a:r>
              <a:rPr lang="en-US" altLang="zh-CN" sz="2000" dirty="0"/>
              <a:t>(d o e)(b) = d(e(b)) = b</a:t>
            </a:r>
          </a:p>
          <a:p>
            <a:pPr lvl="1">
              <a:lnSpc>
                <a:spcPct val="150000"/>
              </a:lnSpc>
              <a:buClrTx/>
              <a:buFont typeface="Wingdings" panose="05000000000000000000" pitchFamily="2" charset="2"/>
              <a:buChar char="l"/>
            </a:pPr>
            <a:r>
              <a:rPr lang="en-US" altLang="zh-CN" sz="2400" dirty="0"/>
              <a:t>so d o e = 1</a:t>
            </a:r>
            <a:r>
              <a:rPr lang="en-US" altLang="zh-CN" sz="2400" baseline="-25000" dirty="0"/>
              <a:t>B</a:t>
            </a:r>
            <a:r>
              <a:rPr lang="en-US" altLang="zh-CN" sz="2400" baseline="-15000" dirty="0"/>
              <a:t>m</a:t>
            </a:r>
          </a:p>
          <a:p>
            <a:pPr lvl="1">
              <a:lnSpc>
                <a:spcPct val="150000"/>
              </a:lnSpc>
              <a:buClrTx/>
              <a:buFont typeface="Wingdings" panose="05000000000000000000" pitchFamily="2" charset="2"/>
              <a:buChar char="l"/>
            </a:pPr>
            <a:r>
              <a:rPr lang="en-US" altLang="zh-CN" sz="2400" dirty="0"/>
              <a:t>For a  example, let m = 4. Then d(10010) = 1001 and d(11001) = 1100</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57323" y="1049354"/>
            <a:ext cx="11940020"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 e be an (m, n) encoding function and let d be an (n, m) decoding function associated with e. We say that the pair (e, d) corrects k or fewer errors if whenever x = e(b) is transmitted correctly or with k or fewer errors and </a:t>
            </a:r>
            <a:r>
              <a:rPr lang="en-US" altLang="zh-CN" dirty="0" err="1"/>
              <a:t>x</a:t>
            </a:r>
            <a:r>
              <a:rPr lang="en-US" altLang="zh-CN" baseline="-25000" dirty="0" err="1"/>
              <a:t>t</a:t>
            </a:r>
            <a:r>
              <a:rPr lang="en-US" altLang="zh-CN" dirty="0"/>
              <a:t> is received, then d(</a:t>
            </a:r>
            <a:r>
              <a:rPr lang="en-US" altLang="zh-CN" dirty="0" err="1"/>
              <a:t>x</a:t>
            </a:r>
            <a:r>
              <a:rPr lang="en-US" altLang="zh-CN" baseline="-25000" dirty="0" err="1"/>
              <a:t>t</a:t>
            </a:r>
            <a:r>
              <a:rPr lang="en-US" altLang="zh-CN" dirty="0"/>
              <a:t>) = b. Thus </a:t>
            </a:r>
            <a:r>
              <a:rPr lang="en-US" altLang="zh-CN" dirty="0" err="1"/>
              <a:t>x</a:t>
            </a:r>
            <a:r>
              <a:rPr lang="en-US" altLang="zh-CN" baseline="-25000" dirty="0" err="1"/>
              <a:t>t</a:t>
            </a:r>
            <a:r>
              <a:rPr lang="en-US" altLang="zh-CN" baseline="-25000" dirty="0"/>
              <a:t>  </a:t>
            </a:r>
            <a:r>
              <a:rPr lang="en-US" altLang="zh-CN" dirty="0"/>
              <a:t>is decoded as the correct message b.</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a:t>Example 2:</a:t>
            </a:r>
          </a:p>
          <a:p>
            <a:pPr lvl="1">
              <a:lnSpc>
                <a:spcPct val="150000"/>
              </a:lnSpc>
              <a:buClrTx/>
              <a:buFont typeface="Wingdings" panose="05000000000000000000" pitchFamily="2" charset="2"/>
              <a:buChar char="l"/>
            </a:pPr>
            <a:r>
              <a:rPr lang="en-US" altLang="zh-CN" sz="2400"/>
              <a:t>Consider the (m, 3m) encoding function defined in Example 3 of Section 11.1. Define the decoding function d: B</a:t>
            </a:r>
            <a:r>
              <a:rPr lang="en-US" altLang="zh-CN" sz="2400" baseline="-25000"/>
              <a:t>m</a:t>
            </a:r>
            <a:r>
              <a:rPr lang="zh-CN" altLang="en-US" sz="2400"/>
              <a:t>→</a:t>
            </a:r>
            <a:r>
              <a:rPr lang="en-US" altLang="zh-CN" sz="2400"/>
              <a:t>B</a:t>
            </a:r>
            <a:r>
              <a:rPr lang="en-US" altLang="zh-CN" sz="2400" baseline="-25000"/>
              <a:t>3m</a:t>
            </a:r>
            <a:r>
              <a:rPr lang="en-US" altLang="zh-CN" sz="2400"/>
              <a:t>.Let </a:t>
            </a:r>
          </a:p>
          <a:p>
            <a:pPr lvl="2" algn="ctr">
              <a:lnSpc>
                <a:spcPct val="150000"/>
              </a:lnSpc>
              <a:buClrTx/>
              <a:buFont typeface="Wingdings" panose="05000000000000000000" pitchFamily="2" charset="2"/>
              <a:buChar char="l"/>
            </a:pPr>
            <a:r>
              <a:rPr lang="en-US" altLang="zh-CN" sz="2000"/>
              <a:t>y = y</a:t>
            </a:r>
            <a:r>
              <a:rPr lang="en-US" altLang="zh-CN" sz="2000" baseline="-25000"/>
              <a:t>1 </a:t>
            </a:r>
            <a:r>
              <a:rPr lang="en-US" altLang="zh-CN" sz="2000"/>
              <a:t>y</a:t>
            </a:r>
            <a:r>
              <a:rPr lang="en-US" altLang="zh-CN" sz="2000" baseline="-25000"/>
              <a:t>2</a:t>
            </a:r>
            <a:r>
              <a:rPr lang="en-US" altLang="zh-CN" sz="2000"/>
              <a:t> … y</a:t>
            </a:r>
            <a:r>
              <a:rPr lang="en-US" altLang="zh-CN" sz="2000" baseline="-25000"/>
              <a:t>m </a:t>
            </a:r>
            <a:r>
              <a:rPr lang="en-US" altLang="zh-CN" sz="2000"/>
              <a:t>y</a:t>
            </a:r>
            <a:r>
              <a:rPr lang="en-US" altLang="zh-CN" sz="2000" baseline="-25000"/>
              <a:t>m+1 </a:t>
            </a:r>
            <a:r>
              <a:rPr lang="en-US" altLang="zh-CN" sz="2000"/>
              <a:t>…  y</a:t>
            </a:r>
            <a:r>
              <a:rPr lang="en-US" altLang="zh-CN" sz="2000" baseline="-25000"/>
              <a:t>2m</a:t>
            </a:r>
            <a:r>
              <a:rPr lang="en-US" altLang="zh-CN" sz="2000"/>
              <a:t> y</a:t>
            </a:r>
            <a:r>
              <a:rPr lang="en-US" altLang="zh-CN" sz="2000" baseline="-25000"/>
              <a:t>2m+1 </a:t>
            </a:r>
            <a:r>
              <a:rPr lang="en-US" altLang="zh-CN" sz="2000"/>
              <a:t>… y</a:t>
            </a:r>
            <a:r>
              <a:rPr lang="en-US" altLang="zh-CN" sz="2000" baseline="-25000"/>
              <a:t>3m</a:t>
            </a:r>
            <a:r>
              <a:rPr lang="en-US" altLang="zh-CN" sz="2000"/>
              <a:t>,</a:t>
            </a:r>
          </a:p>
          <a:p>
            <a:pPr lvl="1">
              <a:lnSpc>
                <a:spcPct val="150000"/>
              </a:lnSpc>
              <a:buClrTx/>
              <a:buFont typeface="Wingdings" panose="05000000000000000000" pitchFamily="2" charset="2"/>
              <a:buChar char="l"/>
            </a:pPr>
            <a:r>
              <a:rPr lang="en-US" altLang="zh-CN" sz="2400"/>
              <a:t>Then</a:t>
            </a:r>
          </a:p>
          <a:p>
            <a:pPr lvl="2" algn="ctr">
              <a:lnSpc>
                <a:spcPct val="150000"/>
              </a:lnSpc>
              <a:buClrTx/>
              <a:buFont typeface="Wingdings" panose="05000000000000000000" pitchFamily="2" charset="2"/>
              <a:buChar char="l"/>
            </a:pPr>
            <a:r>
              <a:rPr lang="en-US" altLang="zh-CN" sz="2000"/>
              <a:t>d(y) =  z</a:t>
            </a:r>
            <a:r>
              <a:rPr lang="en-US" altLang="zh-CN" sz="2000" baseline="-25000"/>
              <a:t>1</a:t>
            </a:r>
            <a:r>
              <a:rPr lang="en-US" altLang="zh-CN" sz="2000"/>
              <a:t> z</a:t>
            </a:r>
            <a:r>
              <a:rPr lang="en-US" altLang="zh-CN" sz="2000" baseline="-25000"/>
              <a:t>2</a:t>
            </a:r>
            <a:r>
              <a:rPr lang="en-US" altLang="zh-CN" sz="2000"/>
              <a:t> … z</a:t>
            </a:r>
            <a:r>
              <a:rPr lang="en-US" altLang="zh-CN" sz="2000" baseline="-25000"/>
              <a:t>m</a:t>
            </a:r>
          </a:p>
          <a:p>
            <a:pPr lvl="1">
              <a:lnSpc>
                <a:spcPct val="150000"/>
              </a:lnSpc>
              <a:buClrTx/>
              <a:buFont typeface="Wingdings" panose="05000000000000000000" pitchFamily="2" charset="2"/>
              <a:buChar char="l"/>
            </a:pPr>
            <a:r>
              <a:rPr lang="en-US" altLang="zh-CN" sz="2400"/>
              <a:t>where</a:t>
            </a:r>
          </a:p>
          <a:p>
            <a:pPr lvl="1">
              <a:lnSpc>
                <a:spcPct val="150000"/>
              </a:lnSpc>
              <a:buClrTx/>
              <a:buFont typeface="Wingdings" panose="05000000000000000000" pitchFamily="2" charset="2"/>
              <a:buChar char="l"/>
            </a:pPr>
            <a:endParaRPr lang="en-US" altLang="zh-CN" sz="2400"/>
          </a:p>
          <a:p>
            <a:pPr lvl="1">
              <a:lnSpc>
                <a:spcPct val="150000"/>
              </a:lnSpc>
              <a:buClrTx/>
              <a:buFont typeface="Wingdings" panose="05000000000000000000" pitchFamily="2" charset="2"/>
              <a:buChar char="l"/>
            </a:pPr>
            <a:endParaRPr lang="en-US" altLang="zh-CN" sz="2400"/>
          </a:p>
          <a:p>
            <a:pPr lvl="1">
              <a:lnSpc>
                <a:spcPct val="150000"/>
              </a:lnSpc>
              <a:buClrTx/>
              <a:buFont typeface="Wingdings" panose="05000000000000000000" pitchFamily="2" charset="2"/>
              <a:buChar char="l"/>
            </a:pPr>
            <a:r>
              <a:rPr lang="en-US" altLang="zh-CN" sz="2400"/>
              <a:t>E.g. x</a:t>
            </a:r>
            <a:r>
              <a:rPr lang="en-US" altLang="zh-CN" sz="2400" baseline="-25000"/>
              <a:t>t </a:t>
            </a:r>
            <a:r>
              <a:rPr lang="en-US" altLang="zh-CN" sz="2400"/>
              <a:t>= 011011111, then d(x</a:t>
            </a:r>
            <a:r>
              <a:rPr lang="en-US" altLang="zh-CN" sz="2400" baseline="-25000"/>
              <a:t>t</a:t>
            </a:r>
            <a:r>
              <a:rPr lang="en-US" altLang="zh-CN" sz="2400"/>
              <a:t>) = 011</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pic>
        <p:nvPicPr>
          <p:cNvPr id="5" name="图片 4"/>
          <p:cNvPicPr>
            <a:picLocks noChangeAspect="1"/>
          </p:cNvPicPr>
          <p:nvPr/>
        </p:nvPicPr>
        <p:blipFill>
          <a:blip r:embed="rId3"/>
          <a:stretch>
            <a:fillRect/>
          </a:stretch>
        </p:blipFill>
        <p:spPr>
          <a:xfrm>
            <a:off x="3196527" y="4947557"/>
            <a:ext cx="5798946" cy="992333"/>
          </a:xfrm>
          <a:prstGeom prst="rect">
            <a:avLst/>
          </a:prstGeom>
        </p:spPr>
      </p:pic>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10046" y="1142954"/>
            <a:ext cx="11940020"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Given an (</a:t>
            </a:r>
            <a:r>
              <a:rPr lang="en-US" altLang="zh-CN" sz="2800" dirty="0" err="1"/>
              <a:t>m,n</a:t>
            </a:r>
            <a:r>
              <a:rPr lang="en-US" altLang="zh-CN" sz="2800" dirty="0"/>
              <a:t>) encoding function e: </a:t>
            </a:r>
            <a:r>
              <a:rPr lang="en-US" altLang="zh-CN" sz="2800" dirty="0" err="1"/>
              <a:t>B</a:t>
            </a:r>
            <a:r>
              <a:rPr lang="en-US" altLang="zh-CN" sz="2800" baseline="30000" dirty="0" err="1"/>
              <a:t>m</a:t>
            </a:r>
            <a:r>
              <a:rPr lang="zh-CN" altLang="en-US" sz="2800" dirty="0"/>
              <a:t>→</a:t>
            </a:r>
            <a:r>
              <a:rPr lang="en-US" altLang="zh-CN" sz="2800" dirty="0" err="1"/>
              <a:t>B</a:t>
            </a:r>
            <a:r>
              <a:rPr lang="en-US" altLang="zh-CN" sz="2800" baseline="30000" dirty="0" err="1"/>
              <a:t>n</a:t>
            </a:r>
            <a:r>
              <a:rPr lang="en-US" altLang="zh-CN" sz="2800" dirty="0"/>
              <a:t>, we often need to determine an (</a:t>
            </a:r>
            <a:r>
              <a:rPr lang="en-US" altLang="zh-CN" sz="2800" dirty="0" err="1"/>
              <a:t>n,m</a:t>
            </a:r>
            <a:r>
              <a:rPr lang="en-US" altLang="zh-CN" sz="2800" dirty="0"/>
              <a:t>) decoding function d: </a:t>
            </a:r>
            <a:r>
              <a:rPr lang="en-US" altLang="zh-CN" sz="2800" dirty="0" err="1"/>
              <a:t>B</a:t>
            </a:r>
            <a:r>
              <a:rPr lang="en-US" altLang="zh-CN" sz="2800" baseline="30000" dirty="0" err="1"/>
              <a:t>n</a:t>
            </a:r>
            <a:r>
              <a:rPr lang="zh-CN" altLang="en-US" sz="2800" dirty="0"/>
              <a:t>→</a:t>
            </a:r>
            <a:r>
              <a:rPr lang="en-US" altLang="zh-CN" sz="2800" dirty="0" err="1"/>
              <a:t>B</a:t>
            </a:r>
            <a:r>
              <a:rPr lang="en-US" altLang="zh-CN" sz="2800" baseline="30000" dirty="0" err="1"/>
              <a:t>m</a:t>
            </a:r>
            <a:r>
              <a:rPr lang="en-US" altLang="zh-CN" sz="2800" dirty="0"/>
              <a:t> associated with e. We now discuss a method, called the </a:t>
            </a:r>
            <a:r>
              <a:rPr lang="en-US" altLang="zh-CN" sz="2800" dirty="0">
                <a:solidFill>
                  <a:srgbClr val="FF0000"/>
                </a:solidFill>
              </a:rPr>
              <a:t>maximum likelihood technique(</a:t>
            </a:r>
            <a:r>
              <a:rPr lang="zh-CN" altLang="en-US" sz="2800" dirty="0">
                <a:solidFill>
                  <a:srgbClr val="FF0000"/>
                </a:solidFill>
              </a:rPr>
              <a:t>极大似然方法</a:t>
            </a:r>
            <a:r>
              <a:rPr lang="en-US" altLang="zh-CN" sz="2800" dirty="0">
                <a:solidFill>
                  <a:srgbClr val="FF0000"/>
                </a:solidFill>
              </a:rPr>
              <a:t>)</a:t>
            </a:r>
            <a:r>
              <a:rPr lang="en-US" altLang="zh-CN" sz="2800" dirty="0"/>
              <a:t>, for determining a decoding function d for a given e.</a:t>
            </a:r>
          </a:p>
          <a:p>
            <a:pPr eaLnBrk="1" hangingPunct="1">
              <a:lnSpc>
                <a:spcPct val="150000"/>
              </a:lnSpc>
            </a:pPr>
            <a:r>
              <a:rPr lang="en-US" altLang="zh-CN" sz="2800" dirty="0"/>
              <a:t>Since </a:t>
            </a:r>
            <a:r>
              <a:rPr lang="en-US" altLang="zh-CN" sz="2800" dirty="0" err="1"/>
              <a:t>B</a:t>
            </a:r>
            <a:r>
              <a:rPr lang="en-US" altLang="zh-CN" sz="2800" baseline="30000" dirty="0" err="1"/>
              <a:t>m</a:t>
            </a:r>
            <a:r>
              <a:rPr lang="en-US" altLang="zh-CN" sz="2800" baseline="30000" dirty="0"/>
              <a:t> </a:t>
            </a:r>
            <a:r>
              <a:rPr lang="en-US" altLang="zh-CN" sz="2800" dirty="0"/>
              <a:t>has 2</a:t>
            </a:r>
            <a:r>
              <a:rPr lang="en-US" altLang="zh-CN" sz="2800" baseline="30000" dirty="0"/>
              <a:t>m</a:t>
            </a:r>
            <a:r>
              <a:rPr lang="en-US" altLang="zh-CN" sz="2800" dirty="0"/>
              <a:t> elements, there are 2</a:t>
            </a:r>
            <a:r>
              <a:rPr lang="en-US" altLang="zh-CN" sz="2800" baseline="30000" dirty="0"/>
              <a:t>m</a:t>
            </a:r>
            <a:r>
              <a:rPr lang="en-US" altLang="zh-CN" sz="2800" dirty="0"/>
              <a:t> code words in B</a:t>
            </a:r>
            <a:r>
              <a:rPr lang="en-US" altLang="zh-CN" sz="2800" baseline="30000" dirty="0"/>
              <a:t>n</a:t>
            </a:r>
            <a:r>
              <a:rPr lang="en-US" altLang="zh-CN" sz="2800" dirty="0"/>
              <a:t>. We first list the code words in a fixed order:</a:t>
            </a:r>
          </a:p>
          <a:p>
            <a:pPr lvl="1" algn="ctr">
              <a:lnSpc>
                <a:spcPct val="150000"/>
              </a:lnSpc>
            </a:pPr>
            <a:r>
              <a:rPr lang="en-US" altLang="zh-CN" sz="2400" dirty="0"/>
              <a:t>x</a:t>
            </a:r>
            <a:r>
              <a:rPr lang="en-US" altLang="zh-CN" sz="2400" baseline="30000" dirty="0"/>
              <a:t>(1)</a:t>
            </a:r>
            <a:r>
              <a:rPr lang="en-US" altLang="zh-CN" sz="2400" dirty="0"/>
              <a:t>, x</a:t>
            </a:r>
            <a:r>
              <a:rPr lang="en-US" altLang="zh-CN" sz="2400" baseline="30000" dirty="0"/>
              <a:t>(2)</a:t>
            </a:r>
            <a:r>
              <a:rPr lang="en-US" altLang="zh-CN" sz="2400" dirty="0"/>
              <a:t>, ..., x</a:t>
            </a:r>
            <a:r>
              <a:rPr lang="en-US" altLang="zh-CN" sz="2400" baseline="30000" dirty="0"/>
              <a:t>(2</a:t>
            </a:r>
            <a:r>
              <a:rPr lang="en-US" altLang="zh-CN" sz="2400" baseline="50000" dirty="0"/>
              <a:t>m</a:t>
            </a:r>
            <a:r>
              <a:rPr lang="en-US" altLang="zh-CN" sz="2400" baseline="30000" dirty="0"/>
              <a:t>)</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820277"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If the received word is x</a:t>
            </a:r>
            <a:r>
              <a:rPr lang="en-US" altLang="zh-CN" baseline="-25000"/>
              <a:t>t</a:t>
            </a:r>
            <a:r>
              <a:rPr lang="en-US" altLang="zh-CN"/>
              <a:t>, we compute </a:t>
            </a:r>
            <a:r>
              <a:rPr lang="el-GR" altLang="zh-CN">
                <a:latin typeface="Cambria Math" panose="02040503050406030204" pitchFamily="18" charset="0"/>
                <a:ea typeface="Cambria Math" panose="02040503050406030204" pitchFamily="18" charset="0"/>
              </a:rPr>
              <a:t>δ</a:t>
            </a:r>
            <a:r>
              <a:rPr lang="en-US" altLang="zh-CN"/>
              <a:t>(x</a:t>
            </a:r>
            <a:r>
              <a:rPr lang="en-US" altLang="zh-CN" baseline="30000"/>
              <a:t>(i)</a:t>
            </a:r>
            <a:r>
              <a:rPr lang="en-US" altLang="zh-CN"/>
              <a:t>, x</a:t>
            </a:r>
            <a:r>
              <a:rPr lang="en-US" altLang="zh-CN" baseline="-25000"/>
              <a:t>t</a:t>
            </a:r>
            <a:r>
              <a:rPr lang="en-US" altLang="zh-CN"/>
              <a:t>) for 1 </a:t>
            </a:r>
            <a:r>
              <a:rPr lang="zh-CN" altLang="en-US"/>
              <a:t>≤</a:t>
            </a:r>
            <a:r>
              <a:rPr lang="en-US" altLang="zh-CN"/>
              <a:t> i </a:t>
            </a:r>
            <a:r>
              <a:rPr lang="zh-CN" altLang="en-US"/>
              <a:t>≤</a:t>
            </a:r>
            <a:r>
              <a:rPr lang="en-US" altLang="zh-CN"/>
              <a:t> 2</a:t>
            </a:r>
            <a:r>
              <a:rPr lang="en-US" altLang="zh-CN" baseline="30000"/>
              <a:t>m</a:t>
            </a:r>
            <a:r>
              <a:rPr lang="en-US" altLang="zh-CN"/>
              <a:t> and choose the first code word, say it is x</a:t>
            </a:r>
            <a:r>
              <a:rPr lang="en-US" altLang="zh-CN" baseline="30000"/>
              <a:t>(s)</a:t>
            </a:r>
            <a:r>
              <a:rPr lang="en-US" altLang="zh-CN"/>
              <a:t>, such that</a:t>
            </a:r>
          </a:p>
          <a:p>
            <a:pPr eaLnBrk="1" hangingPunct="1">
              <a:lnSpc>
                <a:spcPct val="150000"/>
              </a:lnSpc>
            </a:pPr>
            <a:endParaRPr lang="en-US" altLang="zh-CN"/>
          </a:p>
          <a:p>
            <a:pPr eaLnBrk="1" hangingPunct="1">
              <a:lnSpc>
                <a:spcPct val="150000"/>
              </a:lnSpc>
            </a:pPr>
            <a:r>
              <a:rPr lang="en-US" altLang="zh-CN"/>
              <a:t>That is, x</a:t>
            </a:r>
            <a:r>
              <a:rPr lang="en-US" altLang="zh-CN" baseline="30000"/>
              <a:t>(s)</a:t>
            </a:r>
            <a:r>
              <a:rPr lang="en-US" altLang="zh-CN"/>
              <a:t> is a code word that is closest to x</a:t>
            </a:r>
            <a:r>
              <a:rPr lang="en-US" altLang="zh-CN" baseline="-25000"/>
              <a:t>t</a:t>
            </a:r>
            <a:r>
              <a:rPr lang="en-US" altLang="zh-CN"/>
              <a:t> and the first in the list. If x</a:t>
            </a:r>
            <a:r>
              <a:rPr lang="en-US" altLang="zh-CN" baseline="30000"/>
              <a:t>(s) </a:t>
            </a:r>
            <a:r>
              <a:rPr lang="en-US" altLang="zh-CN"/>
              <a:t>= e(b), we define the </a:t>
            </a:r>
            <a:r>
              <a:rPr lang="en-US" altLang="zh-CN">
                <a:solidFill>
                  <a:srgbClr val="FF0000"/>
                </a:solidFill>
              </a:rPr>
              <a:t>maximum likelihood decoding function(</a:t>
            </a:r>
            <a:r>
              <a:rPr lang="zh-CN" altLang="en-US">
                <a:solidFill>
                  <a:srgbClr val="FF0000"/>
                </a:solidFill>
              </a:rPr>
              <a:t>最大似然译码函数</a:t>
            </a:r>
            <a:r>
              <a:rPr lang="en-US" altLang="zh-CN">
                <a:solidFill>
                  <a:srgbClr val="FF0000"/>
                </a:solidFill>
              </a:rPr>
              <a:t>) </a:t>
            </a:r>
            <a:r>
              <a:rPr lang="en-US" altLang="zh-CN"/>
              <a:t>d associated with e by</a:t>
            </a:r>
          </a:p>
          <a:p>
            <a:pPr lvl="1" algn="ctr">
              <a:lnSpc>
                <a:spcPct val="150000"/>
              </a:lnSpc>
            </a:pPr>
            <a:r>
              <a:rPr lang="en-US" altLang="zh-CN"/>
              <a:t>d(x</a:t>
            </a:r>
            <a:r>
              <a:rPr lang="en-US" altLang="zh-CN" baseline="-25000"/>
              <a:t>t</a:t>
            </a:r>
            <a:r>
              <a:rPr lang="en-US" altLang="zh-CN"/>
              <a:t>)=b</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pic>
        <p:nvPicPr>
          <p:cNvPr id="3" name="图片 2"/>
          <p:cNvPicPr>
            <a:picLocks noChangeAspect="1"/>
          </p:cNvPicPr>
          <p:nvPr/>
        </p:nvPicPr>
        <p:blipFill>
          <a:blip r:embed="rId3"/>
          <a:stretch>
            <a:fillRect/>
          </a:stretch>
        </p:blipFill>
        <p:spPr>
          <a:xfrm>
            <a:off x="3505074" y="2281433"/>
            <a:ext cx="5457220" cy="933472"/>
          </a:xfrm>
          <a:prstGeom prst="rect">
            <a:avLst/>
          </a:prstGeom>
        </p:spPr>
      </p:pic>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Suppose that e is an (m, n) encoding function and d is a maximum likelihood decoding function associated with e. </a:t>
            </a:r>
            <a:r>
              <a:rPr lang="en-US" altLang="zh-CN" dirty="0">
                <a:solidFill>
                  <a:srgbClr val="FF0000"/>
                </a:solidFill>
              </a:rPr>
              <a:t>Then (e, d) can correct k or fewer errors if and only if the minimum distance of e is at least 2k + 1</a:t>
            </a:r>
            <a:r>
              <a:rPr lang="en-US" altLang="zh-CN" dirty="0"/>
              <a:t>.</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Theorem 1</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638032"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ts val="5000"/>
              </a:lnSpc>
            </a:pPr>
            <a:r>
              <a:rPr lang="en-US" altLang="zh-CN"/>
              <a:t>Assume that the minimum distance of e is at least 2k + 1. Let b</a:t>
            </a:r>
            <a:r>
              <a:rPr lang="zh-CN" altLang="en-US"/>
              <a:t>∈</a:t>
            </a:r>
            <a:r>
              <a:rPr lang="en-US" altLang="zh-CN"/>
              <a:t>B</a:t>
            </a:r>
            <a:r>
              <a:rPr lang="en-US" altLang="zh-CN" baseline="30000"/>
              <a:t>m</a:t>
            </a:r>
            <a:r>
              <a:rPr lang="en-US" altLang="zh-CN"/>
              <a:t> and x = e(b)</a:t>
            </a:r>
            <a:r>
              <a:rPr lang="zh-CN" altLang="en-US"/>
              <a:t>∈</a:t>
            </a:r>
            <a:r>
              <a:rPr lang="en-US" altLang="zh-CN"/>
              <a:t>B</a:t>
            </a:r>
            <a:r>
              <a:rPr lang="en-US" altLang="zh-CN" baseline="30000"/>
              <a:t>n</a:t>
            </a:r>
            <a:r>
              <a:rPr lang="en-US" altLang="zh-CN"/>
              <a:t>. Suppose that x is transmitted with k or fewer errors, and x</a:t>
            </a:r>
            <a:r>
              <a:rPr lang="en-US" altLang="zh-CN" baseline="-25000"/>
              <a:t>t</a:t>
            </a:r>
            <a:r>
              <a:rPr lang="en-US" altLang="zh-CN"/>
              <a:t> is received. This means that  </a:t>
            </a:r>
            <a:r>
              <a:rPr lang="el-GR" altLang="zh-CN">
                <a:latin typeface="Cambria Math" panose="02040503050406030204" pitchFamily="18" charset="0"/>
                <a:ea typeface="Cambria Math" panose="02040503050406030204" pitchFamily="18" charset="0"/>
              </a:rPr>
              <a:t>δ</a:t>
            </a:r>
            <a:r>
              <a:rPr lang="en-US" altLang="zh-CN"/>
              <a:t>(x, x</a:t>
            </a:r>
            <a:r>
              <a:rPr lang="en-US" altLang="zh-CN" baseline="-25000"/>
              <a:t>t</a:t>
            </a:r>
            <a:r>
              <a:rPr lang="en-US" altLang="zh-CN"/>
              <a:t>)≤ k. If z is any other code word, then</a:t>
            </a:r>
          </a:p>
          <a:p>
            <a:pPr lvl="1" algn="ctr">
              <a:lnSpc>
                <a:spcPts val="5000"/>
              </a:lnSpc>
            </a:pPr>
            <a:r>
              <a:rPr lang="en-US" altLang="zh-CN"/>
              <a:t>2k+1 ≤ </a:t>
            </a:r>
            <a:r>
              <a:rPr lang="el-GR" altLang="zh-CN">
                <a:latin typeface="Cambria Math" panose="02040503050406030204" pitchFamily="18" charset="0"/>
                <a:ea typeface="Cambria Math" panose="02040503050406030204" pitchFamily="18" charset="0"/>
              </a:rPr>
              <a:t>δ</a:t>
            </a:r>
            <a:r>
              <a:rPr lang="en-US" altLang="zh-CN"/>
              <a:t>(x, z) ≤ </a:t>
            </a:r>
            <a:r>
              <a:rPr lang="el-GR" altLang="zh-CN">
                <a:latin typeface="Cambria Math" panose="02040503050406030204" pitchFamily="18" charset="0"/>
                <a:ea typeface="Cambria Math" panose="02040503050406030204" pitchFamily="18" charset="0"/>
              </a:rPr>
              <a:t>δ</a:t>
            </a:r>
            <a:r>
              <a:rPr lang="en-US" altLang="zh-CN"/>
              <a:t>(x, x</a:t>
            </a:r>
            <a:r>
              <a:rPr lang="en-US" altLang="zh-CN" baseline="-25000"/>
              <a:t>t</a:t>
            </a:r>
            <a:r>
              <a:rPr lang="en-US" altLang="zh-CN"/>
              <a:t>) +</a:t>
            </a:r>
            <a:r>
              <a:rPr lang="el-GR" altLang="zh-CN">
                <a:latin typeface="Cambria Math" panose="02040503050406030204" pitchFamily="18" charset="0"/>
                <a:ea typeface="Cambria Math" panose="02040503050406030204" pitchFamily="18" charset="0"/>
              </a:rPr>
              <a:t> δ</a:t>
            </a:r>
            <a:r>
              <a:rPr lang="en-US" altLang="zh-CN"/>
              <a:t>(x</a:t>
            </a:r>
            <a:r>
              <a:rPr lang="en-US" altLang="zh-CN" baseline="-25000"/>
              <a:t>t</a:t>
            </a:r>
            <a:r>
              <a:rPr lang="en-US" altLang="zh-CN"/>
              <a:t>, z) ≤ k + d(x</a:t>
            </a:r>
            <a:r>
              <a:rPr lang="en-US" altLang="zh-CN" baseline="-25000"/>
              <a:t>t</a:t>
            </a:r>
            <a:r>
              <a:rPr lang="en-US" altLang="zh-CN"/>
              <a:t>, z).</a:t>
            </a:r>
          </a:p>
          <a:p>
            <a:pPr eaLnBrk="1" hangingPunct="1">
              <a:lnSpc>
                <a:spcPts val="5000"/>
              </a:lnSpc>
            </a:pPr>
            <a:r>
              <a:rPr lang="en-US" altLang="zh-CN"/>
              <a:t>Thus </a:t>
            </a:r>
            <a:r>
              <a:rPr lang="el-GR" altLang="zh-CN">
                <a:latin typeface="Cambria Math" panose="02040503050406030204" pitchFamily="18" charset="0"/>
                <a:ea typeface="Cambria Math" panose="02040503050406030204" pitchFamily="18" charset="0"/>
              </a:rPr>
              <a:t>δ</a:t>
            </a:r>
            <a:r>
              <a:rPr lang="en-US" altLang="zh-CN"/>
              <a:t>(x</a:t>
            </a:r>
            <a:r>
              <a:rPr lang="en-US" altLang="zh-CN" baseline="-25000"/>
              <a:t>t</a:t>
            </a:r>
            <a:r>
              <a:rPr lang="en-US" altLang="zh-CN"/>
              <a:t>, z) ≥ 2k+1-k = k+1.This means that x is the unique code word that is closest to x</a:t>
            </a:r>
            <a:r>
              <a:rPr lang="en-US" altLang="zh-CN" baseline="-25000"/>
              <a:t>t</a:t>
            </a:r>
            <a:r>
              <a:rPr lang="en-US" altLang="zh-CN"/>
              <a:t>, so d(x</a:t>
            </a:r>
            <a:r>
              <a:rPr lang="en-US" altLang="zh-CN" baseline="-25000"/>
              <a:t>t</a:t>
            </a:r>
            <a:r>
              <a:rPr lang="en-US" altLang="zh-CN"/>
              <a:t>) = b. Hence (e, d) corrects k or fewer errors.</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ts val="5000"/>
              </a:lnSpc>
            </a:pPr>
            <a:r>
              <a:rPr lang="en-US" altLang="zh-CN"/>
              <a:t>Conversely, assume that the minimum distance between code words is r </a:t>
            </a:r>
            <a:r>
              <a:rPr lang="zh-CN" altLang="en-US"/>
              <a:t>≤</a:t>
            </a:r>
            <a:r>
              <a:rPr lang="en-US" altLang="zh-CN"/>
              <a:t> 2k, and let x = e(b) and x’ = e(b’) be code words with </a:t>
            </a:r>
            <a:r>
              <a:rPr lang="el-GR" altLang="zh-CN">
                <a:latin typeface="Cambria Math" panose="02040503050406030204" pitchFamily="18" charset="0"/>
                <a:ea typeface="Cambria Math" panose="02040503050406030204" pitchFamily="18" charset="0"/>
              </a:rPr>
              <a:t>δ</a:t>
            </a:r>
            <a:r>
              <a:rPr lang="en-US" altLang="zh-CN"/>
              <a:t>(x, x’) = r. Suppose that x’ precedes x in the list of code words used to define d. Write x = b</a:t>
            </a:r>
            <a:r>
              <a:rPr lang="en-US" altLang="zh-CN" baseline="-25000"/>
              <a:t>1</a:t>
            </a:r>
            <a:r>
              <a:rPr lang="en-US" altLang="zh-CN"/>
              <a:t>b</a:t>
            </a:r>
            <a:r>
              <a:rPr lang="en-US" altLang="zh-CN" baseline="-25000"/>
              <a:t>2</a:t>
            </a:r>
            <a:r>
              <a:rPr lang="en-US" altLang="zh-CN"/>
              <a:t>...b</a:t>
            </a:r>
            <a:r>
              <a:rPr lang="en-US" altLang="zh-CN" baseline="-25000"/>
              <a:t>n</a:t>
            </a:r>
            <a:r>
              <a:rPr lang="en-US" altLang="zh-CN"/>
              <a:t>, x’ = b’</a:t>
            </a:r>
            <a:r>
              <a:rPr lang="en-US" altLang="zh-CN" baseline="-25000"/>
              <a:t>1 </a:t>
            </a:r>
            <a:r>
              <a:rPr lang="en-US" altLang="zh-CN"/>
              <a:t>b’</a:t>
            </a:r>
            <a:r>
              <a:rPr lang="en-US" altLang="zh-CN" baseline="-25000"/>
              <a:t>2 </a:t>
            </a:r>
            <a:r>
              <a:rPr lang="en-US" altLang="zh-CN"/>
              <a:t>... b’</a:t>
            </a:r>
            <a:r>
              <a:rPr lang="en-US" altLang="zh-CN" baseline="-25000"/>
              <a:t>n</a:t>
            </a:r>
            <a:r>
              <a:rPr lang="en-US" altLang="zh-CN"/>
              <a:t>. Then b</a:t>
            </a:r>
            <a:r>
              <a:rPr lang="en-US" altLang="zh-CN" baseline="-25000"/>
              <a:t>t</a:t>
            </a:r>
            <a:r>
              <a:rPr lang="en-US" altLang="zh-CN"/>
              <a:t> </a:t>
            </a:r>
            <a:r>
              <a:rPr lang="zh-CN" altLang="en-US"/>
              <a:t>≠</a:t>
            </a:r>
            <a:r>
              <a:rPr lang="en-US" altLang="zh-CN"/>
              <a:t> b’</a:t>
            </a:r>
            <a:r>
              <a:rPr lang="en-US" altLang="zh-CN" baseline="-25000"/>
              <a:t>t</a:t>
            </a:r>
            <a:r>
              <a:rPr lang="en-US" altLang="zh-CN"/>
              <a:t> for exactly r integers i between 1 and n. Assume, for simplicity, that b</a:t>
            </a:r>
            <a:r>
              <a:rPr lang="en-US" altLang="zh-CN" baseline="-25000"/>
              <a:t>1 </a:t>
            </a:r>
            <a:r>
              <a:rPr lang="zh-CN" altLang="en-US"/>
              <a:t>≠</a:t>
            </a:r>
            <a:r>
              <a:rPr lang="en-US" altLang="zh-CN"/>
              <a:t> b’</a:t>
            </a:r>
            <a:r>
              <a:rPr lang="en-US" altLang="zh-CN" baseline="-25000"/>
              <a:t>1</a:t>
            </a:r>
            <a:r>
              <a:rPr lang="en-US" altLang="zh-CN"/>
              <a:t>, b</a:t>
            </a:r>
            <a:r>
              <a:rPr lang="en-US" altLang="zh-CN" baseline="-25000"/>
              <a:t>2</a:t>
            </a:r>
            <a:r>
              <a:rPr lang="zh-CN" altLang="en-US"/>
              <a:t> ≠ </a:t>
            </a:r>
            <a:r>
              <a:rPr lang="en-US" altLang="zh-CN"/>
              <a:t>b’</a:t>
            </a:r>
            <a:r>
              <a:rPr lang="en-US" altLang="zh-CN" baseline="-25000"/>
              <a:t>2</a:t>
            </a:r>
            <a:r>
              <a:rPr lang="en-US" altLang="zh-CN"/>
              <a:t>, ..., b</a:t>
            </a:r>
            <a:r>
              <a:rPr lang="en-US" altLang="zh-CN" baseline="-25000"/>
              <a:t>r </a:t>
            </a:r>
            <a:r>
              <a:rPr lang="en-US" altLang="zh-CN"/>
              <a:t>≠ b’</a:t>
            </a:r>
            <a:r>
              <a:rPr lang="en-US" altLang="zh-CN" baseline="-25000"/>
              <a:t>r</a:t>
            </a:r>
            <a:r>
              <a:rPr lang="en-US" altLang="zh-CN"/>
              <a:t>, but b</a:t>
            </a:r>
            <a:r>
              <a:rPr lang="en-US" altLang="zh-CN" baseline="-25000"/>
              <a:t>t</a:t>
            </a:r>
            <a:r>
              <a:rPr lang="en-US" altLang="zh-CN"/>
              <a:t> </a:t>
            </a:r>
            <a:r>
              <a:rPr lang="zh-CN" altLang="en-US"/>
              <a:t>≠</a:t>
            </a:r>
            <a:r>
              <a:rPr lang="en-US" altLang="zh-CN"/>
              <a:t> b’</a:t>
            </a:r>
            <a:r>
              <a:rPr lang="en-US" altLang="zh-CN" baseline="-25000"/>
              <a:t>t</a:t>
            </a:r>
            <a:r>
              <a:rPr lang="en-US" altLang="zh-CN"/>
              <a:t> , when i &gt; r. Any other case is handled in the same way.</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ts val="4500"/>
              </a:lnSpc>
            </a:pPr>
            <a:r>
              <a:rPr lang="en-US" altLang="zh-CN"/>
              <a:t>(a)Suppose that r</a:t>
            </a:r>
            <a:r>
              <a:rPr lang="zh-CN" altLang="en-US"/>
              <a:t> ≤ </a:t>
            </a:r>
            <a:r>
              <a:rPr lang="en-US" altLang="zh-CN"/>
              <a:t>k. lf x is transmitted as x</a:t>
            </a:r>
            <a:r>
              <a:rPr lang="en-US" altLang="zh-CN" baseline="-25000"/>
              <a:t>t  </a:t>
            </a:r>
            <a:r>
              <a:rPr lang="en-US" altLang="zh-CN"/>
              <a:t>= x’, then r</a:t>
            </a:r>
            <a:r>
              <a:rPr lang="zh-CN" altLang="en-US"/>
              <a:t>≤</a:t>
            </a:r>
            <a:r>
              <a:rPr lang="en-US" altLang="zh-CN"/>
              <a:t>k errors have been committed, but d(x</a:t>
            </a:r>
            <a:r>
              <a:rPr lang="en-US" altLang="zh-CN" baseline="-25000"/>
              <a:t>t</a:t>
            </a:r>
            <a:r>
              <a:rPr lang="en-US" altLang="zh-CN"/>
              <a:t>) = b’; so (e, d) has not corrected the r errors.</a:t>
            </a:r>
          </a:p>
          <a:p>
            <a:pPr eaLnBrk="1" hangingPunct="1">
              <a:lnSpc>
                <a:spcPts val="4500"/>
              </a:lnSpc>
            </a:pPr>
            <a:r>
              <a:rPr lang="en-US" altLang="zh-CN"/>
              <a:t>(b) Suppose that k +1 ≤ r ≤ 2k, and let</a:t>
            </a:r>
          </a:p>
          <a:p>
            <a:pPr lvl="1" algn="ctr">
              <a:lnSpc>
                <a:spcPts val="4500"/>
              </a:lnSpc>
            </a:pPr>
            <a:r>
              <a:rPr lang="en-US" altLang="zh-CN"/>
              <a:t>y = b’</a:t>
            </a:r>
            <a:r>
              <a:rPr lang="en-US" altLang="zh-CN" baseline="-25000"/>
              <a:t>1 </a:t>
            </a:r>
            <a:r>
              <a:rPr lang="en-US" altLang="zh-CN"/>
              <a:t>b’</a:t>
            </a:r>
            <a:r>
              <a:rPr lang="en-US" altLang="zh-CN" baseline="-25000"/>
              <a:t>2 </a:t>
            </a:r>
            <a:r>
              <a:rPr lang="en-US" altLang="zh-CN"/>
              <a:t>... b’</a:t>
            </a:r>
            <a:r>
              <a:rPr lang="en-US" altLang="zh-CN" baseline="-25000"/>
              <a:t>k</a:t>
            </a:r>
            <a:r>
              <a:rPr lang="en-US" altLang="zh-CN"/>
              <a:t> b</a:t>
            </a:r>
            <a:r>
              <a:rPr lang="en-US" altLang="zh-CN" baseline="-25000"/>
              <a:t>k+1 </a:t>
            </a:r>
            <a:r>
              <a:rPr lang="en-US" altLang="zh-CN"/>
              <a:t>... b</a:t>
            </a:r>
            <a:r>
              <a:rPr lang="en-US" altLang="zh-CN" baseline="-25000"/>
              <a:t>n</a:t>
            </a:r>
            <a:r>
              <a:rPr lang="en-US" altLang="zh-CN"/>
              <a:t>.</a:t>
            </a:r>
          </a:p>
          <a:p>
            <a:pPr eaLnBrk="1" hangingPunct="1">
              <a:lnSpc>
                <a:spcPts val="4500"/>
              </a:lnSpc>
            </a:pPr>
            <a:r>
              <a:rPr lang="en-US" altLang="zh-CN"/>
              <a:t>If x is transmitted as x</a:t>
            </a:r>
            <a:r>
              <a:rPr lang="en-US" altLang="zh-CN" baseline="-25000"/>
              <a:t>t</a:t>
            </a:r>
            <a:r>
              <a:rPr lang="en-US" altLang="zh-CN"/>
              <a:t> = y, then </a:t>
            </a:r>
            <a:r>
              <a:rPr lang="el-GR" altLang="zh-CN">
                <a:latin typeface="Cambria Math" panose="02040503050406030204" pitchFamily="18" charset="0"/>
                <a:ea typeface="Cambria Math" panose="02040503050406030204" pitchFamily="18" charset="0"/>
              </a:rPr>
              <a:t>δ</a:t>
            </a:r>
            <a:r>
              <a:rPr lang="en-US" altLang="zh-CN"/>
              <a:t>(x</a:t>
            </a:r>
            <a:r>
              <a:rPr lang="en-US" altLang="zh-CN" baseline="-25000"/>
              <a:t>t</a:t>
            </a:r>
            <a:r>
              <a:rPr lang="en-US" altLang="zh-CN"/>
              <a:t>, x’) = r-k</a:t>
            </a:r>
            <a:r>
              <a:rPr lang="zh-CN" altLang="en-US"/>
              <a:t> ≤ </a:t>
            </a:r>
            <a:r>
              <a:rPr lang="en-US" altLang="zh-CN"/>
              <a:t>k and </a:t>
            </a:r>
            <a:r>
              <a:rPr lang="el-GR" altLang="zh-CN">
                <a:latin typeface="Cambria Math" panose="02040503050406030204" pitchFamily="18" charset="0"/>
                <a:ea typeface="Cambria Math" panose="02040503050406030204" pitchFamily="18" charset="0"/>
              </a:rPr>
              <a:t>δ</a:t>
            </a:r>
            <a:r>
              <a:rPr lang="en-US" altLang="zh-CN"/>
              <a:t>(x</a:t>
            </a:r>
            <a:r>
              <a:rPr lang="en-US" altLang="zh-CN" baseline="-25000"/>
              <a:t>t</a:t>
            </a:r>
            <a:r>
              <a:rPr lang="en-US" altLang="zh-CN"/>
              <a:t>, x) &gt; k. Thus x' is at least as close to x</a:t>
            </a:r>
            <a:r>
              <a:rPr lang="en-US" altLang="zh-CN" baseline="-25000"/>
              <a:t>t</a:t>
            </a:r>
            <a:r>
              <a:rPr lang="en-US" altLang="zh-CN"/>
              <a:t> as x is, and x' precedes x in the list of code words; so d(x</a:t>
            </a:r>
            <a:r>
              <a:rPr lang="en-US" altLang="zh-CN" baseline="-25000"/>
              <a:t>t</a:t>
            </a:r>
            <a:r>
              <a:rPr lang="en-US" altLang="zh-CN"/>
              <a:t>) ≠ b.Then we have committed k errors, which (e,d) has not corrected.</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3:</a:t>
            </a:r>
          </a:p>
          <a:p>
            <a:pPr lvl="1">
              <a:lnSpc>
                <a:spcPct val="150000"/>
              </a:lnSpc>
              <a:buClrTx/>
              <a:buFont typeface="Wingdings" panose="05000000000000000000" pitchFamily="2" charset="2"/>
              <a:buChar char="l"/>
            </a:pPr>
            <a:r>
              <a:rPr lang="en-US" altLang="zh-CN" sz="2400" dirty="0"/>
              <a:t>Let e be the (3, 8) encoding function defined in Example 6 of Section 11.1, and let d be an (8,3) maximum likelihood decoding function associated with e. How many errors can (</a:t>
            </a:r>
            <a:r>
              <a:rPr lang="en-US" altLang="zh-CN" sz="2400" dirty="0" err="1"/>
              <a:t>e,d</a:t>
            </a:r>
            <a:r>
              <a:rPr lang="en-US" altLang="zh-CN" sz="2400" dirty="0"/>
              <a:t>) correct?</a:t>
            </a:r>
          </a:p>
          <a:p>
            <a:pPr>
              <a:lnSpc>
                <a:spcPts val="41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 Since the minimum distance </a:t>
            </a:r>
            <a:r>
              <a:rPr lang="en-US" altLang="zh-CN" sz="2400" dirty="0" err="1"/>
              <a:t>ofe</a:t>
            </a:r>
            <a:r>
              <a:rPr lang="en-US" altLang="zh-CN" sz="2400" dirty="0"/>
              <a:t> is 3, </a:t>
            </a:r>
          </a:p>
          <a:p>
            <a:pPr marL="457200" lvl="1" indent="0">
              <a:lnSpc>
                <a:spcPct val="150000"/>
              </a:lnSpc>
              <a:buClrTx/>
              <a:buNone/>
            </a:pPr>
            <a:r>
              <a:rPr lang="en-US" altLang="zh-CN" sz="2400" dirty="0"/>
              <a:t>we have 3 </a:t>
            </a:r>
            <a:r>
              <a:rPr lang="zh-CN" altLang="en-US" sz="2400" dirty="0"/>
              <a:t>≥</a:t>
            </a:r>
            <a:r>
              <a:rPr lang="en-US" altLang="zh-CN" sz="2400" dirty="0"/>
              <a:t> 2k +1, so k ≤1. </a:t>
            </a:r>
          </a:p>
          <a:p>
            <a:pPr marL="457200" lvl="1" indent="0">
              <a:lnSpc>
                <a:spcPct val="150000"/>
              </a:lnSpc>
              <a:buClrTx/>
              <a:buNone/>
            </a:pPr>
            <a:r>
              <a:rPr lang="en-US" altLang="zh-CN" sz="2400" dirty="0"/>
              <a:t>Thus (</a:t>
            </a:r>
            <a:r>
              <a:rPr lang="en-US" altLang="zh-CN" sz="2400" dirty="0" err="1"/>
              <a:t>e,d</a:t>
            </a:r>
            <a:r>
              <a:rPr lang="en-US" altLang="zh-CN" sz="2400" dirty="0"/>
              <a:t>) can correct one error.</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pic>
        <p:nvPicPr>
          <p:cNvPr id="5" name="图片 4">
            <a:extLst>
              <a:ext uri="{FF2B5EF4-FFF2-40B4-BE49-F238E27FC236}">
                <a16:creationId xmlns:a16="http://schemas.microsoft.com/office/drawing/2014/main" id="{A04AD848-5529-4A08-A0AB-2C37413F7470}"/>
              </a:ext>
            </a:extLst>
          </p:cNvPr>
          <p:cNvPicPr>
            <a:picLocks noChangeAspect="1"/>
          </p:cNvPicPr>
          <p:nvPr/>
        </p:nvPicPr>
        <p:blipFill>
          <a:blip r:embed="rId3"/>
          <a:stretch>
            <a:fillRect/>
          </a:stretch>
        </p:blipFill>
        <p:spPr>
          <a:xfrm>
            <a:off x="7306910" y="3683826"/>
            <a:ext cx="3959606" cy="2409580"/>
          </a:xfrm>
          <a:prstGeom prst="rect">
            <a:avLst/>
          </a:prstGeom>
        </p:spPr>
      </p:pic>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940020"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We now discuss a simple and effective technique for determining a maximum likelihood decoding function associated with a given group code. First, we prove the following result.</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If </a:t>
            </a:r>
            <a:r>
              <a:rPr lang="en-US" altLang="zh-CN" i="1"/>
              <a:t>K</a:t>
            </a:r>
            <a:r>
              <a:rPr lang="en-US" altLang="zh-CN"/>
              <a:t> is a finite subgroup of a group </a:t>
            </a:r>
            <a:r>
              <a:rPr lang="en-US" altLang="zh-CN" i="1"/>
              <a:t>G</a:t>
            </a:r>
            <a:r>
              <a:rPr lang="en-US" altLang="zh-CN"/>
              <a:t>, then every left coset of </a:t>
            </a:r>
            <a:r>
              <a:rPr lang="en-US" altLang="zh-CN" i="1"/>
              <a:t>K</a:t>
            </a:r>
            <a:r>
              <a:rPr lang="en-US" altLang="zh-CN"/>
              <a:t> in </a:t>
            </a:r>
            <a:r>
              <a:rPr lang="en-US" altLang="zh-CN" i="1"/>
              <a:t>G</a:t>
            </a:r>
            <a:r>
              <a:rPr lang="en-US" altLang="zh-CN"/>
              <a:t> has exactly as many elements as </a:t>
            </a:r>
            <a:r>
              <a:rPr lang="en-US" altLang="zh-CN" i="1"/>
              <a:t>K</a:t>
            </a:r>
            <a:r>
              <a:rPr lang="en-US" altLang="zh-CN"/>
              <a:t>.</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Theorem 2</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638032"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Let aK be a left coset of K in G, where a</a:t>
            </a:r>
            <a:r>
              <a:rPr lang="zh-CN" altLang="en-US"/>
              <a:t>∈</a:t>
            </a:r>
            <a:r>
              <a:rPr lang="en-US" altLang="zh-CN"/>
              <a:t>G. Consider the function f: K</a:t>
            </a:r>
            <a:r>
              <a:rPr lang="zh-CN" altLang="en-US"/>
              <a:t>→</a:t>
            </a:r>
            <a:r>
              <a:rPr lang="en-US" altLang="zh-CN"/>
              <a:t>aK defined by</a:t>
            </a:r>
          </a:p>
          <a:p>
            <a:pPr lvl="1" algn="ctr">
              <a:lnSpc>
                <a:spcPct val="150000"/>
              </a:lnSpc>
            </a:pPr>
            <a:r>
              <a:rPr lang="en-US" altLang="zh-CN"/>
              <a:t>f(k) = ak, for k</a:t>
            </a:r>
            <a:r>
              <a:rPr lang="zh-CN" altLang="en-US"/>
              <a:t>∈</a:t>
            </a:r>
            <a:r>
              <a:rPr lang="en-US" altLang="zh-CN"/>
              <a:t>K.</a:t>
            </a:r>
          </a:p>
          <a:p>
            <a:pPr eaLnBrk="1" hangingPunct="1">
              <a:lnSpc>
                <a:spcPct val="150000"/>
              </a:lnSpc>
            </a:pPr>
            <a:r>
              <a:rPr lang="en-US" altLang="zh-CN"/>
              <a:t>We show that f is one to one and onto.</a:t>
            </a:r>
          </a:p>
          <a:p>
            <a:pPr eaLnBrk="1" hangingPunct="1">
              <a:lnSpc>
                <a:spcPct val="150000"/>
              </a:lnSpc>
            </a:pPr>
            <a:r>
              <a:rPr lang="en-US" altLang="zh-CN"/>
              <a:t>To show that f is one to one, we assume that</a:t>
            </a:r>
          </a:p>
          <a:p>
            <a:pPr lvl="1" algn="ctr">
              <a:lnSpc>
                <a:spcPct val="150000"/>
              </a:lnSpc>
            </a:pPr>
            <a:r>
              <a:rPr lang="en-US" altLang="zh-CN"/>
              <a:t>f(k</a:t>
            </a:r>
            <a:r>
              <a:rPr lang="en-US" altLang="zh-CN" baseline="-25000"/>
              <a:t>1</a:t>
            </a:r>
            <a:r>
              <a:rPr lang="en-US" altLang="zh-CN"/>
              <a:t>) = f(k</a:t>
            </a:r>
            <a:r>
              <a:rPr lang="en-US" altLang="zh-CN" baseline="-25000"/>
              <a:t>2</a:t>
            </a:r>
            <a:r>
              <a:rPr lang="en-US" altLang="zh-CN"/>
              <a:t>),  k</a:t>
            </a:r>
            <a:r>
              <a:rPr lang="en-US" altLang="zh-CN" baseline="-25000"/>
              <a:t>1</a:t>
            </a:r>
            <a:r>
              <a:rPr lang="en-US" altLang="zh-CN"/>
              <a:t>, k</a:t>
            </a:r>
            <a:r>
              <a:rPr lang="en-US" altLang="zh-CN" baseline="-25000"/>
              <a:t>2</a:t>
            </a:r>
            <a:r>
              <a:rPr lang="zh-CN" altLang="en-US"/>
              <a:t>∈</a:t>
            </a:r>
            <a:r>
              <a:rPr lang="en-US" altLang="zh-CN"/>
              <a:t>K.</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893846"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ts val="4500"/>
              </a:lnSpc>
            </a:pPr>
            <a:r>
              <a:rPr lang="en-US" altLang="zh-CN"/>
              <a:t>Then </a:t>
            </a:r>
          </a:p>
          <a:p>
            <a:pPr lvl="1" algn="ctr">
              <a:lnSpc>
                <a:spcPts val="4500"/>
              </a:lnSpc>
            </a:pPr>
            <a:r>
              <a:rPr lang="en-US" altLang="zh-CN"/>
              <a:t>ak</a:t>
            </a:r>
            <a:r>
              <a:rPr lang="en-US" altLang="zh-CN" baseline="-25000"/>
              <a:t>1</a:t>
            </a:r>
            <a:r>
              <a:rPr lang="en-US" altLang="zh-CN"/>
              <a:t> = ak</a:t>
            </a:r>
            <a:r>
              <a:rPr lang="en-US" altLang="zh-CN" baseline="-25000"/>
              <a:t>2</a:t>
            </a:r>
          </a:p>
          <a:p>
            <a:pPr eaLnBrk="1" hangingPunct="1">
              <a:lnSpc>
                <a:spcPts val="4500"/>
              </a:lnSpc>
            </a:pPr>
            <a:r>
              <a:rPr lang="en-US" altLang="zh-CN"/>
              <a:t>By Theorem 2 of Section 9.4,</a:t>
            </a:r>
            <a:r>
              <a:rPr lang="zh-CN" altLang="en-US"/>
              <a:t> </a:t>
            </a:r>
            <a:r>
              <a:rPr lang="en-US" altLang="zh-CN"/>
              <a:t>k</a:t>
            </a:r>
            <a:r>
              <a:rPr lang="en-US" altLang="zh-CN" baseline="-25000"/>
              <a:t>1</a:t>
            </a:r>
            <a:r>
              <a:rPr lang="en-US" altLang="zh-CN"/>
              <a:t> = k</a:t>
            </a:r>
            <a:r>
              <a:rPr lang="en-US" altLang="zh-CN" baseline="-25000"/>
              <a:t>2</a:t>
            </a:r>
            <a:r>
              <a:rPr lang="en-US" altLang="zh-CN"/>
              <a:t>. Hence f is one to one.</a:t>
            </a:r>
          </a:p>
          <a:p>
            <a:pPr eaLnBrk="1" hangingPunct="1">
              <a:lnSpc>
                <a:spcPts val="4500"/>
              </a:lnSpc>
            </a:pPr>
            <a:r>
              <a:rPr lang="en-US" altLang="zh-CN"/>
              <a:t>To show that f is onto, let b be an arbitrary element in aK. Then b = ak for some k</a:t>
            </a:r>
            <a:r>
              <a:rPr lang="zh-CN" altLang="en-US"/>
              <a:t>∈</a:t>
            </a:r>
            <a:r>
              <a:rPr lang="en-US" altLang="zh-CN"/>
              <a:t>K. We now have</a:t>
            </a:r>
          </a:p>
          <a:p>
            <a:pPr lvl="1" algn="ctr">
              <a:lnSpc>
                <a:spcPts val="4500"/>
              </a:lnSpc>
            </a:pPr>
            <a:r>
              <a:rPr lang="en-US" altLang="zh-CN"/>
              <a:t>f(k) = ak = b</a:t>
            </a:r>
          </a:p>
          <a:p>
            <a:pPr eaLnBrk="1" hangingPunct="1">
              <a:lnSpc>
                <a:spcPts val="4500"/>
              </a:lnSpc>
            </a:pPr>
            <a:r>
              <a:rPr lang="en-US" altLang="zh-CN"/>
              <a:t>so f is onto. Since f is one to one and onto, K and aK have the same number of elements.</a:t>
            </a:r>
          </a:p>
          <a:p>
            <a:pPr eaLnBrk="1" hangingPunct="1">
              <a:lnSpc>
                <a:spcPts val="4500"/>
              </a:lnSpc>
            </a:pPr>
            <a:endParaRPr lang="en-US" altLang="zh-CN"/>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820277"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 e: </a:t>
            </a:r>
            <a:r>
              <a:rPr lang="en-US" altLang="zh-CN" dirty="0" err="1"/>
              <a:t>B</a:t>
            </a:r>
            <a:r>
              <a:rPr lang="en-US" altLang="zh-CN" baseline="30000" dirty="0" err="1"/>
              <a:t>m</a:t>
            </a:r>
            <a:r>
              <a:rPr lang="zh-CN" altLang="en-US" dirty="0"/>
              <a:t>→</a:t>
            </a:r>
            <a:r>
              <a:rPr lang="en-US" altLang="zh-CN" dirty="0" err="1"/>
              <a:t>B</a:t>
            </a:r>
            <a:r>
              <a:rPr lang="en-US" altLang="zh-CN" baseline="30000" dirty="0" err="1"/>
              <a:t>n</a:t>
            </a:r>
            <a:r>
              <a:rPr lang="en-US" altLang="zh-CN" dirty="0"/>
              <a:t> be an (m, n) encoding function that is a group code. Thus the set N of code words in </a:t>
            </a:r>
            <a:r>
              <a:rPr lang="en-US" altLang="zh-CN" dirty="0" err="1"/>
              <a:t>Bn</a:t>
            </a:r>
            <a:r>
              <a:rPr lang="en-US" altLang="zh-CN" dirty="0"/>
              <a:t> is a subgroup of </a:t>
            </a:r>
            <a:r>
              <a:rPr lang="en-US" altLang="zh-CN" dirty="0" err="1"/>
              <a:t>B</a:t>
            </a:r>
            <a:r>
              <a:rPr lang="en-US" altLang="zh-CN" baseline="30000" dirty="0" err="1"/>
              <a:t>n</a:t>
            </a:r>
            <a:r>
              <a:rPr lang="en-US" altLang="zh-CN" dirty="0"/>
              <a:t> whose order is 2</a:t>
            </a:r>
            <a:r>
              <a:rPr lang="en-US" altLang="zh-CN" baseline="30000" dirty="0"/>
              <a:t>m</a:t>
            </a:r>
            <a:r>
              <a:rPr lang="en-US" altLang="zh-CN" dirty="0"/>
              <a:t>, say N = {x</a:t>
            </a:r>
            <a:r>
              <a:rPr lang="en-US" altLang="zh-CN" baseline="30000" dirty="0"/>
              <a:t>(1)</a:t>
            </a:r>
            <a:r>
              <a:rPr lang="en-US" altLang="zh-CN" dirty="0"/>
              <a:t>, x</a:t>
            </a:r>
            <a:r>
              <a:rPr lang="en-US" altLang="zh-CN" baseline="30000" dirty="0"/>
              <a:t>(2)</a:t>
            </a:r>
            <a:r>
              <a:rPr lang="en-US" altLang="zh-CN" dirty="0"/>
              <a:t>, ..., x</a:t>
            </a:r>
            <a:r>
              <a:rPr lang="en-US" altLang="zh-CN" baseline="30000" dirty="0"/>
              <a:t>(2</a:t>
            </a:r>
            <a:r>
              <a:rPr lang="en-US" altLang="zh-CN" baseline="50000" dirty="0"/>
              <a:t>m</a:t>
            </a:r>
            <a:r>
              <a:rPr lang="en-US" altLang="zh-CN" baseline="30000" dirty="0"/>
              <a:t>) </a:t>
            </a:r>
            <a:r>
              <a:rPr lang="en-US" altLang="zh-CN" dirty="0"/>
              <a:t>}.</a:t>
            </a:r>
          </a:p>
          <a:p>
            <a:pPr eaLnBrk="1" hangingPunct="1">
              <a:lnSpc>
                <a:spcPct val="150000"/>
              </a:lnSpc>
            </a:pPr>
            <a:r>
              <a:rPr lang="en-US" altLang="zh-CN" dirty="0"/>
              <a:t>Suppose that the code word x = e(b) is transmitted and that the word </a:t>
            </a:r>
            <a:r>
              <a:rPr lang="en-US" altLang="zh-CN" dirty="0" err="1"/>
              <a:t>x</a:t>
            </a:r>
            <a:r>
              <a:rPr lang="en-US" altLang="zh-CN" baseline="-25000" dirty="0" err="1"/>
              <a:t>t</a:t>
            </a:r>
            <a:r>
              <a:rPr lang="en-US" altLang="zh-CN" dirty="0"/>
              <a:t> is received. The left </a:t>
            </a:r>
            <a:r>
              <a:rPr lang="en-US" altLang="zh-CN" dirty="0" err="1"/>
              <a:t>coset</a:t>
            </a:r>
            <a:r>
              <a:rPr lang="en-US" altLang="zh-CN" dirty="0"/>
              <a:t> of </a:t>
            </a:r>
            <a:r>
              <a:rPr lang="en-US" altLang="zh-CN" dirty="0" err="1"/>
              <a:t>x</a:t>
            </a:r>
            <a:r>
              <a:rPr lang="en-US" altLang="zh-CN" baseline="-25000" dirty="0" err="1"/>
              <a:t>t</a:t>
            </a:r>
            <a:r>
              <a:rPr lang="en-US" altLang="zh-CN" baseline="-25000" dirty="0"/>
              <a:t>  </a:t>
            </a:r>
            <a:r>
              <a:rPr lang="en-US" altLang="zh-CN" dirty="0"/>
              <a:t>is</a:t>
            </a:r>
          </a:p>
          <a:p>
            <a:pPr lvl="1" algn="ctr">
              <a:lnSpc>
                <a:spcPct val="150000"/>
              </a:lnSpc>
            </a:pPr>
            <a:r>
              <a:rPr lang="en-US" altLang="zh-CN" dirty="0" err="1"/>
              <a:t>x</a:t>
            </a:r>
            <a:r>
              <a:rPr lang="en-US" altLang="zh-CN" baseline="-25000" dirty="0" err="1"/>
              <a:t>t</a:t>
            </a:r>
            <a:r>
              <a:rPr lang="en-US" altLang="zh-CN" baseline="-25000" dirty="0"/>
              <a:t> </a:t>
            </a:r>
            <a:r>
              <a:rPr lang="en-US" altLang="zh-CN" dirty="0">
                <a:latin typeface="Cambria Math" panose="02040503050406030204" pitchFamily="18" charset="0"/>
                <a:ea typeface="Cambria Math" panose="02040503050406030204" pitchFamily="18" charset="0"/>
              </a:rPr>
              <a:t>⨁ </a:t>
            </a:r>
            <a:r>
              <a:rPr lang="en-US" altLang="zh-CN" dirty="0"/>
              <a:t>N = {</a:t>
            </a:r>
            <a:r>
              <a:rPr lang="en-US" altLang="zh-CN" dirty="0">
                <a:latin typeface="Cambria Math" panose="02040503050406030204" pitchFamily="18" charset="0"/>
                <a:ea typeface="Cambria Math" panose="02040503050406030204" pitchFamily="18" charset="0"/>
              </a:rPr>
              <a:t>ɛ</a:t>
            </a:r>
            <a:r>
              <a:rPr lang="en-US" altLang="zh-CN" baseline="-25000" dirty="0"/>
              <a:t>1</a:t>
            </a:r>
            <a:r>
              <a:rPr lang="en-US" altLang="zh-CN" dirty="0"/>
              <a:t>, </a:t>
            </a:r>
            <a:r>
              <a:rPr lang="en-US" altLang="zh-CN" dirty="0">
                <a:latin typeface="Cambria Math" panose="02040503050406030204" pitchFamily="18" charset="0"/>
                <a:ea typeface="Cambria Math" panose="02040503050406030204" pitchFamily="18" charset="0"/>
              </a:rPr>
              <a:t>ɛ</a:t>
            </a:r>
            <a:r>
              <a:rPr lang="en-US" altLang="zh-CN" baseline="-25000" dirty="0"/>
              <a:t>2</a:t>
            </a:r>
            <a:r>
              <a:rPr lang="en-US" altLang="zh-CN" dirty="0"/>
              <a:t>,..., </a:t>
            </a:r>
            <a:r>
              <a:rPr lang="en-US" altLang="zh-CN" dirty="0">
                <a:latin typeface="Cambria Math" panose="02040503050406030204" pitchFamily="18" charset="0"/>
                <a:ea typeface="Cambria Math" panose="02040503050406030204" pitchFamily="18" charset="0"/>
              </a:rPr>
              <a:t>ɛ</a:t>
            </a:r>
            <a:r>
              <a:rPr lang="en-US" altLang="zh-CN" baseline="-25000" dirty="0"/>
              <a:t>2</a:t>
            </a:r>
            <a:r>
              <a:rPr lang="en-US" altLang="zh-CN" baseline="-15000" dirty="0"/>
              <a:t>m</a:t>
            </a:r>
            <a:r>
              <a:rPr lang="en-US" altLang="zh-CN" dirty="0"/>
              <a:t>}      </a:t>
            </a:r>
          </a:p>
          <a:p>
            <a:pPr eaLnBrk="1" hangingPunct="1">
              <a:lnSpc>
                <a:spcPct val="150000"/>
              </a:lnSpc>
            </a:pPr>
            <a:r>
              <a:rPr lang="en-US" altLang="zh-CN" dirty="0"/>
              <a:t>where </a:t>
            </a:r>
            <a:r>
              <a:rPr lang="en-US" altLang="zh-CN" dirty="0" err="1">
                <a:latin typeface="Cambria Math" panose="02040503050406030204" pitchFamily="18" charset="0"/>
                <a:ea typeface="Cambria Math" panose="02040503050406030204" pitchFamily="18" charset="0"/>
              </a:rPr>
              <a:t>ɛ</a:t>
            </a:r>
            <a:r>
              <a:rPr lang="en-US" altLang="zh-CN" baseline="-25000" dirty="0" err="1"/>
              <a:t>i</a:t>
            </a:r>
            <a:r>
              <a:rPr lang="en-US" altLang="zh-CN" baseline="-25000" dirty="0"/>
              <a:t> </a:t>
            </a:r>
            <a:r>
              <a:rPr lang="en-US" altLang="zh-CN" dirty="0"/>
              <a:t>= </a:t>
            </a:r>
            <a:r>
              <a:rPr lang="en-US" altLang="zh-CN" dirty="0" err="1"/>
              <a:t>x</a:t>
            </a:r>
            <a:r>
              <a:rPr lang="en-US" altLang="zh-CN" baseline="-25000" dirty="0" err="1"/>
              <a:t>t</a:t>
            </a:r>
            <a:r>
              <a:rPr lang="en-US" altLang="zh-CN" baseline="-25000" dirty="0"/>
              <a:t> </a:t>
            </a:r>
            <a:r>
              <a:rPr lang="en-US" altLang="zh-CN" dirty="0">
                <a:latin typeface="Cambria Math" panose="02040503050406030204" pitchFamily="18" charset="0"/>
                <a:ea typeface="Cambria Math" panose="02040503050406030204" pitchFamily="18" charset="0"/>
              </a:rPr>
              <a:t>⨁ </a:t>
            </a:r>
            <a:r>
              <a:rPr lang="en-US" altLang="zh-CN" dirty="0"/>
              <a:t>x</a:t>
            </a:r>
            <a:r>
              <a:rPr lang="en-US" altLang="zh-CN" baseline="30000" dirty="0"/>
              <a:t>(</a:t>
            </a:r>
            <a:r>
              <a:rPr lang="en-US" altLang="zh-CN" baseline="30000" dirty="0" err="1"/>
              <a:t>i</a:t>
            </a:r>
            <a:r>
              <a:rPr lang="en-US" altLang="zh-CN" baseline="30000" dirty="0"/>
              <a:t>)</a:t>
            </a:r>
            <a:endParaRPr lang="en-US" altLang="zh-CN"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820277"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a:t>The distance from x</a:t>
            </a:r>
            <a:r>
              <a:rPr lang="en-US" altLang="zh-CN" baseline="-25000"/>
              <a:t>t</a:t>
            </a:r>
            <a:r>
              <a:rPr lang="en-US" altLang="zh-CN"/>
              <a:t> to code word x</a:t>
            </a:r>
            <a:r>
              <a:rPr lang="en-US" altLang="zh-CN" baseline="30000"/>
              <a:t>(i)</a:t>
            </a:r>
            <a:r>
              <a:rPr lang="en-US" altLang="zh-CN"/>
              <a:t> is just |</a:t>
            </a:r>
            <a:r>
              <a:rPr lang="en-US" altLang="zh-CN">
                <a:latin typeface="Cambria Math" panose="02040503050406030204" pitchFamily="18" charset="0"/>
                <a:ea typeface="Cambria Math" panose="02040503050406030204" pitchFamily="18" charset="0"/>
              </a:rPr>
              <a:t>ɛ</a:t>
            </a:r>
            <a:r>
              <a:rPr lang="en-US" altLang="zh-CN" baseline="-25000"/>
              <a:t>i</a:t>
            </a:r>
            <a:r>
              <a:rPr lang="en-US" altLang="zh-CN"/>
              <a:t>|, the weight  of </a:t>
            </a:r>
            <a:r>
              <a:rPr lang="en-US" altLang="zh-CN">
                <a:latin typeface="Cambria Math" panose="02040503050406030204" pitchFamily="18" charset="0"/>
                <a:ea typeface="Cambria Math" panose="02040503050406030204" pitchFamily="18" charset="0"/>
              </a:rPr>
              <a:t>ɛ</a:t>
            </a:r>
            <a:r>
              <a:rPr lang="en-US" altLang="zh-CN" baseline="-25000"/>
              <a:t>i</a:t>
            </a:r>
            <a:r>
              <a:rPr lang="en-US" altLang="zh-CN"/>
              <a:t>.Thus, if </a:t>
            </a:r>
            <a:r>
              <a:rPr lang="en-US" altLang="zh-CN">
                <a:latin typeface="Cambria Math" panose="02040503050406030204" pitchFamily="18" charset="0"/>
                <a:ea typeface="Cambria Math" panose="02040503050406030204" pitchFamily="18" charset="0"/>
              </a:rPr>
              <a:t>ɛ</a:t>
            </a:r>
            <a:r>
              <a:rPr lang="en-US" altLang="zh-CN" baseline="-25000"/>
              <a:t>j</a:t>
            </a:r>
            <a:r>
              <a:rPr lang="en-US" altLang="zh-CN"/>
              <a:t> is a coset member with smallest weight, then x</a:t>
            </a:r>
            <a:r>
              <a:rPr lang="en-US" altLang="zh-CN" baseline="30000"/>
              <a:t>(j)</a:t>
            </a:r>
            <a:r>
              <a:rPr lang="en-US" altLang="zh-CN"/>
              <a:t> must be a code word that is closest to x</a:t>
            </a:r>
            <a:r>
              <a:rPr lang="en-US" altLang="zh-CN" baseline="-25000"/>
              <a:t>t</a:t>
            </a:r>
            <a:r>
              <a:rPr lang="en-US" altLang="zh-CN"/>
              <a:t>. In this case, x</a:t>
            </a:r>
            <a:r>
              <a:rPr lang="en-US" altLang="zh-CN" baseline="30000"/>
              <a:t>(j) </a:t>
            </a:r>
            <a:r>
              <a:rPr lang="en-US" altLang="zh-CN"/>
              <a:t>= </a:t>
            </a:r>
            <a:r>
              <a:rPr lang="en-US" altLang="zh-CN">
                <a:latin typeface="Cambria Math" panose="02040503050406030204" pitchFamily="18" charset="0"/>
                <a:ea typeface="Cambria Math" panose="02040503050406030204" pitchFamily="18" charset="0"/>
              </a:rPr>
              <a:t>Ō ⨁ </a:t>
            </a:r>
            <a:r>
              <a:rPr lang="en-US" altLang="zh-CN"/>
              <a:t>x</a:t>
            </a:r>
            <a:r>
              <a:rPr lang="en-US" altLang="zh-CN" baseline="30000"/>
              <a:t>(j)</a:t>
            </a:r>
            <a:r>
              <a:rPr lang="en-US" altLang="zh-CN"/>
              <a:t> = x</a:t>
            </a:r>
            <a:r>
              <a:rPr lang="en-US" altLang="zh-CN" baseline="-25000"/>
              <a:t>t </a:t>
            </a:r>
            <a:r>
              <a:rPr lang="en-US" altLang="zh-CN">
                <a:latin typeface="Cambria Math" panose="02040503050406030204" pitchFamily="18" charset="0"/>
                <a:ea typeface="Cambria Math" panose="02040503050406030204" pitchFamily="18" charset="0"/>
              </a:rPr>
              <a:t>⨁ </a:t>
            </a:r>
            <a:r>
              <a:rPr lang="en-US" altLang="zh-CN"/>
              <a:t>x</a:t>
            </a:r>
            <a:r>
              <a:rPr lang="en-US" altLang="zh-CN" baseline="-25000"/>
              <a:t>t</a:t>
            </a:r>
            <a:r>
              <a:rPr lang="en-US" altLang="zh-CN">
                <a:latin typeface="Cambria Math" panose="02040503050406030204" pitchFamily="18" charset="0"/>
                <a:ea typeface="Cambria Math" panose="02040503050406030204" pitchFamily="18" charset="0"/>
              </a:rPr>
              <a:t> ⨁ </a:t>
            </a:r>
            <a:r>
              <a:rPr lang="en-US" altLang="zh-CN"/>
              <a:t>x</a:t>
            </a:r>
            <a:r>
              <a:rPr lang="en-US" altLang="zh-CN" baseline="30000"/>
              <a:t>(j)</a:t>
            </a:r>
            <a:r>
              <a:rPr lang="en-US" altLang="zh-CN"/>
              <a:t> =</a:t>
            </a:r>
            <a:r>
              <a:rPr lang="en-US" altLang="zh-CN">
                <a:latin typeface="Cambria Math" panose="02040503050406030204" pitchFamily="18" charset="0"/>
                <a:ea typeface="Cambria Math" panose="02040503050406030204" pitchFamily="18" charset="0"/>
              </a:rPr>
              <a:t> </a:t>
            </a:r>
            <a:r>
              <a:rPr lang="en-US" altLang="zh-CN"/>
              <a:t>x</a:t>
            </a:r>
            <a:r>
              <a:rPr lang="en-US" altLang="zh-CN" baseline="-25000"/>
              <a:t>t</a:t>
            </a:r>
            <a:r>
              <a:rPr lang="en-US" altLang="zh-CN">
                <a:latin typeface="Cambria Math" panose="02040503050406030204" pitchFamily="18" charset="0"/>
                <a:ea typeface="Cambria Math" panose="02040503050406030204" pitchFamily="18" charset="0"/>
              </a:rPr>
              <a:t> ⨁ ɛ</a:t>
            </a:r>
            <a:r>
              <a:rPr lang="en-US" altLang="zh-CN" baseline="-25000">
                <a:latin typeface="Cambria Math" panose="02040503050406030204" pitchFamily="18" charset="0"/>
                <a:ea typeface="Cambria Math" panose="02040503050406030204" pitchFamily="18" charset="0"/>
              </a:rPr>
              <a:t>j.</a:t>
            </a:r>
            <a:r>
              <a:rPr lang="en-US" altLang="zh-CN"/>
              <a:t> An element</a:t>
            </a:r>
            <a:r>
              <a:rPr lang="en-US" altLang="zh-CN">
                <a:latin typeface="Cambria Math" panose="02040503050406030204" pitchFamily="18" charset="0"/>
                <a:ea typeface="Cambria Math" panose="02040503050406030204" pitchFamily="18" charset="0"/>
              </a:rPr>
              <a:t> ɛ</a:t>
            </a:r>
            <a:r>
              <a:rPr lang="en-US" altLang="zh-CN" baseline="-25000">
                <a:latin typeface="Cambria Math" panose="02040503050406030204" pitchFamily="18" charset="0"/>
                <a:ea typeface="Cambria Math" panose="02040503050406030204" pitchFamily="18" charset="0"/>
              </a:rPr>
              <a:t>j</a:t>
            </a:r>
            <a:r>
              <a:rPr lang="en-US" altLang="zh-CN"/>
              <a:t>, having smallest weight, is called a </a:t>
            </a:r>
            <a:r>
              <a:rPr lang="en-US" altLang="zh-CN">
                <a:solidFill>
                  <a:srgbClr val="FF0000"/>
                </a:solidFill>
              </a:rPr>
              <a:t>coset leader(</a:t>
            </a:r>
            <a:r>
              <a:rPr lang="zh-CN" altLang="en-US">
                <a:solidFill>
                  <a:srgbClr val="FF0000"/>
                </a:solidFill>
              </a:rPr>
              <a:t>陪集首部</a:t>
            </a:r>
            <a:r>
              <a:rPr lang="en-US" altLang="zh-CN">
                <a:solidFill>
                  <a:srgbClr val="FF0000"/>
                </a:solidFill>
              </a:rPr>
              <a:t>)</a:t>
            </a:r>
            <a:r>
              <a:rPr lang="en-US" altLang="zh-CN"/>
              <a:t>. Note that a coset leader need not be unique.</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820277"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a:t>If e:B</a:t>
            </a:r>
            <a:r>
              <a:rPr lang="en-US" altLang="zh-CN" baseline="30000"/>
              <a:t>m</a:t>
            </a:r>
            <a:r>
              <a:rPr lang="zh-CN" altLang="en-US"/>
              <a:t>→</a:t>
            </a:r>
            <a:r>
              <a:rPr lang="en-US" altLang="zh-CN"/>
              <a:t>B</a:t>
            </a:r>
            <a:r>
              <a:rPr lang="en-US" altLang="zh-CN" baseline="30000"/>
              <a:t>n </a:t>
            </a:r>
            <a:r>
              <a:rPr lang="en-US" altLang="zh-CN"/>
              <a:t>is a group code, we now state the following procedure for obtaining a maximum likelihood decoding function associated with e.</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820277" cy="704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a:t>Step 1: Determine all the left cosets of N = e(B</a:t>
            </a:r>
            <a:r>
              <a:rPr lang="en-US" altLang="zh-CN" baseline="30000"/>
              <a:t>m</a:t>
            </a:r>
            <a:r>
              <a:rPr lang="en-US" altLang="zh-CN"/>
              <a:t>) in B</a:t>
            </a:r>
            <a:r>
              <a:rPr lang="en-US" altLang="zh-CN" baseline="30000"/>
              <a:t>n</a:t>
            </a:r>
          </a:p>
          <a:p>
            <a:pPr>
              <a:lnSpc>
                <a:spcPct val="150000"/>
              </a:lnSpc>
            </a:pPr>
            <a:r>
              <a:rPr lang="en-US" altLang="zh-CN"/>
              <a:t>Step 2: For each coset, find a coset leader (a word of least weight). </a:t>
            </a:r>
          </a:p>
          <a:p>
            <a:pPr>
              <a:lnSpc>
                <a:spcPct val="150000"/>
              </a:lnSpc>
            </a:pPr>
            <a:r>
              <a:rPr lang="en-US" altLang="zh-CN"/>
              <a:t>Step 3: If the word x</a:t>
            </a:r>
            <a:r>
              <a:rPr lang="en-US" altLang="zh-CN" baseline="-25000"/>
              <a:t>t</a:t>
            </a:r>
            <a:r>
              <a:rPr lang="en-US" altLang="zh-CN"/>
              <a:t> is received, determine the coset of N to which x</a:t>
            </a:r>
            <a:r>
              <a:rPr lang="en-US" altLang="zh-CN" baseline="-25000"/>
              <a:t>t </a:t>
            </a:r>
            <a:r>
              <a:rPr lang="en-US" altLang="zh-CN"/>
              <a:t>belongs.</a:t>
            </a:r>
          </a:p>
          <a:p>
            <a:pPr>
              <a:lnSpc>
                <a:spcPct val="150000"/>
              </a:lnSpc>
            </a:pPr>
            <a:r>
              <a:rPr lang="en-US" altLang="zh-CN"/>
              <a:t>Step 4: Let </a:t>
            </a:r>
            <a:r>
              <a:rPr lang="en-US" altLang="zh-CN">
                <a:latin typeface="Cambria Math" panose="02040503050406030204" pitchFamily="18" charset="0"/>
                <a:ea typeface="Cambria Math" panose="02040503050406030204" pitchFamily="18" charset="0"/>
              </a:rPr>
              <a:t>ɛ</a:t>
            </a:r>
            <a:r>
              <a:rPr lang="en-US" altLang="zh-CN"/>
              <a:t> be a coset leader for the coset determined in Step 3. Compute x = x</a:t>
            </a:r>
            <a:r>
              <a:rPr lang="en-US" altLang="zh-CN" baseline="-25000"/>
              <a:t>t</a:t>
            </a:r>
            <a:r>
              <a:rPr lang="en-US" altLang="zh-CN">
                <a:latin typeface="Cambria Math" panose="02040503050406030204" pitchFamily="18" charset="0"/>
                <a:ea typeface="Cambria Math" panose="02040503050406030204" pitchFamily="18" charset="0"/>
              </a:rPr>
              <a:t> ⨁</a:t>
            </a:r>
            <a:r>
              <a:rPr lang="en-US" altLang="zh-CN" baseline="-25000"/>
              <a:t> </a:t>
            </a:r>
            <a:r>
              <a:rPr lang="en-US" altLang="zh-CN">
                <a:latin typeface="Cambria Math" panose="02040503050406030204" pitchFamily="18" charset="0"/>
                <a:ea typeface="Cambria Math" panose="02040503050406030204" pitchFamily="18" charset="0"/>
              </a:rPr>
              <a:t>ɛ</a:t>
            </a:r>
            <a:r>
              <a:rPr lang="en-US" altLang="zh-CN"/>
              <a:t>. If x = e(b), we let d(x</a:t>
            </a:r>
            <a:r>
              <a:rPr lang="en-US" altLang="zh-CN" baseline="-25000"/>
              <a:t>t</a:t>
            </a:r>
            <a:r>
              <a:rPr lang="en-US" altLang="zh-CN"/>
              <a:t>) = b. That is, we decode x</a:t>
            </a:r>
            <a:r>
              <a:rPr lang="en-US" altLang="zh-CN" baseline="-25000"/>
              <a:t>t  </a:t>
            </a:r>
            <a:r>
              <a:rPr lang="en-US" altLang="zh-CN"/>
              <a:t>as b.</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Constructing a decoding table, each row is a left coset of N with the first element </a:t>
            </a:r>
            <a:r>
              <a:rPr lang="en-US" altLang="zh-CN">
                <a:latin typeface="Cambria Math" panose="02040503050406030204" pitchFamily="18" charset="0"/>
                <a:ea typeface="Cambria Math" panose="02040503050406030204" pitchFamily="18" charset="0"/>
              </a:rPr>
              <a:t>ɛ</a:t>
            </a:r>
            <a:r>
              <a:rPr lang="en-US" altLang="zh-CN" baseline="30000"/>
              <a:t>(i) </a:t>
            </a:r>
            <a:r>
              <a:rPr lang="en-US" altLang="zh-CN"/>
              <a:t>the coset leader.</a:t>
            </a:r>
          </a:p>
        </p:txBody>
      </p:sp>
      <p:sp>
        <p:nvSpPr>
          <p:cNvPr id="3" name="文本框 2"/>
          <p:cNvSpPr txBox="1"/>
          <p:nvPr/>
        </p:nvSpPr>
        <p:spPr>
          <a:xfrm>
            <a:off x="3866146" y="721364"/>
            <a:ext cx="5620754" cy="707886"/>
          </a:xfrm>
          <a:prstGeom prst="rect">
            <a:avLst/>
          </a:prstGeom>
          <a:noFill/>
        </p:spPr>
        <p:txBody>
          <a:bodyPr wrap="square" rtlCol="0">
            <a:spAutoFit/>
          </a:bodyPr>
          <a:lstStyle/>
          <a:p>
            <a:pPr algn="ctr"/>
            <a:r>
              <a:rPr lang="en-US" altLang="zh-CN" sz="4000" b="1"/>
              <a:t>Decoding table(</a:t>
            </a:r>
            <a:r>
              <a:rPr lang="zh-CN" altLang="en-US" sz="4000" b="1"/>
              <a:t>译码表</a:t>
            </a:r>
            <a:r>
              <a:rPr lang="en-US" altLang="zh-CN" sz="4000" b="1"/>
              <a:t>)</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pic>
        <p:nvPicPr>
          <p:cNvPr id="4" name="图片 3"/>
          <p:cNvPicPr>
            <a:picLocks noChangeAspect="1"/>
          </p:cNvPicPr>
          <p:nvPr/>
        </p:nvPicPr>
        <p:blipFill>
          <a:blip r:embed="rId3"/>
          <a:stretch>
            <a:fillRect/>
          </a:stretch>
        </p:blipFill>
        <p:spPr>
          <a:xfrm>
            <a:off x="1311801" y="3282044"/>
            <a:ext cx="9568393" cy="2543710"/>
          </a:xfrm>
          <a:prstGeom prst="rect">
            <a:avLst/>
          </a:prstGeom>
        </p:spPr>
      </p:pic>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If we receive the word x</a:t>
            </a:r>
            <a:r>
              <a:rPr lang="en-US" altLang="zh-CN" baseline="-25000"/>
              <a:t>t</a:t>
            </a:r>
            <a:r>
              <a:rPr lang="en-US" altLang="zh-CN"/>
              <a:t>, we locate it in the table. If x is the element of N that is at the top of the column containing x</a:t>
            </a:r>
            <a:r>
              <a:rPr lang="en-US" altLang="zh-CN" baseline="-25000"/>
              <a:t>t</a:t>
            </a:r>
            <a:r>
              <a:rPr lang="en-US" altLang="zh-CN"/>
              <a:t>, then x is the code word closest to x</a:t>
            </a:r>
            <a:r>
              <a:rPr lang="en-US" altLang="zh-CN" baseline="-25000"/>
              <a:t>t</a:t>
            </a:r>
            <a:r>
              <a:rPr lang="en-US" altLang="zh-CN"/>
              <a:t>. </a:t>
            </a:r>
          </a:p>
          <a:p>
            <a:pPr eaLnBrk="1" hangingPunct="1">
              <a:lnSpc>
                <a:spcPct val="150000"/>
              </a:lnSpc>
            </a:pPr>
            <a:r>
              <a:rPr lang="en-US" altLang="zh-CN"/>
              <a:t>if x = e(b), then d(x</a:t>
            </a:r>
            <a:r>
              <a:rPr lang="en-US" altLang="zh-CN" baseline="-25000"/>
              <a:t>t</a:t>
            </a:r>
            <a:r>
              <a:rPr lang="en-US" altLang="zh-CN"/>
              <a:t>) = b.</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graphicFrame>
        <p:nvGraphicFramePr>
          <p:cNvPr id="6" name="Object 4"/>
          <p:cNvGraphicFramePr>
            <a:graphicFrameLocks noChangeAspect="1"/>
          </p:cNvGraphicFramePr>
          <p:nvPr/>
        </p:nvGraphicFramePr>
        <p:xfrm>
          <a:off x="1775881" y="4528458"/>
          <a:ext cx="7924800" cy="2103438"/>
        </p:xfrm>
        <a:graphic>
          <a:graphicData uri="http://schemas.openxmlformats.org/presentationml/2006/ole">
            <mc:AlternateContent xmlns:mc="http://schemas.openxmlformats.org/markup-compatibility/2006">
              <mc:Choice xmlns:v="urn:schemas-microsoft-com:vml" Requires="v">
                <p:oleObj name="Bitmap Image" r:id="rId3" imgW="6534150" imgH="1733550" progId="Paint.Picture">
                  <p:embed/>
                </p:oleObj>
              </mc:Choice>
              <mc:Fallback>
                <p:oleObj name="Bitmap Image" r:id="rId3" imgW="6534150" imgH="1733550" progId="Paint.Picture">
                  <p:embed/>
                  <p:pic>
                    <p:nvPicPr>
                      <p:cNvPr id="6" name="Object 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75881" y="4528458"/>
                        <a:ext cx="7924800" cy="2103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文本框 6"/>
          <p:cNvSpPr txBox="1"/>
          <p:nvPr/>
        </p:nvSpPr>
        <p:spPr>
          <a:xfrm>
            <a:off x="3866146" y="721364"/>
            <a:ext cx="5620754" cy="707886"/>
          </a:xfrm>
          <a:prstGeom prst="rect">
            <a:avLst/>
          </a:prstGeom>
          <a:noFill/>
        </p:spPr>
        <p:txBody>
          <a:bodyPr wrap="square" rtlCol="0">
            <a:spAutoFit/>
          </a:bodyPr>
          <a:lstStyle/>
          <a:p>
            <a:pPr algn="ctr"/>
            <a:r>
              <a:rPr lang="en-US" altLang="zh-CN" sz="4000" b="1"/>
              <a:t>Decoding table(</a:t>
            </a:r>
            <a:r>
              <a:rPr lang="zh-CN" altLang="en-US" sz="4000" b="1"/>
              <a:t>译码表</a:t>
            </a:r>
            <a:r>
              <a:rPr lang="en-US" altLang="zh-CN" sz="4000" b="1"/>
              <a:t>)</a:t>
            </a:r>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p:cNvSpPr>
          <p:nvPr>
            <p:ph idx="1"/>
          </p:nvPr>
        </p:nvSpPr>
        <p:spPr>
          <a:xfrm>
            <a:off x="428625" y="1632585"/>
            <a:ext cx="8229600" cy="4525963"/>
          </a:xfrm>
        </p:spPr>
        <p:txBody>
          <a:bodyPr vert="horz" wrap="square" lIns="91440" tIns="45720" rIns="91440" bIns="45720" anchor="t" anchorCtr="0"/>
          <a:lstStyle/>
          <a:p>
            <a:pPr eaLnBrk="1" hangingPunct="1"/>
            <a:r>
              <a:rPr lang="en-US" altLang="zh-CN" dirty="0"/>
              <a:t>Consider the (3, 6) group code </a:t>
            </a:r>
          </a:p>
          <a:p>
            <a:pPr marL="457200" lvl="1" indent="0" eaLnBrk="1" hangingPunct="1">
              <a:buNone/>
            </a:pPr>
            <a:r>
              <a:rPr lang="en-US" altLang="zh-CN" i="1" dirty="0"/>
              <a:t>N </a:t>
            </a:r>
            <a:r>
              <a:rPr lang="en-US" altLang="zh-CN" dirty="0"/>
              <a:t>= {000000, 001100, 010011, 011111, 100101, 101001, 110110, 111010}</a:t>
            </a:r>
          </a:p>
          <a:p>
            <a:pPr marL="457200" lvl="1" indent="0" eaLnBrk="1" hangingPunct="1">
              <a:buNone/>
            </a:pPr>
            <a:r>
              <a:rPr lang="en-US" altLang="zh-CN" dirty="0"/>
              <a:t>= {</a:t>
            </a:r>
            <a:r>
              <a:rPr lang="en-US" altLang="zh-CN" i="1" dirty="0"/>
              <a:t>x</a:t>
            </a:r>
            <a:r>
              <a:rPr lang="en-US" altLang="zh-CN" baseline="30000" dirty="0"/>
              <a:t>(1)</a:t>
            </a:r>
            <a:r>
              <a:rPr lang="en-US" altLang="zh-CN" dirty="0"/>
              <a:t>, </a:t>
            </a:r>
            <a:r>
              <a:rPr lang="en-US" altLang="zh-CN" i="1" dirty="0"/>
              <a:t>x</a:t>
            </a:r>
            <a:r>
              <a:rPr lang="en-US" altLang="zh-CN" baseline="30000" dirty="0"/>
              <a:t>(2)</a:t>
            </a:r>
            <a:r>
              <a:rPr lang="en-US" altLang="zh-CN" dirty="0"/>
              <a:t>,..., </a:t>
            </a:r>
            <a:r>
              <a:rPr lang="en-US" altLang="zh-CN" i="1" dirty="0"/>
              <a:t>x</a:t>
            </a:r>
            <a:r>
              <a:rPr lang="en-US" altLang="zh-CN" baseline="30000" dirty="0"/>
              <a:t>(8)</a:t>
            </a:r>
            <a:r>
              <a:rPr lang="en-US" altLang="zh-CN" dirty="0"/>
              <a:t>}.</a:t>
            </a:r>
          </a:p>
        </p:txBody>
      </p:sp>
      <p:sp>
        <p:nvSpPr>
          <p:cNvPr id="3" name="文本框 2"/>
          <p:cNvSpPr txBox="1">
            <a:spLocks noRot="1" noChangeAspect="1" noMove="1" noResize="1" noEditPoints="1" noAdjustHandles="1" noChangeArrowheads="1" noChangeShapeType="1" noTextEdit="1"/>
          </p:cNvSpPr>
          <p:nvPr/>
        </p:nvSpPr>
        <p:spPr>
          <a:xfrm>
            <a:off x="643826" y="4043670"/>
            <a:ext cx="2160240" cy="2059025"/>
          </a:xfrm>
          <a:prstGeom prst="rect">
            <a:avLst/>
          </a:prstGeom>
          <a:blipFill>
            <a:blip r:embed="rId2"/>
            <a:stretch>
              <a:fillRect l="-8757"/>
            </a:stretch>
          </a:blipFill>
        </p:spPr>
        <p:txBody>
          <a:bodyPr/>
          <a:lstStyle/>
          <a:p>
            <a:r>
              <a:rPr lang="zh-CN" altLang="en-US">
                <a:noFill/>
              </a:rPr>
              <a:t> </a:t>
            </a:r>
          </a:p>
        </p:txBody>
      </p:sp>
      <p:sp>
        <p:nvSpPr>
          <p:cNvPr id="8" name="文本框 7"/>
          <p:cNvSpPr txBox="1">
            <a:spLocks noRot="1" noChangeAspect="1" noMove="1" noResize="1" noEditPoints="1" noAdjustHandles="1" noChangeArrowheads="1" noChangeShapeType="1" noTextEdit="1"/>
          </p:cNvSpPr>
          <p:nvPr/>
        </p:nvSpPr>
        <p:spPr>
          <a:xfrm>
            <a:off x="2588042" y="3757769"/>
            <a:ext cx="7416823" cy="2780634"/>
          </a:xfrm>
          <a:prstGeom prst="rect">
            <a:avLst/>
          </a:prstGeom>
          <a:blipFill>
            <a:blip r:embed="rId3"/>
            <a:stretch>
              <a:fillRect/>
            </a:stretch>
          </a:blipFill>
        </p:spPr>
        <p:txBody>
          <a:bodyPr/>
          <a:lstStyle/>
          <a:p>
            <a:r>
              <a:rPr lang="zh-CN" altLang="en-US">
                <a:noFill/>
              </a:rPr>
              <a:t> </a:t>
            </a:r>
          </a:p>
        </p:txBody>
      </p:sp>
      <p:sp>
        <p:nvSpPr>
          <p:cNvPr id="6" name="文本框 5"/>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
        <p:nvSpPr>
          <p:cNvPr id="2" name="文本框 1"/>
          <p:cNvSpPr txBox="1"/>
          <p:nvPr/>
        </p:nvSpPr>
        <p:spPr>
          <a:xfrm>
            <a:off x="4641533" y="926465"/>
            <a:ext cx="2193925" cy="583565"/>
          </a:xfrm>
          <a:prstGeom prst="rect">
            <a:avLst/>
          </a:prstGeom>
          <a:noFill/>
        </p:spPr>
        <p:txBody>
          <a:bodyPr wrap="none" rtlCol="0" anchor="t">
            <a:spAutoFit/>
          </a:bodyPr>
          <a:lstStyle/>
          <a:p>
            <a:pPr algn="ctr" eaLnBrk="1" hangingPunct="1"/>
            <a:r>
              <a:rPr lang="en-US" altLang="zh-CN" sz="3200" b="1" kern="0" dirty="0">
                <a:cs typeface="+mn-ea"/>
                <a:sym typeface="+mn-ea"/>
              </a:rPr>
              <a:t>Example 4</a:t>
            </a:r>
            <a:endParaRPr lang="en-US" altLang="zh-CN" sz="3200" b="1" kern="0" dirty="0">
              <a:cs typeface="+mn-ea"/>
            </a:endParaRPr>
          </a:p>
        </p:txBody>
      </p:sp>
    </p:spTree>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9091" name="Rectangle 3"/>
          <p:cNvSpPr>
            <a:spLocks noGrp="1"/>
          </p:cNvSpPr>
          <p:nvPr>
            <p:ph idx="1"/>
          </p:nvPr>
        </p:nvSpPr>
        <p:spPr>
          <a:xfrm>
            <a:off x="1194435" y="1758950"/>
            <a:ext cx="10072370" cy="4114800"/>
          </a:xfrm>
        </p:spPr>
        <p:txBody>
          <a:bodyPr vert="horz" wrap="square" lIns="91440" tIns="45720" rIns="91440" bIns="45720" anchor="t" anchorCtr="0"/>
          <a:lstStyle/>
          <a:p>
            <a:pPr marL="0" indent="0" eaLnBrk="1" hangingPunct="1">
              <a:buNone/>
            </a:pPr>
            <a:r>
              <a:rPr lang="en-US" altLang="zh-CN" sz="1800" b="1" dirty="0">
                <a:latin typeface="Courier New" panose="02070309020205020404" pitchFamily="49" charset="0"/>
              </a:rPr>
              <a:t>==============================================================</a:t>
            </a:r>
          </a:p>
          <a:p>
            <a:pPr marL="0" indent="0" eaLnBrk="1" hangingPunct="1">
              <a:buNone/>
            </a:pPr>
            <a:r>
              <a:rPr lang="en-US" altLang="zh-CN" sz="1800" b="1" dirty="0">
                <a:latin typeface="Courier New" panose="02070309020205020404" pitchFamily="49" charset="0"/>
              </a:rPr>
              <a:t>000000  001100  010011  011111  100101  101001  110110  111010</a:t>
            </a:r>
          </a:p>
          <a:p>
            <a:pPr marL="0" indent="0" eaLnBrk="1" hangingPunct="1">
              <a:buNone/>
            </a:pPr>
            <a:r>
              <a:rPr lang="en-US" altLang="zh-CN" sz="1800" b="1" dirty="0">
                <a:latin typeface="Courier New" panose="02070309020205020404" pitchFamily="49" charset="0"/>
              </a:rPr>
              <a:t>--------------------------------------------------------------</a:t>
            </a:r>
          </a:p>
          <a:p>
            <a:pPr marL="0" indent="0" eaLnBrk="1" hangingPunct="1">
              <a:buNone/>
            </a:pPr>
            <a:r>
              <a:rPr lang="en-US" altLang="zh-CN" sz="1800" b="1" dirty="0">
                <a:latin typeface="Courier New" panose="02070309020205020404" pitchFamily="49" charset="0"/>
              </a:rPr>
              <a:t>000001  001101  010010  111110  100100  101000  110111  111011</a:t>
            </a:r>
          </a:p>
          <a:p>
            <a:pPr marL="0" indent="0" eaLnBrk="1" hangingPunct="1">
              <a:buNone/>
            </a:pPr>
            <a:r>
              <a:rPr lang="en-US" altLang="zh-CN" sz="1800" b="1" dirty="0">
                <a:latin typeface="Courier New" panose="02070309020205020404" pitchFamily="49" charset="0"/>
              </a:rPr>
              <a:t>000010  001110  010001  011101  100111  101011  110100  111000</a:t>
            </a:r>
          </a:p>
          <a:p>
            <a:pPr marL="0" indent="0" eaLnBrk="1" hangingPunct="1">
              <a:buNone/>
            </a:pPr>
            <a:r>
              <a:rPr lang="en-US" altLang="zh-CN" sz="1800" b="1" dirty="0">
                <a:latin typeface="Courier New" panose="02070309020205020404" pitchFamily="49" charset="0"/>
              </a:rPr>
              <a:t>000100  001000  010111  011011  100001  101101  110010  111110</a:t>
            </a:r>
          </a:p>
          <a:p>
            <a:pPr marL="0" indent="0" eaLnBrk="1" hangingPunct="1">
              <a:buNone/>
            </a:pPr>
            <a:r>
              <a:rPr lang="en-US" altLang="zh-CN" sz="1800" b="1" dirty="0">
                <a:latin typeface="Courier New" panose="02070309020205020404" pitchFamily="49" charset="0"/>
              </a:rPr>
              <a:t>010000  011100  000011  001111  110101  111001  100110  101010</a:t>
            </a:r>
          </a:p>
          <a:p>
            <a:pPr marL="0" indent="0" eaLnBrk="1" hangingPunct="1">
              <a:buNone/>
            </a:pPr>
            <a:r>
              <a:rPr lang="en-US" altLang="zh-CN" sz="1800" b="1" dirty="0">
                <a:latin typeface="Courier New" panose="02070309020205020404" pitchFamily="49" charset="0"/>
              </a:rPr>
              <a:t>100000  101100  110011  111111  </a:t>
            </a:r>
            <a:r>
              <a:rPr lang="en-US" altLang="zh-CN" sz="1800" b="1" u="sng" dirty="0">
                <a:solidFill>
                  <a:schemeClr val="hlink"/>
                </a:solidFill>
                <a:latin typeface="Courier New" panose="02070309020205020404" pitchFamily="49" charset="0"/>
              </a:rPr>
              <a:t>000101</a:t>
            </a:r>
            <a:r>
              <a:rPr lang="en-US" altLang="zh-CN" sz="1800" b="1" dirty="0">
                <a:latin typeface="Courier New" panose="02070309020205020404" pitchFamily="49" charset="0"/>
              </a:rPr>
              <a:t>  001001  010110  011010</a:t>
            </a:r>
          </a:p>
          <a:p>
            <a:pPr marL="0" indent="0" eaLnBrk="1" hangingPunct="1">
              <a:buNone/>
            </a:pPr>
            <a:r>
              <a:rPr lang="en-US" altLang="zh-CN" sz="1800" b="1" dirty="0">
                <a:latin typeface="Courier New" panose="02070309020205020404" pitchFamily="49" charset="0"/>
              </a:rPr>
              <a:t>000110  001010  </a:t>
            </a:r>
            <a:r>
              <a:rPr lang="en-US" altLang="zh-CN" sz="1800" b="1" u="sng" dirty="0">
                <a:latin typeface="Courier New" panose="02070309020205020404" pitchFamily="49" charset="0"/>
              </a:rPr>
              <a:t>010101</a:t>
            </a:r>
            <a:r>
              <a:rPr lang="en-US" altLang="zh-CN" sz="1800" b="1" dirty="0">
                <a:latin typeface="Courier New" panose="02070309020205020404" pitchFamily="49" charset="0"/>
              </a:rPr>
              <a:t>  011001  100011  101111  110000  111100</a:t>
            </a:r>
          </a:p>
          <a:p>
            <a:pPr marL="0" indent="0" eaLnBrk="1" hangingPunct="1">
              <a:buNone/>
            </a:pPr>
            <a:r>
              <a:rPr lang="en-US" altLang="zh-CN" sz="1800" b="1" dirty="0">
                <a:latin typeface="Courier New" panose="02070309020205020404" pitchFamily="49" charset="0"/>
              </a:rPr>
              <a:t>010100  011000  000111  001011  110001  111101  100010  101110</a:t>
            </a:r>
          </a:p>
          <a:p>
            <a:pPr marL="0" indent="0" eaLnBrk="1" hangingPunct="1">
              <a:buNone/>
            </a:pPr>
            <a:r>
              <a:rPr lang="en-US" altLang="zh-CN" sz="1800" b="1" dirty="0">
                <a:latin typeface="Courier New" panose="02070309020205020404" pitchFamily="49" charset="0"/>
              </a:rPr>
              <a:t>==============================================================</a:t>
            </a:r>
          </a:p>
          <a:p>
            <a:pPr marL="0" indent="0" eaLnBrk="1" hangingPunct="1">
              <a:buNone/>
            </a:pPr>
            <a:r>
              <a:rPr lang="en-US" altLang="zh-CN" sz="1800" b="1" dirty="0">
                <a:latin typeface="Courier New" panose="02070309020205020404" pitchFamily="49" charset="0"/>
              </a:rPr>
              <a:t>001010  000110  011001  </a:t>
            </a:r>
            <a:r>
              <a:rPr lang="en-US" altLang="zh-CN" sz="1800" b="1" u="sng" dirty="0">
                <a:latin typeface="Courier New" panose="02070309020205020404" pitchFamily="49" charset="0"/>
              </a:rPr>
              <a:t>010101</a:t>
            </a:r>
            <a:r>
              <a:rPr lang="en-US" altLang="zh-CN" sz="1800" b="1" dirty="0">
                <a:latin typeface="Courier New" panose="02070309020205020404" pitchFamily="49" charset="0"/>
              </a:rPr>
              <a:t>  101111  100011  111100  110000</a:t>
            </a:r>
          </a:p>
        </p:txBody>
      </p:sp>
      <p:sp>
        <p:nvSpPr>
          <p:cNvPr id="3" name="文本框 2"/>
          <p:cNvSpPr txBox="1"/>
          <p:nvPr/>
        </p:nvSpPr>
        <p:spPr>
          <a:xfrm>
            <a:off x="1258570" y="1175385"/>
            <a:ext cx="5119370" cy="521970"/>
          </a:xfrm>
          <a:prstGeom prst="rect">
            <a:avLst/>
          </a:prstGeom>
          <a:noFill/>
        </p:spPr>
        <p:txBody>
          <a:bodyPr wrap="none" rtlCol="0" anchor="t">
            <a:spAutoFit/>
          </a:bodyPr>
          <a:lstStyle/>
          <a:p>
            <a:pPr eaLnBrk="1" hangingPunct="1"/>
            <a:r>
              <a:rPr lang="en-US" altLang="zh-CN" sz="2800" b="1" kern="0" dirty="0">
                <a:cs typeface="+mn-ea"/>
                <a:sym typeface="+mn-ea"/>
              </a:rPr>
              <a:t>Constructing decoding table:</a:t>
            </a:r>
            <a:endParaRPr lang="en-US" altLang="zh-CN" sz="2800" b="1" kern="0" dirty="0">
              <a:cs typeface="+mn-ea"/>
            </a:endParaRPr>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3" name="文本框 2"/>
          <p:cNvSpPr txBox="1"/>
          <p:nvPr/>
        </p:nvSpPr>
        <p:spPr>
          <a:xfrm>
            <a:off x="391160" y="1496695"/>
            <a:ext cx="9523095" cy="368300"/>
          </a:xfrm>
          <a:prstGeom prst="rect">
            <a:avLst/>
          </a:prstGeom>
          <a:noFill/>
        </p:spPr>
        <p:txBody>
          <a:bodyPr wrap="none" rtlCol="0" anchor="t">
            <a:spAutoFit/>
          </a:bodyPr>
          <a:lstStyle/>
          <a:p>
            <a:pPr eaLnBrk="1" hangingPunct="1"/>
            <a:r>
              <a:rPr lang="en-US" altLang="zh-CN" dirty="0">
                <a:sym typeface="+mn-ea"/>
              </a:rPr>
              <a:t>Suppose that the (</a:t>
            </a:r>
            <a:r>
              <a:rPr lang="en-US" altLang="zh-CN" i="1" dirty="0">
                <a:sym typeface="+mn-ea"/>
              </a:rPr>
              <a:t>m, n</a:t>
            </a:r>
            <a:r>
              <a:rPr lang="en-US" altLang="zh-CN" dirty="0">
                <a:sym typeface="+mn-ea"/>
              </a:rPr>
              <a:t>)  group code is </a:t>
            </a:r>
            <a:r>
              <a:rPr lang="en-US" altLang="zh-CN" i="1" dirty="0">
                <a:sym typeface="+mn-ea"/>
              </a:rPr>
              <a:t>e</a:t>
            </a:r>
            <a:r>
              <a:rPr lang="en-US" altLang="zh-CN" i="1" baseline="-25000" dirty="0">
                <a:sym typeface="+mn-ea"/>
              </a:rPr>
              <a:t>H</a:t>
            </a:r>
            <a:r>
              <a:rPr lang="en-US" altLang="zh-CN" dirty="0">
                <a:sym typeface="+mn-ea"/>
              </a:rPr>
              <a:t>: </a:t>
            </a:r>
            <a:r>
              <a:rPr lang="en-US" altLang="zh-CN" i="1" dirty="0">
                <a:sym typeface="+mn-ea"/>
              </a:rPr>
              <a:t>B</a:t>
            </a:r>
            <a:r>
              <a:rPr lang="en-US" altLang="zh-CN" i="1" baseline="30000" dirty="0">
                <a:sym typeface="+mn-ea"/>
              </a:rPr>
              <a:t>m</a:t>
            </a:r>
            <a:r>
              <a:rPr lang="en-US" altLang="zh-CN" dirty="0">
                <a:sym typeface="+mn-ea"/>
              </a:rPr>
              <a:t> </a:t>
            </a:r>
            <a:r>
              <a:rPr lang="en-US" altLang="zh-CN" dirty="0">
                <a:sym typeface="Symbol" panose="05050102010706020507" pitchFamily="18" charset="2"/>
              </a:rPr>
              <a:t></a:t>
            </a:r>
            <a:r>
              <a:rPr lang="en-US" altLang="zh-CN" dirty="0">
                <a:sym typeface="+mn-ea"/>
              </a:rPr>
              <a:t> </a:t>
            </a:r>
            <a:r>
              <a:rPr lang="en-US" altLang="zh-CN" i="1" dirty="0">
                <a:sym typeface="+mn-ea"/>
              </a:rPr>
              <a:t>B</a:t>
            </a:r>
            <a:r>
              <a:rPr lang="en-US" altLang="zh-CN" i="1" baseline="30000" dirty="0">
                <a:sym typeface="+mn-ea"/>
              </a:rPr>
              <a:t>n</a:t>
            </a:r>
            <a:r>
              <a:rPr lang="en-US" altLang="zh-CN" i="1" dirty="0">
                <a:sym typeface="+mn-ea"/>
              </a:rPr>
              <a:t> </a:t>
            </a:r>
            <a:r>
              <a:rPr lang="en-US" altLang="zh-CN" dirty="0">
                <a:sym typeface="+mn-ea"/>
              </a:rPr>
              <a:t>, where </a:t>
            </a:r>
            <a:r>
              <a:rPr lang="en-US" altLang="zh-CN" b="1" dirty="0">
                <a:sym typeface="+mn-ea"/>
              </a:rPr>
              <a:t>H</a:t>
            </a:r>
            <a:r>
              <a:rPr lang="en-US" altLang="zh-CN" dirty="0">
                <a:sym typeface="+mn-ea"/>
              </a:rPr>
              <a:t> is a given parity check matrix. </a:t>
            </a:r>
            <a:endParaRPr lang="zh-CN" altLang="en-US"/>
          </a:p>
        </p:txBody>
      </p:sp>
      <p:graphicFrame>
        <p:nvGraphicFramePr>
          <p:cNvPr id="90116" name="Object 4"/>
          <p:cNvGraphicFramePr>
            <a:graphicFrameLocks noChangeAspect="1"/>
          </p:cNvGraphicFramePr>
          <p:nvPr/>
        </p:nvGraphicFramePr>
        <p:xfrm>
          <a:off x="499110" y="1985010"/>
          <a:ext cx="4071938" cy="3429000"/>
        </p:xfrm>
        <a:graphic>
          <a:graphicData uri="http://schemas.openxmlformats.org/presentationml/2006/ole">
            <mc:AlternateContent xmlns:mc="http://schemas.openxmlformats.org/markup-compatibility/2006">
              <mc:Choice xmlns:v="urn:schemas-microsoft-com:vml" Requires="v">
                <p:oleObj r:id="rId2" imgW="2171700" imgH="1828800" progId="Equation.DSMT4">
                  <p:embed/>
                </p:oleObj>
              </mc:Choice>
              <mc:Fallback>
                <p:oleObj r:id="rId2" imgW="2171700" imgH="1828800" progId="Equation.DSMT4">
                  <p:embed/>
                  <p:pic>
                    <p:nvPicPr>
                      <p:cNvPr id="90116" name="Object 4"/>
                      <p:cNvPicPr/>
                      <p:nvPr/>
                    </p:nvPicPr>
                    <p:blipFill>
                      <a:blip r:embed="rId3"/>
                      <a:stretch>
                        <a:fillRect/>
                      </a:stretch>
                    </p:blipFill>
                    <p:spPr>
                      <a:xfrm>
                        <a:off x="499110" y="1985010"/>
                        <a:ext cx="4071938" cy="3429000"/>
                      </a:xfrm>
                      <a:prstGeom prst="rect">
                        <a:avLst/>
                      </a:prstGeom>
                      <a:noFill/>
                      <a:ln w="38100">
                        <a:noFill/>
                        <a:miter/>
                      </a:ln>
                    </p:spPr>
                  </p:pic>
                </p:oleObj>
              </mc:Fallback>
            </mc:AlternateContent>
          </a:graphicData>
        </a:graphic>
      </p:graphicFrame>
      <p:sp>
        <p:nvSpPr>
          <p:cNvPr id="4" name="文本框 3"/>
          <p:cNvSpPr txBox="1"/>
          <p:nvPr/>
        </p:nvSpPr>
        <p:spPr>
          <a:xfrm>
            <a:off x="2642870" y="624840"/>
            <a:ext cx="6190615" cy="829945"/>
          </a:xfrm>
          <a:prstGeom prst="rect">
            <a:avLst/>
          </a:prstGeom>
          <a:noFill/>
        </p:spPr>
        <p:txBody>
          <a:bodyPr wrap="none" rtlCol="0" anchor="t">
            <a:spAutoFit/>
          </a:bodyPr>
          <a:lstStyle/>
          <a:p>
            <a:pPr algn="l" eaLnBrk="1" hangingPunct="1">
              <a:lnSpc>
                <a:spcPct val="150000"/>
              </a:lnSpc>
              <a:buClrTx/>
              <a:buSzTx/>
              <a:buFontTx/>
            </a:pPr>
            <a:r>
              <a:rPr lang="en-US" altLang="zh-CN" sz="3200" b="1" kern="0" dirty="0">
                <a:cs typeface="+mn-ea"/>
                <a:sym typeface="+mn-ea"/>
              </a:rPr>
              <a:t>Simplified decoding technique </a:t>
            </a:r>
            <a:endParaRPr lang="en-US" altLang="zh-CN" sz="3200" b="1" kern="0" dirty="0">
              <a:cs typeface="+mn-ea"/>
            </a:endParaRPr>
          </a:p>
        </p:txBody>
      </p:sp>
      <p:sp>
        <p:nvSpPr>
          <p:cNvPr id="5" name="文本框 4"/>
          <p:cNvSpPr txBox="1"/>
          <p:nvPr/>
        </p:nvSpPr>
        <p:spPr>
          <a:xfrm>
            <a:off x="499110" y="5702300"/>
            <a:ext cx="9281160" cy="645160"/>
          </a:xfrm>
          <a:prstGeom prst="rect">
            <a:avLst/>
          </a:prstGeom>
          <a:noFill/>
        </p:spPr>
        <p:txBody>
          <a:bodyPr wrap="none" rtlCol="0" anchor="t">
            <a:spAutoFit/>
          </a:bodyPr>
          <a:lstStyle/>
          <a:p>
            <a:pPr eaLnBrk="1" hangingPunct="1"/>
            <a:r>
              <a:rPr lang="en-US" altLang="zh-CN" dirty="0">
                <a:sym typeface="+mn-ea"/>
              </a:rPr>
              <a:t>Then the function </a:t>
            </a:r>
            <a:r>
              <a:rPr lang="en-US" altLang="zh-CN" i="1" dirty="0">
                <a:sym typeface="+mn-ea"/>
              </a:rPr>
              <a:t>f</a:t>
            </a:r>
            <a:r>
              <a:rPr lang="en-US" altLang="zh-CN" i="1" baseline="-25000" dirty="0">
                <a:sym typeface="+mn-ea"/>
              </a:rPr>
              <a:t>H</a:t>
            </a:r>
            <a:r>
              <a:rPr lang="en-US" altLang="zh-CN" dirty="0">
                <a:sym typeface="+mn-ea"/>
              </a:rPr>
              <a:t>: </a:t>
            </a:r>
            <a:r>
              <a:rPr lang="en-US" altLang="zh-CN" i="1" dirty="0">
                <a:sym typeface="+mn-ea"/>
              </a:rPr>
              <a:t>B</a:t>
            </a:r>
            <a:r>
              <a:rPr lang="en-US" altLang="zh-CN" i="1" baseline="30000" dirty="0">
                <a:sym typeface="+mn-ea"/>
              </a:rPr>
              <a:t>n</a:t>
            </a:r>
            <a:r>
              <a:rPr lang="en-US" altLang="zh-CN" dirty="0">
                <a:sym typeface="+mn-ea"/>
              </a:rPr>
              <a:t> </a:t>
            </a:r>
            <a:r>
              <a:rPr lang="en-US" altLang="zh-CN" dirty="0">
                <a:sym typeface="Symbol" panose="05050102010706020507" pitchFamily="18" charset="2"/>
              </a:rPr>
              <a:t></a:t>
            </a:r>
            <a:r>
              <a:rPr lang="en-US" altLang="zh-CN" dirty="0">
                <a:sym typeface="+mn-ea"/>
              </a:rPr>
              <a:t> </a:t>
            </a:r>
            <a:r>
              <a:rPr lang="en-US" altLang="zh-CN" i="1" dirty="0">
                <a:sym typeface="+mn-ea"/>
              </a:rPr>
              <a:t>B</a:t>
            </a:r>
            <a:r>
              <a:rPr lang="en-US" altLang="zh-CN" i="1" baseline="30000" dirty="0">
                <a:sym typeface="+mn-ea"/>
              </a:rPr>
              <a:t>r</a:t>
            </a:r>
            <a:r>
              <a:rPr lang="en-US" altLang="zh-CN" dirty="0">
                <a:sym typeface="+mn-ea"/>
              </a:rPr>
              <a:t> defined  by </a:t>
            </a:r>
            <a:r>
              <a:rPr lang="en-US" altLang="zh-CN" i="1" dirty="0">
                <a:sym typeface="+mn-ea"/>
              </a:rPr>
              <a:t>f</a:t>
            </a:r>
            <a:r>
              <a:rPr lang="en-US" altLang="zh-CN" i="1" baseline="-25000" dirty="0">
                <a:sym typeface="+mn-ea"/>
              </a:rPr>
              <a:t>H</a:t>
            </a:r>
            <a:r>
              <a:rPr lang="en-US" altLang="zh-CN" dirty="0">
                <a:sym typeface="+mn-ea"/>
              </a:rPr>
              <a:t>(</a:t>
            </a:r>
            <a:r>
              <a:rPr lang="en-US" altLang="zh-CN" i="1" dirty="0">
                <a:sym typeface="+mn-ea"/>
              </a:rPr>
              <a:t>x</a:t>
            </a:r>
            <a:r>
              <a:rPr lang="en-US" altLang="zh-CN" dirty="0">
                <a:sym typeface="+mn-ea"/>
              </a:rPr>
              <a:t>) = </a:t>
            </a:r>
            <a:r>
              <a:rPr lang="en-US" altLang="zh-CN" i="1" dirty="0">
                <a:sym typeface="+mn-ea"/>
              </a:rPr>
              <a:t>x</a:t>
            </a:r>
            <a:r>
              <a:rPr lang="en-US" altLang="zh-CN" dirty="0">
                <a:sym typeface="+mn-ea"/>
              </a:rPr>
              <a:t>*H,  </a:t>
            </a:r>
            <a:r>
              <a:rPr lang="en-US" altLang="zh-CN" i="1" dirty="0">
                <a:sym typeface="+mn-ea"/>
              </a:rPr>
              <a:t>x</a:t>
            </a:r>
            <a:r>
              <a:rPr lang="en-US" altLang="zh-CN" dirty="0">
                <a:sym typeface="+mn-ea"/>
              </a:rPr>
              <a:t> </a:t>
            </a:r>
            <a:r>
              <a:rPr lang="en-US" altLang="zh-CN" dirty="0">
                <a:sym typeface="Symbol" panose="05050102010706020507" pitchFamily="18" charset="2"/>
              </a:rPr>
              <a:t></a:t>
            </a:r>
            <a:r>
              <a:rPr lang="en-US" altLang="zh-CN" dirty="0">
                <a:sym typeface="+mn-ea"/>
              </a:rPr>
              <a:t> </a:t>
            </a:r>
            <a:r>
              <a:rPr lang="en-US" altLang="zh-CN" i="1" dirty="0">
                <a:sym typeface="+mn-ea"/>
              </a:rPr>
              <a:t>B</a:t>
            </a:r>
            <a:r>
              <a:rPr lang="en-US" altLang="zh-CN" i="1" baseline="30000" dirty="0">
                <a:sym typeface="+mn-ea"/>
              </a:rPr>
              <a:t>n  </a:t>
            </a:r>
            <a:r>
              <a:rPr lang="en-US" altLang="zh-CN" dirty="0">
                <a:sym typeface="+mn-ea"/>
              </a:rPr>
              <a:t>is a homomorphism from the </a:t>
            </a:r>
          </a:p>
          <a:p>
            <a:pPr eaLnBrk="1" hangingPunct="1"/>
            <a:r>
              <a:rPr lang="en-US" altLang="zh-CN" dirty="0">
                <a:sym typeface="+mn-ea"/>
              </a:rPr>
              <a:t>group </a:t>
            </a:r>
            <a:r>
              <a:rPr lang="en-US" altLang="zh-CN" i="1" dirty="0">
                <a:sym typeface="+mn-ea"/>
              </a:rPr>
              <a:t>B</a:t>
            </a:r>
            <a:r>
              <a:rPr lang="en-US" altLang="zh-CN" i="1" baseline="30000" dirty="0">
                <a:sym typeface="+mn-ea"/>
              </a:rPr>
              <a:t>n</a:t>
            </a:r>
            <a:r>
              <a:rPr lang="en-US" altLang="zh-CN" dirty="0">
                <a:sym typeface="+mn-ea"/>
              </a:rPr>
              <a:t> to the group  </a:t>
            </a:r>
            <a:r>
              <a:rPr lang="en-US" altLang="zh-CN" i="1" dirty="0">
                <a:sym typeface="+mn-ea"/>
              </a:rPr>
              <a:t>B</a:t>
            </a:r>
            <a:r>
              <a:rPr lang="en-US" altLang="zh-CN" i="1" baseline="30000" dirty="0">
                <a:sym typeface="+mn-ea"/>
              </a:rPr>
              <a:t>r</a:t>
            </a:r>
            <a:r>
              <a:rPr lang="en-US" altLang="zh-CN" dirty="0">
                <a:sym typeface="+mn-ea"/>
              </a:rPr>
              <a:t>.</a:t>
            </a:r>
            <a:endParaRPr lang="zh-CN" altLang="en-US" dirty="0"/>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450850" y="1600200"/>
            <a:ext cx="8229600" cy="4525963"/>
          </a:xfrm>
        </p:spPr>
        <p:txBody>
          <a:bodyPr vert="horz" wrap="square" lIns="91440" tIns="45720" rIns="91440" bIns="45720" anchor="t" anchorCtr="0"/>
          <a:lstStyle/>
          <a:p>
            <a:pPr eaLnBrk="1" hangingPunct="1">
              <a:lnSpc>
                <a:spcPct val="90000"/>
              </a:lnSpc>
            </a:pPr>
            <a:r>
              <a:rPr lang="en-US" altLang="zh-CN" sz="3200" dirty="0">
                <a:sym typeface="+mn-ea"/>
              </a:rPr>
              <a:t>If </a:t>
            </a:r>
            <a:r>
              <a:rPr lang="en-US" altLang="zh-CN" sz="3200" i="1" dirty="0">
                <a:sym typeface="+mn-ea"/>
              </a:rPr>
              <a:t>m, n, r</a:t>
            </a:r>
            <a:r>
              <a:rPr lang="en-US" altLang="zh-CN" sz="3200" dirty="0">
                <a:sym typeface="+mn-ea"/>
              </a:rPr>
              <a:t>, H, and </a:t>
            </a:r>
            <a:r>
              <a:rPr lang="en-US" altLang="zh-CN" sz="3200" i="1" dirty="0">
                <a:sym typeface="+mn-ea"/>
              </a:rPr>
              <a:t>f</a:t>
            </a:r>
            <a:r>
              <a:rPr lang="en-US" altLang="zh-CN" sz="3200" i="1" baseline="-25000" dirty="0">
                <a:sym typeface="+mn-ea"/>
              </a:rPr>
              <a:t>H</a:t>
            </a:r>
            <a:r>
              <a:rPr lang="en-US" altLang="zh-CN" sz="3200" dirty="0">
                <a:sym typeface="+mn-ea"/>
              </a:rPr>
              <a:t> are as defined, then</a:t>
            </a:r>
            <a:endParaRPr lang="en-US" altLang="zh-CN" sz="3200" dirty="0"/>
          </a:p>
          <a:p>
            <a:pPr marL="457200" lvl="1" indent="0" eaLnBrk="1" hangingPunct="1">
              <a:lnSpc>
                <a:spcPct val="90000"/>
              </a:lnSpc>
              <a:buNone/>
            </a:pPr>
            <a:r>
              <a:rPr lang="en-US" altLang="zh-CN" sz="3200" i="1" dirty="0">
                <a:sym typeface="+mn-ea"/>
              </a:rPr>
              <a:t>f</a:t>
            </a:r>
            <a:r>
              <a:rPr lang="en-US" altLang="zh-CN" sz="3200" i="1" baseline="-25000" dirty="0">
                <a:sym typeface="+mn-ea"/>
              </a:rPr>
              <a:t>H</a:t>
            </a:r>
            <a:r>
              <a:rPr lang="en-US" altLang="zh-CN" sz="3200" dirty="0">
                <a:sym typeface="+mn-ea"/>
              </a:rPr>
              <a:t> is onto.</a:t>
            </a:r>
            <a:endParaRPr lang="en-US" altLang="zh-CN" sz="3200" dirty="0"/>
          </a:p>
          <a:p>
            <a:pPr eaLnBrk="1" hangingPunct="1">
              <a:lnSpc>
                <a:spcPct val="90000"/>
              </a:lnSpc>
            </a:pPr>
            <a:r>
              <a:rPr lang="en-US" altLang="zh-CN" sz="3200" dirty="0">
                <a:sym typeface="+mn-ea"/>
              </a:rPr>
              <a:t>Proof </a:t>
            </a:r>
            <a:endParaRPr lang="en-US" altLang="zh-CN" sz="3200" dirty="0"/>
          </a:p>
          <a:p>
            <a:pPr marL="457200" lvl="1" indent="0" eaLnBrk="1" hangingPunct="1">
              <a:lnSpc>
                <a:spcPct val="90000"/>
              </a:lnSpc>
              <a:buNone/>
            </a:pPr>
            <a:r>
              <a:rPr lang="en-US" altLang="zh-CN" sz="3200" dirty="0">
                <a:sym typeface="+mn-ea"/>
              </a:rPr>
              <a:t>Let </a:t>
            </a:r>
            <a:r>
              <a:rPr lang="en-US" altLang="zh-CN" sz="3200" i="1" dirty="0">
                <a:sym typeface="+mn-ea"/>
              </a:rPr>
              <a:t>b</a:t>
            </a:r>
            <a:r>
              <a:rPr lang="en-US" altLang="zh-CN" sz="3200" dirty="0">
                <a:sym typeface="+mn-ea"/>
              </a:rPr>
              <a:t> = </a:t>
            </a:r>
            <a:r>
              <a:rPr lang="en-US" altLang="zh-CN" sz="3200" i="1" dirty="0">
                <a:sym typeface="+mn-ea"/>
              </a:rPr>
              <a:t>b</a:t>
            </a:r>
            <a:r>
              <a:rPr lang="en-US" altLang="zh-CN" sz="3200" i="1" baseline="-25000" dirty="0">
                <a:sym typeface="+mn-ea"/>
              </a:rPr>
              <a:t>1</a:t>
            </a:r>
            <a:r>
              <a:rPr lang="en-US" altLang="zh-CN" sz="3200" i="1" dirty="0">
                <a:sym typeface="+mn-ea"/>
              </a:rPr>
              <a:t>b</a:t>
            </a:r>
            <a:r>
              <a:rPr lang="en-US" altLang="zh-CN" sz="3200" i="1" baseline="-25000" dirty="0">
                <a:sym typeface="+mn-ea"/>
              </a:rPr>
              <a:t>2</a:t>
            </a:r>
            <a:r>
              <a:rPr lang="en-US" altLang="zh-CN" sz="3200" i="1" dirty="0">
                <a:sym typeface="+mn-ea"/>
              </a:rPr>
              <a:t>…b</a:t>
            </a:r>
            <a:r>
              <a:rPr lang="en-US" altLang="zh-CN" sz="3200" i="1" baseline="-25000" dirty="0">
                <a:sym typeface="+mn-ea"/>
              </a:rPr>
              <a:t>r</a:t>
            </a:r>
            <a:r>
              <a:rPr lang="en-US" altLang="zh-CN" sz="3200" dirty="0">
                <a:sym typeface="+mn-ea"/>
              </a:rPr>
              <a:t> be any element in </a:t>
            </a:r>
            <a:r>
              <a:rPr lang="en-US" altLang="zh-CN" sz="3200" i="1" dirty="0">
                <a:sym typeface="+mn-ea"/>
              </a:rPr>
              <a:t>B</a:t>
            </a:r>
            <a:r>
              <a:rPr lang="en-US" altLang="zh-CN" sz="3200" i="1" baseline="30000" dirty="0">
                <a:sym typeface="+mn-ea"/>
              </a:rPr>
              <a:t>r</a:t>
            </a:r>
            <a:r>
              <a:rPr lang="en-US" altLang="zh-CN" sz="3200" dirty="0">
                <a:sym typeface="+mn-ea"/>
              </a:rPr>
              <a:t>. </a:t>
            </a:r>
            <a:endParaRPr lang="en-US" altLang="zh-CN" sz="3200" dirty="0"/>
          </a:p>
          <a:p>
            <a:pPr marL="457200" lvl="1" indent="0" eaLnBrk="1" hangingPunct="1">
              <a:lnSpc>
                <a:spcPct val="90000"/>
              </a:lnSpc>
              <a:buNone/>
            </a:pPr>
            <a:r>
              <a:rPr lang="en-US" altLang="zh-CN" sz="3200" dirty="0">
                <a:sym typeface="+mn-ea"/>
              </a:rPr>
              <a:t>Letting </a:t>
            </a:r>
            <a:r>
              <a:rPr lang="en-US" altLang="zh-CN" sz="3200" i="1" dirty="0">
                <a:sym typeface="+mn-ea"/>
              </a:rPr>
              <a:t>x</a:t>
            </a:r>
            <a:r>
              <a:rPr lang="en-US" altLang="zh-CN" sz="3200" dirty="0">
                <a:sym typeface="+mn-ea"/>
              </a:rPr>
              <a:t> = 0</a:t>
            </a:r>
            <a:r>
              <a:rPr lang="en-US" altLang="zh-CN" sz="3200" baseline="-25000" dirty="0">
                <a:sym typeface="+mn-ea"/>
              </a:rPr>
              <a:t>1</a:t>
            </a:r>
            <a:r>
              <a:rPr lang="en-US" altLang="zh-CN" sz="3200" dirty="0">
                <a:sym typeface="+mn-ea"/>
              </a:rPr>
              <a:t>…0</a:t>
            </a:r>
            <a:r>
              <a:rPr lang="en-US" altLang="zh-CN" sz="3200" i="1" baseline="-25000" dirty="0">
                <a:sym typeface="+mn-ea"/>
              </a:rPr>
              <a:t>m</a:t>
            </a:r>
            <a:r>
              <a:rPr lang="en-US" altLang="zh-CN" sz="3200" i="1" dirty="0">
                <a:sym typeface="+mn-ea"/>
              </a:rPr>
              <a:t>b</a:t>
            </a:r>
            <a:r>
              <a:rPr lang="en-US" altLang="zh-CN" sz="3200" i="1" baseline="-25000" dirty="0">
                <a:sym typeface="+mn-ea"/>
              </a:rPr>
              <a:t>1</a:t>
            </a:r>
            <a:r>
              <a:rPr lang="en-US" altLang="zh-CN" sz="3200" i="1" dirty="0">
                <a:sym typeface="+mn-ea"/>
              </a:rPr>
              <a:t>b</a:t>
            </a:r>
            <a:r>
              <a:rPr lang="en-US" altLang="zh-CN" sz="3200" i="1" baseline="-25000" dirty="0">
                <a:sym typeface="+mn-ea"/>
              </a:rPr>
              <a:t>2</a:t>
            </a:r>
            <a:r>
              <a:rPr lang="en-US" altLang="zh-CN" sz="3200" i="1" dirty="0">
                <a:sym typeface="+mn-ea"/>
              </a:rPr>
              <a:t>…b</a:t>
            </a:r>
            <a:r>
              <a:rPr lang="en-US" altLang="zh-CN" sz="3200" i="1" baseline="-25000" dirty="0">
                <a:sym typeface="+mn-ea"/>
              </a:rPr>
              <a:t>r</a:t>
            </a:r>
            <a:r>
              <a:rPr lang="en-US" altLang="zh-CN" sz="3200" dirty="0">
                <a:sym typeface="+mn-ea"/>
              </a:rPr>
              <a:t> </a:t>
            </a:r>
            <a:endParaRPr lang="en-US" altLang="zh-CN" sz="3200" dirty="0"/>
          </a:p>
          <a:p>
            <a:pPr marL="457200" lvl="1" indent="0" eaLnBrk="1" hangingPunct="1">
              <a:lnSpc>
                <a:spcPct val="90000"/>
              </a:lnSpc>
              <a:buNone/>
            </a:pPr>
            <a:r>
              <a:rPr lang="en-US" altLang="zh-CN" sz="3200" dirty="0">
                <a:sym typeface="+mn-ea"/>
              </a:rPr>
              <a:t>Then </a:t>
            </a:r>
            <a:r>
              <a:rPr lang="en-US" altLang="zh-CN" sz="3200" i="1" dirty="0">
                <a:sym typeface="+mn-ea"/>
              </a:rPr>
              <a:t>x</a:t>
            </a:r>
            <a:r>
              <a:rPr lang="en-US" altLang="zh-CN" sz="3200" dirty="0">
                <a:sym typeface="+mn-ea"/>
              </a:rPr>
              <a:t>*H = </a:t>
            </a:r>
            <a:r>
              <a:rPr lang="en-US" altLang="zh-CN" sz="3200" i="1" dirty="0">
                <a:sym typeface="+mn-ea"/>
              </a:rPr>
              <a:t>b</a:t>
            </a:r>
            <a:r>
              <a:rPr lang="en-US" altLang="zh-CN" sz="3200" dirty="0">
                <a:sym typeface="+mn-ea"/>
              </a:rPr>
              <a:t>.</a:t>
            </a:r>
            <a:endParaRPr lang="en-US" altLang="zh-CN" sz="3200" dirty="0"/>
          </a:p>
          <a:p>
            <a:pPr marL="457200" lvl="1" indent="0" eaLnBrk="1" hangingPunct="1">
              <a:lnSpc>
                <a:spcPct val="90000"/>
              </a:lnSpc>
              <a:buNone/>
            </a:pPr>
            <a:r>
              <a:rPr lang="en-US" altLang="zh-CN" sz="3200" dirty="0">
                <a:sym typeface="+mn-ea"/>
              </a:rPr>
              <a:t>Thus </a:t>
            </a:r>
            <a:r>
              <a:rPr lang="en-US" altLang="zh-CN" sz="3200" i="1" dirty="0">
                <a:sym typeface="+mn-ea"/>
              </a:rPr>
              <a:t>f</a:t>
            </a:r>
            <a:r>
              <a:rPr lang="en-US" altLang="zh-CN" sz="3200" i="1" baseline="-25000" dirty="0">
                <a:sym typeface="+mn-ea"/>
              </a:rPr>
              <a:t>H</a:t>
            </a:r>
            <a:r>
              <a:rPr lang="en-US" altLang="zh-CN" sz="3200" dirty="0">
                <a:sym typeface="+mn-ea"/>
              </a:rPr>
              <a:t>(x) = </a:t>
            </a:r>
            <a:r>
              <a:rPr lang="en-US" altLang="zh-CN" sz="3200" i="1" dirty="0">
                <a:sym typeface="+mn-ea"/>
              </a:rPr>
              <a:t>b</a:t>
            </a:r>
            <a:r>
              <a:rPr lang="en-US" altLang="zh-CN" sz="3200" dirty="0">
                <a:sym typeface="+mn-ea"/>
              </a:rPr>
              <a:t>, so </a:t>
            </a:r>
            <a:r>
              <a:rPr lang="en-US" altLang="zh-CN" sz="3200" i="1" dirty="0">
                <a:sym typeface="+mn-ea"/>
              </a:rPr>
              <a:t>f</a:t>
            </a:r>
            <a:r>
              <a:rPr lang="en-US" altLang="zh-CN" sz="3200" i="1" baseline="-25000" dirty="0">
                <a:sym typeface="+mn-ea"/>
              </a:rPr>
              <a:t>H</a:t>
            </a:r>
            <a:r>
              <a:rPr lang="en-US" altLang="zh-CN" sz="3200" dirty="0">
                <a:sym typeface="+mn-ea"/>
              </a:rPr>
              <a:t> is onto.</a:t>
            </a:r>
            <a:endParaRPr lang="en-US" altLang="zh-CN" sz="3200" dirty="0"/>
          </a:p>
          <a:p>
            <a:pPr marL="3657600" lvl="8" indent="0" algn="r" eaLnBrk="1" hangingPunct="1">
              <a:lnSpc>
                <a:spcPct val="90000"/>
              </a:lnSpc>
              <a:buNone/>
            </a:pPr>
            <a:endParaRPr lang="en-US" altLang="zh-CN" dirty="0"/>
          </a:p>
        </p:txBody>
      </p:sp>
      <p:sp>
        <p:nvSpPr>
          <p:cNvPr id="3" name="文本框 2"/>
          <p:cNvSpPr txBox="1"/>
          <p:nvPr/>
        </p:nvSpPr>
        <p:spPr>
          <a:xfrm>
            <a:off x="3967480" y="812800"/>
            <a:ext cx="2752090" cy="829945"/>
          </a:xfrm>
          <a:prstGeom prst="rect">
            <a:avLst/>
          </a:prstGeom>
          <a:noFill/>
        </p:spPr>
        <p:txBody>
          <a:bodyPr wrap="square" rtlCol="0" anchor="t">
            <a:spAutoFit/>
          </a:bodyPr>
          <a:lstStyle/>
          <a:p>
            <a:pPr algn="l">
              <a:lnSpc>
                <a:spcPct val="150000"/>
              </a:lnSpc>
            </a:pPr>
            <a:r>
              <a:rPr lang="en-US" altLang="zh-CN" sz="3200" b="1" kern="0" dirty="0">
                <a:cs typeface="+mn-ea"/>
                <a:sym typeface="+mn-ea"/>
              </a:rPr>
              <a:t>Theorem 3</a:t>
            </a:r>
            <a:endParaRPr lang="en-US" altLang="zh-CN" sz="3200"/>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441325" y="1402080"/>
            <a:ext cx="9190355" cy="4526280"/>
          </a:xfrm>
        </p:spPr>
        <p:txBody>
          <a:bodyPr vert="horz" wrap="square" lIns="91440" tIns="45720" rIns="91440" bIns="45720" anchor="t" anchorCtr="0"/>
          <a:lstStyle/>
          <a:p>
            <a:pPr eaLnBrk="1" hangingPunct="1">
              <a:lnSpc>
                <a:spcPct val="150000"/>
              </a:lnSpc>
            </a:pPr>
            <a:r>
              <a:rPr lang="en-US" altLang="zh-CN" sz="3200" dirty="0">
                <a:sym typeface="+mn-ea"/>
              </a:rPr>
              <a:t>It follows from Corollary l of Section 9.5 that </a:t>
            </a:r>
            <a:r>
              <a:rPr lang="en-US" altLang="zh-CN" sz="3200" i="1" dirty="0">
                <a:sym typeface="+mn-ea"/>
              </a:rPr>
              <a:t>B</a:t>
            </a:r>
            <a:r>
              <a:rPr lang="en-US" altLang="zh-CN" sz="3200" i="1" baseline="30000" dirty="0">
                <a:sym typeface="+mn-ea"/>
              </a:rPr>
              <a:t>r</a:t>
            </a:r>
            <a:r>
              <a:rPr lang="en-US" altLang="zh-CN" sz="3200" dirty="0">
                <a:sym typeface="+mn-ea"/>
              </a:rPr>
              <a:t> and </a:t>
            </a:r>
            <a:r>
              <a:rPr lang="en-US" altLang="zh-CN" sz="3200" i="1" dirty="0">
                <a:sym typeface="+mn-ea"/>
              </a:rPr>
              <a:t>B</a:t>
            </a:r>
            <a:r>
              <a:rPr lang="en-US" altLang="zh-CN" sz="3200" i="1" baseline="30000" dirty="0">
                <a:sym typeface="+mn-ea"/>
              </a:rPr>
              <a:t>n</a:t>
            </a:r>
            <a:r>
              <a:rPr lang="en-US" altLang="zh-CN" sz="3200" dirty="0">
                <a:sym typeface="+mn-ea"/>
              </a:rPr>
              <a:t>/</a:t>
            </a:r>
            <a:r>
              <a:rPr lang="en-US" altLang="zh-CN" sz="3200" i="1" dirty="0">
                <a:sym typeface="+mn-ea"/>
              </a:rPr>
              <a:t>N</a:t>
            </a:r>
            <a:r>
              <a:rPr lang="en-US" altLang="zh-CN" sz="3200" dirty="0">
                <a:sym typeface="+mn-ea"/>
              </a:rPr>
              <a:t> are isomorphic, where </a:t>
            </a:r>
            <a:endParaRPr lang="en-US" altLang="zh-CN" sz="3200" dirty="0"/>
          </a:p>
          <a:p>
            <a:pPr marL="457200" lvl="1" indent="0" eaLnBrk="1" hangingPunct="1">
              <a:lnSpc>
                <a:spcPct val="150000"/>
              </a:lnSpc>
              <a:buNone/>
            </a:pPr>
            <a:r>
              <a:rPr lang="en-US" altLang="zh-CN" sz="3200" i="1" dirty="0">
                <a:sym typeface="+mn-ea"/>
              </a:rPr>
              <a:t>N</a:t>
            </a:r>
            <a:r>
              <a:rPr lang="en-US" altLang="zh-CN" sz="3200" dirty="0">
                <a:sym typeface="+mn-ea"/>
              </a:rPr>
              <a:t> = {</a:t>
            </a:r>
            <a:r>
              <a:rPr lang="en-US" altLang="zh-CN" sz="3200" i="1" dirty="0">
                <a:sym typeface="+mn-ea"/>
              </a:rPr>
              <a:t>x</a:t>
            </a:r>
            <a:r>
              <a:rPr lang="en-US" altLang="zh-CN" sz="3200" dirty="0">
                <a:sym typeface="+mn-ea"/>
              </a:rPr>
              <a:t> </a:t>
            </a:r>
            <a:r>
              <a:rPr lang="en-US" altLang="zh-CN" sz="3200" dirty="0">
                <a:sym typeface="Symbol" panose="05050102010706020507" pitchFamily="18" charset="2"/>
              </a:rPr>
              <a:t></a:t>
            </a:r>
            <a:r>
              <a:rPr lang="en-US" altLang="zh-CN" sz="3200" dirty="0">
                <a:sym typeface="+mn-ea"/>
              </a:rPr>
              <a:t> </a:t>
            </a:r>
            <a:r>
              <a:rPr lang="en-US" altLang="zh-CN" sz="3200" i="1" dirty="0">
                <a:sym typeface="+mn-ea"/>
              </a:rPr>
              <a:t>B</a:t>
            </a:r>
            <a:r>
              <a:rPr lang="en-US" altLang="zh-CN" sz="3200" i="1" baseline="30000" dirty="0">
                <a:sym typeface="+mn-ea"/>
              </a:rPr>
              <a:t>n</a:t>
            </a:r>
            <a:r>
              <a:rPr lang="en-US" altLang="zh-CN" sz="3200" dirty="0">
                <a:sym typeface="+mn-ea"/>
              </a:rPr>
              <a:t> | </a:t>
            </a:r>
            <a:r>
              <a:rPr lang="en-US" altLang="zh-CN" sz="3200" i="1" dirty="0">
                <a:sym typeface="+mn-ea"/>
              </a:rPr>
              <a:t>x</a:t>
            </a:r>
            <a:r>
              <a:rPr lang="en-US" altLang="zh-CN" sz="3200" dirty="0">
                <a:sym typeface="+mn-ea"/>
              </a:rPr>
              <a:t>*H = 0} = ker(</a:t>
            </a:r>
            <a:r>
              <a:rPr lang="en-US" altLang="zh-CN" sz="3200" i="1" dirty="0">
                <a:sym typeface="+mn-ea"/>
              </a:rPr>
              <a:t>f</a:t>
            </a:r>
            <a:r>
              <a:rPr lang="en-US" altLang="zh-CN" sz="3200" i="1" baseline="-25000" dirty="0">
                <a:sym typeface="+mn-ea"/>
              </a:rPr>
              <a:t>H</a:t>
            </a:r>
            <a:r>
              <a:rPr lang="en-US" altLang="zh-CN" sz="3200" dirty="0">
                <a:sym typeface="+mn-ea"/>
              </a:rPr>
              <a:t>) = </a:t>
            </a:r>
            <a:r>
              <a:rPr lang="en-US" altLang="zh-CN" sz="3200" i="1" dirty="0">
                <a:sym typeface="+mn-ea"/>
              </a:rPr>
              <a:t>e</a:t>
            </a:r>
            <a:r>
              <a:rPr lang="en-US" altLang="zh-CN" sz="3200" i="1" baseline="-25000" dirty="0">
                <a:sym typeface="+mn-ea"/>
              </a:rPr>
              <a:t>H</a:t>
            </a:r>
            <a:r>
              <a:rPr lang="en-US" altLang="zh-CN" sz="3200" dirty="0">
                <a:sym typeface="+mn-ea"/>
              </a:rPr>
              <a:t>(</a:t>
            </a:r>
            <a:r>
              <a:rPr lang="en-US" altLang="zh-CN" sz="3200" i="1" dirty="0">
                <a:sym typeface="+mn-ea"/>
              </a:rPr>
              <a:t>B</a:t>
            </a:r>
            <a:r>
              <a:rPr lang="en-US" altLang="zh-CN" sz="3200" i="1" baseline="30000" dirty="0">
                <a:sym typeface="+mn-ea"/>
              </a:rPr>
              <a:t>m</a:t>
            </a:r>
            <a:r>
              <a:rPr lang="en-US" altLang="zh-CN" sz="3200" dirty="0">
                <a:sym typeface="+mn-ea"/>
              </a:rPr>
              <a:t> ) </a:t>
            </a:r>
            <a:endParaRPr lang="en-US" altLang="zh-CN" sz="3200" dirty="0"/>
          </a:p>
          <a:p>
            <a:pPr marL="0" indent="0" eaLnBrk="1" hangingPunct="1">
              <a:lnSpc>
                <a:spcPct val="150000"/>
              </a:lnSpc>
              <a:buNone/>
            </a:pPr>
            <a:r>
              <a:rPr lang="en-US" altLang="zh-CN" sz="3200" dirty="0">
                <a:sym typeface="+mn-ea"/>
              </a:rPr>
              <a:t>   under the isomorphism g: </a:t>
            </a:r>
            <a:r>
              <a:rPr lang="en-US" altLang="zh-CN" sz="3200" i="1" dirty="0">
                <a:sym typeface="+mn-ea"/>
              </a:rPr>
              <a:t>B</a:t>
            </a:r>
            <a:r>
              <a:rPr lang="en-US" altLang="zh-CN" sz="3200" i="1" baseline="30000" dirty="0">
                <a:sym typeface="+mn-ea"/>
              </a:rPr>
              <a:t>n</a:t>
            </a:r>
            <a:r>
              <a:rPr lang="en-US" altLang="zh-CN" sz="3200" dirty="0">
                <a:sym typeface="+mn-ea"/>
              </a:rPr>
              <a:t>/</a:t>
            </a:r>
            <a:r>
              <a:rPr lang="en-US" altLang="zh-CN" sz="3200" i="1" dirty="0">
                <a:sym typeface="+mn-ea"/>
              </a:rPr>
              <a:t>N</a:t>
            </a:r>
            <a:r>
              <a:rPr lang="en-US" altLang="zh-CN" sz="3200" dirty="0">
                <a:sym typeface="+mn-ea"/>
              </a:rPr>
              <a:t> </a:t>
            </a:r>
            <a:r>
              <a:rPr lang="en-US" altLang="zh-CN" sz="3200" dirty="0">
                <a:sym typeface="Symbol" panose="05050102010706020507" pitchFamily="18" charset="2"/>
              </a:rPr>
              <a:t></a:t>
            </a:r>
            <a:r>
              <a:rPr lang="en-US" altLang="zh-CN" sz="3200" dirty="0">
                <a:sym typeface="+mn-ea"/>
              </a:rPr>
              <a:t> </a:t>
            </a:r>
            <a:r>
              <a:rPr lang="en-US" altLang="zh-CN" sz="3200" i="1" dirty="0">
                <a:sym typeface="+mn-ea"/>
              </a:rPr>
              <a:t>B</a:t>
            </a:r>
            <a:r>
              <a:rPr lang="en-US" altLang="zh-CN" sz="3200" i="1" baseline="30000" dirty="0">
                <a:sym typeface="+mn-ea"/>
              </a:rPr>
              <a:t>r </a:t>
            </a:r>
            <a:r>
              <a:rPr lang="en-US" altLang="zh-CN" sz="3200" dirty="0">
                <a:sym typeface="+mn-ea"/>
              </a:rPr>
              <a:t>defined       by </a:t>
            </a:r>
            <a:r>
              <a:rPr lang="en-US" altLang="zh-CN" sz="3200" i="1" dirty="0">
                <a:sym typeface="+mn-ea"/>
              </a:rPr>
              <a:t>g</a:t>
            </a:r>
            <a:r>
              <a:rPr lang="en-US" altLang="zh-CN" sz="3200" dirty="0">
                <a:sym typeface="+mn-ea"/>
              </a:rPr>
              <a:t>(</a:t>
            </a:r>
            <a:r>
              <a:rPr lang="en-US" altLang="zh-CN" sz="3200" i="1" dirty="0">
                <a:sym typeface="+mn-ea"/>
              </a:rPr>
              <a:t>xN</a:t>
            </a:r>
            <a:r>
              <a:rPr lang="en-US" altLang="zh-CN" sz="3200" dirty="0">
                <a:sym typeface="+mn-ea"/>
              </a:rPr>
              <a:t>) = </a:t>
            </a:r>
            <a:r>
              <a:rPr lang="en-US" altLang="zh-CN" sz="3200" i="1" dirty="0">
                <a:sym typeface="+mn-ea"/>
              </a:rPr>
              <a:t>f</a:t>
            </a:r>
            <a:r>
              <a:rPr lang="en-US" altLang="zh-CN" sz="3200" i="1" baseline="-25000" dirty="0">
                <a:sym typeface="+mn-ea"/>
              </a:rPr>
              <a:t>H</a:t>
            </a:r>
            <a:r>
              <a:rPr lang="en-US" altLang="zh-CN" sz="3200" dirty="0">
                <a:sym typeface="+mn-ea"/>
              </a:rPr>
              <a:t>(</a:t>
            </a:r>
            <a:r>
              <a:rPr lang="en-US" altLang="zh-CN" sz="3200" i="1" dirty="0">
                <a:sym typeface="+mn-ea"/>
              </a:rPr>
              <a:t>x</a:t>
            </a:r>
            <a:r>
              <a:rPr lang="en-US" altLang="zh-CN" sz="3200" dirty="0">
                <a:sym typeface="+mn-ea"/>
              </a:rPr>
              <a:t>) = </a:t>
            </a:r>
            <a:r>
              <a:rPr lang="en-US" altLang="zh-CN" sz="3200" i="1" dirty="0">
                <a:sym typeface="+mn-ea"/>
              </a:rPr>
              <a:t>x</a:t>
            </a:r>
            <a:r>
              <a:rPr lang="en-US" altLang="zh-CN" sz="3200" dirty="0">
                <a:sym typeface="+mn-ea"/>
              </a:rPr>
              <a:t>*H</a:t>
            </a:r>
            <a:endParaRPr lang="en-US" altLang="zh-CN" sz="3200" b="1" dirty="0"/>
          </a:p>
          <a:p>
            <a:pPr marL="0" indent="0" eaLnBrk="1" hangingPunct="1">
              <a:lnSpc>
                <a:spcPct val="150000"/>
              </a:lnSpc>
              <a:buNone/>
            </a:pPr>
            <a:r>
              <a:rPr lang="en-US" altLang="zh-CN" sz="3200" dirty="0">
                <a:sym typeface="+mn-ea"/>
              </a:rPr>
              <a:t>  The element </a:t>
            </a:r>
            <a:r>
              <a:rPr lang="en-US" altLang="zh-CN" sz="3200" i="1" dirty="0">
                <a:sym typeface="+mn-ea"/>
              </a:rPr>
              <a:t>x</a:t>
            </a:r>
            <a:r>
              <a:rPr lang="en-US" altLang="zh-CN" sz="3200" dirty="0">
                <a:sym typeface="+mn-ea"/>
              </a:rPr>
              <a:t>*H is called the </a:t>
            </a:r>
            <a:r>
              <a:rPr lang="en-US" altLang="zh-CN" sz="3200" i="1" dirty="0">
                <a:solidFill>
                  <a:schemeClr val="hlink"/>
                </a:solidFill>
                <a:sym typeface="+mn-ea"/>
              </a:rPr>
              <a:t>syndrome</a:t>
            </a:r>
            <a:r>
              <a:rPr lang="en-US" altLang="zh-CN" sz="3200" dirty="0">
                <a:sym typeface="+mn-ea"/>
              </a:rPr>
              <a:t> of </a:t>
            </a:r>
            <a:r>
              <a:rPr lang="en-US" altLang="zh-CN" sz="3200" i="1" dirty="0">
                <a:sym typeface="+mn-ea"/>
              </a:rPr>
              <a:t>x</a:t>
            </a:r>
            <a:endParaRPr lang="en-US" altLang="zh-CN" sz="3200" i="1" dirty="0"/>
          </a:p>
          <a:p>
            <a:pPr marL="0" indent="0" eaLnBrk="1" hangingPunct="1">
              <a:lnSpc>
                <a:spcPct val="150000"/>
              </a:lnSpc>
              <a:buNone/>
            </a:pPr>
            <a:endParaRPr lang="en-US" altLang="zh-CN" dirty="0"/>
          </a:p>
        </p:txBody>
      </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469900" y="1638935"/>
            <a:ext cx="9478010" cy="4526280"/>
          </a:xfrm>
        </p:spPr>
        <p:txBody>
          <a:bodyPr vert="horz" wrap="square" lIns="91440" tIns="45720" rIns="91440" bIns="45720" anchor="t" anchorCtr="0"/>
          <a:lstStyle/>
          <a:p>
            <a:pPr eaLnBrk="1" hangingPunct="1"/>
            <a:r>
              <a:rPr lang="en-US" altLang="zh-CN" sz="3200" dirty="0">
                <a:sym typeface="+mn-ea"/>
              </a:rPr>
              <a:t>Let </a:t>
            </a:r>
            <a:r>
              <a:rPr lang="en-US" altLang="zh-CN" sz="3200" i="1" dirty="0">
                <a:sym typeface="+mn-ea"/>
              </a:rPr>
              <a:t>x</a:t>
            </a:r>
            <a:r>
              <a:rPr lang="en-US" altLang="zh-CN" sz="3200" dirty="0">
                <a:sym typeface="+mn-ea"/>
              </a:rPr>
              <a:t> and </a:t>
            </a:r>
            <a:r>
              <a:rPr lang="en-US" altLang="zh-CN" sz="3200" i="1" dirty="0">
                <a:sym typeface="+mn-ea"/>
              </a:rPr>
              <a:t>y</a:t>
            </a:r>
            <a:r>
              <a:rPr lang="en-US" altLang="zh-CN" sz="3200" dirty="0">
                <a:sym typeface="+mn-ea"/>
              </a:rPr>
              <a:t> be elements in </a:t>
            </a:r>
            <a:r>
              <a:rPr lang="en-US" altLang="zh-CN" sz="3200" i="1" dirty="0">
                <a:sym typeface="+mn-ea"/>
              </a:rPr>
              <a:t>B</a:t>
            </a:r>
            <a:r>
              <a:rPr lang="en-US" altLang="zh-CN" sz="3200" i="1" baseline="30000" dirty="0">
                <a:sym typeface="+mn-ea"/>
              </a:rPr>
              <a:t>n</a:t>
            </a:r>
            <a:r>
              <a:rPr lang="en-US" altLang="zh-CN" sz="3200" dirty="0">
                <a:sym typeface="+mn-ea"/>
              </a:rPr>
              <a:t>. Then </a:t>
            </a:r>
            <a:r>
              <a:rPr lang="en-US" altLang="zh-CN" sz="3200" i="1" dirty="0">
                <a:sym typeface="+mn-ea"/>
              </a:rPr>
              <a:t>x</a:t>
            </a:r>
            <a:r>
              <a:rPr lang="en-US" altLang="zh-CN" sz="3200" dirty="0">
                <a:sym typeface="+mn-ea"/>
              </a:rPr>
              <a:t> and </a:t>
            </a:r>
            <a:r>
              <a:rPr lang="en-US" altLang="zh-CN" sz="3200" i="1" dirty="0">
                <a:sym typeface="+mn-ea"/>
              </a:rPr>
              <a:t>y</a:t>
            </a:r>
            <a:r>
              <a:rPr lang="en-US" altLang="zh-CN" sz="3200" dirty="0">
                <a:sym typeface="+mn-ea"/>
              </a:rPr>
              <a:t> lie in the same left coset of </a:t>
            </a:r>
            <a:r>
              <a:rPr lang="en-US" altLang="zh-CN" sz="3200" i="1" dirty="0">
                <a:sym typeface="+mn-ea"/>
              </a:rPr>
              <a:t>N</a:t>
            </a:r>
            <a:r>
              <a:rPr lang="en-US" altLang="zh-CN" sz="3200" dirty="0">
                <a:sym typeface="+mn-ea"/>
              </a:rPr>
              <a:t> in </a:t>
            </a:r>
            <a:r>
              <a:rPr lang="en-US" altLang="zh-CN" sz="3200" i="1" dirty="0">
                <a:sym typeface="+mn-ea"/>
              </a:rPr>
              <a:t>B</a:t>
            </a:r>
            <a:r>
              <a:rPr lang="en-US" altLang="zh-CN" sz="3200" i="1" baseline="30000" dirty="0">
                <a:sym typeface="+mn-ea"/>
              </a:rPr>
              <a:t>n</a:t>
            </a:r>
            <a:r>
              <a:rPr lang="en-US" altLang="zh-CN" sz="3200" dirty="0">
                <a:sym typeface="+mn-ea"/>
              </a:rPr>
              <a:t>  if and only if </a:t>
            </a:r>
            <a:r>
              <a:rPr lang="en-US" altLang="zh-CN" sz="3200" i="1" dirty="0">
                <a:sym typeface="+mn-ea"/>
              </a:rPr>
              <a:t>f</a:t>
            </a:r>
            <a:r>
              <a:rPr lang="en-US" altLang="zh-CN" sz="3200" i="1" baseline="-25000" dirty="0">
                <a:sym typeface="+mn-ea"/>
              </a:rPr>
              <a:t>H</a:t>
            </a:r>
            <a:r>
              <a:rPr lang="en-US" altLang="zh-CN" sz="3200" dirty="0">
                <a:sym typeface="+mn-ea"/>
              </a:rPr>
              <a:t>(</a:t>
            </a:r>
            <a:r>
              <a:rPr lang="en-US" altLang="zh-CN" sz="3200" i="1" dirty="0">
                <a:sym typeface="+mn-ea"/>
              </a:rPr>
              <a:t>x</a:t>
            </a:r>
            <a:r>
              <a:rPr lang="en-US" altLang="zh-CN" sz="3200" dirty="0">
                <a:sym typeface="+mn-ea"/>
              </a:rPr>
              <a:t>) = </a:t>
            </a:r>
            <a:r>
              <a:rPr lang="en-US" altLang="zh-CN" sz="3200" i="1" dirty="0">
                <a:sym typeface="+mn-ea"/>
              </a:rPr>
              <a:t>f</a:t>
            </a:r>
            <a:r>
              <a:rPr lang="en-US" altLang="zh-CN" sz="3200" i="1" baseline="-25000" dirty="0">
                <a:sym typeface="+mn-ea"/>
              </a:rPr>
              <a:t>H</a:t>
            </a:r>
            <a:r>
              <a:rPr lang="en-US" altLang="zh-CN" sz="3200" dirty="0">
                <a:sym typeface="+mn-ea"/>
              </a:rPr>
              <a:t>(</a:t>
            </a:r>
            <a:r>
              <a:rPr lang="en-US" altLang="zh-CN" sz="3200" i="1" dirty="0">
                <a:sym typeface="+mn-ea"/>
              </a:rPr>
              <a:t>y</a:t>
            </a:r>
            <a:r>
              <a:rPr lang="en-US" altLang="zh-CN" sz="3200" dirty="0">
                <a:sym typeface="+mn-ea"/>
              </a:rPr>
              <a:t>) </a:t>
            </a:r>
            <a:endParaRPr lang="en-US" altLang="zh-CN" sz="3200" dirty="0"/>
          </a:p>
          <a:p>
            <a:pPr marL="0" indent="0" eaLnBrk="1" hangingPunct="1">
              <a:buNone/>
            </a:pPr>
            <a:r>
              <a:rPr lang="en-US" altLang="zh-CN" sz="3200" dirty="0">
                <a:sym typeface="+mn-ea"/>
              </a:rPr>
              <a:t>    if and only if they have the same syndrome.</a:t>
            </a:r>
            <a:endParaRPr lang="en-US" altLang="zh-CN" dirty="0"/>
          </a:p>
        </p:txBody>
      </p:sp>
      <p:sp>
        <p:nvSpPr>
          <p:cNvPr id="3" name="文本框 2"/>
          <p:cNvSpPr txBox="1"/>
          <p:nvPr/>
        </p:nvSpPr>
        <p:spPr>
          <a:xfrm>
            <a:off x="3938905" y="742950"/>
            <a:ext cx="2752090" cy="829945"/>
          </a:xfrm>
          <a:prstGeom prst="rect">
            <a:avLst/>
          </a:prstGeom>
          <a:noFill/>
        </p:spPr>
        <p:txBody>
          <a:bodyPr wrap="square" rtlCol="0" anchor="t">
            <a:spAutoFit/>
          </a:bodyPr>
          <a:lstStyle/>
          <a:p>
            <a:pPr algn="l">
              <a:lnSpc>
                <a:spcPct val="150000"/>
              </a:lnSpc>
            </a:pPr>
            <a:r>
              <a:rPr lang="en-US" altLang="zh-CN" sz="3200" b="1" kern="0" dirty="0">
                <a:cs typeface="+mn-ea"/>
                <a:sym typeface="+mn-ea"/>
              </a:rPr>
              <a:t>Theorem 4</a:t>
            </a:r>
            <a:endParaRPr lang="en-US" altLang="zh-CN" sz="3200"/>
          </a:p>
        </p:txBody>
      </p:sp>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380365" y="1705610"/>
            <a:ext cx="8229600" cy="4525963"/>
          </a:xfrm>
        </p:spPr>
        <p:txBody>
          <a:bodyPr vert="horz" wrap="square" lIns="91440" tIns="45720" rIns="91440" bIns="45720" anchor="t" anchorCtr="0"/>
          <a:lstStyle/>
          <a:p>
            <a:pPr marL="0" indent="0" eaLnBrk="1" hangingPunct="1">
              <a:lnSpc>
                <a:spcPct val="90000"/>
              </a:lnSpc>
              <a:buNone/>
            </a:pPr>
            <a:r>
              <a:rPr lang="en-US" altLang="zh-CN" sz="3200" dirty="0">
                <a:sym typeface="+mn-ea"/>
              </a:rPr>
              <a:t>It follows from Theorem 4 of Section 9.5 that </a:t>
            </a:r>
            <a:r>
              <a:rPr lang="en-US" altLang="zh-CN" sz="3200" i="1" dirty="0">
                <a:sym typeface="+mn-ea"/>
              </a:rPr>
              <a:t>x</a:t>
            </a:r>
            <a:r>
              <a:rPr lang="en-US" altLang="zh-CN" sz="3200" dirty="0">
                <a:sym typeface="+mn-ea"/>
              </a:rPr>
              <a:t> and </a:t>
            </a:r>
            <a:r>
              <a:rPr lang="en-US" altLang="zh-CN" sz="3200" i="1" dirty="0">
                <a:sym typeface="+mn-ea"/>
              </a:rPr>
              <a:t>y</a:t>
            </a:r>
            <a:r>
              <a:rPr lang="en-US" altLang="zh-CN" sz="3200" dirty="0">
                <a:sym typeface="+mn-ea"/>
              </a:rPr>
              <a:t> lie in the same left coset of </a:t>
            </a:r>
            <a:r>
              <a:rPr lang="en-US" altLang="zh-CN" sz="3200" i="1" dirty="0">
                <a:sym typeface="+mn-ea"/>
              </a:rPr>
              <a:t>N</a:t>
            </a:r>
            <a:r>
              <a:rPr lang="en-US" altLang="zh-CN" sz="3200" dirty="0">
                <a:sym typeface="+mn-ea"/>
              </a:rPr>
              <a:t> in </a:t>
            </a:r>
            <a:r>
              <a:rPr lang="en-US" altLang="zh-CN" sz="3200" i="1" dirty="0">
                <a:sym typeface="+mn-ea"/>
              </a:rPr>
              <a:t>B</a:t>
            </a:r>
            <a:r>
              <a:rPr lang="en-US" altLang="zh-CN" sz="3200" i="1" baseline="30000" dirty="0">
                <a:sym typeface="+mn-ea"/>
              </a:rPr>
              <a:t>n</a:t>
            </a:r>
            <a:r>
              <a:rPr lang="en-US" altLang="zh-CN" sz="3200" dirty="0">
                <a:sym typeface="+mn-ea"/>
              </a:rPr>
              <a:t> if and only if </a:t>
            </a:r>
            <a:r>
              <a:rPr lang="en-US" altLang="zh-CN" sz="3200" i="1" dirty="0">
                <a:sym typeface="+mn-ea"/>
              </a:rPr>
              <a:t>x </a:t>
            </a:r>
            <a:r>
              <a:rPr lang="en-US" altLang="zh-CN" sz="3200" dirty="0">
                <a:sym typeface="Symbol" panose="05050102010706020507" pitchFamily="18" charset="2"/>
              </a:rPr>
              <a:t></a:t>
            </a:r>
            <a:r>
              <a:rPr lang="en-US" altLang="zh-CN" sz="3200" i="1" dirty="0">
                <a:sym typeface="+mn-ea"/>
              </a:rPr>
              <a:t> y</a:t>
            </a:r>
            <a:r>
              <a:rPr lang="en-US" altLang="zh-CN" sz="3200" dirty="0">
                <a:sym typeface="+mn-ea"/>
              </a:rPr>
              <a:t> = (-</a:t>
            </a:r>
            <a:r>
              <a:rPr lang="en-US" altLang="zh-CN" sz="3200" i="1" dirty="0">
                <a:sym typeface="+mn-ea"/>
              </a:rPr>
              <a:t>x</a:t>
            </a:r>
            <a:r>
              <a:rPr lang="en-US" altLang="zh-CN" sz="3200" dirty="0">
                <a:sym typeface="+mn-ea"/>
              </a:rPr>
              <a:t>) </a:t>
            </a:r>
            <a:r>
              <a:rPr lang="en-US" altLang="zh-CN" sz="3200" dirty="0">
                <a:sym typeface="Symbol" panose="05050102010706020507" pitchFamily="18" charset="2"/>
              </a:rPr>
              <a:t></a:t>
            </a:r>
            <a:r>
              <a:rPr lang="en-US" altLang="zh-CN" sz="3200" dirty="0">
                <a:sym typeface="+mn-ea"/>
              </a:rPr>
              <a:t> y </a:t>
            </a:r>
            <a:r>
              <a:rPr lang="en-US" altLang="zh-CN" sz="3200" dirty="0">
                <a:sym typeface="Symbol" panose="05050102010706020507" pitchFamily="18" charset="2"/>
              </a:rPr>
              <a:t></a:t>
            </a:r>
            <a:r>
              <a:rPr lang="en-US" altLang="zh-CN" sz="3200" dirty="0">
                <a:sym typeface="+mn-ea"/>
              </a:rPr>
              <a:t> </a:t>
            </a:r>
            <a:r>
              <a:rPr lang="en-US" altLang="zh-CN" sz="3200" i="1" dirty="0">
                <a:sym typeface="+mn-ea"/>
              </a:rPr>
              <a:t>N</a:t>
            </a:r>
            <a:r>
              <a:rPr lang="en-US" altLang="zh-CN" sz="3200" dirty="0">
                <a:sym typeface="+mn-ea"/>
              </a:rPr>
              <a:t>. </a:t>
            </a:r>
            <a:endParaRPr lang="en-US" altLang="zh-CN" sz="3200" dirty="0"/>
          </a:p>
          <a:p>
            <a:pPr marL="0" indent="0" eaLnBrk="1" hangingPunct="1">
              <a:lnSpc>
                <a:spcPct val="90000"/>
              </a:lnSpc>
              <a:buNone/>
            </a:pPr>
            <a:r>
              <a:rPr lang="en-US" altLang="zh-CN" sz="3200" dirty="0">
                <a:sym typeface="+mn-ea"/>
              </a:rPr>
              <a:t>Since </a:t>
            </a:r>
            <a:r>
              <a:rPr lang="en-US" altLang="zh-CN" sz="3200" i="1" dirty="0">
                <a:sym typeface="+mn-ea"/>
              </a:rPr>
              <a:t>N</a:t>
            </a:r>
            <a:r>
              <a:rPr lang="en-US" altLang="zh-CN" sz="3200" dirty="0">
                <a:sym typeface="+mn-ea"/>
              </a:rPr>
              <a:t> = ker(</a:t>
            </a:r>
            <a:r>
              <a:rPr lang="en-US" altLang="zh-CN" sz="3200" i="1" dirty="0">
                <a:sym typeface="+mn-ea"/>
              </a:rPr>
              <a:t>f</a:t>
            </a:r>
            <a:r>
              <a:rPr lang="en-US" altLang="zh-CN" sz="3200" i="1" baseline="-25000" dirty="0">
                <a:sym typeface="+mn-ea"/>
              </a:rPr>
              <a:t>H</a:t>
            </a:r>
            <a:r>
              <a:rPr lang="en-US" altLang="zh-CN" sz="3200" dirty="0">
                <a:sym typeface="+mn-ea"/>
              </a:rPr>
              <a:t>), </a:t>
            </a:r>
            <a:r>
              <a:rPr lang="en-US" altLang="zh-CN" sz="3200" i="1" dirty="0">
                <a:sym typeface="+mn-ea"/>
              </a:rPr>
              <a:t>x </a:t>
            </a:r>
            <a:r>
              <a:rPr lang="en-US" altLang="zh-CN" sz="3200" dirty="0">
                <a:sym typeface="Symbol" panose="05050102010706020507" pitchFamily="18" charset="2"/>
              </a:rPr>
              <a:t></a:t>
            </a:r>
            <a:r>
              <a:rPr lang="en-US" altLang="zh-CN" sz="3200" i="1" dirty="0">
                <a:sym typeface="+mn-ea"/>
              </a:rPr>
              <a:t> y</a:t>
            </a:r>
            <a:r>
              <a:rPr lang="en-US" altLang="zh-CN" sz="3200" dirty="0">
                <a:sym typeface="+mn-ea"/>
              </a:rPr>
              <a:t> </a:t>
            </a:r>
            <a:r>
              <a:rPr lang="en-US" altLang="zh-CN" sz="3200" dirty="0">
                <a:sym typeface="Symbol" panose="05050102010706020507" pitchFamily="18" charset="2"/>
              </a:rPr>
              <a:t></a:t>
            </a:r>
            <a:r>
              <a:rPr lang="en-US" altLang="zh-CN" sz="3200" dirty="0">
                <a:sym typeface="+mn-ea"/>
              </a:rPr>
              <a:t> N if and only if</a:t>
            </a:r>
            <a:endParaRPr lang="en-US" altLang="zh-CN" sz="3200" dirty="0"/>
          </a:p>
          <a:p>
            <a:pPr marL="457200" lvl="1" indent="0" eaLnBrk="1" hangingPunct="1">
              <a:lnSpc>
                <a:spcPct val="90000"/>
              </a:lnSpc>
              <a:buNone/>
            </a:pPr>
            <a:r>
              <a:rPr lang="en-US" altLang="zh-CN" sz="3200" i="1" dirty="0">
                <a:sym typeface="+mn-ea"/>
              </a:rPr>
              <a:t>f</a:t>
            </a:r>
            <a:r>
              <a:rPr lang="en-US" altLang="zh-CN" sz="3200" i="1" baseline="-25000" dirty="0">
                <a:sym typeface="+mn-ea"/>
              </a:rPr>
              <a:t>H</a:t>
            </a:r>
            <a:r>
              <a:rPr lang="en-US" altLang="zh-CN" sz="3200" dirty="0">
                <a:sym typeface="+mn-ea"/>
              </a:rPr>
              <a:t>(</a:t>
            </a:r>
            <a:r>
              <a:rPr lang="en-US" altLang="zh-CN" sz="3200" i="1" dirty="0">
                <a:sym typeface="+mn-ea"/>
              </a:rPr>
              <a:t>x </a:t>
            </a:r>
            <a:r>
              <a:rPr lang="en-US" altLang="zh-CN" sz="3200" dirty="0">
                <a:sym typeface="Symbol" panose="05050102010706020507" pitchFamily="18" charset="2"/>
              </a:rPr>
              <a:t></a:t>
            </a:r>
            <a:r>
              <a:rPr lang="en-US" altLang="zh-CN" sz="3200" i="1" dirty="0">
                <a:sym typeface="+mn-ea"/>
              </a:rPr>
              <a:t> y</a:t>
            </a:r>
            <a:r>
              <a:rPr lang="en-US" altLang="zh-CN" sz="3200" dirty="0">
                <a:sym typeface="+mn-ea"/>
              </a:rPr>
              <a:t>) = 0</a:t>
            </a:r>
            <a:r>
              <a:rPr lang="en-US" altLang="zh-CN" sz="3200" i="1" baseline="-25000" dirty="0">
                <a:sym typeface="+mn-ea"/>
              </a:rPr>
              <a:t>B</a:t>
            </a:r>
            <a:r>
              <a:rPr lang="en-US" altLang="zh-CN" sz="3200" i="1" baseline="-10000" dirty="0">
                <a:sym typeface="+mn-ea"/>
              </a:rPr>
              <a:t>r</a:t>
            </a:r>
            <a:endParaRPr lang="en-US" altLang="zh-CN" sz="3200" i="1" baseline="-10000" dirty="0"/>
          </a:p>
          <a:p>
            <a:pPr marL="457200" lvl="1" indent="0" eaLnBrk="1" hangingPunct="1">
              <a:lnSpc>
                <a:spcPct val="90000"/>
              </a:lnSpc>
              <a:buNone/>
            </a:pPr>
            <a:r>
              <a:rPr lang="en-US" altLang="zh-CN" sz="3200" i="1" dirty="0">
                <a:sym typeface="+mn-ea"/>
              </a:rPr>
              <a:t>f</a:t>
            </a:r>
            <a:r>
              <a:rPr lang="en-US" altLang="zh-CN" sz="3200" i="1" baseline="-25000" dirty="0">
                <a:sym typeface="+mn-ea"/>
              </a:rPr>
              <a:t>H</a:t>
            </a:r>
            <a:r>
              <a:rPr lang="en-US" altLang="zh-CN" sz="3200" dirty="0">
                <a:sym typeface="+mn-ea"/>
              </a:rPr>
              <a:t>(</a:t>
            </a:r>
            <a:r>
              <a:rPr lang="en-US" altLang="zh-CN" sz="3200" i="1" dirty="0">
                <a:sym typeface="+mn-ea"/>
              </a:rPr>
              <a:t>x</a:t>
            </a:r>
            <a:r>
              <a:rPr lang="en-US" altLang="zh-CN" sz="3200" dirty="0">
                <a:sym typeface="+mn-ea"/>
              </a:rPr>
              <a:t>) </a:t>
            </a:r>
            <a:r>
              <a:rPr lang="en-US" altLang="zh-CN" sz="3200" dirty="0">
                <a:sym typeface="Symbol" panose="05050102010706020507" pitchFamily="18" charset="2"/>
              </a:rPr>
              <a:t></a:t>
            </a:r>
            <a:r>
              <a:rPr lang="en-US" altLang="zh-CN" sz="3200" dirty="0">
                <a:sym typeface="+mn-ea"/>
              </a:rPr>
              <a:t> </a:t>
            </a:r>
            <a:r>
              <a:rPr lang="en-US" altLang="zh-CN" sz="3200" i="1" dirty="0">
                <a:sym typeface="+mn-ea"/>
              </a:rPr>
              <a:t>f</a:t>
            </a:r>
            <a:r>
              <a:rPr lang="en-US" altLang="zh-CN" sz="3200" i="1" baseline="-25000" dirty="0">
                <a:sym typeface="+mn-ea"/>
              </a:rPr>
              <a:t>H</a:t>
            </a:r>
            <a:r>
              <a:rPr lang="en-US" altLang="zh-CN" sz="3200" dirty="0">
                <a:sym typeface="+mn-ea"/>
              </a:rPr>
              <a:t>(y) = 0</a:t>
            </a:r>
            <a:r>
              <a:rPr lang="en-US" altLang="zh-CN" sz="3200" i="1" baseline="-25000" dirty="0">
                <a:sym typeface="+mn-ea"/>
              </a:rPr>
              <a:t>B</a:t>
            </a:r>
            <a:r>
              <a:rPr lang="en-US" altLang="zh-CN" sz="3200" i="1" baseline="-10000" dirty="0">
                <a:sym typeface="+mn-ea"/>
              </a:rPr>
              <a:t>r</a:t>
            </a:r>
            <a:endParaRPr lang="en-US" altLang="zh-CN" sz="3200" i="1" baseline="-10000" dirty="0"/>
          </a:p>
          <a:p>
            <a:pPr marL="457200" lvl="1" indent="0" eaLnBrk="1" hangingPunct="1">
              <a:lnSpc>
                <a:spcPct val="90000"/>
              </a:lnSpc>
              <a:buNone/>
            </a:pPr>
            <a:r>
              <a:rPr lang="en-US" altLang="zh-CN" sz="3200" i="1" dirty="0">
                <a:sym typeface="+mn-ea"/>
              </a:rPr>
              <a:t>f</a:t>
            </a:r>
            <a:r>
              <a:rPr lang="en-US" altLang="zh-CN" sz="3200" i="1" baseline="-25000" dirty="0">
                <a:sym typeface="+mn-ea"/>
              </a:rPr>
              <a:t>H</a:t>
            </a:r>
            <a:r>
              <a:rPr lang="en-US" altLang="zh-CN" sz="3200" dirty="0">
                <a:sym typeface="+mn-ea"/>
              </a:rPr>
              <a:t>(</a:t>
            </a:r>
            <a:r>
              <a:rPr lang="en-US" altLang="zh-CN" sz="3200" i="1" dirty="0">
                <a:sym typeface="+mn-ea"/>
              </a:rPr>
              <a:t>x</a:t>
            </a:r>
            <a:r>
              <a:rPr lang="en-US" altLang="zh-CN" sz="3200" dirty="0">
                <a:sym typeface="+mn-ea"/>
              </a:rPr>
              <a:t>) = </a:t>
            </a:r>
            <a:r>
              <a:rPr lang="en-US" altLang="zh-CN" sz="3200" i="1" dirty="0">
                <a:sym typeface="+mn-ea"/>
              </a:rPr>
              <a:t>f</a:t>
            </a:r>
            <a:r>
              <a:rPr lang="en-US" altLang="zh-CN" sz="3200" i="1" baseline="-25000" dirty="0">
                <a:sym typeface="+mn-ea"/>
              </a:rPr>
              <a:t>H</a:t>
            </a:r>
            <a:r>
              <a:rPr lang="en-US" altLang="zh-CN" sz="3200" dirty="0">
                <a:sym typeface="+mn-ea"/>
              </a:rPr>
              <a:t>(y)</a:t>
            </a:r>
            <a:endParaRPr lang="en-US" altLang="zh-CN" sz="3200" dirty="0"/>
          </a:p>
          <a:p>
            <a:pPr marL="914400" lvl="2" indent="0" algn="r" eaLnBrk="1" hangingPunct="1">
              <a:lnSpc>
                <a:spcPct val="90000"/>
              </a:lnSpc>
              <a:buNone/>
            </a:pPr>
            <a:endParaRPr lang="en-US" altLang="zh-CN" dirty="0"/>
          </a:p>
        </p:txBody>
      </p:sp>
      <p:cxnSp>
        <p:nvCxnSpPr>
          <p:cNvPr id="4" name="直接连接符 3"/>
          <p:cNvCxnSpPr/>
          <p:nvPr/>
        </p:nvCxnSpPr>
        <p:spPr>
          <a:xfrm flipV="1">
            <a:off x="3002280" y="3716655"/>
            <a:ext cx="182880" cy="5715"/>
          </a:xfrm>
          <a:prstGeom prst="line">
            <a:avLst/>
          </a:prstGeom>
          <a:ln w="28575" cmpd="sng">
            <a:solidFill>
              <a:schemeClr val="tx1"/>
            </a:solidFill>
            <a:prstDash val="solid"/>
            <a:tailEnd type="none" w="med" len="med"/>
          </a:ln>
        </p:spPr>
        <p:style>
          <a:lnRef idx="2">
            <a:schemeClr val="accent4"/>
          </a:lnRef>
          <a:fillRef idx="0">
            <a:schemeClr val="accent4"/>
          </a:fillRef>
          <a:effectRef idx="1">
            <a:schemeClr val="accent4"/>
          </a:effectRef>
          <a:fontRef idx="minor">
            <a:schemeClr val="tx1"/>
          </a:fontRef>
        </p:style>
      </p:cxnSp>
      <p:cxnSp>
        <p:nvCxnSpPr>
          <p:cNvPr id="5" name="直接连接符 4"/>
          <p:cNvCxnSpPr/>
          <p:nvPr/>
        </p:nvCxnSpPr>
        <p:spPr>
          <a:xfrm flipV="1">
            <a:off x="3589655" y="4255135"/>
            <a:ext cx="182880" cy="5715"/>
          </a:xfrm>
          <a:prstGeom prst="line">
            <a:avLst/>
          </a:prstGeom>
          <a:ln w="28575" cmpd="sng">
            <a:solidFill>
              <a:schemeClr val="tx1"/>
            </a:solidFill>
            <a:prstDash val="solid"/>
            <a:tailEnd type="none" w="med" len="med"/>
          </a:ln>
        </p:spPr>
        <p:style>
          <a:lnRef idx="2">
            <a:schemeClr val="accent4"/>
          </a:lnRef>
          <a:fillRef idx="0">
            <a:schemeClr val="accent4"/>
          </a:fillRef>
          <a:effectRef idx="1">
            <a:schemeClr val="accent4"/>
          </a:effectRef>
          <a:fontRef idx="minor">
            <a:schemeClr val="tx1"/>
          </a:fontRef>
        </p:style>
      </p:cxnSp>
      <p:sp>
        <p:nvSpPr>
          <p:cNvPr id="3" name="文本框 2"/>
          <p:cNvSpPr txBox="1"/>
          <p:nvPr/>
        </p:nvSpPr>
        <p:spPr>
          <a:xfrm>
            <a:off x="3905885" y="842645"/>
            <a:ext cx="1243965" cy="583565"/>
          </a:xfrm>
          <a:prstGeom prst="rect">
            <a:avLst/>
          </a:prstGeom>
          <a:noFill/>
        </p:spPr>
        <p:txBody>
          <a:bodyPr wrap="none" rtlCol="0" anchor="t">
            <a:spAutoFit/>
          </a:bodyPr>
          <a:lstStyle/>
          <a:p>
            <a:pPr algn="l" eaLnBrk="1" hangingPunct="1"/>
            <a:r>
              <a:rPr lang="en-US" altLang="zh-CN" sz="3200" b="1" kern="0" dirty="0">
                <a:cs typeface="+mn-ea"/>
                <a:sym typeface="+mn-ea"/>
              </a:rPr>
              <a:t>Proof</a:t>
            </a:r>
            <a:endParaRPr lang="en-US" altLang="zh-CN" sz="3200"/>
          </a:p>
        </p:txBody>
      </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361" y="15875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450850" y="1600200"/>
            <a:ext cx="10509885" cy="4526280"/>
          </a:xfrm>
        </p:spPr>
        <p:txBody>
          <a:bodyPr vert="horz" wrap="square" lIns="91440" tIns="45720" rIns="91440" bIns="45720" anchor="t" anchorCtr="0"/>
          <a:lstStyle/>
          <a:p>
            <a:pPr eaLnBrk="1" hangingPunct="1"/>
            <a:r>
              <a:rPr lang="en-US" altLang="zh-CN" dirty="0">
                <a:sym typeface="+mn-ea"/>
              </a:rPr>
              <a:t>Suppose that we compute the syndrome of each coset leader. If the word </a:t>
            </a:r>
            <a:r>
              <a:rPr lang="en-US" altLang="zh-CN" i="1" dirty="0">
                <a:sym typeface="+mn-ea"/>
              </a:rPr>
              <a:t>x</a:t>
            </a:r>
            <a:r>
              <a:rPr lang="en-US" altLang="zh-CN" i="1" baseline="-25000" dirty="0">
                <a:sym typeface="+mn-ea"/>
              </a:rPr>
              <a:t>t</a:t>
            </a:r>
            <a:r>
              <a:rPr lang="en-US" altLang="zh-CN" dirty="0">
                <a:sym typeface="+mn-ea"/>
              </a:rPr>
              <a:t> is received, we also compute </a:t>
            </a:r>
            <a:r>
              <a:rPr lang="en-US" altLang="zh-CN" i="1" dirty="0">
                <a:sym typeface="+mn-ea"/>
              </a:rPr>
              <a:t>f</a:t>
            </a:r>
            <a:r>
              <a:rPr lang="en-US" altLang="zh-CN" i="1" baseline="-25000" dirty="0">
                <a:sym typeface="+mn-ea"/>
              </a:rPr>
              <a:t>H</a:t>
            </a:r>
            <a:r>
              <a:rPr lang="en-US" altLang="zh-CN" dirty="0">
                <a:sym typeface="+mn-ea"/>
              </a:rPr>
              <a:t>(</a:t>
            </a:r>
            <a:r>
              <a:rPr lang="en-US" altLang="zh-CN" i="1" dirty="0">
                <a:sym typeface="+mn-ea"/>
              </a:rPr>
              <a:t>x</a:t>
            </a:r>
            <a:r>
              <a:rPr lang="en-US" altLang="zh-CN" i="1" baseline="-25000" dirty="0">
                <a:sym typeface="+mn-ea"/>
              </a:rPr>
              <a:t>t</a:t>
            </a:r>
            <a:r>
              <a:rPr lang="en-US" altLang="zh-CN" dirty="0">
                <a:sym typeface="+mn-ea"/>
              </a:rPr>
              <a:t>), the syndrome of </a:t>
            </a:r>
            <a:r>
              <a:rPr lang="en-US" altLang="zh-CN" i="1" dirty="0">
                <a:sym typeface="+mn-ea"/>
              </a:rPr>
              <a:t>x</a:t>
            </a:r>
            <a:r>
              <a:rPr lang="en-US" altLang="zh-CN" i="1" baseline="-25000" dirty="0">
                <a:sym typeface="+mn-ea"/>
              </a:rPr>
              <a:t>t</a:t>
            </a:r>
            <a:r>
              <a:rPr lang="en-US" altLang="zh-CN" dirty="0">
                <a:sym typeface="+mn-ea"/>
              </a:rPr>
              <a:t>. By comparing </a:t>
            </a:r>
            <a:r>
              <a:rPr lang="en-US" altLang="zh-CN" i="1" dirty="0">
                <a:sym typeface="+mn-ea"/>
              </a:rPr>
              <a:t>f</a:t>
            </a:r>
            <a:r>
              <a:rPr lang="en-US" altLang="zh-CN" i="1" baseline="-25000" dirty="0">
                <a:sym typeface="+mn-ea"/>
              </a:rPr>
              <a:t>H</a:t>
            </a:r>
            <a:r>
              <a:rPr lang="en-US" altLang="zh-CN" dirty="0">
                <a:sym typeface="+mn-ea"/>
              </a:rPr>
              <a:t>(</a:t>
            </a:r>
            <a:r>
              <a:rPr lang="en-US" altLang="zh-CN" i="1" dirty="0">
                <a:sym typeface="+mn-ea"/>
              </a:rPr>
              <a:t>x</a:t>
            </a:r>
            <a:r>
              <a:rPr lang="en-US" altLang="zh-CN" i="1" baseline="-25000" dirty="0">
                <a:sym typeface="+mn-ea"/>
              </a:rPr>
              <a:t>t</a:t>
            </a:r>
            <a:r>
              <a:rPr lang="en-US" altLang="zh-CN" dirty="0">
                <a:sym typeface="+mn-ea"/>
              </a:rPr>
              <a:t>) and the syndromes of the coset leaders, we find the coset in which </a:t>
            </a:r>
            <a:r>
              <a:rPr lang="en-US" altLang="zh-CN" i="1" dirty="0">
                <a:sym typeface="+mn-ea"/>
              </a:rPr>
              <a:t>x</a:t>
            </a:r>
            <a:r>
              <a:rPr lang="en-US" altLang="zh-CN" i="1" baseline="-25000" dirty="0">
                <a:sym typeface="+mn-ea"/>
              </a:rPr>
              <a:t>t</a:t>
            </a:r>
            <a:r>
              <a:rPr lang="en-US" altLang="zh-CN" dirty="0">
                <a:sym typeface="+mn-ea"/>
              </a:rPr>
              <a:t> lies. Suppose that a coset leader of this coset is </a:t>
            </a:r>
            <a:r>
              <a:rPr lang="en-US" altLang="zh-CN" i="1" dirty="0">
                <a:sym typeface="Symbol" panose="05050102010706020507" pitchFamily="18" charset="2"/>
              </a:rPr>
              <a:t></a:t>
            </a:r>
            <a:r>
              <a:rPr lang="en-US" altLang="zh-CN" dirty="0">
                <a:sym typeface="+mn-ea"/>
              </a:rPr>
              <a:t>. We now compute </a:t>
            </a:r>
            <a:r>
              <a:rPr lang="en-US" altLang="zh-CN" i="1" dirty="0">
                <a:sym typeface="+mn-ea"/>
              </a:rPr>
              <a:t>x</a:t>
            </a:r>
            <a:r>
              <a:rPr lang="en-US" altLang="zh-CN" dirty="0">
                <a:sym typeface="+mn-ea"/>
              </a:rPr>
              <a:t> = </a:t>
            </a:r>
            <a:r>
              <a:rPr lang="en-US" altLang="zh-CN" i="1" dirty="0">
                <a:sym typeface="+mn-ea"/>
              </a:rPr>
              <a:t>x</a:t>
            </a:r>
            <a:r>
              <a:rPr lang="en-US" altLang="zh-CN" i="1" baseline="-25000" dirty="0">
                <a:sym typeface="+mn-ea"/>
              </a:rPr>
              <a:t>t</a:t>
            </a:r>
            <a:r>
              <a:rPr lang="en-US" altLang="zh-CN" dirty="0">
                <a:sym typeface="+mn-ea"/>
              </a:rPr>
              <a:t> </a:t>
            </a:r>
            <a:r>
              <a:rPr lang="en-US" altLang="zh-CN" dirty="0">
                <a:sym typeface="Symbol" panose="05050102010706020507" pitchFamily="18" charset="2"/>
              </a:rPr>
              <a:t></a:t>
            </a:r>
            <a:r>
              <a:rPr lang="en-US" altLang="zh-CN" dirty="0">
                <a:sym typeface="+mn-ea"/>
              </a:rPr>
              <a:t> </a:t>
            </a:r>
            <a:r>
              <a:rPr lang="en-US" altLang="zh-CN" i="1" dirty="0">
                <a:sym typeface="Symbol" panose="05050102010706020507" pitchFamily="18" charset="2"/>
              </a:rPr>
              <a:t></a:t>
            </a:r>
            <a:r>
              <a:rPr lang="en-US" altLang="zh-CN" dirty="0">
                <a:sym typeface="+mn-ea"/>
              </a:rPr>
              <a:t>. If </a:t>
            </a:r>
            <a:r>
              <a:rPr lang="en-US" altLang="zh-CN" i="1" dirty="0">
                <a:sym typeface="+mn-ea"/>
              </a:rPr>
              <a:t>x</a:t>
            </a:r>
            <a:r>
              <a:rPr lang="en-US" altLang="zh-CN" dirty="0">
                <a:sym typeface="+mn-ea"/>
              </a:rPr>
              <a:t> = </a:t>
            </a:r>
            <a:r>
              <a:rPr lang="en-US" altLang="zh-CN" i="1" dirty="0">
                <a:sym typeface="+mn-ea"/>
              </a:rPr>
              <a:t>e</a:t>
            </a:r>
            <a:r>
              <a:rPr lang="en-US" altLang="zh-CN" dirty="0">
                <a:sym typeface="+mn-ea"/>
              </a:rPr>
              <a:t>(</a:t>
            </a:r>
            <a:r>
              <a:rPr lang="en-US" altLang="zh-CN" i="1" dirty="0">
                <a:sym typeface="+mn-ea"/>
              </a:rPr>
              <a:t>b</a:t>
            </a:r>
            <a:r>
              <a:rPr lang="en-US" altLang="zh-CN" dirty="0">
                <a:sym typeface="+mn-ea"/>
              </a:rPr>
              <a:t>), we then decode </a:t>
            </a:r>
            <a:r>
              <a:rPr lang="en-US" altLang="zh-CN" i="1" dirty="0">
                <a:sym typeface="+mn-ea"/>
              </a:rPr>
              <a:t>x</a:t>
            </a:r>
            <a:r>
              <a:rPr lang="en-US" altLang="zh-CN" i="1" baseline="-25000" dirty="0">
                <a:sym typeface="+mn-ea"/>
              </a:rPr>
              <a:t>t</a:t>
            </a:r>
            <a:r>
              <a:rPr lang="en-US" altLang="zh-CN" dirty="0">
                <a:sym typeface="+mn-ea"/>
              </a:rPr>
              <a:t> as </a:t>
            </a:r>
            <a:r>
              <a:rPr lang="en-US" altLang="zh-CN" i="1" dirty="0">
                <a:sym typeface="+mn-ea"/>
              </a:rPr>
              <a:t>b</a:t>
            </a:r>
            <a:r>
              <a:rPr lang="en-US" altLang="zh-CN" dirty="0">
                <a:sym typeface="+mn-ea"/>
              </a:rPr>
              <a:t>.</a:t>
            </a:r>
            <a:endParaRPr lang="en-US" altLang="zh-CN" dirty="0"/>
          </a:p>
        </p:txBody>
      </p:sp>
      <p:sp>
        <p:nvSpPr>
          <p:cNvPr id="3" name="文本框 2"/>
          <p:cNvSpPr txBox="1"/>
          <p:nvPr/>
        </p:nvSpPr>
        <p:spPr>
          <a:xfrm>
            <a:off x="3637915" y="855345"/>
            <a:ext cx="4135120" cy="632460"/>
          </a:xfrm>
          <a:prstGeom prst="rect">
            <a:avLst/>
          </a:prstGeom>
          <a:noFill/>
        </p:spPr>
        <p:txBody>
          <a:bodyPr wrap="none" rtlCol="0" anchor="t">
            <a:spAutoFit/>
          </a:bodyPr>
          <a:lstStyle/>
          <a:p>
            <a:pPr>
              <a:lnSpc>
                <a:spcPct val="110000"/>
              </a:lnSpc>
            </a:pPr>
            <a:r>
              <a:rPr lang="en-US" altLang="zh-CN" sz="3200" b="1" kern="0" dirty="0">
                <a:cs typeface="+mn-ea"/>
                <a:sym typeface="+mn-ea"/>
              </a:rPr>
              <a:t>Decoding procedure</a:t>
            </a:r>
            <a:endParaRPr lang="zh-CN" altLang="en-US"/>
          </a:p>
        </p:txBody>
      </p:sp>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361" y="15875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463550" y="1772920"/>
            <a:ext cx="10509885" cy="4526280"/>
          </a:xfrm>
        </p:spPr>
        <p:txBody>
          <a:bodyPr vert="horz" wrap="square" lIns="91440" tIns="45720" rIns="91440" bIns="45720" anchor="t" anchorCtr="0"/>
          <a:lstStyle/>
          <a:p>
            <a:pPr eaLnBrk="1" hangingPunct="1">
              <a:lnSpc>
                <a:spcPct val="90000"/>
              </a:lnSpc>
            </a:pPr>
            <a:r>
              <a:rPr lang="en-US" altLang="zh-CN" i="1" dirty="0">
                <a:sym typeface="+mn-ea"/>
              </a:rPr>
              <a:t>Step 1</a:t>
            </a:r>
            <a:r>
              <a:rPr lang="en-US" altLang="zh-CN" dirty="0">
                <a:sym typeface="+mn-ea"/>
              </a:rPr>
              <a:t>: Determine all left cosets of </a:t>
            </a:r>
            <a:r>
              <a:rPr lang="en-US" altLang="zh-CN" i="1" dirty="0">
                <a:sym typeface="+mn-ea"/>
              </a:rPr>
              <a:t>N</a:t>
            </a:r>
            <a:r>
              <a:rPr lang="en-US" altLang="zh-CN" dirty="0">
                <a:sym typeface="+mn-ea"/>
              </a:rPr>
              <a:t> = </a:t>
            </a:r>
            <a:r>
              <a:rPr lang="en-US" altLang="zh-CN" i="1" dirty="0">
                <a:sym typeface="+mn-ea"/>
              </a:rPr>
              <a:t>e</a:t>
            </a:r>
            <a:r>
              <a:rPr lang="en-US" altLang="zh-CN" i="1" baseline="-25000" dirty="0">
                <a:sym typeface="+mn-ea"/>
              </a:rPr>
              <a:t>H</a:t>
            </a:r>
            <a:r>
              <a:rPr lang="en-US" altLang="zh-CN" dirty="0">
                <a:sym typeface="+mn-ea"/>
              </a:rPr>
              <a:t>(</a:t>
            </a:r>
            <a:r>
              <a:rPr lang="en-US" altLang="zh-CN" i="1" dirty="0">
                <a:sym typeface="+mn-ea"/>
              </a:rPr>
              <a:t>B</a:t>
            </a:r>
            <a:r>
              <a:rPr lang="en-US" altLang="zh-CN" i="1" baseline="30000" dirty="0">
                <a:sym typeface="+mn-ea"/>
              </a:rPr>
              <a:t>m</a:t>
            </a:r>
            <a:r>
              <a:rPr lang="en-US" altLang="zh-CN" dirty="0">
                <a:sym typeface="+mn-ea"/>
              </a:rPr>
              <a:t> ) in </a:t>
            </a:r>
            <a:r>
              <a:rPr lang="en-US" altLang="zh-CN" i="1" dirty="0">
                <a:sym typeface="+mn-ea"/>
              </a:rPr>
              <a:t>B</a:t>
            </a:r>
            <a:r>
              <a:rPr lang="en-US" altLang="zh-CN" i="1" baseline="30000" dirty="0">
                <a:sym typeface="+mn-ea"/>
              </a:rPr>
              <a:t>n</a:t>
            </a:r>
            <a:r>
              <a:rPr lang="en-US" altLang="zh-CN" dirty="0">
                <a:sym typeface="+mn-ea"/>
              </a:rPr>
              <a:t>.</a:t>
            </a:r>
            <a:endParaRPr lang="en-US" altLang="zh-CN" dirty="0"/>
          </a:p>
          <a:p>
            <a:pPr eaLnBrk="1" hangingPunct="1">
              <a:lnSpc>
                <a:spcPct val="90000"/>
              </a:lnSpc>
            </a:pPr>
            <a:r>
              <a:rPr lang="en-US" altLang="zh-CN" i="1" dirty="0">
                <a:sym typeface="+mn-ea"/>
              </a:rPr>
              <a:t>Step 2</a:t>
            </a:r>
            <a:r>
              <a:rPr lang="en-US" altLang="zh-CN" dirty="0">
                <a:sym typeface="+mn-ea"/>
              </a:rPr>
              <a:t>: For each coset, find a coset leader, and compute the syndrome of each leader</a:t>
            </a:r>
            <a:endParaRPr lang="en-US" altLang="zh-CN" dirty="0"/>
          </a:p>
          <a:p>
            <a:pPr eaLnBrk="1" hangingPunct="1">
              <a:lnSpc>
                <a:spcPct val="90000"/>
              </a:lnSpc>
            </a:pPr>
            <a:r>
              <a:rPr lang="en-US" altLang="zh-CN" i="1" dirty="0">
                <a:sym typeface="+mn-ea"/>
              </a:rPr>
              <a:t>Step 3</a:t>
            </a:r>
            <a:r>
              <a:rPr lang="en-US" altLang="zh-CN" dirty="0">
                <a:sym typeface="+mn-ea"/>
              </a:rPr>
              <a:t>: If </a:t>
            </a:r>
            <a:r>
              <a:rPr lang="en-US" altLang="zh-CN" i="1" dirty="0">
                <a:sym typeface="+mn-ea"/>
              </a:rPr>
              <a:t>x</a:t>
            </a:r>
            <a:r>
              <a:rPr lang="en-US" altLang="zh-CN" i="1" baseline="-25000" dirty="0">
                <a:sym typeface="+mn-ea"/>
              </a:rPr>
              <a:t>t</a:t>
            </a:r>
            <a:r>
              <a:rPr lang="en-US" altLang="zh-CN" dirty="0">
                <a:sym typeface="+mn-ea"/>
              </a:rPr>
              <a:t> is received, compute the syndrome of </a:t>
            </a:r>
            <a:r>
              <a:rPr lang="en-US" altLang="zh-CN" i="1" dirty="0">
                <a:sym typeface="+mn-ea"/>
              </a:rPr>
              <a:t>x</a:t>
            </a:r>
            <a:r>
              <a:rPr lang="en-US" altLang="zh-CN" i="1" baseline="-25000" dirty="0">
                <a:sym typeface="+mn-ea"/>
              </a:rPr>
              <a:t>t</a:t>
            </a:r>
            <a:r>
              <a:rPr lang="en-US" altLang="zh-CN" dirty="0">
                <a:sym typeface="+mn-ea"/>
              </a:rPr>
              <a:t> and find the coset leader </a:t>
            </a:r>
            <a:r>
              <a:rPr lang="en-US" altLang="zh-CN" i="1" dirty="0">
                <a:sym typeface="Symbol" panose="05050102010706020507" pitchFamily="18" charset="2"/>
              </a:rPr>
              <a:t></a:t>
            </a:r>
            <a:r>
              <a:rPr lang="en-US" altLang="zh-CN" dirty="0">
                <a:sym typeface="+mn-ea"/>
              </a:rPr>
              <a:t> having the same syndrome. Then </a:t>
            </a:r>
            <a:r>
              <a:rPr lang="en-US" altLang="zh-CN" i="1" dirty="0">
                <a:sym typeface="+mn-ea"/>
              </a:rPr>
              <a:t>x</a:t>
            </a:r>
            <a:r>
              <a:rPr lang="en-US" altLang="zh-CN" i="1" baseline="-25000" dirty="0">
                <a:sym typeface="+mn-ea"/>
              </a:rPr>
              <a:t>t</a:t>
            </a:r>
            <a:r>
              <a:rPr lang="en-US" altLang="zh-CN" dirty="0">
                <a:sym typeface="+mn-ea"/>
              </a:rPr>
              <a:t> </a:t>
            </a:r>
            <a:r>
              <a:rPr lang="en-US" altLang="zh-CN" dirty="0">
                <a:sym typeface="Symbol" panose="05050102010706020507" pitchFamily="18" charset="2"/>
              </a:rPr>
              <a:t></a:t>
            </a:r>
            <a:r>
              <a:rPr lang="en-US" altLang="zh-CN" dirty="0">
                <a:sym typeface="+mn-ea"/>
              </a:rPr>
              <a:t> </a:t>
            </a:r>
            <a:r>
              <a:rPr lang="en-US" altLang="zh-CN" i="1" dirty="0">
                <a:sym typeface="Symbol" panose="05050102010706020507" pitchFamily="18" charset="2"/>
              </a:rPr>
              <a:t></a:t>
            </a:r>
            <a:r>
              <a:rPr lang="en-US" altLang="zh-CN" dirty="0">
                <a:sym typeface="+mn-ea"/>
              </a:rPr>
              <a:t>  = </a:t>
            </a:r>
            <a:r>
              <a:rPr lang="en-US" altLang="zh-CN" i="1" dirty="0">
                <a:sym typeface="+mn-ea"/>
              </a:rPr>
              <a:t>x</a:t>
            </a:r>
            <a:r>
              <a:rPr lang="en-US" altLang="zh-CN" dirty="0">
                <a:sym typeface="+mn-ea"/>
              </a:rPr>
              <a:t> is a code word </a:t>
            </a:r>
            <a:r>
              <a:rPr lang="en-US" altLang="zh-CN" i="1" dirty="0">
                <a:sym typeface="+mn-ea"/>
              </a:rPr>
              <a:t>e</a:t>
            </a:r>
            <a:r>
              <a:rPr lang="en-US" altLang="zh-CN" i="1" baseline="-25000" dirty="0">
                <a:sym typeface="+mn-ea"/>
              </a:rPr>
              <a:t>H</a:t>
            </a:r>
            <a:r>
              <a:rPr lang="en-US" altLang="zh-CN" dirty="0">
                <a:sym typeface="+mn-ea"/>
              </a:rPr>
              <a:t>(</a:t>
            </a:r>
            <a:r>
              <a:rPr lang="en-US" altLang="zh-CN" i="1" dirty="0">
                <a:sym typeface="+mn-ea"/>
              </a:rPr>
              <a:t>b</a:t>
            </a:r>
            <a:r>
              <a:rPr lang="en-US" altLang="zh-CN" dirty="0">
                <a:sym typeface="+mn-ea"/>
              </a:rPr>
              <a:t>), and </a:t>
            </a:r>
            <a:r>
              <a:rPr lang="en-US" altLang="zh-CN" i="1" dirty="0">
                <a:sym typeface="+mn-ea"/>
              </a:rPr>
              <a:t>d</a:t>
            </a:r>
            <a:r>
              <a:rPr lang="en-US" altLang="zh-CN" dirty="0">
                <a:sym typeface="+mn-ea"/>
              </a:rPr>
              <a:t>(</a:t>
            </a:r>
            <a:r>
              <a:rPr lang="en-US" altLang="zh-CN" i="1" dirty="0">
                <a:sym typeface="+mn-ea"/>
              </a:rPr>
              <a:t>x</a:t>
            </a:r>
            <a:r>
              <a:rPr lang="en-US" altLang="zh-CN" i="1" baseline="-25000" dirty="0">
                <a:sym typeface="+mn-ea"/>
              </a:rPr>
              <a:t>t</a:t>
            </a:r>
            <a:r>
              <a:rPr lang="en-US" altLang="zh-CN" dirty="0">
                <a:sym typeface="+mn-ea"/>
              </a:rPr>
              <a:t>) = </a:t>
            </a:r>
            <a:r>
              <a:rPr lang="en-US" altLang="zh-CN" i="1" dirty="0">
                <a:sym typeface="+mn-ea"/>
              </a:rPr>
              <a:t>b</a:t>
            </a:r>
            <a:r>
              <a:rPr lang="en-US" altLang="zh-CN" dirty="0">
                <a:sym typeface="+mn-ea"/>
              </a:rPr>
              <a:t>.</a:t>
            </a:r>
            <a:endParaRPr lang="en-US" altLang="zh-CN" dirty="0"/>
          </a:p>
        </p:txBody>
      </p:sp>
      <p:sp>
        <p:nvSpPr>
          <p:cNvPr id="3" name="文本框 2"/>
          <p:cNvSpPr txBox="1"/>
          <p:nvPr/>
        </p:nvSpPr>
        <p:spPr>
          <a:xfrm>
            <a:off x="4536440" y="930910"/>
            <a:ext cx="3119120" cy="583565"/>
          </a:xfrm>
          <a:prstGeom prst="rect">
            <a:avLst/>
          </a:prstGeom>
          <a:noFill/>
        </p:spPr>
        <p:txBody>
          <a:bodyPr wrap="none" rtlCol="0" anchor="t">
            <a:spAutoFit/>
          </a:bodyPr>
          <a:lstStyle/>
          <a:p>
            <a:pPr eaLnBrk="1" hangingPunct="1"/>
            <a:r>
              <a:rPr lang="en-US" altLang="zh-CN" sz="3200" b="1" kern="0" dirty="0">
                <a:cs typeface="+mn-ea"/>
                <a:sym typeface="+mn-ea"/>
              </a:rPr>
              <a:t>New procedure</a:t>
            </a:r>
            <a:endParaRPr lang="zh-CN" altLang="en-US"/>
          </a:p>
        </p:txBody>
      </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361" y="15875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450850" y="1600200"/>
            <a:ext cx="10509885" cy="4526280"/>
          </a:xfrm>
        </p:spPr>
        <p:txBody>
          <a:bodyPr vert="horz" wrap="square" lIns="91440" tIns="45720" rIns="91440" bIns="45720" anchor="t" anchorCtr="0"/>
          <a:lstStyle/>
          <a:p>
            <a:pPr eaLnBrk="1" hangingPunct="1">
              <a:lnSpc>
                <a:spcPct val="90000"/>
              </a:lnSpc>
            </a:pPr>
            <a:r>
              <a:rPr lang="en-US" altLang="zh-CN" dirty="0">
                <a:sym typeface="+mn-ea"/>
              </a:rPr>
              <a:t>Consider the parity check matrix and the (3, 6) group code </a:t>
            </a:r>
            <a:r>
              <a:rPr lang="en-US" altLang="zh-CN" i="1" dirty="0">
                <a:sym typeface="+mn-ea"/>
              </a:rPr>
              <a:t>e</a:t>
            </a:r>
            <a:r>
              <a:rPr lang="en-US" altLang="zh-CN" i="1" baseline="-25000" dirty="0">
                <a:sym typeface="+mn-ea"/>
              </a:rPr>
              <a:t>H</a:t>
            </a:r>
            <a:r>
              <a:rPr lang="en-US" altLang="zh-CN" dirty="0">
                <a:sym typeface="+mn-ea"/>
              </a:rPr>
              <a:t>: </a:t>
            </a:r>
            <a:r>
              <a:rPr lang="en-US" altLang="zh-CN" i="1" dirty="0">
                <a:sym typeface="+mn-ea"/>
              </a:rPr>
              <a:t>B</a:t>
            </a:r>
            <a:r>
              <a:rPr lang="en-US" altLang="zh-CN" i="1" baseline="30000" dirty="0">
                <a:sym typeface="+mn-ea"/>
              </a:rPr>
              <a:t>3</a:t>
            </a:r>
            <a:r>
              <a:rPr lang="en-US" altLang="zh-CN" dirty="0">
                <a:sym typeface="+mn-ea"/>
              </a:rPr>
              <a:t> </a:t>
            </a:r>
            <a:r>
              <a:rPr lang="en-US" altLang="zh-CN" dirty="0">
                <a:sym typeface="Symbol" panose="05050102010706020507" pitchFamily="18" charset="2"/>
              </a:rPr>
              <a:t></a:t>
            </a:r>
            <a:r>
              <a:rPr lang="en-US" altLang="zh-CN" dirty="0">
                <a:sym typeface="+mn-ea"/>
              </a:rPr>
              <a:t> </a:t>
            </a:r>
            <a:r>
              <a:rPr lang="en-US" altLang="zh-CN" i="1" dirty="0">
                <a:sym typeface="+mn-ea"/>
              </a:rPr>
              <a:t>B</a:t>
            </a:r>
            <a:r>
              <a:rPr lang="en-US" altLang="zh-CN" i="1" baseline="30000" dirty="0">
                <a:sym typeface="+mn-ea"/>
              </a:rPr>
              <a:t>6</a:t>
            </a:r>
            <a:r>
              <a:rPr lang="en-US" altLang="zh-CN" dirty="0">
                <a:sym typeface="+mn-ea"/>
              </a:rPr>
              <a:t>.</a:t>
            </a:r>
            <a:endParaRPr lang="en-US" altLang="zh-CN" dirty="0"/>
          </a:p>
          <a:p>
            <a:pPr marL="0" indent="0" eaLnBrk="1" hangingPunct="1">
              <a:lnSpc>
                <a:spcPct val="90000"/>
              </a:lnSpc>
              <a:buNone/>
            </a:pPr>
            <a:endParaRPr lang="en-US" altLang="zh-CN" dirty="0"/>
          </a:p>
        </p:txBody>
      </p:sp>
      <p:graphicFrame>
        <p:nvGraphicFramePr>
          <p:cNvPr id="3" name="Object 4"/>
          <p:cNvGraphicFramePr>
            <a:graphicFrameLocks noChangeAspect="1"/>
          </p:cNvGraphicFramePr>
          <p:nvPr/>
        </p:nvGraphicFramePr>
        <p:xfrm>
          <a:off x="1691640" y="2709387"/>
          <a:ext cx="6324600" cy="3462655"/>
        </p:xfrm>
        <a:graphic>
          <a:graphicData uri="http://schemas.openxmlformats.org/presentationml/2006/ole">
            <mc:AlternateContent xmlns:mc="http://schemas.openxmlformats.org/markup-compatibility/2006">
              <mc:Choice xmlns:v="urn:schemas-microsoft-com:vml" Requires="v">
                <p:oleObj r:id="rId2" imgW="3340100" imgH="1828800" progId="Equation.DSMT4">
                  <p:embed/>
                </p:oleObj>
              </mc:Choice>
              <mc:Fallback>
                <p:oleObj r:id="rId2" imgW="3340100" imgH="1828800" progId="Equation.DSMT4">
                  <p:embed/>
                  <p:pic>
                    <p:nvPicPr>
                      <p:cNvPr id="3" name="Object 4"/>
                      <p:cNvPicPr/>
                      <p:nvPr/>
                    </p:nvPicPr>
                    <p:blipFill>
                      <a:blip r:embed="rId3"/>
                      <a:stretch>
                        <a:fillRect/>
                      </a:stretch>
                    </p:blipFill>
                    <p:spPr>
                      <a:xfrm>
                        <a:off x="1691640" y="2709387"/>
                        <a:ext cx="6324600" cy="3462655"/>
                      </a:xfrm>
                      <a:prstGeom prst="rect">
                        <a:avLst/>
                      </a:prstGeom>
                      <a:noFill/>
                      <a:ln w="38100">
                        <a:noFill/>
                        <a:miter/>
                      </a:ln>
                    </p:spPr>
                  </p:pic>
                </p:oleObj>
              </mc:Fallback>
            </mc:AlternateContent>
          </a:graphicData>
        </a:graphic>
      </p:graphicFrame>
      <p:sp>
        <p:nvSpPr>
          <p:cNvPr id="4" name="文本框 3"/>
          <p:cNvSpPr txBox="1"/>
          <p:nvPr/>
        </p:nvSpPr>
        <p:spPr>
          <a:xfrm>
            <a:off x="3905885" y="842645"/>
            <a:ext cx="2193925" cy="583565"/>
          </a:xfrm>
          <a:prstGeom prst="rect">
            <a:avLst/>
          </a:prstGeom>
          <a:noFill/>
        </p:spPr>
        <p:txBody>
          <a:bodyPr wrap="none" rtlCol="0" anchor="t">
            <a:spAutoFit/>
          </a:bodyPr>
          <a:lstStyle/>
          <a:p>
            <a:pPr eaLnBrk="1" hangingPunct="1"/>
            <a:r>
              <a:rPr lang="en-US" altLang="zh-CN" sz="3200" b="1" kern="0" dirty="0">
                <a:cs typeface="+mn-ea"/>
                <a:sym typeface="+mn-ea"/>
              </a:rPr>
              <a:t>Example 5</a:t>
            </a:r>
            <a:endParaRPr lang="en-US" altLang="zh-CN" sz="3200"/>
          </a:p>
        </p:txBody>
      </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361" y="15875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450850" y="1600200"/>
            <a:ext cx="11551285" cy="4526280"/>
          </a:xfrm>
        </p:spPr>
        <p:txBody>
          <a:bodyPr vert="horz" wrap="square" lIns="91440" tIns="45720" rIns="91440" bIns="45720" anchor="t" anchorCtr="0"/>
          <a:lstStyle/>
          <a:p>
            <a:pPr marL="457200" lvl="1" indent="0" eaLnBrk="1" hangingPunct="1">
              <a:lnSpc>
                <a:spcPct val="90000"/>
              </a:lnSpc>
              <a:buNone/>
            </a:pPr>
            <a:r>
              <a:rPr lang="en-US" altLang="zh-CN" sz="2000" i="1" dirty="0">
                <a:sym typeface="+mn-ea"/>
              </a:rPr>
              <a:t>N </a:t>
            </a:r>
            <a:r>
              <a:rPr lang="en-US" altLang="zh-CN" sz="2000" dirty="0">
                <a:sym typeface="+mn-ea"/>
              </a:rPr>
              <a:t>= {000000, 001011, 010101, 011110, 100110, 101101, 110011, 111000}</a:t>
            </a:r>
            <a:endParaRPr lang="en-US" altLang="zh-CN" sz="2000" dirty="0"/>
          </a:p>
          <a:p>
            <a:pPr lvl="1" eaLnBrk="1" hangingPunct="1">
              <a:lnSpc>
                <a:spcPct val="90000"/>
              </a:lnSpc>
            </a:pPr>
            <a:endParaRPr lang="en-US" altLang="zh-CN" sz="2000" dirty="0"/>
          </a:p>
          <a:p>
            <a:pPr marL="457200" lvl="1" indent="0" eaLnBrk="1" hangingPunct="1">
              <a:lnSpc>
                <a:spcPct val="90000"/>
              </a:lnSpc>
              <a:buNone/>
            </a:pPr>
            <a:r>
              <a:rPr lang="en-US" altLang="zh-CN" sz="2000" dirty="0">
                <a:latin typeface="Courier New" panose="02070309020205020404" pitchFamily="49" charset="0"/>
                <a:sym typeface="+mn-ea"/>
              </a:rPr>
              <a:t>Syndrome of Coset Leader	|	Coset leader</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000		|	000000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001		|	000001</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010		|	000010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011		|	001000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100		|	000100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101		|	010000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110		|	100000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111		|	001100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a:t>
            </a:r>
            <a:endParaRPr lang="en-US" altLang="zh-CN" sz="2000" b="1" dirty="0">
              <a:latin typeface="Courier New" panose="02070309020205020404" pitchFamily="49" charset="0"/>
            </a:endParaRPr>
          </a:p>
          <a:p>
            <a:pPr marL="0" indent="0" eaLnBrk="1" hangingPunct="1">
              <a:lnSpc>
                <a:spcPct val="90000"/>
              </a:lnSpc>
              <a:buNone/>
            </a:pPr>
            <a:endParaRPr lang="en-US" altLang="zh-CN" sz="2000" dirty="0"/>
          </a:p>
        </p:txBody>
      </p:sp>
      <p:sp>
        <p:nvSpPr>
          <p:cNvPr id="3" name="文本框 2"/>
          <p:cNvSpPr txBox="1"/>
          <p:nvPr/>
        </p:nvSpPr>
        <p:spPr>
          <a:xfrm>
            <a:off x="3905885" y="842645"/>
            <a:ext cx="2193925" cy="583565"/>
          </a:xfrm>
          <a:prstGeom prst="rect">
            <a:avLst/>
          </a:prstGeom>
          <a:noFill/>
        </p:spPr>
        <p:txBody>
          <a:bodyPr wrap="none" rtlCol="0" anchor="t">
            <a:spAutoFit/>
          </a:bodyPr>
          <a:lstStyle/>
          <a:p>
            <a:pPr eaLnBrk="1" hangingPunct="1"/>
            <a:r>
              <a:rPr lang="en-US" altLang="zh-CN" sz="3200" b="1" kern="0" dirty="0">
                <a:cs typeface="+mn-ea"/>
                <a:sym typeface="+mn-ea"/>
              </a:rPr>
              <a:t>Example 5</a:t>
            </a:r>
            <a:endParaRPr lang="en-US" altLang="zh-CN" sz="3200"/>
          </a:p>
        </p:txBody>
      </p:sp>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361" y="148590"/>
            <a:ext cx="11056470" cy="107632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r>
              <a:rPr lang="zh-CN" altLang="en-US" sz="3200" dirty="0"/>
              <a:t> </a:t>
            </a:r>
          </a:p>
          <a:p>
            <a:pPr eaLnBrk="1" hangingPunct="1"/>
            <a:endParaRPr lang="en-US" altLang="zh-CN" sz="3200"/>
          </a:p>
        </p:txBody>
      </p:sp>
      <p:sp>
        <p:nvSpPr>
          <p:cNvPr id="88067" name="Rectangle 3"/>
          <p:cNvSpPr>
            <a:spLocks noGrp="1"/>
          </p:cNvSpPr>
          <p:nvPr>
            <p:ph idx="1"/>
          </p:nvPr>
        </p:nvSpPr>
        <p:spPr>
          <a:xfrm>
            <a:off x="450850" y="1600200"/>
            <a:ext cx="11551285" cy="4526280"/>
          </a:xfrm>
        </p:spPr>
        <p:txBody>
          <a:bodyPr vert="horz" wrap="square" lIns="91440" tIns="45720" rIns="91440" bIns="45720" anchor="t" anchorCtr="0"/>
          <a:lstStyle/>
          <a:p>
            <a:pPr marL="457200" lvl="1" indent="0" eaLnBrk="1" hangingPunct="1">
              <a:lnSpc>
                <a:spcPct val="90000"/>
              </a:lnSpc>
              <a:buNone/>
            </a:pPr>
            <a:r>
              <a:rPr lang="en-US" altLang="zh-CN" sz="2000" dirty="0">
                <a:sym typeface="+mn-ea"/>
              </a:rPr>
              <a:t>If </a:t>
            </a:r>
            <a:r>
              <a:rPr lang="en-US" altLang="zh-CN" sz="2000" i="1" dirty="0">
                <a:sym typeface="+mn-ea"/>
              </a:rPr>
              <a:t>x</a:t>
            </a:r>
            <a:r>
              <a:rPr lang="en-US" altLang="zh-CN" sz="2000" i="1" baseline="-25000" dirty="0">
                <a:sym typeface="+mn-ea"/>
              </a:rPr>
              <a:t>t</a:t>
            </a:r>
            <a:r>
              <a:rPr lang="en-US" altLang="zh-CN" sz="2000" i="1" dirty="0">
                <a:sym typeface="+mn-ea"/>
              </a:rPr>
              <a:t> </a:t>
            </a:r>
            <a:r>
              <a:rPr lang="en-US" altLang="zh-CN" sz="2000" dirty="0">
                <a:sym typeface="+mn-ea"/>
              </a:rPr>
              <a:t>= 001110, then </a:t>
            </a:r>
            <a:r>
              <a:rPr lang="en-US" altLang="zh-CN" sz="2000" i="1" dirty="0">
                <a:sym typeface="+mn-ea"/>
              </a:rPr>
              <a:t>f</a:t>
            </a:r>
            <a:r>
              <a:rPr lang="en-US" altLang="zh-CN" sz="2000" i="1" baseline="-25000" dirty="0">
                <a:sym typeface="+mn-ea"/>
              </a:rPr>
              <a:t>H</a:t>
            </a:r>
            <a:r>
              <a:rPr lang="en-US" altLang="zh-CN" sz="2000" dirty="0">
                <a:sym typeface="+mn-ea"/>
              </a:rPr>
              <a:t>(</a:t>
            </a:r>
            <a:r>
              <a:rPr lang="en-US" altLang="zh-CN" sz="2000" i="1" dirty="0">
                <a:sym typeface="+mn-ea"/>
              </a:rPr>
              <a:t>x</a:t>
            </a:r>
            <a:r>
              <a:rPr lang="en-US" altLang="zh-CN" sz="2000" i="1" baseline="-25000" dirty="0">
                <a:sym typeface="+mn-ea"/>
              </a:rPr>
              <a:t>t</a:t>
            </a:r>
            <a:r>
              <a:rPr lang="en-US" altLang="zh-CN" sz="2000" dirty="0">
                <a:sym typeface="+mn-ea"/>
              </a:rPr>
              <a:t>) = </a:t>
            </a:r>
            <a:r>
              <a:rPr lang="en-US" altLang="zh-CN" sz="2000" i="1" dirty="0">
                <a:sym typeface="+mn-ea"/>
              </a:rPr>
              <a:t>x</a:t>
            </a:r>
            <a:r>
              <a:rPr lang="en-US" altLang="zh-CN" sz="2000" i="1" baseline="-25000" dirty="0">
                <a:sym typeface="+mn-ea"/>
              </a:rPr>
              <a:t>t</a:t>
            </a:r>
            <a:r>
              <a:rPr lang="en-US" altLang="zh-CN" sz="2000" dirty="0">
                <a:sym typeface="+mn-ea"/>
              </a:rPr>
              <a:t> * H = 101, same as </a:t>
            </a:r>
            <a:r>
              <a:rPr lang="en-US" altLang="zh-CN" sz="2000" i="1" dirty="0">
                <a:sym typeface="Symbol" panose="05050102010706020507" pitchFamily="18" charset="2"/>
              </a:rPr>
              <a:t></a:t>
            </a:r>
            <a:r>
              <a:rPr lang="en-US" altLang="zh-CN" sz="2000" dirty="0">
                <a:sym typeface="+mn-ea"/>
              </a:rPr>
              <a:t>=010000. </a:t>
            </a:r>
            <a:endParaRPr lang="en-US" altLang="zh-CN" sz="3200" b="0" kern="1200">
              <a:cs typeface="+mn-cs"/>
            </a:endParaRPr>
          </a:p>
          <a:p>
            <a:pPr marL="457200" lvl="1" indent="0" eaLnBrk="1" hangingPunct="1">
              <a:lnSpc>
                <a:spcPct val="90000"/>
              </a:lnSpc>
              <a:buNone/>
            </a:pPr>
            <a:r>
              <a:rPr lang="en-US" altLang="zh-CN" sz="2000" i="1" dirty="0">
                <a:sym typeface="+mn-ea"/>
              </a:rPr>
              <a:t>x</a:t>
            </a:r>
            <a:r>
              <a:rPr lang="en-US" altLang="zh-CN" sz="2000" dirty="0">
                <a:sym typeface="+mn-ea"/>
              </a:rPr>
              <a:t> = </a:t>
            </a:r>
            <a:r>
              <a:rPr lang="en-US" altLang="zh-CN" sz="2000" i="1" dirty="0">
                <a:sym typeface="+mn-ea"/>
              </a:rPr>
              <a:t>x</a:t>
            </a:r>
            <a:r>
              <a:rPr lang="en-US" altLang="zh-CN" sz="2000" i="1" baseline="-25000" dirty="0">
                <a:sym typeface="+mn-ea"/>
              </a:rPr>
              <a:t>t</a:t>
            </a:r>
            <a:r>
              <a:rPr lang="en-US" altLang="zh-CN" sz="2000" dirty="0">
                <a:sym typeface="+mn-ea"/>
              </a:rPr>
              <a:t> </a:t>
            </a:r>
            <a:r>
              <a:rPr lang="en-US" altLang="zh-CN" sz="2000" dirty="0">
                <a:sym typeface="Symbol" panose="05050102010706020507" pitchFamily="18" charset="2"/>
              </a:rPr>
              <a:t></a:t>
            </a:r>
            <a:r>
              <a:rPr lang="en-US" altLang="zh-CN" sz="2000" dirty="0">
                <a:sym typeface="+mn-ea"/>
              </a:rPr>
              <a:t> </a:t>
            </a:r>
            <a:r>
              <a:rPr lang="en-US" altLang="zh-CN" sz="2000" i="1" dirty="0">
                <a:sym typeface="Symbol" panose="05050102010706020507" pitchFamily="18" charset="2"/>
              </a:rPr>
              <a:t></a:t>
            </a:r>
            <a:r>
              <a:rPr lang="en-US" altLang="zh-CN" sz="2000" dirty="0">
                <a:sym typeface="+mn-ea"/>
              </a:rPr>
              <a:t> = 001110 </a:t>
            </a:r>
            <a:r>
              <a:rPr lang="en-US" altLang="zh-CN" sz="2000" dirty="0">
                <a:sym typeface="Symbol" panose="05050102010706020507" pitchFamily="18" charset="2"/>
              </a:rPr>
              <a:t></a:t>
            </a:r>
            <a:r>
              <a:rPr lang="en-US" altLang="zh-CN" sz="2000" dirty="0">
                <a:sym typeface="+mn-ea"/>
              </a:rPr>
              <a:t> 01000 = 011110 = </a:t>
            </a:r>
            <a:r>
              <a:rPr lang="en-US" altLang="zh-CN" sz="2000" i="1" dirty="0">
                <a:sym typeface="+mn-ea"/>
              </a:rPr>
              <a:t>e</a:t>
            </a:r>
            <a:r>
              <a:rPr lang="en-US" altLang="zh-CN" sz="2000" dirty="0">
                <a:sym typeface="+mn-ea"/>
              </a:rPr>
              <a:t>(011), so decode 001110 as 011.</a:t>
            </a:r>
            <a:endParaRPr lang="en-US" altLang="zh-CN" sz="2000" dirty="0"/>
          </a:p>
          <a:p>
            <a:pPr marL="457200" lvl="1" indent="0" eaLnBrk="1" hangingPunct="1">
              <a:lnSpc>
                <a:spcPct val="90000"/>
              </a:lnSpc>
              <a:buNone/>
            </a:pPr>
            <a:r>
              <a:rPr lang="en-US" altLang="zh-CN" sz="2000" dirty="0">
                <a:latin typeface="Courier New" panose="02070309020205020404" pitchFamily="49" charset="0"/>
                <a:sym typeface="+mn-ea"/>
              </a:rPr>
              <a:t>Syndrome of Coset Leader	|	Coset leader</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000		|	000000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001		|	000001</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010		|	000010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011		|	001000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100		|	000100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101		|	010000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110		|	100000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			111		|	001100</a:t>
            </a:r>
            <a:endParaRPr lang="en-US" altLang="zh-CN" sz="2000" b="1" dirty="0">
              <a:latin typeface="Courier New" panose="02070309020205020404" pitchFamily="49" charset="0"/>
            </a:endParaRPr>
          </a:p>
          <a:p>
            <a:pPr marL="457200" lvl="1" indent="0" eaLnBrk="1" hangingPunct="1">
              <a:lnSpc>
                <a:spcPct val="90000"/>
              </a:lnSpc>
              <a:buNone/>
            </a:pPr>
            <a:r>
              <a:rPr lang="en-US" altLang="zh-CN" sz="2000" dirty="0">
                <a:latin typeface="Courier New" panose="02070309020205020404" pitchFamily="49" charset="0"/>
                <a:sym typeface="+mn-ea"/>
              </a:rPr>
              <a:t>--------------------------+-------------------</a:t>
            </a:r>
            <a:endParaRPr lang="en-US" altLang="zh-CN" sz="2000" b="1" dirty="0">
              <a:latin typeface="Courier New" panose="02070309020205020404" pitchFamily="49" charset="0"/>
            </a:endParaRPr>
          </a:p>
          <a:p>
            <a:pPr marL="0" indent="0" eaLnBrk="1" hangingPunct="1">
              <a:lnSpc>
                <a:spcPct val="90000"/>
              </a:lnSpc>
              <a:buNone/>
            </a:pPr>
            <a:endParaRPr lang="en-US" altLang="zh-CN" sz="2000" dirty="0"/>
          </a:p>
        </p:txBody>
      </p:sp>
      <p:sp>
        <p:nvSpPr>
          <p:cNvPr id="3" name="文本框 2"/>
          <p:cNvSpPr txBox="1"/>
          <p:nvPr/>
        </p:nvSpPr>
        <p:spPr>
          <a:xfrm>
            <a:off x="3905885" y="835660"/>
            <a:ext cx="2193925" cy="583565"/>
          </a:xfrm>
          <a:prstGeom prst="rect">
            <a:avLst/>
          </a:prstGeom>
          <a:noFill/>
        </p:spPr>
        <p:txBody>
          <a:bodyPr wrap="none" rtlCol="0" anchor="t">
            <a:spAutoFit/>
          </a:bodyPr>
          <a:lstStyle/>
          <a:p>
            <a:pPr eaLnBrk="1" hangingPunct="1"/>
            <a:r>
              <a:rPr lang="en-US" altLang="zh-CN" sz="3200" b="1" kern="0" dirty="0">
                <a:cs typeface="+mn-ea"/>
                <a:sym typeface="+mn-ea"/>
              </a:rPr>
              <a:t>Example 5</a:t>
            </a:r>
            <a:endParaRPr lang="en-US" altLang="zh-CN" sz="3200"/>
          </a:p>
        </p:txBody>
      </p:sp>
    </p:spTree>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361" y="148590"/>
            <a:ext cx="11056470" cy="583565"/>
          </a:xfrm>
          <a:prstGeom prst="rect">
            <a:avLst/>
          </a:prstGeom>
          <a:noFill/>
        </p:spPr>
        <p:txBody>
          <a:bodyPr wrap="square" rtlCol="0">
            <a:spAutoFit/>
          </a:bodyPr>
          <a:lstStyle/>
          <a:p>
            <a:pPr eaLnBrk="1" hangingPunct="1"/>
            <a:r>
              <a:rPr lang="en-US" altLang="zh-CN" sz="3200">
                <a:sym typeface="+mn-ea"/>
              </a:rPr>
              <a:t>11.2(</a:t>
            </a:r>
            <a:r>
              <a:rPr lang="zh-CN" altLang="en-US" sz="3200">
                <a:sym typeface="+mn-ea"/>
              </a:rPr>
              <a:t>补</a:t>
            </a:r>
            <a:r>
              <a:rPr lang="en-US" altLang="zh-CN" sz="3200">
                <a:sym typeface="+mn-ea"/>
              </a:rPr>
              <a:t>) Decoding and Error Correction</a:t>
            </a:r>
            <a:endParaRPr lang="en-US" altLang="zh-CN" sz="3200" dirty="0"/>
          </a:p>
        </p:txBody>
      </p:sp>
      <p:sp>
        <p:nvSpPr>
          <p:cNvPr id="88067" name="Rectangle 3"/>
          <p:cNvSpPr>
            <a:spLocks noGrp="1"/>
          </p:cNvSpPr>
          <p:nvPr>
            <p:ph idx="1"/>
          </p:nvPr>
        </p:nvSpPr>
        <p:spPr>
          <a:xfrm>
            <a:off x="127635" y="1537335"/>
            <a:ext cx="11551285" cy="4526280"/>
          </a:xfrm>
        </p:spPr>
        <p:txBody>
          <a:bodyPr vert="horz" wrap="square" lIns="91440" tIns="45720" rIns="91440" bIns="45720" anchor="t" anchorCtr="0"/>
          <a:lstStyle/>
          <a:p>
            <a:pPr eaLnBrk="1" hangingPunct="1">
              <a:lnSpc>
                <a:spcPct val="90000"/>
              </a:lnSpc>
            </a:pPr>
            <a:r>
              <a:rPr lang="en-US" altLang="zh-CN" sz="2800" dirty="0">
                <a:sym typeface="+mn-ea"/>
              </a:rPr>
              <a:t>Message, word</a:t>
            </a:r>
            <a:endParaRPr lang="en-US" altLang="zh-CN" sz="2800" dirty="0"/>
          </a:p>
          <a:p>
            <a:pPr eaLnBrk="1" hangingPunct="1">
              <a:lnSpc>
                <a:spcPct val="90000"/>
              </a:lnSpc>
            </a:pPr>
            <a:r>
              <a:rPr lang="en-US" altLang="zh-CN" sz="2800" dirty="0">
                <a:sym typeface="+mn-ea"/>
              </a:rPr>
              <a:t>(</a:t>
            </a:r>
            <a:r>
              <a:rPr lang="en-US" altLang="zh-CN" sz="2800" i="1" dirty="0">
                <a:sym typeface="+mn-ea"/>
              </a:rPr>
              <a:t>m, n</a:t>
            </a:r>
            <a:r>
              <a:rPr lang="en-US" altLang="zh-CN" sz="2800" dirty="0">
                <a:sym typeface="+mn-ea"/>
              </a:rPr>
              <a:t>) encoding function, one-to-one</a:t>
            </a:r>
            <a:endParaRPr lang="en-US" altLang="zh-CN" sz="2800" dirty="0"/>
          </a:p>
          <a:p>
            <a:pPr lvl="1" eaLnBrk="1" hangingPunct="1">
              <a:lnSpc>
                <a:spcPct val="90000"/>
              </a:lnSpc>
            </a:pPr>
            <a:r>
              <a:rPr lang="en-US" altLang="zh-CN" sz="2800" i="1" dirty="0">
                <a:sym typeface="+mn-ea"/>
              </a:rPr>
              <a:t>Code word, parity check code</a:t>
            </a:r>
            <a:endParaRPr lang="en-US" altLang="zh-CN" sz="2800" i="1" dirty="0"/>
          </a:p>
          <a:p>
            <a:pPr lvl="1" eaLnBrk="1" hangingPunct="1">
              <a:lnSpc>
                <a:spcPct val="90000"/>
              </a:lnSpc>
            </a:pPr>
            <a:r>
              <a:rPr lang="en-US" altLang="zh-CN" sz="2800" i="1" dirty="0">
                <a:sym typeface="+mn-ea"/>
              </a:rPr>
              <a:t>Detect, correct, k or fewer errors</a:t>
            </a:r>
            <a:endParaRPr lang="en-US" altLang="zh-CN" sz="2800" i="1" dirty="0"/>
          </a:p>
          <a:p>
            <a:pPr eaLnBrk="1" hangingPunct="1">
              <a:lnSpc>
                <a:spcPct val="90000"/>
              </a:lnSpc>
            </a:pPr>
            <a:r>
              <a:rPr lang="en-US" altLang="zh-CN" sz="2800" dirty="0">
                <a:sym typeface="+mn-ea"/>
              </a:rPr>
              <a:t>Hamming distance</a:t>
            </a:r>
            <a:endParaRPr lang="en-US" altLang="zh-CN" sz="2800" dirty="0"/>
          </a:p>
          <a:p>
            <a:pPr lvl="1" eaLnBrk="1" hangingPunct="1">
              <a:lnSpc>
                <a:spcPct val="90000"/>
              </a:lnSpc>
            </a:pPr>
            <a:r>
              <a:rPr lang="en-US" altLang="zh-CN" sz="2800" i="1" dirty="0">
                <a:sym typeface="+mn-ea"/>
              </a:rPr>
              <a:t>Properties of distance</a:t>
            </a:r>
            <a:endParaRPr lang="en-US" altLang="zh-CN" sz="2800" i="1" dirty="0"/>
          </a:p>
          <a:p>
            <a:pPr eaLnBrk="1" hangingPunct="1">
              <a:lnSpc>
                <a:spcPct val="90000"/>
              </a:lnSpc>
            </a:pPr>
            <a:r>
              <a:rPr lang="en-US" altLang="zh-CN" sz="2800" dirty="0">
                <a:sym typeface="+mn-ea"/>
              </a:rPr>
              <a:t>Group code and parity check matrix</a:t>
            </a:r>
            <a:endParaRPr lang="en-US" altLang="zh-CN" sz="2800" dirty="0"/>
          </a:p>
          <a:p>
            <a:pPr lvl="1" eaLnBrk="1" hangingPunct="1">
              <a:lnSpc>
                <a:spcPct val="90000"/>
              </a:lnSpc>
            </a:pPr>
            <a:r>
              <a:rPr lang="en-US" altLang="zh-CN" sz="2800" i="1" dirty="0">
                <a:sym typeface="+mn-ea"/>
              </a:rPr>
              <a:t>Minimum distance of a group code</a:t>
            </a:r>
            <a:endParaRPr lang="en-US" altLang="zh-CN" sz="2800" i="1" dirty="0"/>
          </a:p>
          <a:p>
            <a:pPr eaLnBrk="1" hangingPunct="1">
              <a:lnSpc>
                <a:spcPct val="90000"/>
              </a:lnSpc>
            </a:pPr>
            <a:r>
              <a:rPr lang="en-US" altLang="zh-CN" sz="2800" dirty="0">
                <a:sym typeface="+mn-ea"/>
              </a:rPr>
              <a:t>Maximum likelihood technique</a:t>
            </a:r>
            <a:endParaRPr lang="en-US" altLang="zh-CN" sz="2800" dirty="0"/>
          </a:p>
          <a:p>
            <a:pPr lvl="1" eaLnBrk="1" hangingPunct="1">
              <a:lnSpc>
                <a:spcPct val="90000"/>
              </a:lnSpc>
            </a:pPr>
            <a:r>
              <a:rPr lang="en-US" altLang="zh-CN" sz="2800" i="1" dirty="0">
                <a:sym typeface="+mn-ea"/>
              </a:rPr>
              <a:t>Maximum likelihood decoding function</a:t>
            </a:r>
            <a:endParaRPr lang="en-US" altLang="zh-CN" sz="2800" i="1" dirty="0"/>
          </a:p>
          <a:p>
            <a:pPr lvl="1" eaLnBrk="1" hangingPunct="1">
              <a:lnSpc>
                <a:spcPct val="90000"/>
              </a:lnSpc>
            </a:pPr>
            <a:r>
              <a:rPr lang="en-US" altLang="zh-CN" sz="2800" i="1" dirty="0">
                <a:sym typeface="+mn-ea"/>
              </a:rPr>
              <a:t>Syndrome and decoding procedure for group code</a:t>
            </a:r>
            <a:endParaRPr lang="en-US" altLang="zh-CN" sz="2800" dirty="0"/>
          </a:p>
        </p:txBody>
      </p:sp>
      <p:sp>
        <p:nvSpPr>
          <p:cNvPr id="3" name="文本框 2"/>
          <p:cNvSpPr txBox="1"/>
          <p:nvPr/>
        </p:nvSpPr>
        <p:spPr>
          <a:xfrm>
            <a:off x="3474720" y="843280"/>
            <a:ext cx="4393565" cy="583565"/>
          </a:xfrm>
          <a:prstGeom prst="rect">
            <a:avLst/>
          </a:prstGeom>
          <a:noFill/>
        </p:spPr>
        <p:txBody>
          <a:bodyPr wrap="square" rtlCol="0" anchor="t">
            <a:spAutoFit/>
          </a:bodyPr>
          <a:lstStyle/>
          <a:p>
            <a:r>
              <a:rPr lang="en-US" altLang="zh-CN" sz="3200" b="1" kern="0" dirty="0">
                <a:cs typeface="+mn-ea"/>
                <a:sym typeface="+mn-ea"/>
              </a:rPr>
              <a:t>Key ideas for review</a:t>
            </a:r>
            <a:endParaRPr lang="en-US" altLang="zh-CN" sz="3200"/>
          </a:p>
        </p:txBody>
      </p:sp>
    </p:spTree>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661806" y="995044"/>
            <a:ext cx="6123214" cy="769441"/>
          </a:xfrm>
          <a:prstGeom prst="rect">
            <a:avLst/>
          </a:prstGeom>
          <a:noFill/>
        </p:spPr>
        <p:txBody>
          <a:bodyPr wrap="square">
            <a:spAutoFit/>
          </a:bodyPr>
          <a:lstStyle/>
          <a:p>
            <a:r>
              <a:rPr kumimoji="0" lang="en-US" altLang="zh-CN" sz="44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j-cs"/>
              </a:rPr>
              <a:t>Homework</a:t>
            </a:r>
            <a:endParaRPr lang="zh-CN" altLang="en-US" dirty="0"/>
          </a:p>
        </p:txBody>
      </p:sp>
      <p:sp>
        <p:nvSpPr>
          <p:cNvPr id="9" name="Rectangle 3"/>
          <p:cNvSpPr txBox="1">
            <a:spLocks noChangeArrowheads="1"/>
          </p:cNvSpPr>
          <p:nvPr/>
        </p:nvSpPr>
        <p:spPr bwMode="auto">
          <a:xfrm>
            <a:off x="324194" y="1847127"/>
            <a:ext cx="11543612"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defRPr/>
            </a:pPr>
            <a:r>
              <a:rPr lang="en-US" altLang="zh-CN" sz="3600" dirty="0"/>
              <a:t>11.2(</a:t>
            </a:r>
            <a:r>
              <a:rPr lang="zh-CN" altLang="en-US" sz="3600" dirty="0"/>
              <a:t>补</a:t>
            </a:r>
            <a:r>
              <a:rPr lang="en-US" altLang="zh-CN" sz="3600" dirty="0"/>
              <a:t>) </a:t>
            </a:r>
          </a:p>
          <a:p>
            <a:pPr lvl="1">
              <a:lnSpc>
                <a:spcPct val="150000"/>
              </a:lnSpc>
              <a:defRPr/>
            </a:pPr>
            <a:r>
              <a:rPr lang="en-US" altLang="zh-CN" sz="3200" dirty="0"/>
              <a:t>14, 18, 22   P421</a:t>
            </a:r>
          </a:p>
          <a:p>
            <a:pPr lvl="1">
              <a:lnSpc>
                <a:spcPct val="150000"/>
              </a:lnSpc>
              <a:defRPr/>
            </a:pPr>
            <a:r>
              <a:rPr lang="en-US" altLang="zh-CN" sz="3200"/>
              <a:t>24   P422</a:t>
            </a:r>
            <a:endParaRPr lang="en-US" altLang="zh-CN" sz="3200"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11.2(</a:t>
            </a:r>
            <a:r>
              <a:rPr lang="zh-CN" altLang="en-US" sz="3200"/>
              <a:t>补</a:t>
            </a:r>
            <a:r>
              <a:rPr lang="en-US" altLang="zh-CN" sz="3200"/>
              <a:t>) Decoding and Error Correction</a:t>
            </a:r>
          </a:p>
        </p:txBody>
      </p:sp>
    </p:spTree>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a:t>11.1(</a:t>
            </a:r>
            <a:r>
              <a:rPr lang="zh-CN" altLang="en-US" sz="3200"/>
              <a:t>补</a:t>
            </a:r>
            <a:r>
              <a:rPr lang="en-US" altLang="zh-CN" sz="3200"/>
              <a:t>)-11.2(</a:t>
            </a:r>
            <a:r>
              <a:rPr lang="zh-CN" altLang="en-US" sz="3200"/>
              <a:t>补</a:t>
            </a:r>
            <a:r>
              <a:rPr lang="en-US" altLang="zh-CN" sz="3200"/>
              <a:t>)</a:t>
            </a:r>
            <a:endParaRPr lang="en-US" altLang="zh-CN" sz="3200" dirty="0"/>
          </a:p>
        </p:txBody>
      </p:sp>
      <p:sp>
        <p:nvSpPr>
          <p:cNvPr id="7" name="Rectangle 3">
            <a:extLst>
              <a:ext uri="{FF2B5EF4-FFF2-40B4-BE49-F238E27FC236}">
                <a16:creationId xmlns:a16="http://schemas.microsoft.com/office/drawing/2014/main" id="{EC2CAA27-DE60-4BFD-86D6-0FED57A71455}"/>
              </a:ext>
            </a:extLst>
          </p:cNvPr>
          <p:cNvSpPr txBox="1">
            <a:spLocks noChangeArrowheads="1"/>
          </p:cNvSpPr>
          <p:nvPr/>
        </p:nvSpPr>
        <p:spPr bwMode="auto">
          <a:xfrm>
            <a:off x="210046" y="1586240"/>
            <a:ext cx="547357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message</a:t>
            </a:r>
            <a:r>
              <a:rPr lang="zh-CN" altLang="en-US" sz="2800"/>
              <a:t>（消息）</a:t>
            </a:r>
            <a:endParaRPr lang="en-US" altLang="zh-CN" sz="2800"/>
          </a:p>
          <a:p>
            <a:pPr>
              <a:lnSpc>
                <a:spcPct val="150000"/>
              </a:lnSpc>
              <a:buFont typeface="Wingdings" panose="05000000000000000000" pitchFamily="2" charset="2"/>
              <a:buChar char="l"/>
            </a:pPr>
            <a:r>
              <a:rPr lang="en-US" altLang="zh-CN" sz="2800"/>
              <a:t>word</a:t>
            </a:r>
            <a:r>
              <a:rPr lang="zh-CN" altLang="en-US" sz="2800"/>
              <a:t>（字）</a:t>
            </a:r>
            <a:endParaRPr lang="en-US" altLang="zh-CN" sz="2800"/>
          </a:p>
          <a:p>
            <a:pPr>
              <a:lnSpc>
                <a:spcPct val="150000"/>
              </a:lnSpc>
              <a:buFont typeface="Wingdings" panose="05000000000000000000" pitchFamily="2" charset="2"/>
              <a:buChar char="l"/>
            </a:pPr>
            <a:r>
              <a:rPr lang="en-US" altLang="zh-CN" sz="2800"/>
              <a:t>noise</a:t>
            </a:r>
            <a:r>
              <a:rPr lang="zh-CN" altLang="en-US" sz="2800"/>
              <a:t>（噪声）</a:t>
            </a:r>
            <a:endParaRPr lang="en-US" altLang="zh-CN" sz="2800"/>
          </a:p>
          <a:p>
            <a:pPr>
              <a:lnSpc>
                <a:spcPct val="150000"/>
              </a:lnSpc>
              <a:buFont typeface="Wingdings" panose="05000000000000000000" pitchFamily="2" charset="2"/>
              <a:buChar char="l"/>
            </a:pPr>
            <a:r>
              <a:rPr lang="en-US" altLang="zh-CN" sz="2800"/>
              <a:t>transmission channel</a:t>
            </a:r>
            <a:r>
              <a:rPr lang="zh-CN" altLang="en-US" sz="2800"/>
              <a:t>（传输通道）</a:t>
            </a:r>
            <a:endParaRPr lang="en-US" altLang="zh-CN" sz="2800"/>
          </a:p>
          <a:p>
            <a:pPr>
              <a:lnSpc>
                <a:spcPct val="150000"/>
              </a:lnSpc>
              <a:buFont typeface="Wingdings" panose="05000000000000000000" pitchFamily="2" charset="2"/>
              <a:buChar char="l"/>
            </a:pPr>
            <a:r>
              <a:rPr lang="en-US" altLang="zh-CN" sz="2800"/>
              <a:t>encoding function</a:t>
            </a:r>
            <a:r>
              <a:rPr lang="zh-CN" altLang="en-US" sz="2800"/>
              <a:t>（编码函数）</a:t>
            </a:r>
            <a:endParaRPr lang="en-US" altLang="zh-CN" sz="2800"/>
          </a:p>
          <a:p>
            <a:pPr>
              <a:lnSpc>
                <a:spcPct val="150000"/>
              </a:lnSpc>
              <a:buFont typeface="Wingdings" panose="05000000000000000000" pitchFamily="2" charset="2"/>
              <a:buChar char="l"/>
            </a:pPr>
            <a:r>
              <a:rPr lang="en-US" altLang="zh-CN" sz="2800"/>
              <a:t>code word</a:t>
            </a:r>
            <a:r>
              <a:rPr lang="zh-CN" altLang="en-US" sz="2800"/>
              <a:t>（码字）</a:t>
            </a:r>
          </a:p>
        </p:txBody>
      </p:sp>
      <p:sp>
        <p:nvSpPr>
          <p:cNvPr id="8" name="文本框 7">
            <a:extLst>
              <a:ext uri="{FF2B5EF4-FFF2-40B4-BE49-F238E27FC236}">
                <a16:creationId xmlns:a16="http://schemas.microsoft.com/office/drawing/2014/main" id="{822C4D55-B538-466B-B3CD-88F7C87EE691}"/>
              </a:ext>
            </a:extLst>
          </p:cNvPr>
          <p:cNvSpPr txBox="1"/>
          <p:nvPr/>
        </p:nvSpPr>
        <p:spPr>
          <a:xfrm>
            <a:off x="2193925" y="879485"/>
            <a:ext cx="7804150" cy="706755"/>
          </a:xfrm>
          <a:prstGeom prst="rect">
            <a:avLst/>
          </a:prstGeom>
          <a:noFill/>
        </p:spPr>
        <p:txBody>
          <a:bodyPr wrap="square" rtlCol="0">
            <a:spAutoFit/>
          </a:bodyPr>
          <a:lstStyle/>
          <a:p>
            <a:pPr algn="ctr" eaLnBrk="1" hangingPunct="1"/>
            <a:r>
              <a:rPr lang="zh-CN" altLang="en-US" sz="4000" b="1">
                <a:sym typeface="+mn-ea"/>
              </a:rPr>
              <a:t>单词表</a:t>
            </a:r>
            <a:endParaRPr lang="en-US" altLang="zh-CN" sz="4000" b="1" dirty="0"/>
          </a:p>
        </p:txBody>
      </p:sp>
      <p:sp>
        <p:nvSpPr>
          <p:cNvPr id="6" name="Rectangle 3">
            <a:extLst>
              <a:ext uri="{FF2B5EF4-FFF2-40B4-BE49-F238E27FC236}">
                <a16:creationId xmlns:a16="http://schemas.microsoft.com/office/drawing/2014/main" id="{8FE50F59-07F8-4CFF-A73C-8DBE1766EF7E}"/>
              </a:ext>
            </a:extLst>
          </p:cNvPr>
          <p:cNvSpPr txBox="1">
            <a:spLocks noChangeArrowheads="1"/>
          </p:cNvSpPr>
          <p:nvPr/>
        </p:nvSpPr>
        <p:spPr bwMode="auto">
          <a:xfrm>
            <a:off x="6096000" y="1586240"/>
            <a:ext cx="5885954"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weight</a:t>
            </a:r>
            <a:r>
              <a:rPr lang="zh-CN" altLang="en-US" sz="2800"/>
              <a:t>（权）</a:t>
            </a:r>
            <a:endParaRPr lang="en-US" altLang="zh-CN" sz="2800"/>
          </a:p>
          <a:p>
            <a:pPr>
              <a:lnSpc>
                <a:spcPct val="150000"/>
              </a:lnSpc>
              <a:buFont typeface="Wingdings" panose="05000000000000000000" pitchFamily="2" charset="2"/>
              <a:buChar char="l"/>
            </a:pPr>
            <a:r>
              <a:rPr lang="en-US" altLang="zh-CN" sz="2800"/>
              <a:t>parity check code </a:t>
            </a:r>
            <a:r>
              <a:rPr lang="zh-CN" altLang="en-US" sz="2800"/>
              <a:t>（奇偶校验码）</a:t>
            </a:r>
            <a:endParaRPr lang="en-US" altLang="zh-CN" sz="2800"/>
          </a:p>
          <a:p>
            <a:pPr>
              <a:lnSpc>
                <a:spcPct val="150000"/>
              </a:lnSpc>
              <a:buFont typeface="Wingdings" panose="05000000000000000000" pitchFamily="2" charset="2"/>
              <a:buChar char="l"/>
            </a:pPr>
            <a:r>
              <a:rPr lang="en-US" altLang="zh-CN" sz="2800"/>
              <a:t>hamming distance </a:t>
            </a:r>
            <a:r>
              <a:rPr lang="zh-CN" altLang="en-US" sz="2800"/>
              <a:t>（海明距离）</a:t>
            </a:r>
            <a:endParaRPr lang="en-US" altLang="zh-CN" sz="2800"/>
          </a:p>
          <a:p>
            <a:pPr>
              <a:lnSpc>
                <a:spcPct val="150000"/>
              </a:lnSpc>
              <a:buFont typeface="Wingdings" panose="05000000000000000000" pitchFamily="2" charset="2"/>
              <a:buChar char="l"/>
            </a:pPr>
            <a:r>
              <a:rPr lang="en-US" altLang="zh-CN" sz="2800"/>
              <a:t>minimum distance </a:t>
            </a:r>
            <a:r>
              <a:rPr lang="zh-CN" altLang="en-US" sz="2800"/>
              <a:t>（最小距离）</a:t>
            </a:r>
            <a:endParaRPr lang="en-US" altLang="zh-CN" sz="2800"/>
          </a:p>
          <a:p>
            <a:pPr>
              <a:lnSpc>
                <a:spcPct val="150000"/>
              </a:lnSpc>
              <a:buFont typeface="Wingdings" panose="05000000000000000000" pitchFamily="2" charset="2"/>
              <a:buChar char="l"/>
            </a:pPr>
            <a:r>
              <a:rPr lang="en-US" altLang="zh-CN" sz="2800"/>
              <a:t>group code</a:t>
            </a:r>
            <a:r>
              <a:rPr lang="zh-CN" altLang="en-US" sz="2800"/>
              <a:t>（群码）</a:t>
            </a:r>
            <a:endParaRPr lang="en-US" altLang="zh-CN" sz="2800"/>
          </a:p>
          <a:p>
            <a:pPr>
              <a:lnSpc>
                <a:spcPct val="150000"/>
              </a:lnSpc>
              <a:buFont typeface="Wingdings" panose="05000000000000000000" pitchFamily="2" charset="2"/>
              <a:buChar char="l"/>
            </a:pPr>
            <a:r>
              <a:rPr lang="en-US" altLang="zh-CN" sz="2800"/>
              <a:t>parity check matrix</a:t>
            </a:r>
            <a:r>
              <a:rPr lang="zh-CN" altLang="en-US" sz="2800"/>
              <a:t>（一致性检验矩阵）</a:t>
            </a:r>
          </a:p>
        </p:txBody>
      </p:sp>
    </p:spTree>
    <p:extLst>
      <p:ext uri="{BB962C8B-B14F-4D97-AF65-F5344CB8AC3E}">
        <p14:creationId xmlns:p14="http://schemas.microsoft.com/office/powerpoint/2010/main" val="509913669"/>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a:t>11.1(</a:t>
            </a:r>
            <a:r>
              <a:rPr lang="zh-CN" altLang="en-US" sz="3200"/>
              <a:t>补</a:t>
            </a:r>
            <a:r>
              <a:rPr lang="en-US" altLang="zh-CN" sz="3200"/>
              <a:t>)-11.2(</a:t>
            </a:r>
            <a:r>
              <a:rPr lang="zh-CN" altLang="en-US" sz="3200"/>
              <a:t>补</a:t>
            </a:r>
            <a:r>
              <a:rPr lang="en-US" altLang="zh-CN" sz="3200"/>
              <a:t>)</a:t>
            </a:r>
            <a:endParaRPr lang="en-US" altLang="zh-CN" sz="3200" dirty="0"/>
          </a:p>
        </p:txBody>
      </p:sp>
      <p:sp>
        <p:nvSpPr>
          <p:cNvPr id="7" name="Rectangle 3">
            <a:extLst>
              <a:ext uri="{FF2B5EF4-FFF2-40B4-BE49-F238E27FC236}">
                <a16:creationId xmlns:a16="http://schemas.microsoft.com/office/drawing/2014/main" id="{EC2CAA27-DE60-4BFD-86D6-0FED57A71455}"/>
              </a:ext>
            </a:extLst>
          </p:cNvPr>
          <p:cNvSpPr txBox="1">
            <a:spLocks noChangeArrowheads="1"/>
          </p:cNvSpPr>
          <p:nvPr/>
        </p:nvSpPr>
        <p:spPr bwMode="auto">
          <a:xfrm>
            <a:off x="210046" y="1586240"/>
            <a:ext cx="1105647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maximum likelihood technique</a:t>
            </a:r>
            <a:r>
              <a:rPr lang="zh-CN" altLang="en-US" sz="2800"/>
              <a:t>（极大似然方法）</a:t>
            </a:r>
            <a:endParaRPr lang="en-US" altLang="zh-CN" sz="2800"/>
          </a:p>
          <a:p>
            <a:pPr>
              <a:lnSpc>
                <a:spcPct val="150000"/>
              </a:lnSpc>
              <a:buFont typeface="Wingdings" panose="05000000000000000000" pitchFamily="2" charset="2"/>
              <a:buChar char="l"/>
            </a:pPr>
            <a:r>
              <a:rPr lang="en-US" altLang="zh-CN" sz="2800"/>
              <a:t>maximum likelihood decoding function</a:t>
            </a:r>
            <a:r>
              <a:rPr lang="zh-CN" altLang="en-US" sz="2800"/>
              <a:t>（最大似然译码函数）</a:t>
            </a:r>
            <a:endParaRPr lang="en-US" altLang="zh-CN" sz="2800"/>
          </a:p>
          <a:p>
            <a:pPr>
              <a:lnSpc>
                <a:spcPct val="150000"/>
              </a:lnSpc>
              <a:buFont typeface="Wingdings" panose="05000000000000000000" pitchFamily="2" charset="2"/>
              <a:buChar char="l"/>
            </a:pPr>
            <a:r>
              <a:rPr lang="en-US" altLang="zh-CN" sz="2800"/>
              <a:t>coset leader</a:t>
            </a:r>
            <a:r>
              <a:rPr lang="zh-CN" altLang="en-US" sz="2800"/>
              <a:t>（陪集首部）</a:t>
            </a:r>
            <a:endParaRPr lang="en-US" altLang="zh-CN" sz="2800"/>
          </a:p>
          <a:p>
            <a:pPr>
              <a:lnSpc>
                <a:spcPct val="150000"/>
              </a:lnSpc>
              <a:buFont typeface="Wingdings" panose="05000000000000000000" pitchFamily="2" charset="2"/>
              <a:buChar char="l"/>
            </a:pPr>
            <a:r>
              <a:rPr lang="en-US" altLang="zh-CN" sz="2800"/>
              <a:t>decoding table</a:t>
            </a:r>
            <a:r>
              <a:rPr lang="zh-CN" altLang="en-US" sz="2800"/>
              <a:t>（译码表）</a:t>
            </a:r>
            <a:endParaRPr lang="en-US" altLang="zh-CN" sz="2800"/>
          </a:p>
          <a:p>
            <a:pPr>
              <a:lnSpc>
                <a:spcPct val="150000"/>
              </a:lnSpc>
              <a:buFont typeface="Wingdings" panose="05000000000000000000" pitchFamily="2" charset="2"/>
              <a:buChar char="l"/>
            </a:pPr>
            <a:endParaRPr lang="zh-CN" altLang="en-US" sz="2800"/>
          </a:p>
        </p:txBody>
      </p:sp>
      <p:sp>
        <p:nvSpPr>
          <p:cNvPr id="8" name="文本框 7">
            <a:extLst>
              <a:ext uri="{FF2B5EF4-FFF2-40B4-BE49-F238E27FC236}">
                <a16:creationId xmlns:a16="http://schemas.microsoft.com/office/drawing/2014/main" id="{822C4D55-B538-466B-B3CD-88F7C87EE691}"/>
              </a:ext>
            </a:extLst>
          </p:cNvPr>
          <p:cNvSpPr txBox="1"/>
          <p:nvPr/>
        </p:nvSpPr>
        <p:spPr>
          <a:xfrm>
            <a:off x="2193925" y="879485"/>
            <a:ext cx="7804150" cy="706755"/>
          </a:xfrm>
          <a:prstGeom prst="rect">
            <a:avLst/>
          </a:prstGeom>
          <a:noFill/>
        </p:spPr>
        <p:txBody>
          <a:bodyPr wrap="square" rtlCol="0">
            <a:spAutoFit/>
          </a:bodyPr>
          <a:lstStyle/>
          <a:p>
            <a:pPr algn="ctr" eaLnBrk="1" hangingPunct="1"/>
            <a:r>
              <a:rPr lang="zh-CN" altLang="en-US" sz="4000" b="1">
                <a:sym typeface="+mn-ea"/>
              </a:rPr>
              <a:t>单词表</a:t>
            </a:r>
            <a:endParaRPr lang="en-US" altLang="zh-CN" sz="4000" b="1" dirty="0"/>
          </a:p>
        </p:txBody>
      </p:sp>
    </p:spTree>
    <p:extLst>
      <p:ext uri="{BB962C8B-B14F-4D97-AF65-F5344CB8AC3E}">
        <p14:creationId xmlns:p14="http://schemas.microsoft.com/office/powerpoint/2010/main" val="4103599581"/>
      </p:ext>
    </p:extLst>
  </p:cSld>
  <p:clrMapOvr>
    <a:masterClrMapping/>
  </p:clrMapOvr>
  <p:transition>
    <p:fade/>
  </p:transition>
</p:sld>
</file>

<file path=ppt/theme/theme1.xml><?xml version="1.0" encoding="utf-8"?>
<a:theme xmlns:a="http://schemas.openxmlformats.org/drawingml/2006/main" name="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嘉迪</Template>
  <TotalTime>1602</TotalTime>
  <Words>7099</Words>
  <Application>Microsoft Office PowerPoint</Application>
  <PresentationFormat>宽屏</PresentationFormat>
  <Paragraphs>564</Paragraphs>
  <Slides>98</Slides>
  <Notes>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98</vt:i4>
      </vt:variant>
    </vt:vector>
  </HeadingPairs>
  <TitlesOfParts>
    <vt:vector size="112" baseType="lpstr">
      <vt:lpstr>Arial Unicode MS</vt:lpstr>
      <vt:lpstr>Microsoft JhengHei</vt:lpstr>
      <vt:lpstr>Arial</vt:lpstr>
      <vt:lpstr>Calibri</vt:lpstr>
      <vt:lpstr>Cambria Math</vt:lpstr>
      <vt:lpstr>Courier New</vt:lpstr>
      <vt:lpstr>Symbol</vt:lpstr>
      <vt:lpstr>Times New Roman</vt:lpstr>
      <vt:lpstr>Wingdings</vt:lpstr>
      <vt:lpstr>Wingdings 2</vt:lpstr>
      <vt:lpstr>嘉迪</vt:lpstr>
      <vt:lpstr>Equation</vt:lpstr>
      <vt:lpstr>Bitmap Image</vt:lpstr>
      <vt:lpstr>Equation.DSMT4</vt:lpstr>
      <vt:lpstr>离散数学及其应用 Discrete Mathematics and Its Applications （Eighth  Edition/Kenneth H.Rosen）  郭少勇 (syguo@bupt.edu.cn) 北京邮电大学 2025.10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metarnet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跨界数据创新</dc:title>
  <dc:creator>张龙</dc:creator>
  <cp:lastModifiedBy>Shaoyong Guo</cp:lastModifiedBy>
  <cp:revision>2224</cp:revision>
  <dcterms:created xsi:type="dcterms:W3CDTF">2014-06-11T06:47:00Z</dcterms:created>
  <dcterms:modified xsi:type="dcterms:W3CDTF">2025-10-20T09:55:32Z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CEE855D6EC0646A5AC487CE6141A24AE</vt:lpwstr>
  </property>
  <property fmtid="{D5CDD505-2E9C-101B-9397-08002B2CF9AE}" pid="3" name="KSOProductBuildVer">
    <vt:lpwstr>2052-11.1.0.10700</vt:lpwstr>
  </property>
</Properties>
</file>