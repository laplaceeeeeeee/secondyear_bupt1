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85" r:id="rId1"/>
  </p:sldMasterIdLst>
  <p:notesMasterIdLst>
    <p:notesMasterId r:id="rId88"/>
  </p:notesMasterIdLst>
  <p:handoutMasterIdLst>
    <p:handoutMasterId r:id="rId89"/>
  </p:handoutMasterIdLst>
  <p:sldIdLst>
    <p:sldId id="266" r:id="rId2"/>
    <p:sldId id="481" r:id="rId3"/>
    <p:sldId id="396" r:id="rId4"/>
    <p:sldId id="397" r:id="rId5"/>
    <p:sldId id="398" r:id="rId6"/>
    <p:sldId id="399" r:id="rId7"/>
    <p:sldId id="401" r:id="rId8"/>
    <p:sldId id="402" r:id="rId9"/>
    <p:sldId id="404" r:id="rId10"/>
    <p:sldId id="405" r:id="rId11"/>
    <p:sldId id="476" r:id="rId12"/>
    <p:sldId id="406" r:id="rId13"/>
    <p:sldId id="407" r:id="rId14"/>
    <p:sldId id="408" r:id="rId15"/>
    <p:sldId id="409" r:id="rId16"/>
    <p:sldId id="410" r:id="rId17"/>
    <p:sldId id="411" r:id="rId18"/>
    <p:sldId id="412" r:id="rId19"/>
    <p:sldId id="413" r:id="rId20"/>
    <p:sldId id="414" r:id="rId21"/>
    <p:sldId id="415" r:id="rId22"/>
    <p:sldId id="416" r:id="rId23"/>
    <p:sldId id="417" r:id="rId24"/>
    <p:sldId id="419" r:id="rId25"/>
    <p:sldId id="420" r:id="rId26"/>
    <p:sldId id="421" r:id="rId27"/>
    <p:sldId id="422" r:id="rId28"/>
    <p:sldId id="423" r:id="rId29"/>
    <p:sldId id="424" r:id="rId30"/>
    <p:sldId id="425" r:id="rId31"/>
    <p:sldId id="426" r:id="rId32"/>
    <p:sldId id="434" r:id="rId33"/>
    <p:sldId id="427" r:id="rId34"/>
    <p:sldId id="429" r:id="rId35"/>
    <p:sldId id="428" r:id="rId36"/>
    <p:sldId id="430" r:id="rId37"/>
    <p:sldId id="431" r:id="rId38"/>
    <p:sldId id="432" r:id="rId39"/>
    <p:sldId id="433" r:id="rId40"/>
    <p:sldId id="435" r:id="rId41"/>
    <p:sldId id="436" r:id="rId42"/>
    <p:sldId id="437" r:id="rId43"/>
    <p:sldId id="438" r:id="rId44"/>
    <p:sldId id="477" r:id="rId45"/>
    <p:sldId id="400" r:id="rId46"/>
    <p:sldId id="478" r:id="rId47"/>
    <p:sldId id="439" r:id="rId48"/>
    <p:sldId id="440" r:id="rId49"/>
    <p:sldId id="479" r:id="rId50"/>
    <p:sldId id="403" r:id="rId51"/>
    <p:sldId id="441" r:id="rId52"/>
    <p:sldId id="442" r:id="rId53"/>
    <p:sldId id="443" r:id="rId54"/>
    <p:sldId id="444" r:id="rId55"/>
    <p:sldId id="445" r:id="rId56"/>
    <p:sldId id="446" r:id="rId57"/>
    <p:sldId id="447" r:id="rId58"/>
    <p:sldId id="480" r:id="rId59"/>
    <p:sldId id="448" r:id="rId60"/>
    <p:sldId id="449" r:id="rId61"/>
    <p:sldId id="450" r:id="rId62"/>
    <p:sldId id="451" r:id="rId63"/>
    <p:sldId id="452" r:id="rId64"/>
    <p:sldId id="453" r:id="rId65"/>
    <p:sldId id="454" r:id="rId66"/>
    <p:sldId id="455" r:id="rId67"/>
    <p:sldId id="456" r:id="rId68"/>
    <p:sldId id="457" r:id="rId69"/>
    <p:sldId id="458" r:id="rId70"/>
    <p:sldId id="459" r:id="rId71"/>
    <p:sldId id="460" r:id="rId72"/>
    <p:sldId id="461" r:id="rId73"/>
    <p:sldId id="462" r:id="rId74"/>
    <p:sldId id="463" r:id="rId75"/>
    <p:sldId id="464" r:id="rId76"/>
    <p:sldId id="465" r:id="rId77"/>
    <p:sldId id="466" r:id="rId78"/>
    <p:sldId id="467" r:id="rId79"/>
    <p:sldId id="468" r:id="rId80"/>
    <p:sldId id="469" r:id="rId81"/>
    <p:sldId id="470" r:id="rId82"/>
    <p:sldId id="471" r:id="rId83"/>
    <p:sldId id="472" r:id="rId84"/>
    <p:sldId id="473" r:id="rId85"/>
    <p:sldId id="474" r:id="rId86"/>
    <p:sldId id="475" r:id="rId87"/>
  </p:sldIdLst>
  <p:sldSz cx="12192000" cy="6858000"/>
  <p:notesSz cx="7099300"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EBB4FAAA-8E59-40C0-B1AA-50162B12F497}">
          <p14:sldIdLst>
            <p14:sldId id="266"/>
            <p14:sldId id="481"/>
            <p14:sldId id="396"/>
            <p14:sldId id="397"/>
            <p14:sldId id="398"/>
            <p14:sldId id="399"/>
            <p14:sldId id="401"/>
            <p14:sldId id="402"/>
            <p14:sldId id="404"/>
            <p14:sldId id="405"/>
            <p14:sldId id="476"/>
            <p14:sldId id="406"/>
            <p14:sldId id="407"/>
            <p14:sldId id="408"/>
            <p14:sldId id="409"/>
            <p14:sldId id="410"/>
            <p14:sldId id="411"/>
            <p14:sldId id="412"/>
            <p14:sldId id="413"/>
            <p14:sldId id="414"/>
            <p14:sldId id="415"/>
            <p14:sldId id="416"/>
            <p14:sldId id="417"/>
            <p14:sldId id="419"/>
            <p14:sldId id="420"/>
            <p14:sldId id="421"/>
            <p14:sldId id="422"/>
            <p14:sldId id="423"/>
            <p14:sldId id="424"/>
            <p14:sldId id="425"/>
            <p14:sldId id="426"/>
            <p14:sldId id="434"/>
            <p14:sldId id="427"/>
            <p14:sldId id="429"/>
            <p14:sldId id="428"/>
            <p14:sldId id="430"/>
            <p14:sldId id="431"/>
            <p14:sldId id="432"/>
            <p14:sldId id="433"/>
            <p14:sldId id="435"/>
            <p14:sldId id="436"/>
            <p14:sldId id="437"/>
            <p14:sldId id="438"/>
            <p14:sldId id="477"/>
            <p14:sldId id="400"/>
            <p14:sldId id="478"/>
            <p14:sldId id="439"/>
            <p14:sldId id="440"/>
            <p14:sldId id="479"/>
            <p14:sldId id="403"/>
            <p14:sldId id="441"/>
            <p14:sldId id="442"/>
            <p14:sldId id="443"/>
            <p14:sldId id="444"/>
            <p14:sldId id="445"/>
            <p14:sldId id="446"/>
            <p14:sldId id="447"/>
            <p14:sldId id="480"/>
            <p14:sldId id="448"/>
            <p14:sldId id="449"/>
            <p14:sldId id="450"/>
            <p14:sldId id="451"/>
            <p14:sldId id="452"/>
            <p14:sldId id="453"/>
            <p14:sldId id="454"/>
            <p14:sldId id="455"/>
            <p14:sldId id="456"/>
            <p14:sldId id="457"/>
            <p14:sldId id="458"/>
            <p14:sldId id="459"/>
            <p14:sldId id="460"/>
            <p14:sldId id="461"/>
            <p14:sldId id="462"/>
            <p14:sldId id="463"/>
            <p14:sldId id="464"/>
            <p14:sldId id="465"/>
            <p14:sldId id="466"/>
            <p14:sldId id="467"/>
            <p14:sldId id="468"/>
            <p14:sldId id="469"/>
            <p14:sldId id="470"/>
            <p14:sldId id="471"/>
            <p14:sldId id="472"/>
            <p14:sldId id="473"/>
            <p14:sldId id="474"/>
            <p14:sldId id="475"/>
          </p14:sldIdLst>
        </p14:section>
        <p14:section name="无标题节" id="{C8741928-B9EF-491C-B995-74A00C9523D3}">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邱" initials="邱" lastIdx="1" clrIdx="0">
    <p:extLst>
      <p:ext uri="{19B8F6BF-5375-455C-9EA6-DF929625EA0E}">
        <p15:presenceInfo xmlns:p15="http://schemas.microsoft.com/office/powerpoint/2012/main" userId="d8a7ec61f78a769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33CC"/>
    <a:srgbClr val="FF0000"/>
    <a:srgbClr val="00FF00"/>
    <a:srgbClr val="008080"/>
    <a:srgbClr val="FFFF99"/>
    <a:srgbClr val="FF99FF"/>
    <a:srgbClr val="00FFCC"/>
    <a:srgbClr val="007370"/>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01" autoAdjust="0"/>
    <p:restoredTop sz="92907" autoAdjust="0"/>
  </p:normalViewPr>
  <p:slideViewPr>
    <p:cSldViewPr snapToGrid="0">
      <p:cViewPr varScale="1">
        <p:scale>
          <a:sx n="155" d="100"/>
          <a:sy n="155" d="100"/>
        </p:scale>
        <p:origin x="2748" y="126"/>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760" y="-78"/>
      </p:cViewPr>
      <p:guideLst>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handoutMaster" Target="handoutMasters/handout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commentAuthors" Target="commentAuthor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zh-CN" altLang="en-US"/>
          </a:p>
        </p:txBody>
      </p:sp>
      <p:sp>
        <p:nvSpPr>
          <p:cNvPr id="3" name="日期占位符 2"/>
          <p:cNvSpPr>
            <a:spLocks noGrp="1"/>
          </p:cNvSpPr>
          <p:nvPr>
            <p:ph type="dt" sz="quarter" idx="1"/>
          </p:nvPr>
        </p:nvSpPr>
        <p:spPr>
          <a:xfrm>
            <a:off x="4021294" y="0"/>
            <a:ext cx="3076363" cy="511731"/>
          </a:xfrm>
          <a:prstGeom prst="rect">
            <a:avLst/>
          </a:prstGeom>
        </p:spPr>
        <p:txBody>
          <a:bodyPr vert="horz" lIns="99048" tIns="49524" rIns="99048" bIns="49524" rtlCol="0"/>
          <a:lstStyle>
            <a:lvl1pPr algn="r">
              <a:defRPr sz="1300"/>
            </a:lvl1pPr>
          </a:lstStyle>
          <a:p>
            <a:fld id="{69E6C644-74FC-4D44-AB81-2709554C9147}" type="datetimeFigureOut">
              <a:rPr lang="zh-CN" altLang="en-US" smtClean="0"/>
              <a:pPr/>
              <a:t>2025/9/15</a:t>
            </a:fld>
            <a:endParaRPr lang="zh-CN" altLang="en-US"/>
          </a:p>
        </p:txBody>
      </p:sp>
      <p:sp>
        <p:nvSpPr>
          <p:cNvPr id="4" name="页脚占位符 3"/>
          <p:cNvSpPr>
            <a:spLocks noGrp="1"/>
          </p:cNvSpPr>
          <p:nvPr>
            <p:ph type="ftr" sz="quarter" idx="2"/>
          </p:nvPr>
        </p:nvSpPr>
        <p:spPr>
          <a:xfrm>
            <a:off x="0" y="9721106"/>
            <a:ext cx="3076363" cy="511731"/>
          </a:xfrm>
          <a:prstGeom prst="rect">
            <a:avLst/>
          </a:prstGeom>
        </p:spPr>
        <p:txBody>
          <a:bodyPr vert="horz" lIns="99048" tIns="49524" rIns="99048" bIns="49524" rtlCol="0" anchor="b"/>
          <a:lstStyle>
            <a:lvl1pPr algn="l">
              <a:defRPr sz="1300"/>
            </a:lvl1pPr>
          </a:lstStyle>
          <a:p>
            <a:endParaRPr lang="zh-CN" altLang="en-US"/>
          </a:p>
        </p:txBody>
      </p:sp>
      <p:sp>
        <p:nvSpPr>
          <p:cNvPr id="5" name="灯片编号占位符 4"/>
          <p:cNvSpPr>
            <a:spLocks noGrp="1"/>
          </p:cNvSpPr>
          <p:nvPr>
            <p:ph type="sldNum" sz="quarter" idx="3"/>
          </p:nvPr>
        </p:nvSpPr>
        <p:spPr>
          <a:xfrm>
            <a:off x="4021294" y="9721106"/>
            <a:ext cx="3076363" cy="511731"/>
          </a:xfrm>
          <a:prstGeom prst="rect">
            <a:avLst/>
          </a:prstGeom>
        </p:spPr>
        <p:txBody>
          <a:bodyPr vert="horz" lIns="99048" tIns="49524" rIns="99048" bIns="49524" rtlCol="0" anchor="b"/>
          <a:lstStyle>
            <a:lvl1pPr algn="r">
              <a:defRPr sz="1300"/>
            </a:lvl1pPr>
          </a:lstStyle>
          <a:p>
            <a:fld id="{B048ACB8-82BB-45CD-9FE9-610CE3440BB0}" type="slidenum">
              <a:rPr lang="zh-CN" altLang="en-US" smtClean="0"/>
              <a:pPr/>
              <a:t>‹#›</a:t>
            </a:fld>
            <a:endParaRPr lang="zh-CN" altLang="en-US"/>
          </a:p>
        </p:txBody>
      </p:sp>
    </p:spTree>
    <p:extLst>
      <p:ext uri="{BB962C8B-B14F-4D97-AF65-F5344CB8AC3E}">
        <p14:creationId xmlns:p14="http://schemas.microsoft.com/office/powerpoint/2010/main" val="15767729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363" cy="513508"/>
          </a:xfrm>
          <a:prstGeom prst="rect">
            <a:avLst/>
          </a:prstGeom>
        </p:spPr>
        <p:txBody>
          <a:bodyPr vert="horz" lIns="99048" tIns="49524" rIns="99048" bIns="49524" rtlCol="0"/>
          <a:lstStyle>
            <a:lvl1pPr algn="l">
              <a:defRPr sz="1300"/>
            </a:lvl1pPr>
          </a:lstStyle>
          <a:p>
            <a:endParaRPr lang="zh-CN" altLang="en-US"/>
          </a:p>
        </p:txBody>
      </p:sp>
      <p:sp>
        <p:nvSpPr>
          <p:cNvPr id="3" name="日期占位符 2"/>
          <p:cNvSpPr>
            <a:spLocks noGrp="1"/>
          </p:cNvSpPr>
          <p:nvPr>
            <p:ph type="dt" idx="1"/>
          </p:nvPr>
        </p:nvSpPr>
        <p:spPr>
          <a:xfrm>
            <a:off x="4021294" y="0"/>
            <a:ext cx="3076363" cy="513508"/>
          </a:xfrm>
          <a:prstGeom prst="rect">
            <a:avLst/>
          </a:prstGeom>
        </p:spPr>
        <p:txBody>
          <a:bodyPr vert="horz" lIns="99048" tIns="49524" rIns="99048" bIns="49524" rtlCol="0"/>
          <a:lstStyle>
            <a:lvl1pPr algn="r">
              <a:defRPr sz="1300"/>
            </a:lvl1pPr>
          </a:lstStyle>
          <a:p>
            <a:fld id="{F556F344-34FD-4E14-B679-9401DE38C7AF}" type="datetimeFigureOut">
              <a:rPr lang="zh-CN" altLang="en-US" smtClean="0"/>
              <a:pPr/>
              <a:t>2025/9/15</a:t>
            </a:fld>
            <a:endParaRPr lang="zh-CN" altLang="en-US"/>
          </a:p>
        </p:txBody>
      </p:sp>
      <p:sp>
        <p:nvSpPr>
          <p:cNvPr id="4" name="幻灯片图像占位符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9048" tIns="49524" rIns="99048" bIns="49524" rtlCol="0" anchor="ctr"/>
          <a:lstStyle/>
          <a:p>
            <a:endParaRPr lang="zh-CN" altLang="en-US"/>
          </a:p>
        </p:txBody>
      </p:sp>
      <p:sp>
        <p:nvSpPr>
          <p:cNvPr id="5" name="备注占位符 4"/>
          <p:cNvSpPr>
            <a:spLocks noGrp="1"/>
          </p:cNvSpPr>
          <p:nvPr>
            <p:ph type="body" sz="quarter" idx="3"/>
          </p:nvPr>
        </p:nvSpPr>
        <p:spPr>
          <a:xfrm>
            <a:off x="709930" y="4925407"/>
            <a:ext cx="5679440" cy="4029879"/>
          </a:xfrm>
          <a:prstGeom prst="rect">
            <a:avLst/>
          </a:prstGeom>
        </p:spPr>
        <p:txBody>
          <a:bodyPr vert="horz" lIns="99048" tIns="49524" rIns="99048" bIns="49524"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107"/>
            <a:ext cx="3076363" cy="513507"/>
          </a:xfrm>
          <a:prstGeom prst="rect">
            <a:avLst/>
          </a:prstGeom>
        </p:spPr>
        <p:txBody>
          <a:bodyPr vert="horz" lIns="99048" tIns="49524" rIns="99048" bIns="49524" rtlCol="0" anchor="b"/>
          <a:lstStyle>
            <a:lvl1pPr algn="l">
              <a:defRPr sz="1300"/>
            </a:lvl1pPr>
          </a:lstStyle>
          <a:p>
            <a:endParaRPr lang="zh-CN" altLang="en-US"/>
          </a:p>
        </p:txBody>
      </p:sp>
      <p:sp>
        <p:nvSpPr>
          <p:cNvPr id="7" name="灯片编号占位符 6"/>
          <p:cNvSpPr>
            <a:spLocks noGrp="1"/>
          </p:cNvSpPr>
          <p:nvPr>
            <p:ph type="sldNum" sz="quarter" idx="5"/>
          </p:nvPr>
        </p:nvSpPr>
        <p:spPr>
          <a:xfrm>
            <a:off x="4021294" y="9721107"/>
            <a:ext cx="3076363" cy="513507"/>
          </a:xfrm>
          <a:prstGeom prst="rect">
            <a:avLst/>
          </a:prstGeom>
        </p:spPr>
        <p:txBody>
          <a:bodyPr vert="horz" lIns="99048" tIns="49524" rIns="99048" bIns="49524" rtlCol="0" anchor="b"/>
          <a:lstStyle>
            <a:lvl1pPr algn="r">
              <a:defRPr sz="1300"/>
            </a:lvl1pPr>
          </a:lstStyle>
          <a:p>
            <a:fld id="{CF81660A-873B-4A21-B820-86EACE2D5F04}" type="slidenum">
              <a:rPr lang="zh-CN" altLang="en-US" smtClean="0"/>
              <a:pPr/>
              <a:t>‹#›</a:t>
            </a:fld>
            <a:endParaRPr lang="zh-CN" altLang="en-US"/>
          </a:p>
        </p:txBody>
      </p:sp>
    </p:spTree>
    <p:extLst>
      <p:ext uri="{BB962C8B-B14F-4D97-AF65-F5344CB8AC3E}">
        <p14:creationId xmlns:p14="http://schemas.microsoft.com/office/powerpoint/2010/main" val="20846154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26" name="Rectangle 49"/>
          <p:cNvSpPr>
            <a:spLocks noGrp="1" noChangeArrowheads="1"/>
          </p:cNvSpPr>
          <p:nvPr>
            <p:ph type="sldNum" sz="quarter"/>
          </p:nvPr>
        </p:nvSpPr>
        <p:spPr>
          <a:noFill/>
          <a:ln/>
        </p:spPr>
        <p:txBody>
          <a:bodyPr/>
          <a:lstStyle/>
          <a:p>
            <a:pPr defTabSz="404025"/>
            <a:fld id="{DFF13921-433A-452C-8781-0C688C459168}" type="slidenum">
              <a:rPr lang="en-US" altLang="zh-CN">
                <a:latin typeface="Times New Roman" pitchFamily="18" charset="0"/>
              </a:rPr>
              <a:pPr defTabSz="404025"/>
              <a:t>1</a:t>
            </a:fld>
            <a:endParaRPr lang="en-US" altLang="zh-CN" dirty="0">
              <a:latin typeface="Times New Roman" pitchFamily="18" charset="0"/>
            </a:endParaRPr>
          </a:p>
        </p:txBody>
      </p:sp>
      <p:sp>
        <p:nvSpPr>
          <p:cNvPr id="26627" name="Text Box 1"/>
          <p:cNvSpPr txBox="1">
            <a:spLocks noChangeArrowheads="1"/>
          </p:cNvSpPr>
          <p:nvPr/>
        </p:nvSpPr>
        <p:spPr bwMode="auto">
          <a:xfrm>
            <a:off x="4017769" y="9722503"/>
            <a:ext cx="3077059" cy="507551"/>
          </a:xfrm>
          <a:prstGeom prst="rect">
            <a:avLst/>
          </a:prstGeom>
          <a:noFill/>
          <a:ln w="9525">
            <a:noFill/>
            <a:round/>
            <a:headEnd/>
            <a:tailEnd/>
          </a:ln>
        </p:spPr>
        <p:txBody>
          <a:bodyPr lIns="0" tIns="0" rIns="0" bIns="0" anchor="b"/>
          <a:lstStyle/>
          <a:p>
            <a:pPr algn="r">
              <a:lnSpc>
                <a:spcPct val="95000"/>
              </a:lnSpc>
              <a:tabLst>
                <a:tab pos="0" algn="l"/>
                <a:tab pos="425131" algn="l"/>
                <a:tab pos="851770" algn="l"/>
                <a:tab pos="1278408" algn="l"/>
                <a:tab pos="1705046" algn="l"/>
                <a:tab pos="2131683" algn="l"/>
                <a:tab pos="2558322" algn="l"/>
                <a:tab pos="2984960" algn="l"/>
                <a:tab pos="3411599" algn="l"/>
                <a:tab pos="3838237" algn="l"/>
                <a:tab pos="4264876" algn="l"/>
                <a:tab pos="4691514" algn="l"/>
                <a:tab pos="5118152" algn="l"/>
                <a:tab pos="5544790" algn="l"/>
                <a:tab pos="5971429" algn="l"/>
                <a:tab pos="6398067" algn="l"/>
                <a:tab pos="6824706" algn="l"/>
                <a:tab pos="7251344" algn="l"/>
                <a:tab pos="7677982" algn="l"/>
                <a:tab pos="8104619" algn="l"/>
                <a:tab pos="8531258" algn="l"/>
              </a:tabLst>
            </a:pPr>
            <a:fld id="{71E9B9DE-4EE6-446A-B153-879FB46C5256}" type="slidenum">
              <a:rPr lang="en-US" altLang="zh-CN" sz="1300">
                <a:solidFill>
                  <a:srgbClr val="000000"/>
                </a:solidFill>
                <a:latin typeface="Times New Roman" pitchFamily="18" charset="0"/>
                <a:ea typeface="宋体" charset="-122"/>
              </a:rPr>
              <a:pPr algn="r">
                <a:lnSpc>
                  <a:spcPct val="95000"/>
                </a:lnSpc>
                <a:tabLst>
                  <a:tab pos="0" algn="l"/>
                  <a:tab pos="425131" algn="l"/>
                  <a:tab pos="851770" algn="l"/>
                  <a:tab pos="1278408" algn="l"/>
                  <a:tab pos="1705046" algn="l"/>
                  <a:tab pos="2131683" algn="l"/>
                  <a:tab pos="2558322" algn="l"/>
                  <a:tab pos="2984960" algn="l"/>
                  <a:tab pos="3411599" algn="l"/>
                  <a:tab pos="3838237" algn="l"/>
                  <a:tab pos="4264876" algn="l"/>
                  <a:tab pos="4691514" algn="l"/>
                  <a:tab pos="5118152" algn="l"/>
                  <a:tab pos="5544790" algn="l"/>
                  <a:tab pos="5971429" algn="l"/>
                  <a:tab pos="6398067" algn="l"/>
                  <a:tab pos="6824706" algn="l"/>
                  <a:tab pos="7251344" algn="l"/>
                  <a:tab pos="7677982" algn="l"/>
                  <a:tab pos="8104619" algn="l"/>
                  <a:tab pos="8531258" algn="l"/>
                </a:tabLst>
              </a:pPr>
              <a:t>1</a:t>
            </a:fld>
            <a:endParaRPr lang="en-US" altLang="zh-CN" sz="1300" dirty="0">
              <a:solidFill>
                <a:srgbClr val="000000"/>
              </a:solidFill>
              <a:latin typeface="Times New Roman" pitchFamily="18" charset="0"/>
              <a:ea typeface="宋体" charset="-122"/>
            </a:endParaRPr>
          </a:p>
        </p:txBody>
      </p:sp>
      <p:sp>
        <p:nvSpPr>
          <p:cNvPr id="26628" name="Rectangle 2"/>
          <p:cNvSpPr txBox="1">
            <a:spLocks noGrp="1" noRot="1" noChangeAspect="1" noChangeArrowheads="1" noTextEdit="1"/>
          </p:cNvSpPr>
          <p:nvPr>
            <p:ph type="sldImg"/>
          </p:nvPr>
        </p:nvSpPr>
        <p:spPr>
          <a:xfrm>
            <a:off x="138113" y="777875"/>
            <a:ext cx="6819900" cy="3836988"/>
          </a:xfrm>
          <a:solidFill>
            <a:srgbClr val="FFFFFF"/>
          </a:solidFill>
          <a:ln>
            <a:solidFill>
              <a:srgbClr val="000000"/>
            </a:solidFill>
            <a:miter lim="800000"/>
          </a:ln>
        </p:spPr>
      </p:sp>
      <p:sp>
        <p:nvSpPr>
          <p:cNvPr id="26629" name="Rectangle 3"/>
          <p:cNvSpPr txBox="1">
            <a:spLocks noGrp="1" noChangeArrowheads="1"/>
          </p:cNvSpPr>
          <p:nvPr>
            <p:ph type="body" idx="1"/>
          </p:nvPr>
        </p:nvSpPr>
        <p:spPr>
          <a:xfrm>
            <a:off x="709632" y="4861252"/>
            <a:ext cx="5680036" cy="4605955"/>
          </a:xfrm>
          <a:noFill/>
          <a:ln/>
        </p:spPr>
        <p:txBody>
          <a:bodyPr wrap="none" anchor="ctr"/>
          <a:lstStyle/>
          <a:p>
            <a:endParaRPr lang="zh-CN" altLang="zh-CN">
              <a:latin typeface="Times New Roman" pitchFamily="18" charset="0"/>
            </a:endParaRPr>
          </a:p>
        </p:txBody>
      </p:sp>
    </p:spTree>
    <p:extLst>
      <p:ext uri="{BB962C8B-B14F-4D97-AF65-F5344CB8AC3E}">
        <p14:creationId xmlns:p14="http://schemas.microsoft.com/office/powerpoint/2010/main" val="27935881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1" y="2130427"/>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1"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5"/>
          <p:cNvSpPr>
            <a:spLocks noGrp="1" noChangeArrowheads="1"/>
          </p:cNvSpPr>
          <p:nvPr>
            <p:ph type="dt" sz="half" idx="10"/>
          </p:nvPr>
        </p:nvSpPr>
        <p:spPr>
          <a:ln/>
        </p:spPr>
        <p:txBody>
          <a:bodyPr/>
          <a:lstStyle>
            <a:lvl1pPr>
              <a:defRPr/>
            </a:lvl1pPr>
          </a:lstStyle>
          <a:p>
            <a:fld id="{C8A432C8-69A7-458B-9684-2BFA64B31948}" type="datetime2">
              <a:rPr lang="en-US" smtClean="0"/>
              <a:pPr/>
              <a:t>Monday, September 15, 2025</a:t>
            </a:fld>
            <a:endParaRPr lang="en-US"/>
          </a:p>
        </p:txBody>
      </p:sp>
      <p:sp>
        <p:nvSpPr>
          <p:cNvPr id="5" name="Rectangle 6"/>
          <p:cNvSpPr>
            <a:spLocks noGrp="1" noChangeArrowheads="1"/>
          </p:cNvSpPr>
          <p:nvPr>
            <p:ph type="ftr" sz="quarter" idx="11"/>
          </p:nvPr>
        </p:nvSpPr>
        <p:spPr>
          <a:ln/>
        </p:spPr>
        <p:txBody>
          <a:bodyPr/>
          <a:lstStyle>
            <a:lvl1pPr>
              <a:defRPr/>
            </a:lvl1pPr>
          </a:lstStyle>
          <a:p>
            <a:pPr algn="r"/>
            <a:endParaRPr lang="en-US" dirty="0"/>
          </a:p>
        </p:txBody>
      </p:sp>
      <p:sp>
        <p:nvSpPr>
          <p:cNvPr id="6" name="Rectangle 7"/>
          <p:cNvSpPr>
            <a:spLocks noGrp="1" noChangeArrowheads="1"/>
          </p:cNvSpPr>
          <p:nvPr>
            <p:ph type="sldNum" sz="quarter" idx="12"/>
          </p:nvPr>
        </p:nvSpPr>
        <p:spPr>
          <a:ln/>
        </p:spPr>
        <p:txBody>
          <a:bodyPr/>
          <a:lstStyle>
            <a:lvl1pPr>
              <a:defRPr/>
            </a:lvl1pPr>
          </a:lstStyle>
          <a:p>
            <a:fld id="{0CFEC368-1D7A-4F81-ABF6-AE0E36BAF64C}" type="slidenum">
              <a:rPr lang="en-US" smtClean="0"/>
              <a:pPr/>
              <a:t>‹#›</a:t>
            </a:fld>
            <a:endParaRPr lang="en-US"/>
          </a:p>
        </p:txBody>
      </p:sp>
    </p:spTree>
    <p:extLst>
      <p:ext uri="{BB962C8B-B14F-4D97-AF65-F5344CB8AC3E}">
        <p14:creationId xmlns:p14="http://schemas.microsoft.com/office/powerpoint/2010/main" val="3499870530"/>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8" name="图片 6" descr="logo-2.png"/>
          <p:cNvPicPr>
            <a:picLocks noChangeAspect="1"/>
          </p:cNvPicPr>
          <p:nvPr userDrawn="1"/>
        </p:nvPicPr>
        <p:blipFill>
          <a:blip r:embed="rId2" cstate="email">
            <a:clrChange>
              <a:clrFrom>
                <a:srgbClr val="000000"/>
              </a:clrFrom>
              <a:clrTo>
                <a:srgbClr val="000000">
                  <a:alpha val="0"/>
                </a:srgbClr>
              </a:clrTo>
            </a:clrChange>
            <a:extLst>
              <a:ext uri="{28A0092B-C50C-407E-A947-70E740481C1C}">
                <a14:useLocalDpi xmlns:a14="http://schemas.microsoft.com/office/drawing/2010/main"/>
              </a:ext>
            </a:extLst>
          </a:blip>
          <a:srcRect/>
          <a:stretch>
            <a:fillRect/>
          </a:stretch>
        </p:blipFill>
        <p:spPr bwMode="auto">
          <a:xfrm>
            <a:off x="11175299" y="31523"/>
            <a:ext cx="708025" cy="654050"/>
          </a:xfrm>
          <a:prstGeom prst="rect">
            <a:avLst/>
          </a:prstGeom>
          <a:noFill/>
          <a:ln w="9525">
            <a:noFill/>
            <a:miter lim="800000"/>
            <a:headEnd/>
            <a:tailEnd/>
          </a:ln>
        </p:spPr>
      </p:pic>
      <p:pic>
        <p:nvPicPr>
          <p:cNvPr id="9" name="Picture 2" descr="C:\Users\Administrator\Desktop\u=75086232,1868931616&amp;fm=26&amp;gp=0.jpg"/>
          <p:cNvPicPr>
            <a:picLocks noChangeArrowheads="1"/>
          </p:cNvPicPr>
          <p:nvPr userDrawn="1"/>
        </p:nvPicPr>
        <p:blipFill>
          <a:blip r:embed="rId3" cstate="screen">
            <a:clrChange>
              <a:clrFrom>
                <a:srgbClr val="000000"/>
              </a:clrFrom>
              <a:clrTo>
                <a:srgbClr val="000000">
                  <a:alpha val="0"/>
                </a:srgbClr>
              </a:clrTo>
            </a:clrChange>
            <a:extLst>
              <a:ext uri="{28A0092B-C50C-407E-A947-70E740481C1C}">
                <a14:useLocalDpi xmlns:a14="http://schemas.microsoft.com/office/drawing/2010/main"/>
              </a:ext>
            </a:extLst>
          </a:blip>
          <a:srcRect/>
          <a:stretch>
            <a:fillRect/>
          </a:stretch>
        </p:blipFill>
        <p:spPr bwMode="auto">
          <a:xfrm>
            <a:off x="10397424" y="31523"/>
            <a:ext cx="684213" cy="684212"/>
          </a:xfrm>
          <a:prstGeom prst="rect">
            <a:avLst/>
          </a:prstGeom>
          <a:noFill/>
          <a:ln w="9525">
            <a:noFill/>
            <a:miter lim="800000"/>
            <a:headEnd/>
            <a:tailEnd/>
          </a:ln>
        </p:spPr>
      </p:pic>
      <p:cxnSp>
        <p:nvCxnSpPr>
          <p:cNvPr id="11" name="直接连接符 10"/>
          <p:cNvCxnSpPr/>
          <p:nvPr userDrawn="1"/>
        </p:nvCxnSpPr>
        <p:spPr>
          <a:xfrm>
            <a:off x="65309" y="757647"/>
            <a:ext cx="12060000" cy="0"/>
          </a:xfrm>
          <a:prstGeom prst="line">
            <a:avLst/>
          </a:prstGeom>
          <a:ln w="28575">
            <a:solidFill>
              <a:schemeClr val="tx1"/>
            </a:solidFill>
            <a:headEnd type="none" w="med" len="med"/>
            <a:tailEnd type="none" w="med" len="med"/>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3965980823"/>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5" y="4406902"/>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5"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dt" sz="half" idx="10"/>
          </p:nvPr>
        </p:nvSpPr>
        <p:spPr>
          <a:ln/>
        </p:spPr>
        <p:txBody>
          <a:bodyPr/>
          <a:lstStyle>
            <a:lvl1pPr>
              <a:defRPr/>
            </a:lvl1pPr>
          </a:lstStyle>
          <a:p>
            <a:fld id="{9933D019-A32C-4EAD-B8E6-DBDA699692FD}" type="datetime2">
              <a:rPr lang="en-US" smtClean="0"/>
              <a:pPr/>
              <a:t>Monday, September 15, 2025</a:t>
            </a:fld>
            <a:endParaRPr lang="en-US"/>
          </a:p>
        </p:txBody>
      </p:sp>
      <p:sp>
        <p:nvSpPr>
          <p:cNvPr id="5" name="Rectangle 6"/>
          <p:cNvSpPr>
            <a:spLocks noGrp="1" noChangeArrowheads="1"/>
          </p:cNvSpPr>
          <p:nvPr>
            <p:ph type="ftr" sz="quarter" idx="11"/>
          </p:nvPr>
        </p:nvSpPr>
        <p:spPr>
          <a:ln/>
        </p:spPr>
        <p:txBody>
          <a:bodyPr/>
          <a:lstStyle>
            <a:lvl1pPr>
              <a:defRPr/>
            </a:lvl1pPr>
          </a:lstStyle>
          <a:p>
            <a:pPr algn="r"/>
            <a:endParaRPr lang="en-US" dirty="0"/>
          </a:p>
        </p:txBody>
      </p:sp>
      <p:sp>
        <p:nvSpPr>
          <p:cNvPr id="6" name="Rectangle 7"/>
          <p:cNvSpPr>
            <a:spLocks noGrp="1" noChangeArrowheads="1"/>
          </p:cNvSpPr>
          <p:nvPr>
            <p:ph type="sldNum" sz="quarter" idx="12"/>
          </p:nvPr>
        </p:nvSpPr>
        <p:spPr>
          <a:ln/>
        </p:spPr>
        <p:txBody>
          <a:bodyPr/>
          <a:lstStyle>
            <a:lvl1pPr>
              <a:defRPr/>
            </a:lvl1pPr>
          </a:lstStyle>
          <a:p>
            <a:fld id="{0CFEC368-1D7A-4F81-ABF6-AE0E36BAF64C}" type="slidenum">
              <a:rPr lang="en-US" smtClean="0"/>
              <a:pPr/>
              <a:t>‹#›</a:t>
            </a:fld>
            <a:endParaRPr lang="en-US"/>
          </a:p>
        </p:txBody>
      </p:sp>
    </p:spTree>
    <p:extLst>
      <p:ext uri="{BB962C8B-B14F-4D97-AF65-F5344CB8AC3E}">
        <p14:creationId xmlns:p14="http://schemas.microsoft.com/office/powerpoint/2010/main" val="1722393526"/>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1"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6197600"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a:ln/>
        </p:spPr>
        <p:txBody>
          <a:bodyPr/>
          <a:lstStyle>
            <a:lvl1pPr>
              <a:defRPr/>
            </a:lvl1pPr>
          </a:lstStyle>
          <a:p>
            <a:fld id="{CCEBA98F-560C-4997-81C4-81D4D9187EAB}" type="datetime2">
              <a:rPr lang="en-US" smtClean="0"/>
              <a:pPr/>
              <a:t>Monday, September 15, 2025</a:t>
            </a:fld>
            <a:endParaRPr lang="en-US"/>
          </a:p>
        </p:txBody>
      </p:sp>
      <p:sp>
        <p:nvSpPr>
          <p:cNvPr id="6" name="Rectangle 6"/>
          <p:cNvSpPr>
            <a:spLocks noGrp="1" noChangeArrowheads="1"/>
          </p:cNvSpPr>
          <p:nvPr>
            <p:ph type="ftr" sz="quarter" idx="11"/>
          </p:nvPr>
        </p:nvSpPr>
        <p:spPr>
          <a:ln/>
        </p:spPr>
        <p:txBody>
          <a:bodyPr/>
          <a:lstStyle>
            <a:lvl1pPr>
              <a:defRPr/>
            </a:lvl1pPr>
          </a:lstStyle>
          <a:p>
            <a:pPr algn="r"/>
            <a:endParaRPr lang="en-US" dirty="0"/>
          </a:p>
        </p:txBody>
      </p:sp>
      <p:sp>
        <p:nvSpPr>
          <p:cNvPr id="7" name="Rectangle 7"/>
          <p:cNvSpPr>
            <a:spLocks noGrp="1" noChangeArrowheads="1"/>
          </p:cNvSpPr>
          <p:nvPr>
            <p:ph type="sldNum" sz="quarter" idx="12"/>
          </p:nvPr>
        </p:nvSpPr>
        <p:spPr>
          <a:ln/>
        </p:spPr>
        <p:txBody>
          <a:bodyPr/>
          <a:lstStyle>
            <a:lvl1pPr>
              <a:defRPr/>
            </a:lvl1pPr>
          </a:lstStyle>
          <a:p>
            <a:fld id="{0CFEC368-1D7A-4F81-ABF6-AE0E36BAF64C}" type="slidenum">
              <a:rPr lang="en-US" smtClean="0"/>
              <a:pPr/>
              <a:t>‹#›</a:t>
            </a:fld>
            <a:endParaRPr lang="en-US"/>
          </a:p>
        </p:txBody>
      </p:sp>
    </p:spTree>
    <p:extLst>
      <p:ext uri="{BB962C8B-B14F-4D97-AF65-F5344CB8AC3E}">
        <p14:creationId xmlns:p14="http://schemas.microsoft.com/office/powerpoint/2010/main" val="5185794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dt" sz="half" idx="10"/>
          </p:nvPr>
        </p:nvSpPr>
        <p:spPr>
          <a:ln/>
        </p:spPr>
        <p:txBody>
          <a:bodyPr/>
          <a:lstStyle>
            <a:lvl1pPr>
              <a:defRPr/>
            </a:lvl1pPr>
          </a:lstStyle>
          <a:p>
            <a:fld id="{150972B2-CA5C-437D-87D0-8081271A9E4B}" type="datetime2">
              <a:rPr lang="en-US" smtClean="0"/>
              <a:pPr/>
              <a:t>Monday, September 15, 2025</a:t>
            </a:fld>
            <a:endParaRPr lang="en-US"/>
          </a:p>
        </p:txBody>
      </p:sp>
      <p:sp>
        <p:nvSpPr>
          <p:cNvPr id="8" name="Rectangle 6"/>
          <p:cNvSpPr>
            <a:spLocks noGrp="1" noChangeArrowheads="1"/>
          </p:cNvSpPr>
          <p:nvPr>
            <p:ph type="ftr" sz="quarter" idx="11"/>
          </p:nvPr>
        </p:nvSpPr>
        <p:spPr>
          <a:ln/>
        </p:spPr>
        <p:txBody>
          <a:bodyPr/>
          <a:lstStyle>
            <a:lvl1pPr>
              <a:defRPr/>
            </a:lvl1pPr>
          </a:lstStyle>
          <a:p>
            <a:pPr algn="r"/>
            <a:endParaRPr lang="en-US" dirty="0"/>
          </a:p>
        </p:txBody>
      </p:sp>
      <p:sp>
        <p:nvSpPr>
          <p:cNvPr id="9" name="Rectangle 7"/>
          <p:cNvSpPr>
            <a:spLocks noGrp="1" noChangeArrowheads="1"/>
          </p:cNvSpPr>
          <p:nvPr>
            <p:ph type="sldNum" sz="quarter" idx="12"/>
          </p:nvPr>
        </p:nvSpPr>
        <p:spPr>
          <a:ln/>
        </p:spPr>
        <p:txBody>
          <a:bodyPr/>
          <a:lstStyle>
            <a:lvl1pPr>
              <a:defRPr/>
            </a:lvl1pPr>
          </a:lstStyle>
          <a:p>
            <a:fld id="{0CFEC368-1D7A-4F81-ABF6-AE0E36BAF64C}" type="slidenum">
              <a:rPr lang="en-US" smtClean="0"/>
              <a:pPr/>
              <a:t>‹#›</a:t>
            </a:fld>
            <a:endParaRPr lang="en-US"/>
          </a:p>
        </p:txBody>
      </p:sp>
    </p:spTree>
    <p:extLst>
      <p:ext uri="{BB962C8B-B14F-4D97-AF65-F5344CB8AC3E}">
        <p14:creationId xmlns:p14="http://schemas.microsoft.com/office/powerpoint/2010/main" val="3356520610"/>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dt" sz="half" idx="10"/>
          </p:nvPr>
        </p:nvSpPr>
        <p:spPr>
          <a:ln/>
        </p:spPr>
        <p:txBody>
          <a:bodyPr/>
          <a:lstStyle>
            <a:lvl1pPr>
              <a:defRPr/>
            </a:lvl1pPr>
          </a:lstStyle>
          <a:p>
            <a:fld id="{79CD4847-11EF-4466-A8AD-85CDB7B49118}" type="datetime2">
              <a:rPr lang="en-US" smtClean="0"/>
              <a:pPr/>
              <a:t>Monday, September 15, 2025</a:t>
            </a:fld>
            <a:endParaRPr lang="en-US"/>
          </a:p>
        </p:txBody>
      </p:sp>
      <p:sp>
        <p:nvSpPr>
          <p:cNvPr id="4" name="Rectangle 6"/>
          <p:cNvSpPr>
            <a:spLocks noGrp="1" noChangeArrowheads="1"/>
          </p:cNvSpPr>
          <p:nvPr>
            <p:ph type="ftr" sz="quarter" idx="11"/>
          </p:nvPr>
        </p:nvSpPr>
        <p:spPr>
          <a:ln/>
        </p:spPr>
        <p:txBody>
          <a:bodyPr/>
          <a:lstStyle>
            <a:lvl1pPr>
              <a:defRPr/>
            </a:lvl1pPr>
          </a:lstStyle>
          <a:p>
            <a:pPr algn="r"/>
            <a:endParaRPr lang="en-US" dirty="0"/>
          </a:p>
        </p:txBody>
      </p:sp>
      <p:sp>
        <p:nvSpPr>
          <p:cNvPr id="5" name="Rectangle 7"/>
          <p:cNvSpPr>
            <a:spLocks noGrp="1" noChangeArrowheads="1"/>
          </p:cNvSpPr>
          <p:nvPr>
            <p:ph type="sldNum" sz="quarter" idx="12"/>
          </p:nvPr>
        </p:nvSpPr>
        <p:spPr>
          <a:ln/>
        </p:spPr>
        <p:txBody>
          <a:bodyPr/>
          <a:lstStyle>
            <a:lvl1pPr>
              <a:defRPr/>
            </a:lvl1pPr>
          </a:lstStyle>
          <a:p>
            <a:fld id="{0CFEC368-1D7A-4F81-ABF6-AE0E36BAF64C}" type="slidenum">
              <a:rPr lang="en-US" smtClean="0"/>
              <a:pPr/>
              <a:t>‹#›</a:t>
            </a:fld>
            <a:endParaRPr lang="en-US"/>
          </a:p>
        </p:txBody>
      </p:sp>
    </p:spTree>
    <p:extLst>
      <p:ext uri="{BB962C8B-B14F-4D97-AF65-F5344CB8AC3E}">
        <p14:creationId xmlns:p14="http://schemas.microsoft.com/office/powerpoint/2010/main" val="1706769629"/>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fld id="{F168457A-3AB9-4880-8A0C-9F8524491207}" type="datetime2">
              <a:rPr lang="en-US" smtClean="0"/>
              <a:pPr/>
              <a:t>Monday, September 15, 2025</a:t>
            </a:fld>
            <a:endParaRPr lang="en-US"/>
          </a:p>
        </p:txBody>
      </p:sp>
      <p:sp>
        <p:nvSpPr>
          <p:cNvPr id="3" name="Rectangle 6"/>
          <p:cNvSpPr>
            <a:spLocks noGrp="1" noChangeArrowheads="1"/>
          </p:cNvSpPr>
          <p:nvPr>
            <p:ph type="ftr" sz="quarter" idx="11"/>
          </p:nvPr>
        </p:nvSpPr>
        <p:spPr>
          <a:ln/>
        </p:spPr>
        <p:txBody>
          <a:bodyPr/>
          <a:lstStyle>
            <a:lvl1pPr>
              <a:defRPr/>
            </a:lvl1pPr>
          </a:lstStyle>
          <a:p>
            <a:pPr algn="r"/>
            <a:endParaRPr lang="en-US" dirty="0"/>
          </a:p>
        </p:txBody>
      </p:sp>
      <p:sp>
        <p:nvSpPr>
          <p:cNvPr id="4" name="Rectangle 7"/>
          <p:cNvSpPr>
            <a:spLocks noGrp="1" noChangeArrowheads="1"/>
          </p:cNvSpPr>
          <p:nvPr>
            <p:ph type="sldNum" sz="quarter" idx="12"/>
          </p:nvPr>
        </p:nvSpPr>
        <p:spPr>
          <a:ln/>
        </p:spPr>
        <p:txBody>
          <a:bodyPr/>
          <a:lstStyle>
            <a:lvl1pPr>
              <a:defRPr/>
            </a:lvl1pPr>
          </a:lstStyle>
          <a:p>
            <a:fld id="{0CFEC368-1D7A-4F81-ABF6-AE0E36BAF64C}" type="slidenum">
              <a:rPr lang="en-US" smtClean="0"/>
              <a:pPr/>
              <a:t>‹#›</a:t>
            </a:fld>
            <a:endParaRPr lang="en-US"/>
          </a:p>
        </p:txBody>
      </p:sp>
      <p:sp>
        <p:nvSpPr>
          <p:cNvPr id="6" name="矩形 5"/>
          <p:cNvSpPr/>
          <p:nvPr userDrawn="1"/>
        </p:nvSpPr>
        <p:spPr>
          <a:xfrm>
            <a:off x="10454185" y="5841242"/>
            <a:ext cx="1555845" cy="79157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9910111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4" y="273052"/>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2"/>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a:ln/>
        </p:spPr>
        <p:txBody>
          <a:bodyPr/>
          <a:lstStyle>
            <a:lvl1pPr>
              <a:defRPr/>
            </a:lvl1pPr>
          </a:lstStyle>
          <a:p>
            <a:fld id="{3FE976D3-5B7F-4300-ABED-C91F1B2AE209}" type="datetime2">
              <a:rPr lang="en-US" smtClean="0"/>
              <a:pPr/>
              <a:t>Monday, September 15, 2025</a:t>
            </a:fld>
            <a:endParaRPr lang="en-US"/>
          </a:p>
        </p:txBody>
      </p:sp>
      <p:sp>
        <p:nvSpPr>
          <p:cNvPr id="6" name="Rectangle 6"/>
          <p:cNvSpPr>
            <a:spLocks noGrp="1" noChangeArrowheads="1"/>
          </p:cNvSpPr>
          <p:nvPr>
            <p:ph type="ftr" sz="quarter" idx="11"/>
          </p:nvPr>
        </p:nvSpPr>
        <p:spPr>
          <a:ln/>
        </p:spPr>
        <p:txBody>
          <a:bodyPr/>
          <a:lstStyle>
            <a:lvl1pPr>
              <a:defRPr/>
            </a:lvl1pPr>
          </a:lstStyle>
          <a:p>
            <a:pPr algn="r"/>
            <a:endParaRPr lang="en-US" dirty="0"/>
          </a:p>
        </p:txBody>
      </p:sp>
      <p:sp>
        <p:nvSpPr>
          <p:cNvPr id="7" name="Rectangle 7"/>
          <p:cNvSpPr>
            <a:spLocks noGrp="1" noChangeArrowheads="1"/>
          </p:cNvSpPr>
          <p:nvPr>
            <p:ph type="sldNum" sz="quarter" idx="12"/>
          </p:nvPr>
        </p:nvSpPr>
        <p:spPr>
          <a:ln/>
        </p:spPr>
        <p:txBody>
          <a:bodyPr/>
          <a:lstStyle>
            <a:lvl1pPr>
              <a:defRPr/>
            </a:lvl1pPr>
          </a:lstStyle>
          <a:p>
            <a:fld id="{0CFEC368-1D7A-4F81-ABF6-AE0E36BAF64C}" type="slidenum">
              <a:rPr lang="en-US" smtClean="0"/>
              <a:pPr/>
              <a:t>‹#›</a:t>
            </a:fld>
            <a:endParaRPr lang="en-US"/>
          </a:p>
        </p:txBody>
      </p:sp>
    </p:spTree>
    <p:extLst>
      <p:ext uri="{BB962C8B-B14F-4D97-AF65-F5344CB8AC3E}">
        <p14:creationId xmlns:p14="http://schemas.microsoft.com/office/powerpoint/2010/main" val="1063431496"/>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a:ln/>
        </p:spPr>
        <p:txBody>
          <a:bodyPr/>
          <a:lstStyle>
            <a:lvl1pPr>
              <a:defRPr/>
            </a:lvl1pPr>
          </a:lstStyle>
          <a:p>
            <a:fld id="{EBDC1E59-17DD-41CE-97CA-624A472382D4}" type="datetime2">
              <a:rPr lang="en-US" smtClean="0"/>
              <a:pPr/>
              <a:t>Monday, September 15, 2025</a:t>
            </a:fld>
            <a:endParaRPr lang="en-US"/>
          </a:p>
        </p:txBody>
      </p:sp>
      <p:sp>
        <p:nvSpPr>
          <p:cNvPr id="6" name="Rectangle 6"/>
          <p:cNvSpPr>
            <a:spLocks noGrp="1" noChangeArrowheads="1"/>
          </p:cNvSpPr>
          <p:nvPr>
            <p:ph type="ftr" sz="quarter" idx="11"/>
          </p:nvPr>
        </p:nvSpPr>
        <p:spPr>
          <a:ln/>
        </p:spPr>
        <p:txBody>
          <a:bodyPr/>
          <a:lstStyle>
            <a:lvl1pPr>
              <a:defRPr/>
            </a:lvl1pPr>
          </a:lstStyle>
          <a:p>
            <a:pPr algn="r"/>
            <a:endParaRPr lang="en-US" dirty="0"/>
          </a:p>
        </p:txBody>
      </p:sp>
      <p:sp>
        <p:nvSpPr>
          <p:cNvPr id="7" name="Rectangle 7"/>
          <p:cNvSpPr>
            <a:spLocks noGrp="1" noChangeArrowheads="1"/>
          </p:cNvSpPr>
          <p:nvPr>
            <p:ph type="sldNum" sz="quarter" idx="12"/>
          </p:nvPr>
        </p:nvSpPr>
        <p:spPr>
          <a:ln/>
        </p:spPr>
        <p:txBody>
          <a:bodyPr/>
          <a:lstStyle>
            <a:lvl1pPr>
              <a:defRPr/>
            </a:lvl1pPr>
          </a:lstStyle>
          <a:p>
            <a:fld id="{0CFEC368-1D7A-4F81-ABF6-AE0E36BAF64C}" type="slidenum">
              <a:rPr lang="en-US" smtClean="0"/>
              <a:pPr/>
              <a:t>‹#›</a:t>
            </a:fld>
            <a:endParaRPr lang="en-US"/>
          </a:p>
        </p:txBody>
      </p:sp>
    </p:spTree>
    <p:extLst>
      <p:ext uri="{BB962C8B-B14F-4D97-AF65-F5344CB8AC3E}">
        <p14:creationId xmlns:p14="http://schemas.microsoft.com/office/powerpoint/2010/main" val="3876996445"/>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a:ln/>
        </p:spPr>
        <p:txBody>
          <a:bodyPr/>
          <a:lstStyle>
            <a:lvl1pPr>
              <a:defRPr/>
            </a:lvl1pPr>
          </a:lstStyle>
          <a:p>
            <a:fld id="{8CC057FC-95B6-4D89-AFDA-ABA33EE921E5}" type="datetime2">
              <a:rPr lang="en-US" smtClean="0"/>
              <a:pPr/>
              <a:t>Monday, September 15, 2025</a:t>
            </a:fld>
            <a:endParaRPr lang="en-US"/>
          </a:p>
        </p:txBody>
      </p:sp>
      <p:sp>
        <p:nvSpPr>
          <p:cNvPr id="5" name="Rectangle 6"/>
          <p:cNvSpPr>
            <a:spLocks noGrp="1" noChangeArrowheads="1"/>
          </p:cNvSpPr>
          <p:nvPr>
            <p:ph type="ftr" sz="quarter" idx="11"/>
          </p:nvPr>
        </p:nvSpPr>
        <p:spPr>
          <a:ln/>
        </p:spPr>
        <p:txBody>
          <a:bodyPr/>
          <a:lstStyle>
            <a:lvl1pPr>
              <a:defRPr/>
            </a:lvl1pPr>
          </a:lstStyle>
          <a:p>
            <a:pPr algn="r"/>
            <a:endParaRPr lang="en-US" dirty="0"/>
          </a:p>
        </p:txBody>
      </p:sp>
      <p:sp>
        <p:nvSpPr>
          <p:cNvPr id="6" name="Rectangle 7"/>
          <p:cNvSpPr>
            <a:spLocks noGrp="1" noChangeArrowheads="1"/>
          </p:cNvSpPr>
          <p:nvPr>
            <p:ph type="sldNum" sz="quarter" idx="12"/>
          </p:nvPr>
        </p:nvSpPr>
        <p:spPr>
          <a:ln/>
        </p:spPr>
        <p:txBody>
          <a:bodyPr/>
          <a:lstStyle>
            <a:lvl1pPr>
              <a:defRPr/>
            </a:lvl1pPr>
          </a:lstStyle>
          <a:p>
            <a:fld id="{0CFEC368-1D7A-4F81-ABF6-AE0E36BAF64C}" type="slidenum">
              <a:rPr lang="en-US" smtClean="0"/>
              <a:pPr/>
              <a:t>‹#›</a:t>
            </a:fld>
            <a:endParaRPr lang="en-US"/>
          </a:p>
        </p:txBody>
      </p:sp>
    </p:spTree>
    <p:extLst>
      <p:ext uri="{BB962C8B-B14F-4D97-AF65-F5344CB8AC3E}">
        <p14:creationId xmlns:p14="http://schemas.microsoft.com/office/powerpoint/2010/main" val="2061674366"/>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0"/>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1" y="274640"/>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a:ln/>
        </p:spPr>
        <p:txBody>
          <a:bodyPr/>
          <a:lstStyle>
            <a:lvl1pPr>
              <a:defRPr/>
            </a:lvl1pPr>
          </a:lstStyle>
          <a:p>
            <a:fld id="{EC4549AC-EB31-477F-92A9-B1988E232878}" type="datetime2">
              <a:rPr lang="en-US" smtClean="0"/>
              <a:pPr/>
              <a:t>Monday, September 15, 2025</a:t>
            </a:fld>
            <a:endParaRPr lang="en-US"/>
          </a:p>
        </p:txBody>
      </p:sp>
      <p:sp>
        <p:nvSpPr>
          <p:cNvPr id="5" name="Rectangle 6"/>
          <p:cNvSpPr>
            <a:spLocks noGrp="1" noChangeArrowheads="1"/>
          </p:cNvSpPr>
          <p:nvPr>
            <p:ph type="ftr" sz="quarter" idx="11"/>
          </p:nvPr>
        </p:nvSpPr>
        <p:spPr>
          <a:ln/>
        </p:spPr>
        <p:txBody>
          <a:bodyPr/>
          <a:lstStyle>
            <a:lvl1pPr>
              <a:defRPr/>
            </a:lvl1pPr>
          </a:lstStyle>
          <a:p>
            <a:pPr algn="r"/>
            <a:endParaRPr lang="en-US" dirty="0"/>
          </a:p>
        </p:txBody>
      </p:sp>
      <p:sp>
        <p:nvSpPr>
          <p:cNvPr id="6" name="Rectangle 7"/>
          <p:cNvSpPr>
            <a:spLocks noGrp="1" noChangeArrowheads="1"/>
          </p:cNvSpPr>
          <p:nvPr>
            <p:ph type="sldNum" sz="quarter" idx="12"/>
          </p:nvPr>
        </p:nvSpPr>
        <p:spPr>
          <a:ln/>
        </p:spPr>
        <p:txBody>
          <a:bodyPr/>
          <a:lstStyle>
            <a:lvl1pPr>
              <a:defRPr/>
            </a:lvl1pPr>
          </a:lstStyle>
          <a:p>
            <a:fld id="{0CFEC368-1D7A-4F81-ABF6-AE0E36BAF64C}" type="slidenum">
              <a:rPr lang="en-US" smtClean="0"/>
              <a:pPr/>
              <a:t>‹#›</a:t>
            </a:fld>
            <a:endParaRPr lang="en-US"/>
          </a:p>
        </p:txBody>
      </p:sp>
    </p:spTree>
    <p:extLst>
      <p:ext uri="{BB962C8B-B14F-4D97-AF65-F5344CB8AC3E}">
        <p14:creationId xmlns:p14="http://schemas.microsoft.com/office/powerpoint/2010/main" val="2882862839"/>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4" name="直接连接符 8"/>
          <p:cNvCxnSpPr>
            <a:cxnSpLocks noChangeShapeType="1"/>
          </p:cNvCxnSpPr>
          <p:nvPr userDrawn="1"/>
        </p:nvCxnSpPr>
        <p:spPr bwMode="auto">
          <a:xfrm>
            <a:off x="-12293" y="707306"/>
            <a:ext cx="12204000" cy="0"/>
          </a:xfrm>
          <a:prstGeom prst="line">
            <a:avLst/>
          </a:prstGeom>
          <a:noFill/>
          <a:ln w="28575" algn="ctr">
            <a:solidFill>
              <a:schemeClr val="tx1"/>
            </a:solidFill>
            <a:round/>
            <a:headEnd/>
            <a:tailEnd/>
          </a:ln>
        </p:spPr>
      </p:cxnSp>
      <p:sp>
        <p:nvSpPr>
          <p:cNvPr id="11" name="TextBox 10"/>
          <p:cNvSpPr txBox="1"/>
          <p:nvPr userDrawn="1"/>
        </p:nvSpPr>
        <p:spPr>
          <a:xfrm>
            <a:off x="11612880" y="6492240"/>
            <a:ext cx="579120" cy="338554"/>
          </a:xfrm>
          <a:prstGeom prst="rect">
            <a:avLst/>
          </a:prstGeom>
          <a:noFill/>
        </p:spPr>
        <p:txBody>
          <a:bodyPr wrap="square" rtlCol="0">
            <a:spAutoFit/>
          </a:bodyPr>
          <a:lstStyle/>
          <a:p>
            <a:pPr algn="r"/>
            <a:fld id="{8F815E2C-4410-4FF6-BE00-35D2EB204A6F}" type="slidenum">
              <a:rPr lang="zh-CN" altLang="en-US" sz="1600" smtClean="0"/>
              <a:pPr algn="r"/>
              <a:t>‹#›</a:t>
            </a:fld>
            <a:endParaRPr lang="zh-CN" altLang="en-US" sz="1600" dirty="0"/>
          </a:p>
        </p:txBody>
      </p:sp>
      <p:pic>
        <p:nvPicPr>
          <p:cNvPr id="5" name="图片 4"/>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5696" y="82730"/>
            <a:ext cx="2572490" cy="529198"/>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8641" y="273629"/>
            <a:ext cx="10968959" cy="1143480"/>
          </a:xfrm>
        </p:spPr>
        <p:txBody>
          <a:bodyPr/>
          <a:lstStyle/>
          <a:p>
            <a:r>
              <a:rPr lang="zh-CN" altLang="en-US"/>
              <a:t>单击此处编辑母版标题样式</a:t>
            </a:r>
          </a:p>
        </p:txBody>
      </p:sp>
      <p:sp>
        <p:nvSpPr>
          <p:cNvPr id="3" name="日期占位符 2"/>
          <p:cNvSpPr>
            <a:spLocks noGrp="1"/>
          </p:cNvSpPr>
          <p:nvPr>
            <p:ph type="dt" idx="10"/>
          </p:nvPr>
        </p:nvSpPr>
        <p:spPr>
          <a:xfrm>
            <a:off x="608641" y="6247376"/>
            <a:ext cx="2837760" cy="470930"/>
          </a:xfrm>
        </p:spPr>
        <p:txBody>
          <a:bodyPr/>
          <a:lstStyle>
            <a:lvl1pPr>
              <a:defRPr/>
            </a:lvl1pPr>
          </a:lstStyle>
          <a:p>
            <a:endParaRPr lang="en-US"/>
          </a:p>
        </p:txBody>
      </p:sp>
      <p:sp>
        <p:nvSpPr>
          <p:cNvPr id="4" name="页脚占位符 3"/>
          <p:cNvSpPr>
            <a:spLocks noGrp="1"/>
          </p:cNvSpPr>
          <p:nvPr>
            <p:ph type="ftr" idx="11"/>
          </p:nvPr>
        </p:nvSpPr>
        <p:spPr>
          <a:xfrm>
            <a:off x="4170240" y="6247376"/>
            <a:ext cx="3863040" cy="470930"/>
          </a:xfrm>
        </p:spPr>
        <p:txBody>
          <a:bodyPr/>
          <a:lstStyle>
            <a:lvl1pPr>
              <a:defRPr/>
            </a:lvl1pPr>
          </a:lstStyle>
          <a:p>
            <a:endParaRPr lang="en-US"/>
          </a:p>
        </p:txBody>
      </p:sp>
      <p:sp>
        <p:nvSpPr>
          <p:cNvPr id="5" name="灯片编号占位符 4"/>
          <p:cNvSpPr>
            <a:spLocks noGrp="1"/>
          </p:cNvSpPr>
          <p:nvPr>
            <p:ph type="sldNum" idx="12"/>
          </p:nvPr>
        </p:nvSpPr>
        <p:spPr>
          <a:xfrm>
            <a:off x="8741761" y="6247376"/>
            <a:ext cx="2837760" cy="470930"/>
          </a:xfrm>
        </p:spPr>
        <p:txBody>
          <a:bodyPr/>
          <a:lstStyle>
            <a:lvl1pPr>
              <a:defRPr/>
            </a:lvl1pPr>
          </a:lstStyle>
          <a:p>
            <a:fld id="{E0BD98EA-90B5-4CC6-89A6-2E9085E50F5D}"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9" name="Rectangle 3"/>
          <p:cNvSpPr>
            <a:spLocks noGrp="1" noChangeArrowheads="1"/>
          </p:cNvSpPr>
          <p:nvPr>
            <p:ph type="title"/>
          </p:nvPr>
        </p:nvSpPr>
        <p:spPr bwMode="auto">
          <a:xfrm>
            <a:off x="609680" y="274638"/>
            <a:ext cx="10972641"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0" name="Rectangle 4"/>
          <p:cNvSpPr>
            <a:spLocks noGrp="1" noChangeArrowheads="1"/>
          </p:cNvSpPr>
          <p:nvPr>
            <p:ph type="body" idx="1"/>
          </p:nvPr>
        </p:nvSpPr>
        <p:spPr bwMode="auto">
          <a:xfrm>
            <a:off x="609680" y="1600201"/>
            <a:ext cx="1097264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 第二级</a:t>
            </a:r>
          </a:p>
          <a:p>
            <a:pPr lvl="2"/>
            <a:r>
              <a:rPr lang="zh-CN" altLang="en-US"/>
              <a:t> 第三级</a:t>
            </a:r>
          </a:p>
          <a:p>
            <a:pPr lvl="3"/>
            <a:r>
              <a:rPr lang="zh-CN" altLang="en-US"/>
              <a:t> 第四级</a:t>
            </a:r>
          </a:p>
          <a:p>
            <a:pPr lvl="4"/>
            <a:r>
              <a:rPr lang="zh-CN" altLang="en-US"/>
              <a:t> 第五级</a:t>
            </a:r>
          </a:p>
        </p:txBody>
      </p:sp>
      <p:sp>
        <p:nvSpPr>
          <p:cNvPr id="17413" name="Rectangle 5"/>
          <p:cNvSpPr>
            <a:spLocks noGrp="1" noChangeArrowheads="1"/>
          </p:cNvSpPr>
          <p:nvPr>
            <p:ph type="dt" sz="half" idx="2"/>
          </p:nvPr>
        </p:nvSpPr>
        <p:spPr bwMode="auto">
          <a:xfrm>
            <a:off x="609680" y="6245225"/>
            <a:ext cx="284517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Arial" charset="0"/>
                <a:ea typeface="宋体" pitchFamily="2" charset="-122"/>
              </a:defRPr>
            </a:lvl1pPr>
          </a:lstStyle>
          <a:p>
            <a:fld id="{A80CB818-7379-467D-8E76-EF9D9074A26C}" type="datetime2">
              <a:rPr lang="en-US" smtClean="0"/>
              <a:pPr/>
              <a:t>Monday, September 15, 2025</a:t>
            </a:fld>
            <a:endParaRPr lang="en-US" dirty="0"/>
          </a:p>
        </p:txBody>
      </p:sp>
      <p:sp>
        <p:nvSpPr>
          <p:cNvPr id="17414" name="Rectangle 6"/>
          <p:cNvSpPr>
            <a:spLocks noGrp="1" noChangeArrowheads="1"/>
          </p:cNvSpPr>
          <p:nvPr>
            <p:ph type="ftr" sz="quarter" idx="3"/>
          </p:nvPr>
        </p:nvSpPr>
        <p:spPr bwMode="auto">
          <a:xfrm>
            <a:off x="4166143" y="6245225"/>
            <a:ext cx="385971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charset="0"/>
                <a:ea typeface="宋体" pitchFamily="2" charset="-122"/>
              </a:defRPr>
            </a:lvl1pPr>
          </a:lstStyle>
          <a:p>
            <a:pPr algn="r"/>
            <a:endParaRPr lang="en-US" dirty="0"/>
          </a:p>
        </p:txBody>
      </p:sp>
      <p:sp>
        <p:nvSpPr>
          <p:cNvPr id="17415" name="Rectangle 7"/>
          <p:cNvSpPr>
            <a:spLocks noGrp="1" noChangeArrowheads="1"/>
          </p:cNvSpPr>
          <p:nvPr>
            <p:ph type="sldNum" sz="quarter" idx="4"/>
          </p:nvPr>
        </p:nvSpPr>
        <p:spPr bwMode="auto">
          <a:xfrm>
            <a:off x="8737150" y="6245225"/>
            <a:ext cx="284517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charset="0"/>
                <a:ea typeface="宋体" pitchFamily="2" charset="-122"/>
              </a:defRPr>
            </a:lvl1pPr>
          </a:lstStyle>
          <a:p>
            <a:fld id="{0CFEC368-1D7A-4F81-ABF6-AE0E36BAF64C}"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9" r:id="rId13"/>
  </p:sldLayoutIdLst>
  <p:transition>
    <p:fade/>
  </p:transition>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ea typeface="黑体" pitchFamily="2" charset="-122"/>
        </a:defRPr>
      </a:lvl2pPr>
      <a:lvl3pPr algn="ctr" rtl="0" eaLnBrk="1" fontAlgn="base" hangingPunct="1">
        <a:spcBef>
          <a:spcPct val="0"/>
        </a:spcBef>
        <a:spcAft>
          <a:spcPct val="0"/>
        </a:spcAft>
        <a:defRPr sz="4400">
          <a:solidFill>
            <a:schemeClr val="tx2"/>
          </a:solidFill>
          <a:latin typeface="Arial" charset="0"/>
          <a:ea typeface="黑体" pitchFamily="2" charset="-122"/>
        </a:defRPr>
      </a:lvl3pPr>
      <a:lvl4pPr algn="ctr" rtl="0" eaLnBrk="1" fontAlgn="base" hangingPunct="1">
        <a:spcBef>
          <a:spcPct val="0"/>
        </a:spcBef>
        <a:spcAft>
          <a:spcPct val="0"/>
        </a:spcAft>
        <a:defRPr sz="4400">
          <a:solidFill>
            <a:schemeClr val="tx2"/>
          </a:solidFill>
          <a:latin typeface="Arial" charset="0"/>
          <a:ea typeface="黑体" pitchFamily="2" charset="-122"/>
        </a:defRPr>
      </a:lvl4pPr>
      <a:lvl5pPr algn="ctr" rtl="0" eaLnBrk="1" fontAlgn="base" hangingPunct="1">
        <a:spcBef>
          <a:spcPct val="0"/>
        </a:spcBef>
        <a:spcAft>
          <a:spcPct val="0"/>
        </a:spcAft>
        <a:defRPr sz="4400">
          <a:solidFill>
            <a:schemeClr val="tx2"/>
          </a:solidFill>
          <a:latin typeface="Arial" charset="0"/>
          <a:ea typeface="黑体" pitchFamily="2" charset="-122"/>
        </a:defRPr>
      </a:lvl5pPr>
      <a:lvl6pPr marL="457200" algn="ctr" rtl="0" eaLnBrk="1" fontAlgn="base" hangingPunct="1">
        <a:spcBef>
          <a:spcPct val="0"/>
        </a:spcBef>
        <a:spcAft>
          <a:spcPct val="0"/>
        </a:spcAft>
        <a:defRPr sz="4400">
          <a:solidFill>
            <a:schemeClr val="tx2"/>
          </a:solidFill>
          <a:latin typeface="Arial" charset="0"/>
          <a:ea typeface="黑体" pitchFamily="2" charset="-122"/>
        </a:defRPr>
      </a:lvl6pPr>
      <a:lvl7pPr marL="914400" algn="ctr" rtl="0" eaLnBrk="1" fontAlgn="base" hangingPunct="1">
        <a:spcBef>
          <a:spcPct val="0"/>
        </a:spcBef>
        <a:spcAft>
          <a:spcPct val="0"/>
        </a:spcAft>
        <a:defRPr sz="4400">
          <a:solidFill>
            <a:schemeClr val="tx2"/>
          </a:solidFill>
          <a:latin typeface="Arial" charset="0"/>
          <a:ea typeface="黑体" pitchFamily="2" charset="-122"/>
        </a:defRPr>
      </a:lvl7pPr>
      <a:lvl8pPr marL="1371600" algn="ctr" rtl="0" eaLnBrk="1" fontAlgn="base" hangingPunct="1">
        <a:spcBef>
          <a:spcPct val="0"/>
        </a:spcBef>
        <a:spcAft>
          <a:spcPct val="0"/>
        </a:spcAft>
        <a:defRPr sz="4400">
          <a:solidFill>
            <a:schemeClr val="tx2"/>
          </a:solidFill>
          <a:latin typeface="Arial" charset="0"/>
          <a:ea typeface="黑体" pitchFamily="2" charset="-122"/>
        </a:defRPr>
      </a:lvl8pPr>
      <a:lvl9pPr marL="1828800" algn="ctr" rtl="0" eaLnBrk="1" fontAlgn="base" hangingPunct="1">
        <a:spcBef>
          <a:spcPct val="0"/>
        </a:spcBef>
        <a:spcAft>
          <a:spcPct val="0"/>
        </a:spcAft>
        <a:defRPr sz="4400">
          <a:solidFill>
            <a:schemeClr val="tx2"/>
          </a:solidFill>
          <a:latin typeface="Arial" charset="0"/>
          <a:ea typeface="黑体" pitchFamily="2" charset="-122"/>
        </a:defRPr>
      </a:lvl9pPr>
    </p:titleStyle>
    <p:bodyStyle>
      <a:lvl1pPr marL="342900" indent="-342900" algn="l" rtl="0" eaLnBrk="1" fontAlgn="base" hangingPunct="1">
        <a:spcBef>
          <a:spcPct val="20000"/>
        </a:spcBef>
        <a:spcAft>
          <a:spcPct val="0"/>
        </a:spcAft>
        <a:buBlip>
          <a:blip r:embed="rId15"/>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5.wmf"/></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image" Target="../media/image6.emf"/><Relationship Id="rId7" Type="http://schemas.openxmlformats.org/officeDocument/2006/relationships/image" Target="../media/image8.wmf"/><Relationship Id="rId2" Type="http://schemas.openxmlformats.org/officeDocument/2006/relationships/oleObject" Target="../embeddings/oleObject2.bin"/><Relationship Id="rId1" Type="http://schemas.openxmlformats.org/officeDocument/2006/relationships/slideLayout" Target="../slideLayouts/slideLayout12.xml"/><Relationship Id="rId6" Type="http://schemas.openxmlformats.org/officeDocument/2006/relationships/oleObject" Target="../embeddings/oleObject4.bin"/><Relationship Id="rId5" Type="http://schemas.openxmlformats.org/officeDocument/2006/relationships/image" Target="../media/image7.emf"/><Relationship Id="rId4" Type="http://schemas.openxmlformats.org/officeDocument/2006/relationships/oleObject" Target="../embeddings/oleObject3.bin"/><Relationship Id="rId9" Type="http://schemas.openxmlformats.org/officeDocument/2006/relationships/image" Target="../media/image9.emf"/></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10.wmf"/></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11.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12.w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13.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14.wmf"/></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13.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15.wmf"/></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11.w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16.wmf"/></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17.wmf"/></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18.wmf"/></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15.bin"/><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6.bin"/><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17.bin"/><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18.bin"/><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
          <p:cNvSpPr>
            <a:spLocks noGrp="1" noChangeArrowheads="1"/>
          </p:cNvSpPr>
          <p:nvPr>
            <p:ph type="title" idx="4294967295"/>
          </p:nvPr>
        </p:nvSpPr>
        <p:spPr>
          <a:xfrm>
            <a:off x="609600" y="909501"/>
            <a:ext cx="10972800" cy="5445125"/>
          </a:xfrm>
        </p:spPr>
        <p:txBody>
          <a:bodyPr tIns="36948"/>
          <a:lstStyle/>
          <a:p>
            <a:pPr>
              <a:lnSpc>
                <a:spcPct val="150000"/>
              </a:lnSpc>
              <a:tabLst>
                <a:tab pos="0" algn="l"/>
                <a:tab pos="423863" algn="l"/>
                <a:tab pos="850900" algn="l"/>
                <a:tab pos="1277938" algn="l"/>
                <a:tab pos="1704975" algn="l"/>
                <a:tab pos="2132013" algn="l"/>
                <a:tab pos="2559050" algn="l"/>
                <a:tab pos="2986088" algn="l"/>
                <a:tab pos="3413125" algn="l"/>
                <a:tab pos="3840163" algn="l"/>
                <a:tab pos="4267200" algn="l"/>
                <a:tab pos="4694238" algn="l"/>
                <a:tab pos="5121275" algn="l"/>
                <a:tab pos="5548313" algn="l"/>
                <a:tab pos="5975350" algn="l"/>
                <a:tab pos="6402388" algn="l"/>
                <a:tab pos="6829425" algn="l"/>
                <a:tab pos="7254875" algn="l"/>
                <a:tab pos="7681913" algn="l"/>
                <a:tab pos="8108950" algn="l"/>
                <a:tab pos="8535988" algn="l"/>
              </a:tabLst>
            </a:pPr>
            <a:r>
              <a:rPr lang="zh-CN" altLang="en-US" sz="3200" b="1" dirty="0">
                <a:solidFill>
                  <a:schemeClr val="tx1"/>
                </a:solidFill>
                <a:latin typeface="Microsoft JhengHei" panose="020B0604030504040204" pitchFamily="34" charset="-120"/>
                <a:ea typeface="Microsoft JhengHei" panose="020B0604030504040204" pitchFamily="34" charset="-120"/>
              </a:rPr>
              <a:t>离散数学及其应用</a:t>
            </a:r>
            <a:br>
              <a:rPr lang="en-US" altLang="zh-CN" sz="3200" b="1" dirty="0">
                <a:solidFill>
                  <a:schemeClr val="tx1"/>
                </a:solidFill>
                <a:latin typeface="Microsoft JhengHei" panose="020B0604030504040204" pitchFamily="34" charset="-120"/>
                <a:ea typeface="Microsoft JhengHei" panose="020B0604030504040204" pitchFamily="34" charset="-120"/>
              </a:rPr>
            </a:br>
            <a:r>
              <a:rPr lang="en-US" altLang="zh-CN" sz="3200" b="1" dirty="0">
                <a:solidFill>
                  <a:schemeClr val="tx1"/>
                </a:solidFill>
                <a:latin typeface="Microsoft JhengHei" panose="020B0604030504040204" pitchFamily="34" charset="-120"/>
                <a:ea typeface="Microsoft JhengHei" panose="020B0604030504040204" pitchFamily="34" charset="-120"/>
              </a:rPr>
              <a:t>Discrete Mathematics and Its Applications</a:t>
            </a:r>
            <a:br>
              <a:rPr lang="en-US" altLang="zh-CN" sz="3200" b="1" dirty="0">
                <a:solidFill>
                  <a:schemeClr val="tx1"/>
                </a:solidFill>
                <a:latin typeface="Microsoft JhengHei" panose="020B0604030504040204" pitchFamily="34" charset="-120"/>
                <a:ea typeface="Microsoft JhengHei" panose="020B0604030504040204" pitchFamily="34" charset="-120"/>
              </a:rPr>
            </a:br>
            <a:r>
              <a:rPr lang="zh-CN" altLang="en-US" sz="3200" b="1" dirty="0">
                <a:solidFill>
                  <a:schemeClr val="tx1"/>
                </a:solidFill>
                <a:latin typeface="Microsoft JhengHei" panose="020B0604030504040204" pitchFamily="34" charset="-120"/>
                <a:ea typeface="Microsoft JhengHei" panose="020B0604030504040204" pitchFamily="34" charset="-120"/>
              </a:rPr>
              <a:t>（</a:t>
            </a:r>
            <a:r>
              <a:rPr lang="en-US" altLang="zh-CN" sz="3200" b="1" dirty="0">
                <a:solidFill>
                  <a:schemeClr val="tx1"/>
                </a:solidFill>
                <a:latin typeface="Microsoft JhengHei" panose="020B0604030504040204" pitchFamily="34" charset="-120"/>
                <a:ea typeface="Microsoft JhengHei" panose="020B0604030504040204" pitchFamily="34" charset="-120"/>
              </a:rPr>
              <a:t>Eighth  Edition/Kenneth </a:t>
            </a:r>
            <a:r>
              <a:rPr lang="en-US" altLang="zh-CN" sz="3200" b="1" dirty="0" err="1">
                <a:solidFill>
                  <a:schemeClr val="tx1"/>
                </a:solidFill>
                <a:latin typeface="Microsoft JhengHei" panose="020B0604030504040204" pitchFamily="34" charset="-120"/>
                <a:ea typeface="Microsoft JhengHei" panose="020B0604030504040204" pitchFamily="34" charset="-120"/>
              </a:rPr>
              <a:t>H.Rosen</a:t>
            </a:r>
            <a:r>
              <a:rPr lang="zh-CN" altLang="en-US" sz="3200" b="1" dirty="0">
                <a:solidFill>
                  <a:schemeClr val="tx1"/>
                </a:solidFill>
                <a:latin typeface="Microsoft JhengHei" panose="020B0604030504040204" pitchFamily="34" charset="-120"/>
                <a:ea typeface="Microsoft JhengHei" panose="020B0604030504040204" pitchFamily="34" charset="-120"/>
              </a:rPr>
              <a:t>）</a:t>
            </a:r>
            <a:br>
              <a:rPr lang="en-US" altLang="zh-CN" sz="3800" b="1" dirty="0">
                <a:solidFill>
                  <a:schemeClr val="tx1"/>
                </a:solidFill>
                <a:latin typeface="Microsoft JhengHei" panose="020B0604030504040204" pitchFamily="34" charset="-120"/>
                <a:ea typeface="Microsoft JhengHei" panose="020B0604030504040204" pitchFamily="34" charset="-120"/>
              </a:rPr>
            </a:br>
            <a:br>
              <a:rPr lang="en-US" altLang="zh-CN" sz="2400" b="1" dirty="0">
                <a:solidFill>
                  <a:schemeClr val="tx1"/>
                </a:solidFill>
                <a:latin typeface="Microsoft JhengHei" panose="020B0604030504040204" pitchFamily="34" charset="-120"/>
                <a:ea typeface="Microsoft JhengHei" panose="020B0604030504040204" pitchFamily="34" charset="-120"/>
              </a:rPr>
            </a:br>
            <a:r>
              <a:rPr lang="zh-CN" altLang="en-US" sz="2400" b="1" dirty="0">
                <a:solidFill>
                  <a:schemeClr val="tx1"/>
                </a:solidFill>
                <a:latin typeface="Microsoft JhengHei" panose="020B0604030504040204" pitchFamily="34" charset="-120"/>
                <a:ea typeface="Microsoft JhengHei" panose="020B0604030504040204" pitchFamily="34" charset="-120"/>
              </a:rPr>
              <a:t>郭少勇 </a:t>
            </a:r>
            <a:r>
              <a:rPr lang="en-US" altLang="zh-CN" sz="2400" b="1" dirty="0">
                <a:solidFill>
                  <a:schemeClr val="tx1"/>
                </a:solidFill>
                <a:latin typeface="Microsoft JhengHei" panose="020B0604030504040204" pitchFamily="34" charset="-120"/>
                <a:ea typeface="Microsoft JhengHei" panose="020B0604030504040204" pitchFamily="34" charset="-120"/>
              </a:rPr>
              <a:t>(syguo@bupt.edu.cn)</a:t>
            </a:r>
            <a:br>
              <a:rPr lang="en-US" altLang="zh-CN" sz="2400" b="1" dirty="0">
                <a:solidFill>
                  <a:schemeClr val="tx1"/>
                </a:solidFill>
                <a:latin typeface="Microsoft JhengHei" panose="020B0604030504040204" pitchFamily="34" charset="-120"/>
                <a:ea typeface="Microsoft JhengHei" panose="020B0604030504040204" pitchFamily="34" charset="-120"/>
              </a:rPr>
            </a:br>
            <a:r>
              <a:rPr lang="zh-CN" altLang="en-US" sz="2400" b="1" dirty="0">
                <a:solidFill>
                  <a:schemeClr val="tx1"/>
                </a:solidFill>
                <a:latin typeface="Microsoft JhengHei" panose="020B0604030504040204" pitchFamily="34" charset="-120"/>
                <a:ea typeface="Microsoft JhengHei" panose="020B0604030504040204" pitchFamily="34" charset="-120"/>
              </a:rPr>
              <a:t>北京邮电大学</a:t>
            </a:r>
            <a:br>
              <a:rPr lang="en-US" altLang="zh-CN" sz="2400" b="1" dirty="0">
                <a:solidFill>
                  <a:schemeClr val="tx1"/>
                </a:solidFill>
                <a:latin typeface="Microsoft JhengHei" panose="020B0604030504040204" pitchFamily="34" charset="-120"/>
                <a:ea typeface="Microsoft JhengHei" panose="020B0604030504040204" pitchFamily="34" charset="-120"/>
              </a:rPr>
            </a:br>
            <a:r>
              <a:rPr lang="en-US" altLang="zh-CN" sz="2400" b="1" dirty="0">
                <a:solidFill>
                  <a:schemeClr val="tx1"/>
                </a:solidFill>
                <a:latin typeface="Microsoft JhengHei" panose="020B0604030504040204" pitchFamily="34" charset="-120"/>
                <a:ea typeface="Microsoft JhengHei" panose="020B0604030504040204" pitchFamily="34" charset="-120"/>
              </a:rPr>
              <a:t>2025.09</a:t>
            </a:r>
            <a:endParaRPr lang="en-US" altLang="zh-CN" b="1" dirty="0">
              <a:solidFill>
                <a:schemeClr val="tx1"/>
              </a:solidFill>
              <a:latin typeface="Microsoft JhengHei" panose="020B0604030504040204" pitchFamily="34" charset="-120"/>
              <a:ea typeface="Microsoft JhengHei" panose="020B0604030504040204" pitchFamily="34" charset="-120"/>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41998"/>
          </a:xfrm>
          <a:prstGeom prst="rect">
            <a:avLst/>
          </a:prstGeom>
          <a:noFill/>
        </p:spPr>
        <p:txBody>
          <a:bodyPr wrap="square" rtlCol="0">
            <a:spAutoFit/>
          </a:bodyPr>
          <a:lstStyle/>
          <a:p>
            <a:pPr>
              <a:lnSpc>
                <a:spcPct val="150000"/>
              </a:lnSpc>
            </a:pPr>
            <a:r>
              <a:rPr lang="en-US" altLang="zh-CN" sz="3200" dirty="0"/>
              <a:t>9.4.1 Closures of Relations</a:t>
            </a:r>
            <a:endParaRPr lang="en-US" altLang="zh-CN" sz="2000" dirty="0">
              <a:solidFill>
                <a:schemeClr val="tx2"/>
              </a:solidFill>
              <a:latin typeface="Times New Roman" panose="02020603050405020304" pitchFamily="18" charset="0"/>
            </a:endParaRPr>
          </a:p>
        </p:txBody>
      </p:sp>
      <p:sp>
        <p:nvSpPr>
          <p:cNvPr id="4" name="Rectangle 3">
            <a:extLst>
              <a:ext uri="{FF2B5EF4-FFF2-40B4-BE49-F238E27FC236}">
                <a16:creationId xmlns:a16="http://schemas.microsoft.com/office/drawing/2014/main" id="{1735849B-72CD-45EA-9513-85E3C008A716}"/>
              </a:ext>
            </a:extLst>
          </p:cNvPr>
          <p:cNvSpPr txBox="1">
            <a:spLocks noChangeArrowheads="1"/>
          </p:cNvSpPr>
          <p:nvPr/>
        </p:nvSpPr>
        <p:spPr bwMode="auto">
          <a:xfrm>
            <a:off x="210046" y="1313733"/>
            <a:ext cx="1105553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a:lnSpc>
                <a:spcPct val="150000"/>
              </a:lnSpc>
            </a:pPr>
            <a:r>
              <a:rPr lang="zh-CN" altLang="en-US" sz="2000" dirty="0"/>
              <a:t>一个计算机网络在波士顿、芝加哥、丹佛、底特律、纽约和圣迭戈设有数据中心。从波士顿到芝加哥、波士顿到底特律、芝加哥到底特律、底特律到丹佛和纽约到圣迭戈都有单向电话线。</a:t>
            </a:r>
            <a:endParaRPr lang="en-US" altLang="zh-CN" sz="2000" dirty="0"/>
          </a:p>
          <a:p>
            <a:pPr>
              <a:lnSpc>
                <a:spcPct val="150000"/>
              </a:lnSpc>
            </a:pPr>
            <a:r>
              <a:rPr lang="zh-CN" altLang="en-US" sz="2000" dirty="0"/>
              <a:t>如果存在一条数据中心</a:t>
            </a:r>
            <a:r>
              <a:rPr lang="en-US" altLang="zh-CN" sz="2000" dirty="0"/>
              <a:t>a</a:t>
            </a:r>
            <a:r>
              <a:rPr lang="zh-CN" altLang="en-US" sz="2000" dirty="0"/>
              <a:t>到</a:t>
            </a:r>
            <a:r>
              <a:rPr lang="en-US" altLang="zh-CN" sz="2000" dirty="0"/>
              <a:t>b</a:t>
            </a:r>
            <a:r>
              <a:rPr lang="zh-CN" altLang="en-US" sz="2000" dirty="0"/>
              <a:t>的电话线，（</a:t>
            </a:r>
            <a:r>
              <a:rPr lang="en-US" altLang="zh-CN" sz="2000" dirty="0"/>
              <a:t>a, b</a:t>
            </a:r>
            <a:r>
              <a:rPr lang="zh-CN" altLang="en-US" sz="2000" dirty="0"/>
              <a:t>）就属于关系</a:t>
            </a:r>
            <a:r>
              <a:rPr lang="en-US" altLang="zh-CN" sz="2000" dirty="0"/>
              <a:t>R</a:t>
            </a:r>
            <a:r>
              <a:rPr lang="zh-CN" altLang="en-US" sz="2000" dirty="0"/>
              <a:t>。</a:t>
            </a:r>
            <a:endParaRPr lang="en-US" altLang="zh-CN" sz="2000" dirty="0"/>
          </a:p>
          <a:p>
            <a:pPr>
              <a:lnSpc>
                <a:spcPct val="150000"/>
              </a:lnSpc>
            </a:pPr>
            <a:r>
              <a:rPr lang="zh-CN" altLang="en-US" sz="2000" dirty="0"/>
              <a:t>我们如何确定从一个中心到另一个中心是否存在一条或多条电话线路（可能不直接）相连？由于不是所有的链接都是直接相连的，不能直接用关系</a:t>
            </a:r>
            <a:r>
              <a:rPr lang="en-US" altLang="zh-CN" sz="2000" dirty="0"/>
              <a:t>R</a:t>
            </a:r>
            <a:r>
              <a:rPr lang="zh-CN" altLang="en-US" sz="2000" dirty="0"/>
              <a:t>来回答这个问题。</a:t>
            </a:r>
            <a:endParaRPr lang="en-US" altLang="zh-CN" sz="2000" dirty="0"/>
          </a:p>
          <a:p>
            <a:pPr>
              <a:lnSpc>
                <a:spcPct val="150000"/>
              </a:lnSpc>
            </a:pPr>
            <a:r>
              <a:rPr lang="zh-CN" altLang="en-US" sz="2000" dirty="0"/>
              <a:t>用关系的语言说，</a:t>
            </a:r>
            <a:r>
              <a:rPr lang="en-US" altLang="zh-CN" sz="2000" dirty="0"/>
              <a:t>R</a:t>
            </a:r>
            <a:r>
              <a:rPr lang="zh-CN" altLang="en-US" sz="2000" dirty="0"/>
              <a:t>不是传递的，因此它不包含所有能被链接的有序对。</a:t>
            </a:r>
            <a:endParaRPr lang="en-US" altLang="zh-CN" sz="2000" dirty="0"/>
          </a:p>
          <a:p>
            <a:pPr>
              <a:lnSpc>
                <a:spcPct val="150000"/>
              </a:lnSpc>
            </a:pPr>
            <a:r>
              <a:rPr lang="zh-CN" altLang="en-US" sz="2000" dirty="0"/>
              <a:t>我们可以通过构造包含关系</a:t>
            </a:r>
            <a:r>
              <a:rPr lang="en-US" altLang="zh-CN" sz="2000" dirty="0"/>
              <a:t>R</a:t>
            </a:r>
            <a:r>
              <a:rPr lang="zh-CN" altLang="en-US" sz="2000" dirty="0"/>
              <a:t>的传递关系</a:t>
            </a:r>
            <a:r>
              <a:rPr lang="en-US" altLang="zh-CN" sz="2000" dirty="0"/>
              <a:t>S</a:t>
            </a:r>
            <a:r>
              <a:rPr lang="zh-CN" altLang="en-US" sz="2000" dirty="0"/>
              <a:t>，且</a:t>
            </a:r>
            <a:r>
              <a:rPr lang="en-US" altLang="zh-CN" sz="2000" dirty="0"/>
              <a:t>S</a:t>
            </a:r>
            <a:r>
              <a:rPr lang="zh-CN" altLang="en-US" sz="2000" dirty="0"/>
              <a:t>是所有包含关系</a:t>
            </a:r>
            <a:r>
              <a:rPr lang="en-US" altLang="zh-CN" sz="2000" dirty="0"/>
              <a:t>R</a:t>
            </a:r>
            <a:r>
              <a:rPr lang="zh-CN" altLang="en-US" sz="2000" dirty="0"/>
              <a:t>的传递关系的子集，来找出所有有线路相连的数据中心对。</a:t>
            </a:r>
            <a:endParaRPr lang="en-US" altLang="zh-CN" sz="2000" dirty="0"/>
          </a:p>
          <a:p>
            <a:pPr>
              <a:lnSpc>
                <a:spcPct val="150000"/>
              </a:lnSpc>
            </a:pPr>
            <a:r>
              <a:rPr lang="zh-CN" altLang="en-US" sz="2000" dirty="0"/>
              <a:t>这里，</a:t>
            </a:r>
            <a:r>
              <a:rPr lang="en-US" altLang="zh-CN" sz="2000" dirty="0"/>
              <a:t>S</a:t>
            </a:r>
            <a:r>
              <a:rPr lang="zh-CN" altLang="en-US" sz="2000" dirty="0"/>
              <a:t>是包含关系</a:t>
            </a:r>
            <a:r>
              <a:rPr lang="en-US" altLang="zh-CN" sz="2000" dirty="0"/>
              <a:t>R</a:t>
            </a:r>
            <a:r>
              <a:rPr lang="zh-CN" altLang="en-US" sz="2000" dirty="0"/>
              <a:t>的最小的传递关系。这个关系称为</a:t>
            </a:r>
            <a:r>
              <a:rPr lang="en-US" altLang="zh-CN" sz="2000" dirty="0"/>
              <a:t>R</a:t>
            </a:r>
            <a:r>
              <a:rPr lang="zh-CN" altLang="en-US" sz="2000" dirty="0"/>
              <a:t>的</a:t>
            </a:r>
            <a:r>
              <a:rPr lang="zh-CN" altLang="en-US" sz="2000" dirty="0">
                <a:solidFill>
                  <a:srgbClr val="FF0000"/>
                </a:solidFill>
              </a:rPr>
              <a:t>传递闭包</a:t>
            </a:r>
            <a:r>
              <a:rPr lang="zh-CN" altLang="en-US" sz="2000" dirty="0"/>
              <a:t>。</a:t>
            </a:r>
            <a:endParaRPr lang="en-US" altLang="zh-CN" sz="2000" dirty="0"/>
          </a:p>
        </p:txBody>
      </p:sp>
    </p:spTree>
    <p:extLst>
      <p:ext uri="{BB962C8B-B14F-4D97-AF65-F5344CB8AC3E}">
        <p14:creationId xmlns:p14="http://schemas.microsoft.com/office/powerpoint/2010/main" val="16919241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830997"/>
          </a:xfrm>
          <a:prstGeom prst="rect">
            <a:avLst/>
          </a:prstGeom>
          <a:noFill/>
        </p:spPr>
        <p:txBody>
          <a:bodyPr wrap="square" rtlCol="0">
            <a:spAutoFit/>
          </a:bodyPr>
          <a:lstStyle/>
          <a:p>
            <a:pPr>
              <a:lnSpc>
                <a:spcPct val="150000"/>
              </a:lnSpc>
            </a:pPr>
            <a:r>
              <a:rPr lang="en-US" altLang="zh-CN" sz="3200" dirty="0"/>
              <a:t>9.4.2 Closures of Relations</a:t>
            </a:r>
            <a:endParaRPr lang="en-US" altLang="zh-CN" sz="2000" dirty="0">
              <a:solidFill>
                <a:schemeClr val="tx2"/>
              </a:solidFill>
              <a:latin typeface="Times New Roman" panose="02020603050405020304" pitchFamily="18" charset="0"/>
            </a:endParaRPr>
          </a:p>
        </p:txBody>
      </p:sp>
      <p:sp>
        <p:nvSpPr>
          <p:cNvPr id="4" name="Rectangle 3">
            <a:extLst>
              <a:ext uri="{FF2B5EF4-FFF2-40B4-BE49-F238E27FC236}">
                <a16:creationId xmlns:a16="http://schemas.microsoft.com/office/drawing/2014/main" id="{1735849B-72CD-45EA-9513-85E3C008A716}"/>
              </a:ext>
            </a:extLst>
          </p:cNvPr>
          <p:cNvSpPr txBox="1">
            <a:spLocks noChangeArrowheads="1"/>
          </p:cNvSpPr>
          <p:nvPr/>
        </p:nvSpPr>
        <p:spPr bwMode="auto">
          <a:xfrm>
            <a:off x="210046" y="1313733"/>
            <a:ext cx="1105553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a:lnSpc>
                <a:spcPct val="150000"/>
              </a:lnSpc>
            </a:pPr>
            <a:r>
              <a:rPr lang="en-US" altLang="zh-CN" dirty="0"/>
              <a:t>For any property P</a:t>
            </a:r>
            <a:r>
              <a:rPr lang="zh-CN" altLang="en-US" dirty="0"/>
              <a:t>（自反性、对称性或传递性）</a:t>
            </a:r>
            <a:r>
              <a:rPr lang="en-US" altLang="zh-CN" dirty="0"/>
              <a:t>, the “P closure” of a set A is defined as the “smallest” superset of A that has the given property.</a:t>
            </a:r>
          </a:p>
          <a:p>
            <a:pPr>
              <a:lnSpc>
                <a:spcPct val="150000"/>
              </a:lnSpc>
            </a:pPr>
            <a:endParaRPr lang="en-US" altLang="zh-CN" dirty="0"/>
          </a:p>
        </p:txBody>
      </p:sp>
    </p:spTree>
    <p:extLst>
      <p:ext uri="{BB962C8B-B14F-4D97-AF65-F5344CB8AC3E}">
        <p14:creationId xmlns:p14="http://schemas.microsoft.com/office/powerpoint/2010/main" val="350698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830997"/>
          </a:xfrm>
          <a:prstGeom prst="rect">
            <a:avLst/>
          </a:prstGeom>
          <a:noFill/>
        </p:spPr>
        <p:txBody>
          <a:bodyPr wrap="square" rtlCol="0">
            <a:spAutoFit/>
          </a:bodyPr>
          <a:lstStyle/>
          <a:p>
            <a:pPr>
              <a:lnSpc>
                <a:spcPct val="150000"/>
              </a:lnSpc>
            </a:pPr>
            <a:r>
              <a:rPr lang="en-US" altLang="zh-CN" sz="3200" dirty="0"/>
              <a:t>9.4.2 Closures of Relations</a:t>
            </a:r>
            <a:endParaRPr lang="en-US" altLang="zh-CN" sz="2000" dirty="0">
              <a:solidFill>
                <a:schemeClr val="tx2"/>
              </a:solidFill>
              <a:latin typeface="Times New Roman" panose="02020603050405020304" pitchFamily="18" charset="0"/>
            </a:endParaRPr>
          </a:p>
        </p:txBody>
      </p:sp>
      <p:sp>
        <p:nvSpPr>
          <p:cNvPr id="4" name="Rectangle 3">
            <a:extLst>
              <a:ext uri="{FF2B5EF4-FFF2-40B4-BE49-F238E27FC236}">
                <a16:creationId xmlns:a16="http://schemas.microsoft.com/office/drawing/2014/main" id="{1735849B-72CD-45EA-9513-85E3C008A716}"/>
              </a:ext>
            </a:extLst>
          </p:cNvPr>
          <p:cNvSpPr txBox="1">
            <a:spLocks noChangeArrowheads="1"/>
          </p:cNvSpPr>
          <p:nvPr/>
        </p:nvSpPr>
        <p:spPr bwMode="auto">
          <a:xfrm>
            <a:off x="210046" y="1313733"/>
            <a:ext cx="1105553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eaLnBrk="1" hangingPunct="1">
              <a:lnSpc>
                <a:spcPts val="5000"/>
              </a:lnSpc>
            </a:pPr>
            <a:r>
              <a:rPr lang="en-US" altLang="zh-CN" sz="2800" dirty="0"/>
              <a:t>The </a:t>
            </a:r>
            <a:r>
              <a:rPr lang="en-US" altLang="zh-CN" sz="2800" i="1" dirty="0"/>
              <a:t>reflexive closure</a:t>
            </a:r>
            <a:r>
              <a:rPr lang="en-US" altLang="zh-CN" sz="2800" dirty="0"/>
              <a:t> of a relation </a:t>
            </a:r>
            <a:r>
              <a:rPr lang="en-US" altLang="zh-CN" sz="2800" i="1" dirty="0"/>
              <a:t>R</a:t>
            </a:r>
            <a:r>
              <a:rPr lang="en-US" altLang="zh-CN" sz="2800" dirty="0"/>
              <a:t> on </a:t>
            </a:r>
            <a:r>
              <a:rPr lang="en-US" altLang="zh-CN" sz="2800" i="1" dirty="0"/>
              <a:t>A </a:t>
            </a:r>
            <a:r>
              <a:rPr lang="en-US" altLang="zh-CN" sz="2800" dirty="0"/>
              <a:t>is obtained by adding (</a:t>
            </a:r>
            <a:r>
              <a:rPr lang="en-US" altLang="zh-CN" sz="2800" i="1" dirty="0" err="1"/>
              <a:t>a</a:t>
            </a:r>
            <a:r>
              <a:rPr lang="en-US" altLang="zh-CN" sz="2800" dirty="0" err="1"/>
              <a:t>,</a:t>
            </a:r>
            <a:r>
              <a:rPr lang="en-US" altLang="zh-CN" sz="2800" i="1" dirty="0" err="1"/>
              <a:t>a</a:t>
            </a:r>
            <a:r>
              <a:rPr lang="en-US" altLang="zh-CN" sz="2800" dirty="0"/>
              <a:t>) to </a:t>
            </a:r>
            <a:r>
              <a:rPr lang="en-US" altLang="zh-CN" sz="2800" i="1" dirty="0"/>
              <a:t>R</a:t>
            </a:r>
            <a:r>
              <a:rPr lang="en-US" altLang="zh-CN" sz="2800" dirty="0"/>
              <a:t> for each </a:t>
            </a:r>
            <a:r>
              <a:rPr lang="en-US" altLang="zh-CN" sz="2800" i="1" dirty="0" err="1"/>
              <a:t>a</a:t>
            </a:r>
            <a:r>
              <a:rPr lang="en-US" altLang="zh-CN" sz="2800" dirty="0" err="1">
                <a:sym typeface="Symbol" panose="05050102010706020507" pitchFamily="18" charset="2"/>
              </a:rPr>
              <a:t></a:t>
            </a:r>
            <a:r>
              <a:rPr lang="en-US" altLang="zh-CN" sz="2800" i="1" dirty="0" err="1">
                <a:sym typeface="Symbol" panose="05050102010706020507" pitchFamily="18" charset="2"/>
              </a:rPr>
              <a:t>A</a:t>
            </a:r>
            <a:r>
              <a:rPr lang="en-US" altLang="zh-CN" sz="2800" dirty="0">
                <a:sym typeface="Symbol" panose="05050102010706020507" pitchFamily="18" charset="2"/>
              </a:rPr>
              <a:t>.   </a:t>
            </a:r>
            <a:r>
              <a:rPr lang="en-US" altLang="zh-CN" sz="2800" i="1" dirty="0">
                <a:sym typeface="Symbol" panose="05050102010706020507" pitchFamily="18" charset="2"/>
              </a:rPr>
              <a:t>I.e.</a:t>
            </a:r>
            <a:r>
              <a:rPr lang="en-US" altLang="zh-CN" sz="2800" dirty="0">
                <a:sym typeface="Symbol" panose="05050102010706020507" pitchFamily="18" charset="2"/>
              </a:rPr>
              <a:t>,</a:t>
            </a:r>
            <a:r>
              <a:rPr lang="en-US" altLang="zh-CN" sz="2800" i="1" dirty="0">
                <a:sym typeface="Symbol" panose="05050102010706020507" pitchFamily="18" charset="2"/>
              </a:rPr>
              <a:t> </a:t>
            </a:r>
            <a:r>
              <a:rPr lang="en-US" altLang="zh-CN" sz="2800" dirty="0">
                <a:sym typeface="Symbol" panose="05050102010706020507" pitchFamily="18" charset="2"/>
              </a:rPr>
              <a:t>it is </a:t>
            </a:r>
            <a:r>
              <a:rPr lang="en-US" altLang="zh-CN" sz="2800" i="1" dirty="0">
                <a:solidFill>
                  <a:srgbClr val="FF0000"/>
                </a:solidFill>
                <a:sym typeface="Symbol" panose="05050102010706020507" pitchFamily="18" charset="2"/>
              </a:rPr>
              <a:t>R</a:t>
            </a:r>
            <a:r>
              <a:rPr lang="en-US" altLang="zh-CN" sz="2800" dirty="0">
                <a:solidFill>
                  <a:srgbClr val="FF0000"/>
                </a:solidFill>
                <a:sym typeface="Symbol" panose="05050102010706020507" pitchFamily="18" charset="2"/>
              </a:rPr>
              <a:t>  </a:t>
            </a:r>
            <a:r>
              <a:rPr lang="en-US" altLang="zh-CN" sz="2800" i="1" dirty="0">
                <a:solidFill>
                  <a:srgbClr val="FF0000"/>
                </a:solidFill>
                <a:sym typeface="Symbol" panose="05050102010706020507" pitchFamily="18" charset="2"/>
              </a:rPr>
              <a:t>I</a:t>
            </a:r>
            <a:r>
              <a:rPr lang="en-US" altLang="zh-CN" sz="2800" i="1" baseline="-25000" dirty="0">
                <a:solidFill>
                  <a:srgbClr val="FF0000"/>
                </a:solidFill>
                <a:sym typeface="Symbol" panose="05050102010706020507" pitchFamily="18" charset="2"/>
              </a:rPr>
              <a:t>A</a:t>
            </a:r>
          </a:p>
          <a:p>
            <a:pPr>
              <a:lnSpc>
                <a:spcPts val="5000"/>
              </a:lnSpc>
            </a:pPr>
            <a:r>
              <a:rPr lang="en-US" altLang="zh-CN" sz="2800" dirty="0">
                <a:sym typeface="Symbol" panose="05050102010706020507" pitchFamily="18" charset="2"/>
              </a:rPr>
              <a:t>The </a:t>
            </a:r>
            <a:r>
              <a:rPr lang="en-US" altLang="zh-CN" sz="2800" i="1" dirty="0">
                <a:sym typeface="Symbol" panose="05050102010706020507" pitchFamily="18" charset="2"/>
              </a:rPr>
              <a:t>symmetric closure</a:t>
            </a:r>
            <a:r>
              <a:rPr lang="en-US" altLang="zh-CN" sz="2800" dirty="0">
                <a:sym typeface="Symbol" panose="05050102010706020507" pitchFamily="18" charset="2"/>
              </a:rPr>
              <a:t> of </a:t>
            </a:r>
            <a:r>
              <a:rPr lang="en-US" altLang="zh-CN" sz="2800" i="1" dirty="0">
                <a:sym typeface="Symbol" panose="05050102010706020507" pitchFamily="18" charset="2"/>
              </a:rPr>
              <a:t>R</a:t>
            </a:r>
            <a:r>
              <a:rPr lang="en-US" altLang="zh-CN" sz="2800" dirty="0">
                <a:sym typeface="Symbol" panose="05050102010706020507" pitchFamily="18" charset="2"/>
              </a:rPr>
              <a:t> is obtained by adding (</a:t>
            </a:r>
            <a:r>
              <a:rPr lang="en-US" altLang="zh-CN" sz="2800" i="1" dirty="0" err="1">
                <a:sym typeface="Symbol" panose="05050102010706020507" pitchFamily="18" charset="2"/>
              </a:rPr>
              <a:t>b</a:t>
            </a:r>
            <a:r>
              <a:rPr lang="en-US" altLang="zh-CN" sz="2800" dirty="0" err="1">
                <a:sym typeface="Symbol" panose="05050102010706020507" pitchFamily="18" charset="2"/>
              </a:rPr>
              <a:t>,</a:t>
            </a:r>
            <a:r>
              <a:rPr lang="en-US" altLang="zh-CN" sz="2800" i="1" dirty="0" err="1">
                <a:sym typeface="Symbol" panose="05050102010706020507" pitchFamily="18" charset="2"/>
              </a:rPr>
              <a:t>a</a:t>
            </a:r>
            <a:r>
              <a:rPr lang="en-US" altLang="zh-CN" sz="2800" dirty="0">
                <a:sym typeface="Symbol" panose="05050102010706020507" pitchFamily="18" charset="2"/>
              </a:rPr>
              <a:t>) to </a:t>
            </a:r>
            <a:r>
              <a:rPr lang="en-US" altLang="zh-CN" sz="2800" i="1" dirty="0">
                <a:sym typeface="Symbol" panose="05050102010706020507" pitchFamily="18" charset="2"/>
              </a:rPr>
              <a:t>R</a:t>
            </a:r>
            <a:r>
              <a:rPr lang="en-US" altLang="zh-CN" sz="2800" dirty="0">
                <a:sym typeface="Symbol" panose="05050102010706020507" pitchFamily="18" charset="2"/>
              </a:rPr>
              <a:t> for each (</a:t>
            </a:r>
            <a:r>
              <a:rPr lang="en-US" altLang="zh-CN" sz="2800" i="1" dirty="0" err="1">
                <a:sym typeface="Symbol" panose="05050102010706020507" pitchFamily="18" charset="2"/>
              </a:rPr>
              <a:t>a</a:t>
            </a:r>
            <a:r>
              <a:rPr lang="en-US" altLang="zh-CN" sz="2800" dirty="0" err="1">
                <a:sym typeface="Symbol" panose="05050102010706020507" pitchFamily="18" charset="2"/>
              </a:rPr>
              <a:t>,</a:t>
            </a:r>
            <a:r>
              <a:rPr lang="en-US" altLang="zh-CN" sz="2800" i="1" dirty="0" err="1">
                <a:sym typeface="Symbol" panose="05050102010706020507" pitchFamily="18" charset="2"/>
              </a:rPr>
              <a:t>b</a:t>
            </a:r>
            <a:r>
              <a:rPr lang="en-US" altLang="zh-CN" sz="2800" dirty="0">
                <a:sym typeface="Symbol" panose="05050102010706020507" pitchFamily="18" charset="2"/>
              </a:rPr>
              <a:t>) in </a:t>
            </a:r>
            <a:r>
              <a:rPr lang="en-US" altLang="zh-CN" sz="2800" i="1" dirty="0">
                <a:sym typeface="Symbol" panose="05050102010706020507" pitchFamily="18" charset="2"/>
              </a:rPr>
              <a:t>R</a:t>
            </a:r>
            <a:r>
              <a:rPr lang="en-US" altLang="zh-CN" sz="2800" dirty="0">
                <a:sym typeface="Symbol" panose="05050102010706020507" pitchFamily="18" charset="2"/>
              </a:rPr>
              <a:t>.  </a:t>
            </a:r>
            <a:r>
              <a:rPr lang="en-US" altLang="zh-CN" sz="2800" i="1" dirty="0">
                <a:sym typeface="Symbol" panose="05050102010706020507" pitchFamily="18" charset="2"/>
              </a:rPr>
              <a:t>I.e.</a:t>
            </a:r>
            <a:r>
              <a:rPr lang="en-US" altLang="zh-CN" sz="2800" dirty="0">
                <a:sym typeface="Symbol" panose="05050102010706020507" pitchFamily="18" charset="2"/>
              </a:rPr>
              <a:t>, it is </a:t>
            </a:r>
            <a:r>
              <a:rPr lang="en-US" altLang="zh-CN" sz="2800" i="1" dirty="0">
                <a:solidFill>
                  <a:srgbClr val="FF0000"/>
                </a:solidFill>
                <a:sym typeface="Symbol" panose="05050102010706020507" pitchFamily="18" charset="2"/>
              </a:rPr>
              <a:t>R</a:t>
            </a:r>
            <a:r>
              <a:rPr lang="en-US" altLang="zh-CN" sz="2800" dirty="0">
                <a:solidFill>
                  <a:srgbClr val="FF0000"/>
                </a:solidFill>
                <a:sym typeface="Symbol" panose="05050102010706020507" pitchFamily="18" charset="2"/>
              </a:rPr>
              <a:t>  </a:t>
            </a:r>
            <a:r>
              <a:rPr lang="en-US" altLang="zh-CN" sz="2800" i="1" dirty="0">
                <a:solidFill>
                  <a:srgbClr val="FF0000"/>
                </a:solidFill>
                <a:sym typeface="Symbol" panose="05050102010706020507" pitchFamily="18" charset="2"/>
              </a:rPr>
              <a:t>R</a:t>
            </a:r>
            <a:r>
              <a:rPr lang="en-US" altLang="zh-CN" sz="2800" baseline="30000" dirty="0">
                <a:solidFill>
                  <a:srgbClr val="FF0000"/>
                </a:solidFill>
                <a:cs typeface="Times New Roman" panose="02020603050405020304" pitchFamily="18" charset="0"/>
                <a:sym typeface="Symbol" panose="05050102010706020507" pitchFamily="18" charset="2"/>
              </a:rPr>
              <a:t>−1</a:t>
            </a:r>
            <a:endParaRPr lang="en-US" altLang="zh-CN" sz="2800" dirty="0">
              <a:solidFill>
                <a:srgbClr val="FF0000"/>
              </a:solidFill>
              <a:cs typeface="Times New Roman" panose="02020603050405020304" pitchFamily="18" charset="0"/>
              <a:sym typeface="Symbol" panose="05050102010706020507" pitchFamily="18" charset="2"/>
            </a:endParaRPr>
          </a:p>
          <a:p>
            <a:pPr eaLnBrk="1" hangingPunct="1">
              <a:lnSpc>
                <a:spcPts val="5000"/>
              </a:lnSpc>
            </a:pPr>
            <a:r>
              <a:rPr lang="en-US" altLang="zh-CN" sz="2800" dirty="0">
                <a:cs typeface="Times New Roman" panose="02020603050405020304" pitchFamily="18" charset="0"/>
                <a:sym typeface="Symbol" panose="05050102010706020507" pitchFamily="18" charset="2"/>
              </a:rPr>
              <a:t>The </a:t>
            </a:r>
            <a:r>
              <a:rPr lang="en-US" altLang="zh-CN" sz="2800" i="1" dirty="0">
                <a:cs typeface="Times New Roman" panose="02020603050405020304" pitchFamily="18" charset="0"/>
                <a:sym typeface="Symbol" panose="05050102010706020507" pitchFamily="18" charset="2"/>
              </a:rPr>
              <a:t>transitive closure</a:t>
            </a:r>
            <a:r>
              <a:rPr lang="en-US" altLang="zh-CN" sz="2800" dirty="0">
                <a:cs typeface="Times New Roman" panose="02020603050405020304" pitchFamily="18" charset="0"/>
                <a:sym typeface="Symbol" panose="05050102010706020507" pitchFamily="18" charset="2"/>
              </a:rPr>
              <a:t> or </a:t>
            </a:r>
            <a:r>
              <a:rPr lang="en-US" altLang="zh-CN" sz="2800" i="1" dirty="0">
                <a:cs typeface="Times New Roman" panose="02020603050405020304" pitchFamily="18" charset="0"/>
                <a:sym typeface="Symbol" panose="05050102010706020507" pitchFamily="18" charset="2"/>
              </a:rPr>
              <a:t>connectivity relation </a:t>
            </a:r>
            <a:r>
              <a:rPr lang="en-US" altLang="zh-CN" sz="2800" dirty="0">
                <a:cs typeface="Times New Roman" panose="02020603050405020304" pitchFamily="18" charset="0"/>
                <a:sym typeface="Symbol" panose="05050102010706020507" pitchFamily="18" charset="2"/>
              </a:rPr>
              <a:t>of </a:t>
            </a:r>
            <a:r>
              <a:rPr lang="en-US" altLang="zh-CN" sz="2800" i="1" dirty="0">
                <a:cs typeface="Times New Roman" panose="02020603050405020304" pitchFamily="18" charset="0"/>
                <a:sym typeface="Symbol" panose="05050102010706020507" pitchFamily="18" charset="2"/>
              </a:rPr>
              <a:t>R</a:t>
            </a:r>
            <a:r>
              <a:rPr lang="en-US" altLang="zh-CN" sz="2800" dirty="0">
                <a:cs typeface="Times New Roman" panose="02020603050405020304" pitchFamily="18" charset="0"/>
                <a:sym typeface="Symbol" panose="05050102010706020507" pitchFamily="18" charset="2"/>
              </a:rPr>
              <a:t> is obtained by repeatedly adding (</a:t>
            </a:r>
            <a:r>
              <a:rPr lang="en-US" altLang="zh-CN" sz="2800" i="1" dirty="0" err="1">
                <a:cs typeface="Times New Roman" panose="02020603050405020304" pitchFamily="18" charset="0"/>
                <a:sym typeface="Symbol" panose="05050102010706020507" pitchFamily="18" charset="2"/>
              </a:rPr>
              <a:t>a</a:t>
            </a:r>
            <a:r>
              <a:rPr lang="en-US" altLang="zh-CN" sz="2800" dirty="0" err="1">
                <a:cs typeface="Times New Roman" panose="02020603050405020304" pitchFamily="18" charset="0"/>
                <a:sym typeface="Symbol" panose="05050102010706020507" pitchFamily="18" charset="2"/>
              </a:rPr>
              <a:t>,</a:t>
            </a:r>
            <a:r>
              <a:rPr lang="en-US" altLang="zh-CN" sz="2800" i="1" dirty="0" err="1">
                <a:cs typeface="Times New Roman" panose="02020603050405020304" pitchFamily="18" charset="0"/>
                <a:sym typeface="Symbol" panose="05050102010706020507" pitchFamily="18" charset="2"/>
              </a:rPr>
              <a:t>c</a:t>
            </a:r>
            <a:r>
              <a:rPr lang="en-US" altLang="zh-CN" sz="2800" dirty="0">
                <a:cs typeface="Times New Roman" panose="02020603050405020304" pitchFamily="18" charset="0"/>
                <a:sym typeface="Symbol" panose="05050102010706020507" pitchFamily="18" charset="2"/>
              </a:rPr>
              <a:t>) to </a:t>
            </a:r>
            <a:r>
              <a:rPr lang="en-US" altLang="zh-CN" sz="2800" i="1" dirty="0">
                <a:cs typeface="Times New Roman" panose="02020603050405020304" pitchFamily="18" charset="0"/>
                <a:sym typeface="Symbol" panose="05050102010706020507" pitchFamily="18" charset="2"/>
              </a:rPr>
              <a:t>R</a:t>
            </a:r>
            <a:r>
              <a:rPr lang="en-US" altLang="zh-CN" sz="2800" dirty="0">
                <a:cs typeface="Times New Roman" panose="02020603050405020304" pitchFamily="18" charset="0"/>
                <a:sym typeface="Symbol" panose="05050102010706020507" pitchFamily="18" charset="2"/>
              </a:rPr>
              <a:t> for each (</a:t>
            </a:r>
            <a:r>
              <a:rPr lang="en-US" altLang="zh-CN" sz="2800" i="1" dirty="0" err="1">
                <a:cs typeface="Times New Roman" panose="02020603050405020304" pitchFamily="18" charset="0"/>
                <a:sym typeface="Symbol" panose="05050102010706020507" pitchFamily="18" charset="2"/>
              </a:rPr>
              <a:t>a</a:t>
            </a:r>
            <a:r>
              <a:rPr lang="en-US" altLang="zh-CN" sz="2800" dirty="0" err="1">
                <a:cs typeface="Times New Roman" panose="02020603050405020304" pitchFamily="18" charset="0"/>
                <a:sym typeface="Symbol" panose="05050102010706020507" pitchFamily="18" charset="2"/>
              </a:rPr>
              <a:t>,</a:t>
            </a:r>
            <a:r>
              <a:rPr lang="en-US" altLang="zh-CN" sz="2800" i="1" dirty="0" err="1">
                <a:cs typeface="Times New Roman" panose="02020603050405020304" pitchFamily="18" charset="0"/>
                <a:sym typeface="Symbol" panose="05050102010706020507" pitchFamily="18" charset="2"/>
              </a:rPr>
              <a:t>b</a:t>
            </a:r>
            <a:r>
              <a:rPr lang="en-US" altLang="zh-CN" sz="2800" dirty="0">
                <a:cs typeface="Times New Roman" panose="02020603050405020304" pitchFamily="18" charset="0"/>
                <a:sym typeface="Symbol" panose="05050102010706020507" pitchFamily="18" charset="2"/>
              </a:rPr>
              <a:t>),(</a:t>
            </a:r>
            <a:r>
              <a:rPr lang="en-US" altLang="zh-CN" sz="2800" i="1" dirty="0" err="1">
                <a:cs typeface="Times New Roman" panose="02020603050405020304" pitchFamily="18" charset="0"/>
                <a:sym typeface="Symbol" panose="05050102010706020507" pitchFamily="18" charset="2"/>
              </a:rPr>
              <a:t>b</a:t>
            </a:r>
            <a:r>
              <a:rPr lang="en-US" altLang="zh-CN" sz="2800" dirty="0" err="1">
                <a:cs typeface="Times New Roman" panose="02020603050405020304" pitchFamily="18" charset="0"/>
                <a:sym typeface="Symbol" panose="05050102010706020507" pitchFamily="18" charset="2"/>
              </a:rPr>
              <a:t>,</a:t>
            </a:r>
            <a:r>
              <a:rPr lang="en-US" altLang="zh-CN" sz="2800" i="1" dirty="0" err="1">
                <a:cs typeface="Times New Roman" panose="02020603050405020304" pitchFamily="18" charset="0"/>
                <a:sym typeface="Symbol" panose="05050102010706020507" pitchFamily="18" charset="2"/>
              </a:rPr>
              <a:t>c</a:t>
            </a:r>
            <a:r>
              <a:rPr lang="en-US" altLang="zh-CN" sz="2800" dirty="0">
                <a:cs typeface="Times New Roman" panose="02020603050405020304" pitchFamily="18" charset="0"/>
                <a:sym typeface="Symbol" panose="05050102010706020507" pitchFamily="18" charset="2"/>
              </a:rPr>
              <a:t>) in </a:t>
            </a:r>
            <a:r>
              <a:rPr lang="en-US" altLang="zh-CN" sz="2800" i="1" dirty="0">
                <a:cs typeface="Times New Roman" panose="02020603050405020304" pitchFamily="18" charset="0"/>
                <a:sym typeface="Symbol" panose="05050102010706020507" pitchFamily="18" charset="2"/>
              </a:rPr>
              <a:t>R</a:t>
            </a:r>
            <a:r>
              <a:rPr lang="en-US" altLang="zh-CN" sz="2800" dirty="0">
                <a:cs typeface="Times New Roman" panose="02020603050405020304" pitchFamily="18" charset="0"/>
                <a:sym typeface="Symbol" panose="05050102010706020507" pitchFamily="18" charset="2"/>
              </a:rPr>
              <a:t>.</a:t>
            </a:r>
          </a:p>
          <a:p>
            <a:pPr marL="0" indent="0" eaLnBrk="1" hangingPunct="1">
              <a:lnSpc>
                <a:spcPts val="5000"/>
              </a:lnSpc>
              <a:buNone/>
            </a:pPr>
            <a:r>
              <a:rPr lang="en-US" altLang="zh-CN" sz="2800" i="1" dirty="0">
                <a:cs typeface="Times New Roman" panose="02020603050405020304" pitchFamily="18" charset="0"/>
                <a:sym typeface="Symbol" panose="05050102010706020507" pitchFamily="18" charset="2"/>
              </a:rPr>
              <a:t>    - I.e.</a:t>
            </a:r>
            <a:r>
              <a:rPr lang="en-US" altLang="zh-CN" sz="2800" dirty="0">
                <a:cs typeface="Times New Roman" panose="02020603050405020304" pitchFamily="18" charset="0"/>
                <a:sym typeface="Symbol" panose="05050102010706020507" pitchFamily="18" charset="2"/>
              </a:rPr>
              <a:t>, it is</a:t>
            </a:r>
            <a:endParaRPr lang="en-US" altLang="zh-CN" sz="2800" dirty="0">
              <a:sym typeface="Symbol" panose="05050102010706020507" pitchFamily="18" charset="2"/>
            </a:endParaRPr>
          </a:p>
          <a:p>
            <a:pPr marL="0" indent="0" eaLnBrk="1" hangingPunct="1">
              <a:lnSpc>
                <a:spcPts val="3840"/>
              </a:lnSpc>
              <a:buNone/>
            </a:pPr>
            <a:endParaRPr lang="en-US" altLang="zh-CN" sz="3200" i="1" dirty="0">
              <a:solidFill>
                <a:srgbClr val="FF0000"/>
              </a:solidFill>
              <a:sym typeface="Symbol" panose="05050102010706020507" pitchFamily="18" charset="2"/>
            </a:endParaRPr>
          </a:p>
        </p:txBody>
      </p:sp>
      <p:graphicFrame>
        <p:nvGraphicFramePr>
          <p:cNvPr id="5" name="Object 4">
            <a:extLst>
              <a:ext uri="{FF2B5EF4-FFF2-40B4-BE49-F238E27FC236}">
                <a16:creationId xmlns:a16="http://schemas.microsoft.com/office/drawing/2014/main" id="{BE762AFB-6DB9-43E6-A569-E33F94335EC4}"/>
              </a:ext>
            </a:extLst>
          </p:cNvPr>
          <p:cNvGraphicFramePr>
            <a:graphicFrameLocks noChangeAspect="1"/>
          </p:cNvGraphicFramePr>
          <p:nvPr>
            <p:extLst>
              <p:ext uri="{D42A27DB-BD31-4B8C-83A1-F6EECF244321}">
                <p14:modId xmlns:p14="http://schemas.microsoft.com/office/powerpoint/2010/main" val="3240886221"/>
              </p:ext>
            </p:extLst>
          </p:nvPr>
        </p:nvGraphicFramePr>
        <p:xfrm>
          <a:off x="8572684" y="5544267"/>
          <a:ext cx="2133600" cy="1028700"/>
        </p:xfrm>
        <a:graphic>
          <a:graphicData uri="http://schemas.openxmlformats.org/presentationml/2006/ole">
            <mc:AlternateContent xmlns:mc="http://schemas.openxmlformats.org/markup-compatibility/2006">
              <mc:Choice xmlns:v="urn:schemas-microsoft-com:vml" Requires="v">
                <p:oleObj r:id="rId3" imgW="736920" imgH="355754" progId="Equation.3">
                  <p:embed/>
                </p:oleObj>
              </mc:Choice>
              <mc:Fallback>
                <p:oleObj r:id="rId3" imgW="736920" imgH="355754" progId="Equation.3">
                  <p:embed/>
                  <p:pic>
                    <p:nvPicPr>
                      <p:cNvPr id="77828" name="Object 4">
                        <a:extLst>
                          <a:ext uri="{FF2B5EF4-FFF2-40B4-BE49-F238E27FC236}">
                            <a16:creationId xmlns:a16="http://schemas.microsoft.com/office/drawing/2014/main" id="{8563407D-DD92-4880-9C03-C1BFA12A2B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72684" y="5544267"/>
                        <a:ext cx="2133600" cy="1028700"/>
                      </a:xfrm>
                      <a:prstGeom prst="rect">
                        <a:avLst/>
                      </a:prstGeom>
                      <a:solidFill>
                        <a:srgbClr val="FFCCCC"/>
                      </a:solidFill>
                      <a:ln w="28575"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Rectangle 5">
            <a:extLst>
              <a:ext uri="{FF2B5EF4-FFF2-40B4-BE49-F238E27FC236}">
                <a16:creationId xmlns:a16="http://schemas.microsoft.com/office/drawing/2014/main" id="{E4E9D072-B5F5-4DC3-9001-C936124DA00C}"/>
              </a:ext>
            </a:extLst>
          </p:cNvPr>
          <p:cNvSpPr>
            <a:spLocks noChangeArrowheads="1"/>
          </p:cNvSpPr>
          <p:nvPr/>
        </p:nvSpPr>
        <p:spPr bwMode="auto">
          <a:xfrm>
            <a:off x="7470596" y="2105722"/>
            <a:ext cx="1167377" cy="513191"/>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 name="Rectangle 5">
            <a:extLst>
              <a:ext uri="{FF2B5EF4-FFF2-40B4-BE49-F238E27FC236}">
                <a16:creationId xmlns:a16="http://schemas.microsoft.com/office/drawing/2014/main" id="{FFACA298-2173-4743-86E8-685B4679CEF4}"/>
              </a:ext>
            </a:extLst>
          </p:cNvPr>
          <p:cNvSpPr>
            <a:spLocks noChangeArrowheads="1"/>
          </p:cNvSpPr>
          <p:nvPr/>
        </p:nvSpPr>
        <p:spPr bwMode="auto">
          <a:xfrm>
            <a:off x="5324517" y="3429000"/>
            <a:ext cx="1351491" cy="521616"/>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Tree>
    <p:extLst>
      <p:ext uri="{BB962C8B-B14F-4D97-AF65-F5344CB8AC3E}">
        <p14:creationId xmlns:p14="http://schemas.microsoft.com/office/powerpoint/2010/main" val="16731555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41998"/>
          </a:xfrm>
          <a:prstGeom prst="rect">
            <a:avLst/>
          </a:prstGeom>
          <a:noFill/>
        </p:spPr>
        <p:txBody>
          <a:bodyPr wrap="square" rtlCol="0">
            <a:spAutoFit/>
          </a:bodyPr>
          <a:lstStyle/>
          <a:p>
            <a:pPr>
              <a:lnSpc>
                <a:spcPct val="150000"/>
              </a:lnSpc>
            </a:pPr>
            <a:r>
              <a:rPr lang="en-US" altLang="zh-CN" sz="3200" dirty="0"/>
              <a:t>9.4.2 Closures of Relations</a:t>
            </a:r>
            <a:endParaRPr lang="en-US" altLang="zh-CN" sz="2000" dirty="0">
              <a:solidFill>
                <a:schemeClr val="tx2"/>
              </a:solidFill>
              <a:latin typeface="Times New Roman" panose="02020603050405020304" pitchFamily="18" charset="0"/>
            </a:endParaRPr>
          </a:p>
        </p:txBody>
      </p:sp>
      <p:sp>
        <p:nvSpPr>
          <p:cNvPr id="5" name="Text Box 2">
            <a:extLst>
              <a:ext uri="{FF2B5EF4-FFF2-40B4-BE49-F238E27FC236}">
                <a16:creationId xmlns:a16="http://schemas.microsoft.com/office/drawing/2014/main" id="{CED7A583-E9E3-435F-B2DD-A0458C307D6F}"/>
              </a:ext>
            </a:extLst>
          </p:cNvPr>
          <p:cNvSpPr txBox="1">
            <a:spLocks noChangeArrowheads="1"/>
          </p:cNvSpPr>
          <p:nvPr/>
        </p:nvSpPr>
        <p:spPr bwMode="auto">
          <a:xfrm>
            <a:off x="2241883" y="4357688"/>
            <a:ext cx="5943600"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4800">
                <a:latin typeface="Times New Roman" panose="02020603050405020304" pitchFamily="18" charset="0"/>
                <a:ea typeface="黑体" panose="02010609060101010101" pitchFamily="49" charset="-122"/>
              </a:rPr>
              <a:t>关系中的最小的那个</a:t>
            </a:r>
            <a:r>
              <a:rPr lang="en-US" altLang="zh-CN" sz="4800">
                <a:latin typeface="Times New Roman" panose="02020603050405020304" pitchFamily="18" charset="0"/>
                <a:ea typeface="黑体" panose="02010609060101010101" pitchFamily="49" charset="-122"/>
              </a:rPr>
              <a:t>.</a:t>
            </a:r>
          </a:p>
        </p:txBody>
      </p:sp>
      <p:grpSp>
        <p:nvGrpSpPr>
          <p:cNvPr id="6" name="Group 3">
            <a:extLst>
              <a:ext uri="{FF2B5EF4-FFF2-40B4-BE49-F238E27FC236}">
                <a16:creationId xmlns:a16="http://schemas.microsoft.com/office/drawing/2014/main" id="{6CC4D47E-F4EA-43D8-B793-22CAFFE201CD}"/>
              </a:ext>
            </a:extLst>
          </p:cNvPr>
          <p:cNvGrpSpPr>
            <a:grpSpLocks/>
          </p:cNvGrpSpPr>
          <p:nvPr/>
        </p:nvGrpSpPr>
        <p:grpSpPr bwMode="auto">
          <a:xfrm>
            <a:off x="2318083" y="2147888"/>
            <a:ext cx="7772400" cy="823912"/>
            <a:chOff x="0" y="0"/>
            <a:chExt cx="4896" cy="519"/>
          </a:xfrm>
        </p:grpSpPr>
        <p:sp>
          <p:nvSpPr>
            <p:cNvPr id="7" name="Text Box 4">
              <a:extLst>
                <a:ext uri="{FF2B5EF4-FFF2-40B4-BE49-F238E27FC236}">
                  <a16:creationId xmlns:a16="http://schemas.microsoft.com/office/drawing/2014/main" id="{B099F722-144A-409A-996D-E7E2BA76BF6D}"/>
                </a:ext>
              </a:extLst>
            </p:cNvPr>
            <p:cNvSpPr txBox="1">
              <a:spLocks noChangeArrowheads="1"/>
            </p:cNvSpPr>
            <p:nvPr/>
          </p:nvSpPr>
          <p:spPr bwMode="auto">
            <a:xfrm>
              <a:off x="0" y="0"/>
              <a:ext cx="4896" cy="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4800">
                  <a:latin typeface="Times New Roman" panose="02020603050405020304" pitchFamily="18" charset="0"/>
                  <a:ea typeface="黑体" panose="02010609060101010101" pitchFamily="49" charset="-122"/>
                </a:rPr>
                <a:t>关系    的    </a:t>
              </a:r>
              <a:r>
                <a:rPr lang="zh-CN" altLang="en-US" sz="4800">
                  <a:solidFill>
                    <a:srgbClr val="FF3300"/>
                  </a:solidFill>
                  <a:latin typeface="Times New Roman" panose="02020603050405020304" pitchFamily="18" charset="0"/>
                  <a:ea typeface="黑体" panose="02010609060101010101" pitchFamily="49" charset="-122"/>
                </a:rPr>
                <a:t>闭包</a:t>
              </a:r>
              <a:r>
                <a:rPr lang="zh-CN" altLang="en-US" sz="4800">
                  <a:latin typeface="Times New Roman" panose="02020603050405020304" pitchFamily="18" charset="0"/>
                  <a:ea typeface="黑体" panose="02010609060101010101" pitchFamily="49" charset="-122"/>
                </a:rPr>
                <a:t>就是包含    </a:t>
              </a:r>
            </a:p>
          </p:txBody>
        </p:sp>
        <p:graphicFrame>
          <p:nvGraphicFramePr>
            <p:cNvPr id="8" name="Object 5">
              <a:extLst>
                <a:ext uri="{FF2B5EF4-FFF2-40B4-BE49-F238E27FC236}">
                  <a16:creationId xmlns:a16="http://schemas.microsoft.com/office/drawing/2014/main" id="{D66FBB3C-9080-4D3B-96DD-C0D19A31C79B}"/>
                </a:ext>
              </a:extLst>
            </p:cNvPr>
            <p:cNvGraphicFramePr>
              <a:graphicFrameLocks noChangeAspect="1"/>
            </p:cNvGraphicFramePr>
            <p:nvPr/>
          </p:nvGraphicFramePr>
          <p:xfrm>
            <a:off x="816" y="0"/>
            <a:ext cx="425" cy="468"/>
          </p:xfrm>
          <a:graphic>
            <a:graphicData uri="http://schemas.openxmlformats.org/presentationml/2006/ole">
              <mc:AlternateContent xmlns:mc="http://schemas.openxmlformats.org/markup-compatibility/2006">
                <mc:Choice xmlns:v="urn:schemas-microsoft-com:vml" Requires="v">
                  <p:oleObj r:id="rId2" imgW="101880" imgH="114120" progId="Equation.3">
                    <p:embed/>
                  </p:oleObj>
                </mc:Choice>
                <mc:Fallback>
                  <p:oleObj r:id="rId2" imgW="101880" imgH="114120" progId="Equation.3">
                    <p:embed/>
                    <p:pic>
                      <p:nvPicPr>
                        <p:cNvPr id="78856" name="Object 5">
                          <a:extLst>
                            <a:ext uri="{FF2B5EF4-FFF2-40B4-BE49-F238E27FC236}">
                              <a16:creationId xmlns:a16="http://schemas.microsoft.com/office/drawing/2014/main" id="{ED589041-32F9-428C-A07C-11362B3373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6" y="0"/>
                          <a:ext cx="425"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6">
              <a:extLst>
                <a:ext uri="{FF2B5EF4-FFF2-40B4-BE49-F238E27FC236}">
                  <a16:creationId xmlns:a16="http://schemas.microsoft.com/office/drawing/2014/main" id="{270B019F-465C-4506-A8D4-BA18778E509B}"/>
                </a:ext>
              </a:extLst>
            </p:cNvPr>
            <p:cNvGraphicFramePr>
              <a:graphicFrameLocks noChangeAspect="1"/>
            </p:cNvGraphicFramePr>
            <p:nvPr/>
          </p:nvGraphicFramePr>
          <p:xfrm>
            <a:off x="1591" y="0"/>
            <a:ext cx="425" cy="468"/>
          </p:xfrm>
          <a:graphic>
            <a:graphicData uri="http://schemas.openxmlformats.org/presentationml/2006/ole">
              <mc:AlternateContent xmlns:mc="http://schemas.openxmlformats.org/markup-compatibility/2006">
                <mc:Choice xmlns:v="urn:schemas-microsoft-com:vml" Requires="v">
                  <p:oleObj r:id="rId4" imgW="101880" imgH="114120" progId="Equation.3">
                    <p:embed/>
                  </p:oleObj>
                </mc:Choice>
                <mc:Fallback>
                  <p:oleObj r:id="rId4" imgW="101880" imgH="114120" progId="Equation.3">
                    <p:embed/>
                    <p:pic>
                      <p:nvPicPr>
                        <p:cNvPr id="78857" name="Object 6">
                          <a:extLst>
                            <a:ext uri="{FF2B5EF4-FFF2-40B4-BE49-F238E27FC236}">
                              <a16:creationId xmlns:a16="http://schemas.microsoft.com/office/drawing/2014/main" id="{3B6CF120-9B4F-4E64-A7F1-E52C1F2E638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1" y="0"/>
                          <a:ext cx="425"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7">
              <a:extLst>
                <a:ext uri="{FF2B5EF4-FFF2-40B4-BE49-F238E27FC236}">
                  <a16:creationId xmlns:a16="http://schemas.microsoft.com/office/drawing/2014/main" id="{745EB23B-A601-4DDE-ADFA-C9E72308B8FB}"/>
                </a:ext>
              </a:extLst>
            </p:cNvPr>
            <p:cNvGraphicFramePr>
              <a:graphicFrameLocks noChangeAspect="1"/>
            </p:cNvGraphicFramePr>
            <p:nvPr/>
          </p:nvGraphicFramePr>
          <p:xfrm>
            <a:off x="4396" y="0"/>
            <a:ext cx="380" cy="485"/>
          </p:xfrm>
          <a:graphic>
            <a:graphicData uri="http://schemas.openxmlformats.org/presentationml/2006/ole">
              <mc:AlternateContent xmlns:mc="http://schemas.openxmlformats.org/markup-compatibility/2006">
                <mc:Choice xmlns:v="urn:schemas-microsoft-com:vml" Requires="v">
                  <p:oleObj name="公式" r:id="rId6" imgW="152268" imgH="164957" progId="Equation.3">
                    <p:embed/>
                  </p:oleObj>
                </mc:Choice>
                <mc:Fallback>
                  <p:oleObj name="公式" r:id="rId6" imgW="152268" imgH="164957" progId="Equation.3">
                    <p:embed/>
                    <p:pic>
                      <p:nvPicPr>
                        <p:cNvPr id="78858" name="Object 7">
                          <a:extLst>
                            <a:ext uri="{FF2B5EF4-FFF2-40B4-BE49-F238E27FC236}">
                              <a16:creationId xmlns:a16="http://schemas.microsoft.com/office/drawing/2014/main" id="{059D1614-D3AF-4B32-9E44-0BC9B020467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96" y="0"/>
                          <a:ext cx="380" cy="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1" name="Group 8">
            <a:extLst>
              <a:ext uri="{FF2B5EF4-FFF2-40B4-BE49-F238E27FC236}">
                <a16:creationId xmlns:a16="http://schemas.microsoft.com/office/drawing/2014/main" id="{DACEB467-77B3-4515-8875-89586B492FE3}"/>
              </a:ext>
            </a:extLst>
          </p:cNvPr>
          <p:cNvGrpSpPr>
            <a:grpSpLocks/>
          </p:cNvGrpSpPr>
          <p:nvPr/>
        </p:nvGrpSpPr>
        <p:grpSpPr bwMode="auto">
          <a:xfrm>
            <a:off x="2241883" y="3290888"/>
            <a:ext cx="8077200" cy="823912"/>
            <a:chOff x="0" y="0"/>
            <a:chExt cx="5088" cy="519"/>
          </a:xfrm>
        </p:grpSpPr>
        <p:sp>
          <p:nvSpPr>
            <p:cNvPr id="12" name="Text Box 9">
              <a:extLst>
                <a:ext uri="{FF2B5EF4-FFF2-40B4-BE49-F238E27FC236}">
                  <a16:creationId xmlns:a16="http://schemas.microsoft.com/office/drawing/2014/main" id="{AD742DA1-9105-44EC-9FF0-63474005A000}"/>
                </a:ext>
              </a:extLst>
            </p:cNvPr>
            <p:cNvSpPr txBox="1">
              <a:spLocks noChangeArrowheads="1"/>
            </p:cNvSpPr>
            <p:nvPr/>
          </p:nvSpPr>
          <p:spPr bwMode="auto">
            <a:xfrm>
              <a:off x="0" y="0"/>
              <a:ext cx="5088" cy="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4800">
                  <a:latin typeface="Times New Roman" panose="02020603050405020304" pitchFamily="18" charset="0"/>
                  <a:ea typeface="黑体" panose="02010609060101010101" pitchFamily="49" charset="-122"/>
                </a:rPr>
                <a:t>且具有    中一切性质的那些</a:t>
              </a:r>
            </a:p>
          </p:txBody>
        </p:sp>
        <p:graphicFrame>
          <p:nvGraphicFramePr>
            <p:cNvPr id="13" name="Object 10">
              <a:extLst>
                <a:ext uri="{FF2B5EF4-FFF2-40B4-BE49-F238E27FC236}">
                  <a16:creationId xmlns:a16="http://schemas.microsoft.com/office/drawing/2014/main" id="{4220C89C-6BFC-464B-8714-841819AECED1}"/>
                </a:ext>
              </a:extLst>
            </p:cNvPr>
            <p:cNvGraphicFramePr>
              <a:graphicFrameLocks noChangeAspect="1"/>
            </p:cNvGraphicFramePr>
            <p:nvPr/>
          </p:nvGraphicFramePr>
          <p:xfrm>
            <a:off x="1159" y="12"/>
            <a:ext cx="425" cy="468"/>
          </p:xfrm>
          <a:graphic>
            <a:graphicData uri="http://schemas.openxmlformats.org/presentationml/2006/ole">
              <mc:AlternateContent xmlns:mc="http://schemas.openxmlformats.org/markup-compatibility/2006">
                <mc:Choice xmlns:v="urn:schemas-microsoft-com:vml" Requires="v">
                  <p:oleObj r:id="rId8" imgW="101880" imgH="114120" progId="Equation.3">
                    <p:embed/>
                  </p:oleObj>
                </mc:Choice>
                <mc:Fallback>
                  <p:oleObj r:id="rId8" imgW="101880" imgH="114120" progId="Equation.3">
                    <p:embed/>
                    <p:pic>
                      <p:nvPicPr>
                        <p:cNvPr id="78854" name="Object 10">
                          <a:extLst>
                            <a:ext uri="{FF2B5EF4-FFF2-40B4-BE49-F238E27FC236}">
                              <a16:creationId xmlns:a16="http://schemas.microsoft.com/office/drawing/2014/main" id="{77A5FBF4-3CEB-4DA4-9830-18056AA1AAA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59" y="12"/>
                          <a:ext cx="425"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extLst>
      <p:ext uri="{BB962C8B-B14F-4D97-AF65-F5344CB8AC3E}">
        <p14:creationId xmlns:p14="http://schemas.microsoft.com/office/powerpoint/2010/main" val="995200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0" fill="hold"/>
                                        <p:tgtEl>
                                          <p:spTgt spid="6"/>
                                        </p:tgtEl>
                                        <p:attrNameLst>
                                          <p:attrName>ppt_x</p:attrName>
                                        </p:attrNameLst>
                                      </p:cBhvr>
                                      <p:tavLst>
                                        <p:tav tm="0">
                                          <p:val>
                                            <p:strVal val="1+#ppt_w/2"/>
                                          </p:val>
                                        </p:tav>
                                        <p:tav tm="100000">
                                          <p:val>
                                            <p:strVal val="#ppt_x"/>
                                          </p:val>
                                        </p:tav>
                                      </p:tavLst>
                                    </p:anim>
                                    <p:anim calcmode="lin" valueType="num">
                                      <p:cBhvr additive="base">
                                        <p:cTn id="8" dur="50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7" presetClass="entr" presetSubtype="2"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0" fill="hold"/>
                                        <p:tgtEl>
                                          <p:spTgt spid="11"/>
                                        </p:tgtEl>
                                        <p:attrNameLst>
                                          <p:attrName>ppt_x</p:attrName>
                                        </p:attrNameLst>
                                      </p:cBhvr>
                                      <p:tavLst>
                                        <p:tav tm="0">
                                          <p:val>
                                            <p:strVal val="1+#ppt_w/2"/>
                                          </p:val>
                                        </p:tav>
                                        <p:tav tm="100000">
                                          <p:val>
                                            <p:strVal val="#ppt_x"/>
                                          </p:val>
                                        </p:tav>
                                      </p:tavLst>
                                    </p:anim>
                                    <p:anim calcmode="lin" valueType="num">
                                      <p:cBhvr additive="base">
                                        <p:cTn id="14" dur="50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7" presetClass="entr" presetSubtype="2" fill="hold" grpId="0" nodeType="clickEffect">
                                  <p:stCondLst>
                                    <p:cond delay="0"/>
                                  </p:stCondLst>
                                  <p:iterate type="wd">
                                    <p:tmPct val="100000"/>
                                  </p:iterate>
                                  <p:childTnLst>
                                    <p:set>
                                      <p:cBhvr>
                                        <p:cTn id="18" dur="1" fill="hold">
                                          <p:stCondLst>
                                            <p:cond delay="0"/>
                                          </p:stCondLst>
                                        </p:cTn>
                                        <p:tgtEl>
                                          <p:spTgt spid="5"/>
                                        </p:tgtEl>
                                        <p:attrNameLst>
                                          <p:attrName>style.visibility</p:attrName>
                                        </p:attrNameLst>
                                      </p:cBhvr>
                                      <p:to>
                                        <p:strVal val="visible"/>
                                      </p:to>
                                    </p:set>
                                    <p:anim calcmode="lin" valueType="num">
                                      <p:cBhvr additive="base">
                                        <p:cTn id="19" dur="1000" fill="hold"/>
                                        <p:tgtEl>
                                          <p:spTgt spid="5"/>
                                        </p:tgtEl>
                                        <p:attrNameLst>
                                          <p:attrName>ppt_x</p:attrName>
                                        </p:attrNameLst>
                                      </p:cBhvr>
                                      <p:tavLst>
                                        <p:tav tm="0">
                                          <p:val>
                                            <p:strVal val="1+#ppt_w/2"/>
                                          </p:val>
                                        </p:tav>
                                        <p:tav tm="100000">
                                          <p:val>
                                            <p:strVal val="#ppt_x"/>
                                          </p:val>
                                        </p:tav>
                                      </p:tavLst>
                                    </p:anim>
                                    <p:anim calcmode="lin" valueType="num">
                                      <p:cBhvr additive="base">
                                        <p:cTn id="20" dur="10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830997"/>
          </a:xfrm>
          <a:prstGeom prst="rect">
            <a:avLst/>
          </a:prstGeom>
          <a:noFill/>
        </p:spPr>
        <p:txBody>
          <a:bodyPr wrap="square" rtlCol="0">
            <a:spAutoFit/>
          </a:bodyPr>
          <a:lstStyle/>
          <a:p>
            <a:pPr>
              <a:lnSpc>
                <a:spcPct val="150000"/>
              </a:lnSpc>
            </a:pPr>
            <a:r>
              <a:rPr lang="en-US" altLang="zh-CN" sz="3200" dirty="0"/>
              <a:t>9.4.2 Closures of Relations</a:t>
            </a:r>
            <a:endParaRPr lang="en-US" altLang="zh-CN" sz="2000" dirty="0">
              <a:solidFill>
                <a:schemeClr val="tx2"/>
              </a:solidFill>
              <a:latin typeface="Times New Roman" panose="02020603050405020304" pitchFamily="18" charset="0"/>
            </a:endParaRPr>
          </a:p>
        </p:txBody>
      </p:sp>
      <p:sp>
        <p:nvSpPr>
          <p:cNvPr id="4" name="Rectangle 3">
            <a:extLst>
              <a:ext uri="{FF2B5EF4-FFF2-40B4-BE49-F238E27FC236}">
                <a16:creationId xmlns:a16="http://schemas.microsoft.com/office/drawing/2014/main" id="{1735849B-72CD-45EA-9513-85E3C008A716}"/>
              </a:ext>
            </a:extLst>
          </p:cNvPr>
          <p:cNvSpPr txBox="1">
            <a:spLocks noChangeArrowheads="1"/>
          </p:cNvSpPr>
          <p:nvPr/>
        </p:nvSpPr>
        <p:spPr bwMode="auto">
          <a:xfrm>
            <a:off x="210046" y="816430"/>
            <a:ext cx="11055531" cy="867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marL="0" indent="0">
              <a:lnSpc>
                <a:spcPct val="90000"/>
              </a:lnSpc>
              <a:buNone/>
            </a:pPr>
            <a:r>
              <a:rPr lang="zh-CN" altLang="en-US"/>
              <a:t>关系的闭包</a:t>
            </a:r>
            <a:r>
              <a:rPr lang="en-US" altLang="zh-CN"/>
              <a:t>/Closure of Relations</a:t>
            </a:r>
            <a:endParaRPr lang="en-US" altLang="zh-CN" dirty="0"/>
          </a:p>
        </p:txBody>
      </p:sp>
      <p:sp>
        <p:nvSpPr>
          <p:cNvPr id="11" name="矩形 10">
            <a:extLst>
              <a:ext uri="{FF2B5EF4-FFF2-40B4-BE49-F238E27FC236}">
                <a16:creationId xmlns:a16="http://schemas.microsoft.com/office/drawing/2014/main" id="{6B68CB0B-7E7A-4610-A94B-92FE303EDD1A}"/>
              </a:ext>
            </a:extLst>
          </p:cNvPr>
          <p:cNvSpPr/>
          <p:nvPr/>
        </p:nvSpPr>
        <p:spPr>
          <a:xfrm>
            <a:off x="210046" y="1250426"/>
            <a:ext cx="11691256" cy="5378395"/>
          </a:xfrm>
          <a:prstGeom prst="rect">
            <a:avLst/>
          </a:prstGeom>
        </p:spPr>
        <p:txBody>
          <a:bodyPr wrap="square">
            <a:spAutoFit/>
          </a:bodyPr>
          <a:lstStyle/>
          <a:p>
            <a:pPr marL="457200" indent="-457200">
              <a:lnSpc>
                <a:spcPct val="150000"/>
              </a:lnSpc>
              <a:buFont typeface="Wingdings" panose="05000000000000000000" pitchFamily="2" charset="2"/>
              <a:buChar char="p"/>
            </a:pPr>
            <a:r>
              <a:rPr lang="en-US" altLang="zh-CN" sz="2800" b="1" dirty="0"/>
              <a:t>[</a:t>
            </a:r>
            <a:r>
              <a:rPr lang="zh-CN" altLang="en-US" sz="2800" b="1" dirty="0"/>
              <a:t>定义</a:t>
            </a:r>
            <a:r>
              <a:rPr lang="en-US" altLang="zh-CN" sz="2800" b="1" dirty="0"/>
              <a:t>1]</a:t>
            </a:r>
            <a:r>
              <a:rPr lang="zh-CN" altLang="en-US" sz="2800" b="1" dirty="0"/>
              <a:t>：</a:t>
            </a:r>
            <a:r>
              <a:rPr lang="zh-CN" altLang="en-US" sz="2800" dirty="0"/>
              <a:t>称</a:t>
            </a:r>
            <a:r>
              <a:rPr lang="zh-CN" altLang="en-US" sz="2800" dirty="0">
                <a:latin typeface="宋体" panose="02010600030101010101" pitchFamily="2" charset="-122"/>
              </a:rPr>
              <a:t>Ｒ∪Ｉ</a:t>
            </a:r>
            <a:r>
              <a:rPr lang="en-US" altLang="zh-CN" sz="2800" baseline="-25000" dirty="0">
                <a:latin typeface="宋体" panose="02010600030101010101" pitchFamily="2" charset="-122"/>
              </a:rPr>
              <a:t>A</a:t>
            </a:r>
            <a:r>
              <a:rPr lang="zh-CN" altLang="en-US" sz="2800" dirty="0"/>
              <a:t>是Ｒ的自反闭包</a:t>
            </a:r>
            <a:r>
              <a:rPr lang="en-US" altLang="zh-CN" sz="2800" dirty="0"/>
              <a:t>/reflexive closure of R</a:t>
            </a:r>
            <a:r>
              <a:rPr lang="zh-CN" altLang="en-US" sz="2800" dirty="0"/>
              <a:t>，记为</a:t>
            </a:r>
            <a:r>
              <a:rPr lang="en-US" altLang="zh-CN" sz="2800" dirty="0"/>
              <a:t>r(R</a:t>
            </a:r>
            <a:r>
              <a:rPr lang="zh-CN" altLang="en-US" sz="2800" dirty="0"/>
              <a:t>）。</a:t>
            </a:r>
          </a:p>
          <a:p>
            <a:pPr marL="457200" indent="-457200">
              <a:lnSpc>
                <a:spcPct val="150000"/>
              </a:lnSpc>
              <a:buFont typeface="Wingdings" panose="05000000000000000000" pitchFamily="2" charset="2"/>
              <a:buChar char="p"/>
            </a:pPr>
            <a:r>
              <a:rPr lang="en-US" altLang="zh-CN" sz="2800" b="1" dirty="0"/>
              <a:t>[</a:t>
            </a:r>
            <a:r>
              <a:rPr lang="zh-CN" altLang="en-US" sz="2800" b="1" dirty="0"/>
              <a:t>定理</a:t>
            </a:r>
            <a:r>
              <a:rPr lang="en-US" altLang="zh-CN" sz="2800" b="1" dirty="0"/>
              <a:t>1]</a:t>
            </a:r>
            <a:r>
              <a:rPr lang="zh-CN" altLang="en-US" sz="2800" b="1" dirty="0"/>
              <a:t>：</a:t>
            </a:r>
            <a:r>
              <a:rPr lang="zh-CN" altLang="en-US" sz="2800" dirty="0"/>
              <a:t>设Ｒ是Ａ上的二元关系，则</a:t>
            </a:r>
            <a:r>
              <a:rPr lang="en-US" altLang="zh-CN" sz="2800" dirty="0"/>
              <a:t>r(R</a:t>
            </a:r>
            <a:r>
              <a:rPr lang="zh-CN" altLang="en-US" sz="2800" dirty="0"/>
              <a:t>）是包含Ｒ，具有自反性的最小关系。</a:t>
            </a:r>
          </a:p>
          <a:p>
            <a:pPr marL="914400" lvl="1" indent="-457200">
              <a:lnSpc>
                <a:spcPct val="150000"/>
              </a:lnSpc>
              <a:buFont typeface="Wingdings" panose="05000000000000000000" pitchFamily="2" charset="2"/>
              <a:buChar char="l"/>
            </a:pPr>
            <a:r>
              <a:rPr lang="zh-CN" altLang="en-US" sz="2400" b="1" dirty="0"/>
              <a:t>证明： </a:t>
            </a:r>
            <a:r>
              <a:rPr lang="zh-CN" altLang="en-US" sz="2400" dirty="0"/>
              <a:t>对</a:t>
            </a:r>
            <a:r>
              <a:rPr lang="zh-CN" altLang="en-US" sz="2400" dirty="0">
                <a:latin typeface="Times New Roman" panose="02020603050405020304" pitchFamily="18" charset="0"/>
                <a:sym typeface="Symbol" panose="05050102010706020507" pitchFamily="18" charset="2"/>
              </a:rPr>
              <a:t></a:t>
            </a:r>
            <a:r>
              <a:rPr lang="zh-CN" altLang="en-US" sz="2400" dirty="0">
                <a:latin typeface="Times New Roman" panose="02020603050405020304" pitchFamily="18" charset="0"/>
              </a:rPr>
              <a:t>ｘ∈Ａ，（ｘ，ｘ）∈Ｉ</a:t>
            </a:r>
            <a:r>
              <a:rPr lang="en-US" altLang="zh-CN" sz="2400" baseline="-25000" dirty="0">
                <a:latin typeface="Times New Roman" panose="02020603050405020304" pitchFamily="18" charset="0"/>
              </a:rPr>
              <a:t>A </a:t>
            </a:r>
            <a:r>
              <a:rPr lang="en-US" altLang="zh-CN" sz="2400" dirty="0">
                <a:latin typeface="Times New Roman" panose="02020603050405020304" pitchFamily="18" charset="0"/>
                <a:sym typeface="Symbol" panose="05050102010706020507" pitchFamily="18" charset="2"/>
              </a:rPr>
              <a:t></a:t>
            </a:r>
            <a:r>
              <a:rPr lang="zh-CN" altLang="en-US" sz="2400" dirty="0">
                <a:latin typeface="Times New Roman" panose="02020603050405020304" pitchFamily="18" charset="0"/>
              </a:rPr>
              <a:t>Ｒ∪Ｉ</a:t>
            </a:r>
            <a:r>
              <a:rPr lang="en-US" altLang="zh-CN" sz="2400" baseline="-25000" dirty="0">
                <a:latin typeface="Times New Roman" panose="02020603050405020304" pitchFamily="18" charset="0"/>
              </a:rPr>
              <a:t>A</a:t>
            </a:r>
            <a:r>
              <a:rPr lang="zh-CN" altLang="en-US" sz="2400" dirty="0">
                <a:latin typeface="Times New Roman" panose="02020603050405020304" pitchFamily="18" charset="0"/>
              </a:rPr>
              <a:t>，</a:t>
            </a:r>
            <a:r>
              <a:rPr lang="zh-CN" altLang="en-US" sz="2400" dirty="0"/>
              <a:t>且</a:t>
            </a:r>
            <a:r>
              <a:rPr lang="zh-CN" altLang="en-US" sz="2400" dirty="0">
                <a:latin typeface="Times New Roman" panose="02020603050405020304" pitchFamily="18" charset="0"/>
              </a:rPr>
              <a:t>Ｒ</a:t>
            </a:r>
            <a:r>
              <a:rPr lang="zh-CN" altLang="en-US" sz="2400" dirty="0">
                <a:latin typeface="Times New Roman" panose="02020603050405020304" pitchFamily="18" charset="0"/>
                <a:sym typeface="Symbol" panose="05050102010706020507" pitchFamily="18" charset="2"/>
              </a:rPr>
              <a:t></a:t>
            </a:r>
            <a:r>
              <a:rPr lang="zh-CN" altLang="en-US" sz="2400" dirty="0">
                <a:latin typeface="Times New Roman" panose="02020603050405020304" pitchFamily="18" charset="0"/>
              </a:rPr>
              <a:t>Ｒ∪Ｉ</a:t>
            </a:r>
            <a:r>
              <a:rPr lang="en-US" altLang="zh-CN" sz="2400" baseline="-25000" dirty="0">
                <a:latin typeface="Times New Roman" panose="02020603050405020304" pitchFamily="18" charset="0"/>
              </a:rPr>
              <a:t>A </a:t>
            </a:r>
            <a:r>
              <a:rPr lang="zh-CN" altLang="en-US" sz="2400" dirty="0"/>
              <a:t>。</a:t>
            </a:r>
          </a:p>
          <a:p>
            <a:pPr lvl="1">
              <a:lnSpc>
                <a:spcPct val="150000"/>
              </a:lnSpc>
            </a:pPr>
            <a:r>
              <a:rPr lang="en-US" altLang="zh-CN" sz="2400" dirty="0"/>
              <a:t>	</a:t>
            </a:r>
            <a:r>
              <a:rPr lang="zh-CN" altLang="en-US" sz="2400" dirty="0"/>
              <a:t>若Ｒ’为包含Ｒ且具有自反性，</a:t>
            </a:r>
            <a:r>
              <a:rPr lang="zh-CN" altLang="en-US" sz="2400" dirty="0">
                <a:latin typeface="Times New Roman" panose="02020603050405020304" pitchFamily="18" charset="0"/>
              </a:rPr>
              <a:t>则Ｉ</a:t>
            </a:r>
            <a:r>
              <a:rPr lang="en-US" altLang="zh-CN" sz="2400" baseline="-25000" dirty="0">
                <a:latin typeface="Times New Roman" panose="02020603050405020304" pitchFamily="18" charset="0"/>
              </a:rPr>
              <a:t>A </a:t>
            </a:r>
            <a:r>
              <a:rPr lang="en-US" altLang="zh-CN" sz="2400" dirty="0">
                <a:latin typeface="Times New Roman" panose="02020603050405020304" pitchFamily="18" charset="0"/>
                <a:sym typeface="Symbol" panose="05050102010706020507" pitchFamily="18" charset="2"/>
              </a:rPr>
              <a:t></a:t>
            </a:r>
            <a:r>
              <a:rPr lang="zh-CN" altLang="en-US" sz="2400" dirty="0">
                <a:latin typeface="Times New Roman" panose="02020603050405020304" pitchFamily="18" charset="0"/>
              </a:rPr>
              <a:t>Ｒ’，Ｒ</a:t>
            </a:r>
            <a:r>
              <a:rPr lang="zh-CN" altLang="en-US" sz="2400" dirty="0">
                <a:latin typeface="Times New Roman" panose="02020603050405020304" pitchFamily="18" charset="0"/>
                <a:sym typeface="Symbol" panose="05050102010706020507" pitchFamily="18" charset="2"/>
              </a:rPr>
              <a:t></a:t>
            </a:r>
            <a:r>
              <a:rPr lang="zh-CN" altLang="en-US" sz="2400" dirty="0">
                <a:latin typeface="Times New Roman" panose="02020603050405020304" pitchFamily="18" charset="0"/>
              </a:rPr>
              <a:t>Ｒ’，Ｉ</a:t>
            </a:r>
            <a:r>
              <a:rPr lang="en-US" altLang="zh-CN" sz="2400" baseline="-25000" dirty="0">
                <a:latin typeface="Times New Roman" panose="02020603050405020304" pitchFamily="18" charset="0"/>
              </a:rPr>
              <a:t>A</a:t>
            </a:r>
            <a:r>
              <a:rPr lang="en-US" altLang="zh-CN" sz="2400" dirty="0">
                <a:latin typeface="Times New Roman" panose="02020603050405020304" pitchFamily="18" charset="0"/>
              </a:rPr>
              <a:t>∪</a:t>
            </a:r>
            <a:r>
              <a:rPr lang="zh-CN" altLang="en-US" sz="2400" dirty="0">
                <a:latin typeface="Times New Roman" panose="02020603050405020304" pitchFamily="18" charset="0"/>
              </a:rPr>
              <a:t>Ｒ</a:t>
            </a:r>
            <a:r>
              <a:rPr lang="zh-CN" altLang="en-US" sz="2400" dirty="0">
                <a:latin typeface="Times New Roman" panose="02020603050405020304" pitchFamily="18" charset="0"/>
                <a:sym typeface="Symbol" panose="05050102010706020507" pitchFamily="18" charset="2"/>
              </a:rPr>
              <a:t></a:t>
            </a:r>
            <a:r>
              <a:rPr lang="zh-CN" altLang="en-US" sz="2400" dirty="0">
                <a:latin typeface="Times New Roman" panose="02020603050405020304" pitchFamily="18" charset="0"/>
              </a:rPr>
              <a:t>Ｒ’。</a:t>
            </a:r>
            <a:endParaRPr lang="en-US" altLang="zh-CN" sz="2400" dirty="0">
              <a:latin typeface="Times New Roman" panose="02020603050405020304" pitchFamily="18" charset="0"/>
            </a:endParaRPr>
          </a:p>
          <a:p>
            <a:pPr lvl="1">
              <a:lnSpc>
                <a:spcPct val="150000"/>
              </a:lnSpc>
            </a:pPr>
            <a:r>
              <a:rPr lang="en-US" altLang="zh-CN" sz="2400" dirty="0">
                <a:latin typeface="Times New Roman" panose="02020603050405020304" pitchFamily="18" charset="0"/>
              </a:rPr>
              <a:t>	</a:t>
            </a:r>
            <a:r>
              <a:rPr lang="zh-CN" altLang="en-US" sz="2400" dirty="0">
                <a:latin typeface="Times New Roman" panose="02020603050405020304" pitchFamily="18" charset="0"/>
              </a:rPr>
              <a:t>即Ｉ</a:t>
            </a:r>
            <a:r>
              <a:rPr lang="en-US" altLang="zh-CN" sz="2400" baseline="-25000" dirty="0">
                <a:latin typeface="Times New Roman" panose="02020603050405020304" pitchFamily="18" charset="0"/>
              </a:rPr>
              <a:t>A</a:t>
            </a:r>
            <a:r>
              <a:rPr lang="en-US" altLang="zh-CN" sz="2400" dirty="0">
                <a:latin typeface="Times New Roman" panose="02020603050405020304" pitchFamily="18" charset="0"/>
              </a:rPr>
              <a:t>∪</a:t>
            </a:r>
            <a:r>
              <a:rPr lang="zh-CN" altLang="en-US" sz="2400" dirty="0">
                <a:latin typeface="Times New Roman" panose="02020603050405020304" pitchFamily="18" charset="0"/>
              </a:rPr>
              <a:t>Ｒ为最小。</a:t>
            </a:r>
            <a:endParaRPr lang="zh-CN" altLang="en-US" sz="2400" dirty="0"/>
          </a:p>
          <a:p>
            <a:pPr marL="457200" indent="-457200">
              <a:lnSpc>
                <a:spcPct val="150000"/>
              </a:lnSpc>
              <a:buFont typeface="Wingdings" panose="05000000000000000000" pitchFamily="2" charset="2"/>
              <a:buChar char="p"/>
            </a:pPr>
            <a:r>
              <a:rPr lang="en-US" altLang="zh-CN" sz="2800" b="1" dirty="0"/>
              <a:t>[</a:t>
            </a:r>
            <a:r>
              <a:rPr lang="zh-CN" altLang="en-US" sz="2800" b="1" dirty="0"/>
              <a:t>推论</a:t>
            </a:r>
            <a:r>
              <a:rPr lang="en-US" altLang="zh-CN" sz="2800" b="1" dirty="0"/>
              <a:t>1]</a:t>
            </a:r>
            <a:r>
              <a:rPr lang="zh-CN" altLang="en-US" sz="2800" b="1" dirty="0"/>
              <a:t>：</a:t>
            </a:r>
            <a:r>
              <a:rPr lang="zh-CN" altLang="en-US" sz="2800" dirty="0"/>
              <a:t>Ｒ是自反闭包当且仅当Ｒ是自反的。</a:t>
            </a:r>
          </a:p>
          <a:p>
            <a:pPr marL="914400" lvl="1" indent="-457200">
              <a:lnSpc>
                <a:spcPct val="150000"/>
              </a:lnSpc>
              <a:buFont typeface="Wingdings" panose="05000000000000000000" pitchFamily="2" charset="2"/>
              <a:buChar char="l"/>
            </a:pPr>
            <a:r>
              <a:rPr lang="zh-CN" altLang="en-US" sz="2400" b="1" dirty="0"/>
              <a:t>证明：</a:t>
            </a:r>
            <a:r>
              <a:rPr lang="zh-CN" altLang="en-US" sz="2400" dirty="0"/>
              <a:t>（</a:t>
            </a:r>
            <a:r>
              <a:rPr lang="en-US" altLang="zh-CN" sz="2400" dirty="0"/>
              <a:t>1</a:t>
            </a:r>
            <a:r>
              <a:rPr lang="zh-CN" altLang="en-US" sz="2400" dirty="0"/>
              <a:t>）Ｒ是自反闭包，</a:t>
            </a:r>
            <a:r>
              <a:rPr lang="en-US" altLang="zh-CN" sz="2400" dirty="0"/>
              <a:t>R=</a:t>
            </a:r>
            <a:r>
              <a:rPr lang="zh-CN" altLang="en-US" sz="2400" dirty="0"/>
              <a:t>Ｉ</a:t>
            </a:r>
            <a:r>
              <a:rPr lang="en-US" altLang="zh-CN" sz="2400" baseline="-25000" dirty="0"/>
              <a:t>A</a:t>
            </a:r>
            <a:r>
              <a:rPr lang="en-US" altLang="zh-CN" sz="2400" dirty="0"/>
              <a:t>∪</a:t>
            </a:r>
            <a:r>
              <a:rPr lang="zh-CN" altLang="en-US" sz="2400" dirty="0"/>
              <a:t>Ｒ</a:t>
            </a:r>
            <a:r>
              <a:rPr lang="zh-CN" altLang="en-US" sz="2400" dirty="0">
                <a:sym typeface="Symbol" panose="05050102010706020507" pitchFamily="18" charset="2"/>
              </a:rPr>
              <a:t></a:t>
            </a:r>
            <a:r>
              <a:rPr lang="zh-CN" altLang="en-US" sz="2400" dirty="0"/>
              <a:t>Ｉ</a:t>
            </a:r>
            <a:r>
              <a:rPr lang="en-US" altLang="zh-CN" sz="2400" baseline="-25000" dirty="0"/>
              <a:t>A</a:t>
            </a:r>
            <a:r>
              <a:rPr lang="en-US" altLang="zh-CN" sz="2400" dirty="0"/>
              <a:t> </a:t>
            </a:r>
            <a:r>
              <a:rPr lang="en-US" altLang="zh-CN" sz="2400" dirty="0">
                <a:sym typeface="Symbol" panose="05050102010706020507" pitchFamily="18" charset="2"/>
              </a:rPr>
              <a:t></a:t>
            </a:r>
            <a:r>
              <a:rPr lang="zh-CN" altLang="en-US" sz="2400" dirty="0"/>
              <a:t>Ｒ</a:t>
            </a:r>
            <a:r>
              <a:rPr lang="en-US" altLang="zh-CN" sz="2400" dirty="0"/>
              <a:t>;</a:t>
            </a:r>
          </a:p>
          <a:p>
            <a:pPr lvl="1">
              <a:lnSpc>
                <a:spcPct val="150000"/>
              </a:lnSpc>
            </a:pPr>
            <a:r>
              <a:rPr lang="en-US" altLang="zh-CN" sz="2400" dirty="0"/>
              <a:t>		</a:t>
            </a:r>
            <a:r>
              <a:rPr lang="zh-CN" altLang="en-US" sz="2400" dirty="0"/>
              <a:t>（</a:t>
            </a:r>
            <a:r>
              <a:rPr lang="en-US" altLang="zh-CN" sz="2400" dirty="0"/>
              <a:t>2</a:t>
            </a:r>
            <a:r>
              <a:rPr lang="zh-CN" altLang="en-US" sz="2400" dirty="0"/>
              <a:t>）Ｒ具有自反性</a:t>
            </a:r>
            <a:r>
              <a:rPr lang="en-US" altLang="zh-CN" sz="2400" dirty="0"/>
              <a:t>,</a:t>
            </a:r>
            <a:r>
              <a:rPr lang="zh-CN" altLang="en-US" sz="2400" dirty="0"/>
              <a:t>Ｉ</a:t>
            </a:r>
            <a:r>
              <a:rPr lang="en-US" altLang="zh-CN" sz="2400" baseline="-25000" dirty="0"/>
              <a:t>A</a:t>
            </a:r>
            <a:r>
              <a:rPr lang="en-US" altLang="zh-CN" sz="2400" dirty="0"/>
              <a:t> </a:t>
            </a:r>
            <a:r>
              <a:rPr lang="en-US" altLang="zh-CN" sz="2400" dirty="0">
                <a:sym typeface="Symbol" panose="05050102010706020507" pitchFamily="18" charset="2"/>
              </a:rPr>
              <a:t></a:t>
            </a:r>
            <a:r>
              <a:rPr lang="zh-CN" altLang="en-US" sz="2400" dirty="0"/>
              <a:t>Ｒ，Ｒ∪Ｉ</a:t>
            </a:r>
            <a:r>
              <a:rPr lang="en-US" altLang="zh-CN" sz="2400" baseline="-25000" dirty="0"/>
              <a:t>A</a:t>
            </a:r>
            <a:r>
              <a:rPr lang="zh-CN" altLang="en-US" sz="2400" dirty="0"/>
              <a:t>＝Ｒ；</a:t>
            </a:r>
            <a:endParaRPr lang="en-US" altLang="zh-CN" sz="2400" dirty="0"/>
          </a:p>
        </p:txBody>
      </p:sp>
    </p:spTree>
    <p:extLst>
      <p:ext uri="{BB962C8B-B14F-4D97-AF65-F5344CB8AC3E}">
        <p14:creationId xmlns:p14="http://schemas.microsoft.com/office/powerpoint/2010/main" val="15727965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830997"/>
          </a:xfrm>
          <a:prstGeom prst="rect">
            <a:avLst/>
          </a:prstGeom>
          <a:noFill/>
        </p:spPr>
        <p:txBody>
          <a:bodyPr wrap="square" rtlCol="0">
            <a:spAutoFit/>
          </a:bodyPr>
          <a:lstStyle/>
          <a:p>
            <a:pPr>
              <a:lnSpc>
                <a:spcPct val="150000"/>
              </a:lnSpc>
            </a:pPr>
            <a:r>
              <a:rPr lang="en-US" altLang="zh-CN" sz="3200" dirty="0"/>
              <a:t>9.4.2 Closures of Relations</a:t>
            </a:r>
            <a:endParaRPr lang="en-US" altLang="zh-CN" sz="2000" dirty="0">
              <a:solidFill>
                <a:schemeClr val="tx2"/>
              </a:solidFill>
              <a:latin typeface="Times New Roman" panose="02020603050405020304" pitchFamily="18" charset="0"/>
            </a:endParaRPr>
          </a:p>
        </p:txBody>
      </p:sp>
      <p:sp>
        <p:nvSpPr>
          <p:cNvPr id="11" name="矩形 10">
            <a:extLst>
              <a:ext uri="{FF2B5EF4-FFF2-40B4-BE49-F238E27FC236}">
                <a16:creationId xmlns:a16="http://schemas.microsoft.com/office/drawing/2014/main" id="{6B68CB0B-7E7A-4610-A94B-92FE303EDD1A}"/>
              </a:ext>
            </a:extLst>
          </p:cNvPr>
          <p:cNvSpPr/>
          <p:nvPr/>
        </p:nvSpPr>
        <p:spPr>
          <a:xfrm>
            <a:off x="210046" y="913074"/>
            <a:ext cx="11691256" cy="6394828"/>
          </a:xfrm>
          <a:prstGeom prst="rect">
            <a:avLst/>
          </a:prstGeom>
        </p:spPr>
        <p:txBody>
          <a:bodyPr wrap="square">
            <a:spAutoFit/>
          </a:bodyPr>
          <a:lstStyle/>
          <a:p>
            <a:pPr marL="457200" indent="-457200">
              <a:lnSpc>
                <a:spcPct val="150000"/>
              </a:lnSpc>
              <a:buFont typeface="Wingdings" panose="05000000000000000000" pitchFamily="2" charset="2"/>
              <a:buChar char="p"/>
            </a:pPr>
            <a:r>
              <a:rPr lang="en-US" altLang="zh-CN" sz="2800" b="1"/>
              <a:t>[</a:t>
            </a:r>
            <a:r>
              <a:rPr lang="zh-CN" altLang="en-US" sz="2800" b="1"/>
              <a:t>定义</a:t>
            </a:r>
            <a:r>
              <a:rPr lang="en-US" altLang="zh-CN" sz="2800" b="1"/>
              <a:t>2]</a:t>
            </a:r>
            <a:r>
              <a:rPr lang="zh-CN" altLang="en-US" sz="2800" b="1"/>
              <a:t>：</a:t>
            </a:r>
            <a:r>
              <a:rPr lang="zh-CN" altLang="en-US" sz="2800"/>
              <a:t>称</a:t>
            </a:r>
            <a:r>
              <a:rPr lang="zh-CN" altLang="en-US" sz="2800">
                <a:latin typeface="宋体" panose="02010600030101010101" pitchFamily="2" charset="-122"/>
              </a:rPr>
              <a:t>Ｒ∪Ｒ</a:t>
            </a:r>
            <a:r>
              <a:rPr lang="en-US" altLang="zh-CN" sz="2800" baseline="30000">
                <a:latin typeface="宋体" panose="02010600030101010101" pitchFamily="2" charset="-122"/>
              </a:rPr>
              <a:t>C</a:t>
            </a:r>
            <a:r>
              <a:rPr lang="zh-CN" altLang="en-US" sz="2800"/>
              <a:t>是Ｒ的对称闭包</a:t>
            </a:r>
            <a:r>
              <a:rPr lang="en-US" altLang="zh-CN" sz="2800"/>
              <a:t>/symmetric closure of R</a:t>
            </a:r>
            <a:r>
              <a:rPr lang="zh-CN" altLang="en-US" sz="2800"/>
              <a:t>，记为</a:t>
            </a:r>
            <a:r>
              <a:rPr lang="en-US" altLang="zh-CN" sz="2800"/>
              <a:t>s(R)</a:t>
            </a:r>
            <a:r>
              <a:rPr lang="zh-CN" altLang="en-US" sz="2800"/>
              <a:t>。</a:t>
            </a:r>
            <a:r>
              <a:rPr lang="zh-CN" altLang="en-US" sz="2800" b="1">
                <a:latin typeface="宋体" panose="02010600030101010101" pitchFamily="2" charset="-122"/>
              </a:rPr>
              <a:t> </a:t>
            </a:r>
            <a:endParaRPr lang="en-US" altLang="zh-CN" sz="2800" b="1">
              <a:latin typeface="宋体" panose="02010600030101010101" pitchFamily="2" charset="-122"/>
            </a:endParaRPr>
          </a:p>
          <a:p>
            <a:pPr marL="457200" indent="-457200">
              <a:lnSpc>
                <a:spcPct val="150000"/>
              </a:lnSpc>
              <a:buFont typeface="Wingdings" panose="05000000000000000000" pitchFamily="2" charset="2"/>
              <a:buChar char="p"/>
            </a:pPr>
            <a:r>
              <a:rPr lang="en-US" altLang="zh-CN" sz="2800" b="1"/>
              <a:t>[</a:t>
            </a:r>
            <a:r>
              <a:rPr lang="zh-CN" altLang="en-US" sz="2800" b="1"/>
              <a:t>定理</a:t>
            </a:r>
            <a:r>
              <a:rPr lang="en-US" altLang="zh-CN" sz="2800" b="1"/>
              <a:t>2]</a:t>
            </a:r>
            <a:r>
              <a:rPr lang="zh-CN" altLang="en-US" sz="2800" b="1"/>
              <a:t>：</a:t>
            </a:r>
            <a:r>
              <a:rPr lang="zh-CN" altLang="en-US" sz="2800"/>
              <a:t>设Ｒ是Ａ上的二元关系，则</a:t>
            </a:r>
            <a:r>
              <a:rPr lang="zh-CN" altLang="en-US" sz="2800">
                <a:latin typeface="宋体" panose="02010600030101010101" pitchFamily="2" charset="-122"/>
              </a:rPr>
              <a:t>Ｒ∪Ｒ</a:t>
            </a:r>
            <a:r>
              <a:rPr lang="en-US" altLang="zh-CN" sz="2800" baseline="30000">
                <a:latin typeface="宋体" panose="02010600030101010101" pitchFamily="2" charset="-122"/>
              </a:rPr>
              <a:t>C</a:t>
            </a:r>
            <a:r>
              <a:rPr lang="zh-CN" altLang="en-US" sz="2800"/>
              <a:t>是对称的，包含Ｒ的最小关系</a:t>
            </a:r>
            <a:r>
              <a:rPr lang="en-US" altLang="zh-CN" sz="2800"/>
              <a:t>,</a:t>
            </a:r>
            <a:r>
              <a:rPr lang="zh-CN" altLang="en-US" sz="2800"/>
              <a:t>（其中</a:t>
            </a:r>
            <a:r>
              <a:rPr lang="zh-CN" altLang="en-US" sz="2800">
                <a:latin typeface="宋体" panose="02010600030101010101" pitchFamily="2" charset="-122"/>
              </a:rPr>
              <a:t>Ｒ</a:t>
            </a:r>
            <a:r>
              <a:rPr lang="en-US" altLang="zh-CN" sz="2800" baseline="30000">
                <a:latin typeface="宋体" panose="02010600030101010101" pitchFamily="2" charset="-122"/>
              </a:rPr>
              <a:t>C</a:t>
            </a:r>
            <a:r>
              <a:rPr lang="zh-CN" altLang="en-US" sz="2800"/>
              <a:t>是Ｒ的逆关系）。</a:t>
            </a:r>
          </a:p>
          <a:p>
            <a:pPr marL="914400" lvl="1" indent="-457200">
              <a:lnSpc>
                <a:spcPct val="150000"/>
              </a:lnSpc>
              <a:buFont typeface="Wingdings" panose="05000000000000000000" pitchFamily="2" charset="2"/>
              <a:buChar char="l"/>
            </a:pPr>
            <a:r>
              <a:rPr lang="zh-CN" altLang="en-US" sz="2400" b="1"/>
              <a:t>证明：</a:t>
            </a:r>
            <a:r>
              <a:rPr lang="zh-CN" altLang="en-US" sz="2400"/>
              <a:t>若（ａ，ｂ）</a:t>
            </a:r>
            <a:r>
              <a:rPr lang="zh-CN" altLang="en-US" sz="2400">
                <a:latin typeface="宋体" panose="02010600030101010101" pitchFamily="2" charset="-122"/>
              </a:rPr>
              <a:t>∈Ｒ∪Ｒ</a:t>
            </a:r>
            <a:r>
              <a:rPr lang="en-US" altLang="zh-CN" sz="2400" baseline="30000">
                <a:latin typeface="宋体" panose="02010600030101010101" pitchFamily="2" charset="-122"/>
              </a:rPr>
              <a:t>C </a:t>
            </a:r>
            <a:r>
              <a:rPr lang="zh-CN" altLang="en-US" sz="2400"/>
              <a:t>，则</a:t>
            </a:r>
            <a:endParaRPr lang="en-US" altLang="zh-CN" sz="2400"/>
          </a:p>
          <a:p>
            <a:pPr lvl="1">
              <a:lnSpc>
                <a:spcPct val="150000"/>
              </a:lnSpc>
            </a:pPr>
            <a:r>
              <a:rPr lang="en-US" altLang="zh-CN" sz="2400" b="1"/>
              <a:t>               </a:t>
            </a:r>
            <a:r>
              <a:rPr lang="zh-CN" altLang="en-US" sz="2400"/>
              <a:t>（ａ，ｂ）∈Ｒ 或（ａ，ｂ）∈</a:t>
            </a:r>
            <a:r>
              <a:rPr lang="zh-CN" altLang="en-US" sz="2400">
                <a:latin typeface="宋体" panose="02010600030101010101" pitchFamily="2" charset="-122"/>
              </a:rPr>
              <a:t>Ｒ</a:t>
            </a:r>
            <a:r>
              <a:rPr lang="en-US" altLang="zh-CN" sz="2400" baseline="30000">
                <a:latin typeface="宋体" panose="02010600030101010101" pitchFamily="2" charset="-122"/>
              </a:rPr>
              <a:t>C</a:t>
            </a:r>
            <a:r>
              <a:rPr lang="zh-CN" altLang="en-US" sz="2400" baseline="30000">
                <a:latin typeface="宋体" panose="02010600030101010101" pitchFamily="2" charset="-122"/>
              </a:rPr>
              <a:t>  </a:t>
            </a:r>
            <a:endParaRPr lang="en-US" altLang="zh-CN" sz="2400" baseline="30000">
              <a:latin typeface="宋体" panose="02010600030101010101" pitchFamily="2" charset="-122"/>
            </a:endParaRPr>
          </a:p>
          <a:p>
            <a:pPr lvl="1">
              <a:lnSpc>
                <a:spcPct val="150000"/>
              </a:lnSpc>
            </a:pPr>
            <a:r>
              <a:rPr lang="en-US" altLang="zh-CN" sz="2400" baseline="30000">
                <a:latin typeface="宋体" panose="02010600030101010101" pitchFamily="2" charset="-122"/>
                <a:sym typeface="Symbol" panose="05050102010706020507" pitchFamily="18" charset="2"/>
              </a:rPr>
              <a:t>	          </a:t>
            </a:r>
            <a:r>
              <a:rPr lang="zh-CN" altLang="en-US" sz="2400">
                <a:latin typeface="宋体" panose="02010600030101010101" pitchFamily="2" charset="-122"/>
                <a:sym typeface="Symbol" panose="05050102010706020507" pitchFamily="18" charset="2"/>
              </a:rPr>
              <a:t> </a:t>
            </a:r>
            <a:r>
              <a:rPr lang="zh-CN" altLang="en-US" sz="2400"/>
              <a:t>（ｂ，ａ）∈</a:t>
            </a:r>
            <a:r>
              <a:rPr lang="zh-CN" altLang="en-US" sz="2400">
                <a:latin typeface="宋体" panose="02010600030101010101" pitchFamily="2" charset="-122"/>
              </a:rPr>
              <a:t>Ｒ</a:t>
            </a:r>
            <a:r>
              <a:rPr lang="en-US" altLang="zh-CN" sz="2400" baseline="30000">
                <a:latin typeface="宋体" panose="02010600030101010101" pitchFamily="2" charset="-122"/>
              </a:rPr>
              <a:t>C </a:t>
            </a:r>
            <a:r>
              <a:rPr lang="zh-CN" altLang="en-US" sz="2400"/>
              <a:t>或（ｂ，ａ）∈Ｒ</a:t>
            </a:r>
          </a:p>
          <a:p>
            <a:pPr lvl="1">
              <a:lnSpc>
                <a:spcPct val="150000"/>
              </a:lnSpc>
            </a:pPr>
            <a:r>
              <a:rPr lang="zh-CN" altLang="en-US" sz="2400"/>
              <a:t>         故（ｂ，ａ）∈Ｒ∪</a:t>
            </a:r>
            <a:r>
              <a:rPr lang="zh-CN" altLang="en-US" sz="2400">
                <a:latin typeface="宋体" panose="02010600030101010101" pitchFamily="2" charset="-122"/>
              </a:rPr>
              <a:t>Ｒ</a:t>
            </a:r>
            <a:r>
              <a:rPr lang="en-US" altLang="zh-CN" sz="2400" baseline="30000">
                <a:latin typeface="宋体" panose="02010600030101010101" pitchFamily="2" charset="-122"/>
              </a:rPr>
              <a:t>C</a:t>
            </a:r>
            <a:r>
              <a:rPr lang="zh-CN" altLang="en-US" sz="2400"/>
              <a:t>（对称性）</a:t>
            </a:r>
            <a:r>
              <a:rPr lang="en-US" altLang="zh-CN" sz="2400"/>
              <a:t>,</a:t>
            </a:r>
          </a:p>
          <a:p>
            <a:pPr lvl="1">
              <a:lnSpc>
                <a:spcPct val="150000"/>
              </a:lnSpc>
            </a:pPr>
            <a:r>
              <a:rPr lang="en-US" altLang="zh-CN" sz="2400" b="1">
                <a:latin typeface="宋体" panose="02010600030101010101" pitchFamily="2" charset="-122"/>
              </a:rPr>
              <a:t>	      </a:t>
            </a:r>
            <a:r>
              <a:rPr lang="zh-CN" altLang="en-US" sz="2400"/>
              <a:t>若Ｒ’为包含Ｒ，对称的二元关系，</a:t>
            </a:r>
            <a:endParaRPr lang="en-US" altLang="zh-CN" sz="2400"/>
          </a:p>
          <a:p>
            <a:pPr lvl="1">
              <a:lnSpc>
                <a:spcPct val="150000"/>
              </a:lnSpc>
            </a:pPr>
            <a:r>
              <a:rPr lang="zh-CN" altLang="en-US" sz="2400"/>
              <a:t>         则对</a:t>
            </a:r>
            <a:r>
              <a:rPr lang="zh-CN" altLang="en-US" sz="2400">
                <a:sym typeface="Symbol" panose="05050102010706020507" pitchFamily="18" charset="2"/>
              </a:rPr>
              <a:t></a:t>
            </a:r>
            <a:r>
              <a:rPr lang="zh-CN" altLang="en-US" sz="2400"/>
              <a:t>（ａ，ｂ）</a:t>
            </a:r>
            <a:r>
              <a:rPr lang="zh-CN" altLang="en-US" sz="2400" b="1">
                <a:latin typeface="宋体" panose="02010600030101010101" pitchFamily="2" charset="-122"/>
              </a:rPr>
              <a:t> </a:t>
            </a:r>
            <a:r>
              <a:rPr lang="zh-CN" altLang="en-US" sz="2400">
                <a:latin typeface="宋体" panose="02010600030101010101" pitchFamily="2" charset="-122"/>
              </a:rPr>
              <a:t>∈Ｒ∪Ｒ</a:t>
            </a:r>
            <a:r>
              <a:rPr lang="en-US" altLang="zh-CN" sz="2400" baseline="30000">
                <a:latin typeface="宋体" panose="02010600030101010101" pitchFamily="2" charset="-122"/>
              </a:rPr>
              <a:t>C </a:t>
            </a:r>
            <a:r>
              <a:rPr lang="zh-CN" altLang="en-US" sz="2400"/>
              <a:t>，</a:t>
            </a:r>
          </a:p>
          <a:p>
            <a:pPr lvl="1">
              <a:lnSpc>
                <a:spcPct val="150000"/>
              </a:lnSpc>
            </a:pPr>
            <a:endParaRPr lang="zh-CN" altLang="en-US" sz="2400"/>
          </a:p>
          <a:p>
            <a:pPr lvl="1">
              <a:lnSpc>
                <a:spcPct val="150000"/>
              </a:lnSpc>
            </a:pPr>
            <a:endParaRPr lang="zh-CN" altLang="en-US" sz="2400"/>
          </a:p>
        </p:txBody>
      </p:sp>
    </p:spTree>
    <p:extLst>
      <p:ext uri="{BB962C8B-B14F-4D97-AF65-F5344CB8AC3E}">
        <p14:creationId xmlns:p14="http://schemas.microsoft.com/office/powerpoint/2010/main" val="40710746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830997"/>
          </a:xfrm>
          <a:prstGeom prst="rect">
            <a:avLst/>
          </a:prstGeom>
          <a:noFill/>
        </p:spPr>
        <p:txBody>
          <a:bodyPr wrap="square" rtlCol="0">
            <a:spAutoFit/>
          </a:bodyPr>
          <a:lstStyle/>
          <a:p>
            <a:pPr>
              <a:lnSpc>
                <a:spcPct val="150000"/>
              </a:lnSpc>
            </a:pPr>
            <a:r>
              <a:rPr lang="en-US" altLang="zh-CN" sz="3200" dirty="0"/>
              <a:t>9.4.2 Closures of Relations</a:t>
            </a:r>
            <a:endParaRPr lang="en-US" altLang="zh-CN" sz="2000" dirty="0">
              <a:solidFill>
                <a:schemeClr val="tx2"/>
              </a:solidFill>
              <a:latin typeface="Times New Roman" panose="02020603050405020304" pitchFamily="18" charset="0"/>
            </a:endParaRPr>
          </a:p>
        </p:txBody>
      </p:sp>
      <p:sp>
        <p:nvSpPr>
          <p:cNvPr id="11" name="矩形 10">
            <a:extLst>
              <a:ext uri="{FF2B5EF4-FFF2-40B4-BE49-F238E27FC236}">
                <a16:creationId xmlns:a16="http://schemas.microsoft.com/office/drawing/2014/main" id="{6B68CB0B-7E7A-4610-A94B-92FE303EDD1A}"/>
              </a:ext>
            </a:extLst>
          </p:cNvPr>
          <p:cNvSpPr/>
          <p:nvPr/>
        </p:nvSpPr>
        <p:spPr>
          <a:xfrm>
            <a:off x="210046" y="824298"/>
            <a:ext cx="11691256" cy="6579493"/>
          </a:xfrm>
          <a:prstGeom prst="rect">
            <a:avLst/>
          </a:prstGeom>
        </p:spPr>
        <p:txBody>
          <a:bodyPr wrap="square">
            <a:spAutoFit/>
          </a:bodyPr>
          <a:lstStyle/>
          <a:p>
            <a:pPr>
              <a:lnSpc>
                <a:spcPct val="150000"/>
              </a:lnSpc>
            </a:pPr>
            <a:r>
              <a:rPr lang="en-US" altLang="zh-CN" sz="2400"/>
              <a:t>		</a:t>
            </a:r>
            <a:r>
              <a:rPr lang="zh-CN" altLang="en-US" sz="2400"/>
              <a:t>若（ａ，ｂ）∈Ｒ</a:t>
            </a:r>
            <a:r>
              <a:rPr lang="en-US" altLang="zh-CN" sz="2400">
                <a:sym typeface="Symbol" panose="05050102010706020507" pitchFamily="18" charset="2"/>
              </a:rPr>
              <a:t> </a:t>
            </a:r>
            <a:r>
              <a:rPr lang="zh-CN" altLang="en-US" sz="2400"/>
              <a:t>（ａ，ｂ）∈Ｒ’；</a:t>
            </a:r>
          </a:p>
          <a:p>
            <a:pPr algn="just" eaLnBrk="1" hangingPunct="1">
              <a:spcBef>
                <a:spcPct val="0"/>
              </a:spcBef>
              <a:buFontTx/>
              <a:buNone/>
            </a:pPr>
            <a:r>
              <a:rPr lang="en-US" altLang="zh-CN" sz="2400" b="1">
                <a:latin typeface="宋体" panose="02010600030101010101" pitchFamily="2" charset="-122"/>
              </a:rPr>
              <a:t>		</a:t>
            </a:r>
            <a:r>
              <a:rPr lang="zh-CN" altLang="en-US" sz="2400"/>
              <a:t>若（ａ，ｂ）∈</a:t>
            </a:r>
            <a:r>
              <a:rPr lang="zh-CN" altLang="en-US" sz="2400">
                <a:latin typeface="宋体" panose="02010600030101010101" pitchFamily="2" charset="-122"/>
              </a:rPr>
              <a:t>Ｒ</a:t>
            </a:r>
            <a:r>
              <a:rPr lang="en-US" altLang="zh-CN" sz="2400" baseline="30000">
                <a:latin typeface="宋体" panose="02010600030101010101" pitchFamily="2" charset="-122"/>
              </a:rPr>
              <a:t>C</a:t>
            </a:r>
            <a:r>
              <a:rPr lang="en-US" altLang="zh-CN" sz="2400">
                <a:latin typeface="宋体" panose="02010600030101010101" pitchFamily="2" charset="-122"/>
              </a:rPr>
              <a:t> </a:t>
            </a:r>
            <a:r>
              <a:rPr lang="en-US" altLang="zh-CN" sz="2400">
                <a:sym typeface="Symbol" panose="05050102010706020507" pitchFamily="18" charset="2"/>
              </a:rPr>
              <a:t></a:t>
            </a:r>
            <a:r>
              <a:rPr lang="zh-CN" altLang="en-US" sz="2400"/>
              <a:t>（ｂ，ａ）∈Ｒ， </a:t>
            </a:r>
          </a:p>
          <a:p>
            <a:pPr algn="just" eaLnBrk="1" hangingPunct="1">
              <a:spcBef>
                <a:spcPct val="0"/>
              </a:spcBef>
              <a:buFontTx/>
              <a:buNone/>
            </a:pPr>
            <a:r>
              <a:rPr lang="zh-CN" altLang="en-US" sz="2400"/>
              <a:t>                           </a:t>
            </a:r>
            <a:r>
              <a:rPr lang="en-US" altLang="zh-CN" sz="2400"/>
              <a:t>			</a:t>
            </a:r>
            <a:r>
              <a:rPr lang="zh-CN" altLang="en-US" sz="2400">
                <a:sym typeface="Symbol" panose="05050102010706020507" pitchFamily="18" charset="2"/>
              </a:rPr>
              <a:t></a:t>
            </a:r>
            <a:r>
              <a:rPr lang="zh-CN" altLang="en-US" sz="2400"/>
              <a:t>（ｂ，ａ）∈Ｒ’</a:t>
            </a:r>
          </a:p>
          <a:p>
            <a:pPr algn="just" eaLnBrk="1" hangingPunct="1">
              <a:spcBef>
                <a:spcPct val="0"/>
              </a:spcBef>
              <a:buFontTx/>
              <a:buNone/>
            </a:pPr>
            <a:r>
              <a:rPr lang="zh-CN" altLang="en-US" sz="2400"/>
              <a:t>         </a:t>
            </a:r>
            <a:r>
              <a:rPr lang="en-US" altLang="zh-CN" sz="2400"/>
              <a:t>		</a:t>
            </a:r>
            <a:r>
              <a:rPr lang="zh-CN" altLang="en-US" sz="2400"/>
              <a:t>又Ｒ’具有对称性，（ａ，ｂ）∈Ｒ’，</a:t>
            </a:r>
          </a:p>
          <a:p>
            <a:pPr algn="just" eaLnBrk="1" hangingPunct="1">
              <a:spcBef>
                <a:spcPct val="0"/>
              </a:spcBef>
              <a:buFontTx/>
              <a:buNone/>
            </a:pPr>
            <a:r>
              <a:rPr lang="zh-CN" altLang="en-US" sz="2400"/>
              <a:t>     </a:t>
            </a:r>
            <a:r>
              <a:rPr lang="en-US" altLang="zh-CN" sz="2400"/>
              <a:t>	</a:t>
            </a:r>
            <a:r>
              <a:rPr lang="zh-CN" altLang="en-US" sz="2400"/>
              <a:t> 故Ｒ∪</a:t>
            </a:r>
            <a:r>
              <a:rPr lang="zh-CN" altLang="en-US" sz="2400">
                <a:latin typeface="宋体" panose="02010600030101010101" pitchFamily="2" charset="-122"/>
              </a:rPr>
              <a:t>Ｒ</a:t>
            </a:r>
            <a:r>
              <a:rPr lang="en-US" altLang="zh-CN" sz="2400" baseline="30000">
                <a:latin typeface="宋体" panose="02010600030101010101" pitchFamily="2" charset="-122"/>
              </a:rPr>
              <a:t>C</a:t>
            </a:r>
            <a:r>
              <a:rPr lang="en-US" altLang="zh-CN" sz="2400">
                <a:latin typeface="宋体" panose="02010600030101010101" pitchFamily="2" charset="-122"/>
              </a:rPr>
              <a:t> </a:t>
            </a:r>
            <a:r>
              <a:rPr lang="en-US" altLang="zh-CN" sz="2400">
                <a:sym typeface="Symbol" panose="05050102010706020507" pitchFamily="18" charset="2"/>
              </a:rPr>
              <a:t></a:t>
            </a:r>
            <a:r>
              <a:rPr lang="zh-CN" altLang="en-US" sz="2400"/>
              <a:t>Ｒ’。</a:t>
            </a:r>
            <a:endParaRPr lang="en-US" altLang="zh-CN" sz="2400"/>
          </a:p>
          <a:p>
            <a:pPr marL="457200" marR="0" lvl="0" indent="-45720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en-US" altLang="zh-CN" sz="2800" b="1" i="0" u="none" strike="noStrike" kern="1200" cap="none" spc="0" normalizeH="0" baseline="0" noProof="0">
                <a:ln>
                  <a:noFill/>
                </a:ln>
                <a:solidFill>
                  <a:srgbClr val="000000"/>
                </a:solidFill>
                <a:effectLst/>
                <a:uLnTx/>
                <a:uFillTx/>
                <a:latin typeface="Arial"/>
                <a:ea typeface="宋体"/>
                <a:cs typeface="+mn-cs"/>
              </a:rPr>
              <a:t>[</a:t>
            </a:r>
            <a:r>
              <a:rPr kumimoji="0" lang="zh-CN" altLang="en-US" sz="2800" b="1" i="0" u="none" strike="noStrike" kern="1200" cap="none" spc="0" normalizeH="0" baseline="0" noProof="0">
                <a:ln>
                  <a:noFill/>
                </a:ln>
                <a:solidFill>
                  <a:srgbClr val="000000"/>
                </a:solidFill>
                <a:effectLst/>
                <a:uLnTx/>
                <a:uFillTx/>
                <a:latin typeface="Arial"/>
                <a:ea typeface="宋体"/>
                <a:cs typeface="+mn-cs"/>
              </a:rPr>
              <a:t>推论</a:t>
            </a:r>
            <a:r>
              <a:rPr kumimoji="0" lang="en-US" altLang="zh-CN" sz="2800" b="1" i="0" u="none" strike="noStrike" kern="1200" cap="none" spc="0" normalizeH="0" baseline="0" noProof="0">
                <a:ln>
                  <a:noFill/>
                </a:ln>
                <a:solidFill>
                  <a:srgbClr val="000000"/>
                </a:solidFill>
                <a:effectLst/>
                <a:uLnTx/>
                <a:uFillTx/>
                <a:latin typeface="Arial"/>
                <a:ea typeface="宋体"/>
                <a:cs typeface="+mn-cs"/>
              </a:rPr>
              <a:t>2]</a:t>
            </a:r>
            <a:r>
              <a:rPr kumimoji="0" lang="zh-CN" altLang="en-US" sz="2800" b="1" i="0" u="none" strike="noStrike" kern="1200" cap="none" spc="0" normalizeH="0" baseline="0" noProof="0">
                <a:ln>
                  <a:noFill/>
                </a:ln>
                <a:solidFill>
                  <a:srgbClr val="000000"/>
                </a:solidFill>
                <a:effectLst/>
                <a:uLnTx/>
                <a:uFillTx/>
                <a:latin typeface="Arial"/>
                <a:ea typeface="宋体"/>
                <a:cs typeface="+mn-cs"/>
              </a:rPr>
              <a:t>：</a:t>
            </a:r>
            <a:r>
              <a:rPr kumimoji="0" lang="zh-CN" altLang="en-US" sz="2800" b="0" i="0" u="none" strike="noStrike" kern="1200" cap="none" spc="0" normalizeH="0" baseline="0" noProof="0">
                <a:ln>
                  <a:noFill/>
                </a:ln>
                <a:solidFill>
                  <a:srgbClr val="000000"/>
                </a:solidFill>
                <a:effectLst/>
                <a:uLnTx/>
                <a:uFillTx/>
                <a:latin typeface="Arial"/>
                <a:ea typeface="宋体"/>
                <a:cs typeface="+mn-cs"/>
              </a:rPr>
              <a:t>当且仅当Ｒ是对称闭包时，Ｒ具有对称性。</a:t>
            </a:r>
          </a:p>
          <a:p>
            <a:pPr marL="914400" lvl="1" indent="-457200">
              <a:lnSpc>
                <a:spcPct val="150000"/>
              </a:lnSpc>
              <a:buFont typeface="Wingdings" panose="05000000000000000000" pitchFamily="2" charset="2"/>
              <a:buChar char="l"/>
            </a:pPr>
            <a:r>
              <a:rPr lang="zh-CN" altLang="en-US" sz="2400" b="1"/>
              <a:t>证明：</a:t>
            </a:r>
            <a:r>
              <a:rPr lang="zh-CN" altLang="en-US" sz="2400"/>
              <a:t>（</a:t>
            </a:r>
            <a:r>
              <a:rPr lang="en-US" altLang="zh-CN" sz="2400"/>
              <a:t>1</a:t>
            </a:r>
            <a:r>
              <a:rPr lang="zh-CN" altLang="en-US" sz="2400"/>
              <a:t>）Ｒ具有对称性，</a:t>
            </a:r>
          </a:p>
          <a:p>
            <a:pPr lvl="1">
              <a:lnSpc>
                <a:spcPct val="150000"/>
              </a:lnSpc>
            </a:pPr>
            <a:r>
              <a:rPr lang="en-US" altLang="zh-CN" sz="2400"/>
              <a:t>		         </a:t>
            </a:r>
            <a:r>
              <a:rPr lang="zh-CN" altLang="en-US" sz="2400"/>
              <a:t>若（ａ，ｂ）∈Ｒ，则（ｂ，ａ）∈Ｒ，又（ｂ，ａ）∈</a:t>
            </a:r>
            <a:r>
              <a:rPr lang="zh-CN" altLang="en-US" sz="2400">
                <a:latin typeface="宋体" panose="02010600030101010101" pitchFamily="2" charset="-122"/>
              </a:rPr>
              <a:t>Ｒ</a:t>
            </a:r>
            <a:r>
              <a:rPr lang="en-US" altLang="zh-CN" sz="2400" baseline="30000">
                <a:latin typeface="宋体" panose="02010600030101010101" pitchFamily="2" charset="-122"/>
              </a:rPr>
              <a:t>C</a:t>
            </a:r>
            <a:endParaRPr lang="en-US" altLang="zh-CN" sz="2400"/>
          </a:p>
          <a:p>
            <a:pPr lvl="1">
              <a:lnSpc>
                <a:spcPct val="150000"/>
              </a:lnSpc>
            </a:pPr>
            <a:r>
              <a:rPr lang="en-US" altLang="zh-CN" sz="2400"/>
              <a:t>	             </a:t>
            </a:r>
            <a:r>
              <a:rPr lang="zh-CN" altLang="en-US" sz="2400"/>
              <a:t>即</a:t>
            </a:r>
            <a:r>
              <a:rPr lang="zh-CN" altLang="en-US" sz="2400">
                <a:latin typeface="宋体" panose="02010600030101010101" pitchFamily="2" charset="-122"/>
                <a:sym typeface="Symbol" panose="05050102010706020507" pitchFamily="18" charset="2"/>
              </a:rPr>
              <a:t> </a:t>
            </a:r>
            <a:r>
              <a:rPr lang="zh-CN" altLang="en-US" sz="2400"/>
              <a:t>（ｂ，ａ）∈</a:t>
            </a:r>
            <a:r>
              <a:rPr lang="zh-CN" altLang="en-US" sz="2400">
                <a:latin typeface="宋体" panose="02010600030101010101" pitchFamily="2" charset="-122"/>
              </a:rPr>
              <a:t>Ｒ</a:t>
            </a:r>
            <a:r>
              <a:rPr lang="en-US" altLang="zh-CN" sz="2400" baseline="30000">
                <a:latin typeface="宋体" panose="02010600030101010101" pitchFamily="2" charset="-122"/>
              </a:rPr>
              <a:t>C</a:t>
            </a:r>
            <a:r>
              <a:rPr lang="zh-CN" altLang="en-US" sz="2400"/>
              <a:t>，（ａ，ｂ）∈Ｒ</a:t>
            </a:r>
          </a:p>
          <a:p>
            <a:pPr lvl="1">
              <a:lnSpc>
                <a:spcPct val="150000"/>
              </a:lnSpc>
            </a:pPr>
            <a:r>
              <a:rPr lang="zh-CN" altLang="en-US" sz="2400"/>
              <a:t>       </a:t>
            </a:r>
            <a:r>
              <a:rPr lang="zh-CN" altLang="en-US" sz="2400">
                <a:latin typeface="宋体" panose="02010600030101010101" pitchFamily="2" charset="-122"/>
              </a:rPr>
              <a:t> </a:t>
            </a:r>
            <a:r>
              <a:rPr lang="en-US" altLang="zh-CN" sz="2400">
                <a:latin typeface="宋体" panose="02010600030101010101" pitchFamily="2" charset="-122"/>
              </a:rPr>
              <a:t>	     </a:t>
            </a:r>
            <a:r>
              <a:rPr lang="zh-CN" altLang="en-US" sz="2400">
                <a:latin typeface="宋体" panose="02010600030101010101" pitchFamily="2" charset="-122"/>
                <a:sym typeface="Symbol" panose="05050102010706020507" pitchFamily="18" charset="2"/>
              </a:rPr>
              <a:t></a:t>
            </a:r>
            <a:r>
              <a:rPr lang="zh-CN" altLang="en-US" sz="2400"/>
              <a:t>（ｂ，ａ）∈Ｒ</a:t>
            </a:r>
            <a:r>
              <a:rPr lang="zh-CN" altLang="en-US" sz="2400">
                <a:latin typeface="宋体" panose="02010600030101010101" pitchFamily="2" charset="-122"/>
              </a:rPr>
              <a:t> </a:t>
            </a:r>
            <a:r>
              <a:rPr lang="zh-CN" altLang="en-US" sz="2400">
                <a:latin typeface="宋体" panose="02010600030101010101" pitchFamily="2" charset="-122"/>
                <a:sym typeface="Symbol" panose="05050102010706020507" pitchFamily="18" charset="2"/>
              </a:rPr>
              <a:t></a:t>
            </a:r>
            <a:r>
              <a:rPr lang="zh-CN" altLang="en-US" sz="2400">
                <a:latin typeface="宋体" panose="02010600030101010101" pitchFamily="2" charset="-122"/>
              </a:rPr>
              <a:t>Ｒ</a:t>
            </a:r>
            <a:r>
              <a:rPr lang="en-US" altLang="zh-CN" sz="2400" baseline="30000">
                <a:latin typeface="宋体" panose="02010600030101010101" pitchFamily="2" charset="-122"/>
              </a:rPr>
              <a:t>C</a:t>
            </a:r>
            <a:r>
              <a:rPr lang="en-US" altLang="zh-CN" sz="2400">
                <a:latin typeface="宋体" panose="02010600030101010101" pitchFamily="2" charset="-122"/>
                <a:sym typeface="Symbol" panose="05050102010706020507" pitchFamily="18" charset="2"/>
              </a:rPr>
              <a:t> </a:t>
            </a:r>
            <a:r>
              <a:rPr lang="zh-CN" altLang="en-US" sz="2400"/>
              <a:t>Ｒ</a:t>
            </a:r>
            <a:r>
              <a:rPr lang="zh-CN" altLang="en-US" sz="2400">
                <a:latin typeface="宋体" panose="02010600030101010101" pitchFamily="2" charset="-122"/>
                <a:sym typeface="Symbol" panose="05050102010706020507" pitchFamily="18" charset="2"/>
              </a:rPr>
              <a:t></a:t>
            </a:r>
            <a:r>
              <a:rPr lang="zh-CN" altLang="en-US" sz="2400"/>
              <a:t>Ｒ∪</a:t>
            </a:r>
            <a:r>
              <a:rPr lang="zh-CN" altLang="en-US" sz="2400">
                <a:latin typeface="宋体" panose="02010600030101010101" pitchFamily="2" charset="-122"/>
              </a:rPr>
              <a:t>Ｒ</a:t>
            </a:r>
            <a:r>
              <a:rPr lang="en-US" altLang="zh-CN" sz="2400" baseline="30000">
                <a:latin typeface="宋体" panose="02010600030101010101" pitchFamily="2" charset="-122"/>
              </a:rPr>
              <a:t>C</a:t>
            </a:r>
            <a:r>
              <a:rPr lang="zh-CN" altLang="en-US" sz="2400"/>
              <a:t>＝Ｒ；</a:t>
            </a:r>
          </a:p>
          <a:p>
            <a:pPr lvl="1">
              <a:lnSpc>
                <a:spcPct val="150000"/>
              </a:lnSpc>
            </a:pPr>
            <a:r>
              <a:rPr lang="zh-CN" altLang="en-US" sz="2400"/>
              <a:t> </a:t>
            </a:r>
            <a:r>
              <a:rPr lang="en-US" altLang="zh-CN" sz="2400"/>
              <a:t>	          </a:t>
            </a:r>
            <a:r>
              <a:rPr lang="zh-CN" altLang="en-US" sz="2400"/>
              <a:t>（</a:t>
            </a:r>
            <a:r>
              <a:rPr lang="en-US" altLang="zh-CN" sz="2400"/>
              <a:t>2</a:t>
            </a:r>
            <a:r>
              <a:rPr lang="zh-CN" altLang="en-US" sz="2400"/>
              <a:t>）Ｒ是对称闭包时，Ｒ＝Ｒ∪</a:t>
            </a:r>
            <a:r>
              <a:rPr lang="zh-CN" altLang="en-US" sz="2400">
                <a:latin typeface="宋体" panose="02010600030101010101" pitchFamily="2" charset="-122"/>
              </a:rPr>
              <a:t>Ｒ</a:t>
            </a:r>
            <a:r>
              <a:rPr lang="en-US" altLang="zh-CN" sz="2400" baseline="30000">
                <a:latin typeface="宋体" panose="02010600030101010101" pitchFamily="2" charset="-122"/>
              </a:rPr>
              <a:t>C</a:t>
            </a:r>
            <a:r>
              <a:rPr lang="zh-CN" altLang="en-US" sz="2400">
                <a:latin typeface="宋体" panose="02010600030101010101" pitchFamily="2" charset="-122"/>
                <a:sym typeface="Symbol" panose="05050102010706020507" pitchFamily="18" charset="2"/>
              </a:rPr>
              <a:t></a:t>
            </a:r>
            <a:r>
              <a:rPr lang="zh-CN" altLang="en-US" sz="2400"/>
              <a:t>Ｒ具有对称性</a:t>
            </a:r>
          </a:p>
          <a:p>
            <a:pPr lvl="1">
              <a:lnSpc>
                <a:spcPct val="150000"/>
              </a:lnSpc>
            </a:pPr>
            <a:endParaRPr lang="zh-CN" altLang="en-US" sz="2400"/>
          </a:p>
          <a:p>
            <a:pPr lvl="1">
              <a:lnSpc>
                <a:spcPct val="150000"/>
              </a:lnSpc>
            </a:pPr>
            <a:endParaRPr lang="zh-CN" altLang="en-US" sz="2400"/>
          </a:p>
        </p:txBody>
      </p:sp>
    </p:spTree>
    <p:extLst>
      <p:ext uri="{BB962C8B-B14F-4D97-AF65-F5344CB8AC3E}">
        <p14:creationId xmlns:p14="http://schemas.microsoft.com/office/powerpoint/2010/main" val="2119189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382860" y="1084762"/>
            <a:ext cx="11426279" cy="5617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a:t>
            </a:r>
            <a:r>
              <a:rPr lang="en-US" altLang="zh-CN" sz="2800"/>
              <a:t>1</a:t>
            </a:r>
            <a:r>
              <a:rPr lang="zh-CN" altLang="en-US" sz="2800"/>
              <a:t>：</a:t>
            </a:r>
            <a:r>
              <a:rPr lang="en-US" altLang="zh-CN" sz="2800"/>
              <a:t>What is the reflexive closure of the relation R = { (a,b) | a&lt;b } on the set of integers?</a:t>
            </a:r>
          </a:p>
          <a:p>
            <a:pPr marL="0" indent="0">
              <a:lnSpc>
                <a:spcPct val="150000"/>
              </a:lnSpc>
              <a:buNone/>
            </a:pPr>
            <a:r>
              <a:rPr lang="en-US" altLang="zh-CN" sz="2400"/>
              <a:t>    </a:t>
            </a:r>
            <a:r>
              <a:rPr lang="en-US" altLang="zh-CN" sz="2400" i="1"/>
              <a:t>Solution</a:t>
            </a:r>
            <a:r>
              <a:rPr lang="en-US" altLang="zh-CN" sz="2400"/>
              <a:t>: The reflexive closure of R is</a:t>
            </a:r>
            <a:endParaRPr lang="en-US" altLang="zh-CN" sz="1200" dirty="0"/>
          </a:p>
          <a:p>
            <a:pPr marL="0" indent="0">
              <a:lnSpc>
                <a:spcPct val="150000"/>
              </a:lnSpc>
              <a:buNone/>
            </a:pPr>
            <a:r>
              <a:rPr lang="en-US" altLang="zh-CN" sz="2400"/>
              <a:t>		R</a:t>
            </a:r>
            <a:r>
              <a:rPr lang="zh-CN" altLang="en-US" sz="2400"/>
              <a:t>∪△ </a:t>
            </a:r>
            <a:r>
              <a:rPr lang="en-US" altLang="zh-CN" sz="2400"/>
              <a:t>= { (a,b) | a&lt;b }</a:t>
            </a:r>
            <a:r>
              <a:rPr lang="zh-CN" altLang="en-US" sz="2400"/>
              <a:t>∪</a:t>
            </a:r>
            <a:r>
              <a:rPr lang="en-US" altLang="zh-CN" sz="2400"/>
              <a:t>{ (a,a) | a</a:t>
            </a:r>
            <a:r>
              <a:rPr lang="zh-CN" altLang="en-US" sz="2400"/>
              <a:t>∈</a:t>
            </a:r>
            <a:r>
              <a:rPr lang="en-US" altLang="zh-CN" sz="2400"/>
              <a:t>Z } = { (a,b) | a</a:t>
            </a:r>
            <a:r>
              <a:rPr lang="zh-CN" altLang="en-US" sz="2400"/>
              <a:t>≤</a:t>
            </a:r>
            <a:r>
              <a:rPr lang="en-US" altLang="zh-CN" sz="2400"/>
              <a:t>b }.</a:t>
            </a:r>
            <a:endParaRPr lang="en-US" altLang="zh-CN" sz="2400" dirty="0"/>
          </a:p>
          <a:p>
            <a:pPr>
              <a:lnSpc>
                <a:spcPct val="150000"/>
              </a:lnSpc>
              <a:buFont typeface="Wingdings" panose="05000000000000000000" pitchFamily="2" charset="2"/>
              <a:buChar char="l"/>
            </a:pPr>
            <a:r>
              <a:rPr lang="en-US" altLang="zh-CN" sz="2800"/>
              <a:t>Example 2</a:t>
            </a:r>
            <a:r>
              <a:rPr lang="zh-CN" altLang="en-US" sz="2800"/>
              <a:t>：</a:t>
            </a:r>
            <a:r>
              <a:rPr lang="en-US" altLang="zh-CN" sz="2800"/>
              <a:t>What is the symmetric closure of the relation R = { (a,b) | a&gt;b} on the set of positive integers?</a:t>
            </a:r>
          </a:p>
          <a:p>
            <a:pPr marL="0" indent="0">
              <a:lnSpc>
                <a:spcPct val="150000"/>
              </a:lnSpc>
              <a:buNone/>
            </a:pPr>
            <a:r>
              <a:rPr lang="en-US" altLang="zh-CN" sz="2400"/>
              <a:t>   </a:t>
            </a:r>
            <a:r>
              <a:rPr lang="en-US" altLang="zh-CN" sz="2400" i="1"/>
              <a:t> Solution</a:t>
            </a:r>
            <a:r>
              <a:rPr lang="en-US" altLang="zh-CN" sz="2400"/>
              <a:t>: The symmetric closure of R is the relation</a:t>
            </a:r>
          </a:p>
          <a:p>
            <a:pPr marL="0" indent="0">
              <a:lnSpc>
                <a:spcPct val="150000"/>
              </a:lnSpc>
              <a:buNone/>
            </a:pPr>
            <a:r>
              <a:rPr lang="en-US" altLang="zh-CN" sz="2400"/>
              <a:t>		R</a:t>
            </a:r>
            <a:r>
              <a:rPr lang="zh-CN" altLang="en-US" sz="2400"/>
              <a:t>∪</a:t>
            </a:r>
            <a:r>
              <a:rPr lang="en-US" altLang="zh-CN" sz="2400"/>
              <a:t>R</a:t>
            </a:r>
            <a:r>
              <a:rPr lang="en-US" altLang="zh-CN" sz="2400" baseline="30000"/>
              <a:t>-1</a:t>
            </a:r>
            <a:r>
              <a:rPr lang="en-US" altLang="zh-CN" sz="2400"/>
              <a:t> = { (a,b) | a&gt;b }</a:t>
            </a:r>
            <a:r>
              <a:rPr lang="zh-CN" altLang="en-US" sz="2400"/>
              <a:t>∪</a:t>
            </a:r>
            <a:r>
              <a:rPr lang="en-US" altLang="zh-CN" sz="2400"/>
              <a:t>{ (b,a) | a&gt;b } = { (a,b) | a</a:t>
            </a:r>
            <a:r>
              <a:rPr lang="zh-CN" altLang="en-US" sz="2400"/>
              <a:t>≠</a:t>
            </a:r>
            <a:r>
              <a:rPr lang="en-US" altLang="zh-CN" sz="2400"/>
              <a:t>b }.</a:t>
            </a:r>
            <a:endParaRPr lang="en-US" altLang="zh-CN" sz="2400" dirty="0"/>
          </a:p>
        </p:txBody>
      </p:sp>
      <p:sp>
        <p:nvSpPr>
          <p:cNvPr id="4" name="文本框 3">
            <a:extLst>
              <a:ext uri="{FF2B5EF4-FFF2-40B4-BE49-F238E27FC236}">
                <a16:creationId xmlns:a16="http://schemas.microsoft.com/office/drawing/2014/main" id="{B2A1B5CA-3EB4-4995-B253-573E6609733B}"/>
              </a:ext>
            </a:extLst>
          </p:cNvPr>
          <p:cNvSpPr txBox="1"/>
          <p:nvPr/>
        </p:nvSpPr>
        <p:spPr>
          <a:xfrm>
            <a:off x="210046" y="0"/>
            <a:ext cx="11056470" cy="830997"/>
          </a:xfrm>
          <a:prstGeom prst="rect">
            <a:avLst/>
          </a:prstGeom>
          <a:noFill/>
        </p:spPr>
        <p:txBody>
          <a:bodyPr wrap="square" rtlCol="0">
            <a:spAutoFit/>
          </a:bodyPr>
          <a:lstStyle/>
          <a:p>
            <a:pPr>
              <a:lnSpc>
                <a:spcPct val="150000"/>
              </a:lnSpc>
            </a:pPr>
            <a:r>
              <a:rPr lang="en-US" altLang="zh-CN" sz="3200" dirty="0"/>
              <a:t>9.4.2 Closures of Relations</a:t>
            </a:r>
            <a:endParaRPr lang="en-US" altLang="zh-CN" sz="2000" dirty="0">
              <a:solidFill>
                <a:schemeClr val="tx2"/>
              </a:solidFill>
              <a:latin typeface="Times New Roman" panose="02020603050405020304" pitchFamily="18" charset="0"/>
            </a:endParaRPr>
          </a:p>
        </p:txBody>
      </p:sp>
    </p:spTree>
    <p:extLst>
      <p:ext uri="{BB962C8B-B14F-4D97-AF65-F5344CB8AC3E}">
        <p14:creationId xmlns:p14="http://schemas.microsoft.com/office/powerpoint/2010/main" val="37459357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09107" y="0"/>
            <a:ext cx="11056470" cy="739754"/>
          </a:xfrm>
          <a:prstGeom prst="rect">
            <a:avLst/>
          </a:prstGeom>
          <a:noFill/>
        </p:spPr>
        <p:txBody>
          <a:bodyPr wrap="square" rtlCol="0">
            <a:spAutoFit/>
          </a:bodyPr>
          <a:lstStyle/>
          <a:p>
            <a:pPr>
              <a:lnSpc>
                <a:spcPct val="150000"/>
              </a:lnSpc>
            </a:pPr>
            <a:r>
              <a:rPr lang="en-US" altLang="zh-CN" sz="3200" dirty="0"/>
              <a:t>9.4.3 Paths</a:t>
            </a:r>
            <a:r>
              <a:rPr lang="en-US" altLang="zh-CN" sz="2000" dirty="0"/>
              <a:t> </a:t>
            </a:r>
            <a:r>
              <a:rPr lang="en-US" altLang="zh-CN" sz="3200" dirty="0"/>
              <a:t>in Digraphs/Binary Relations</a:t>
            </a:r>
          </a:p>
        </p:txBody>
      </p:sp>
      <p:sp>
        <p:nvSpPr>
          <p:cNvPr id="4" name="Rectangle 3">
            <a:extLst>
              <a:ext uri="{FF2B5EF4-FFF2-40B4-BE49-F238E27FC236}">
                <a16:creationId xmlns:a16="http://schemas.microsoft.com/office/drawing/2014/main" id="{1735849B-72CD-45EA-9513-85E3C008A716}"/>
              </a:ext>
            </a:extLst>
          </p:cNvPr>
          <p:cNvSpPr txBox="1">
            <a:spLocks noChangeArrowheads="1"/>
          </p:cNvSpPr>
          <p:nvPr/>
        </p:nvSpPr>
        <p:spPr bwMode="auto">
          <a:xfrm>
            <a:off x="210046" y="1334694"/>
            <a:ext cx="1105553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eaLnBrk="1" hangingPunct="1">
              <a:lnSpc>
                <a:spcPct val="150000"/>
              </a:lnSpc>
            </a:pPr>
            <a:r>
              <a:rPr lang="en-US" altLang="zh-CN" sz="2800" kern="0"/>
              <a:t>A path of length n from node a to b in the directed graph G (or the binary relation </a:t>
            </a:r>
            <a:r>
              <a:rPr lang="en-US" altLang="zh-CN" sz="2800" i="1"/>
              <a:t>R</a:t>
            </a:r>
            <a:r>
              <a:rPr lang="en-US" altLang="zh-CN" sz="2800"/>
              <a:t>) is a sequence </a:t>
            </a:r>
            <a:r>
              <a:rPr lang="en-US" altLang="zh-CN" sz="2800">
                <a:solidFill>
                  <a:srgbClr val="FF0000"/>
                </a:solidFill>
              </a:rPr>
              <a:t>(</a:t>
            </a:r>
            <a:r>
              <a:rPr lang="en-US" altLang="zh-CN" sz="2800" i="1">
                <a:solidFill>
                  <a:srgbClr val="FF0000"/>
                </a:solidFill>
              </a:rPr>
              <a:t>a</a:t>
            </a:r>
            <a:r>
              <a:rPr lang="en-US" altLang="zh-CN" sz="2800">
                <a:solidFill>
                  <a:srgbClr val="FF0000"/>
                </a:solidFill>
              </a:rPr>
              <a:t>,</a:t>
            </a:r>
            <a:r>
              <a:rPr lang="en-US" altLang="zh-CN" sz="2800" i="1">
                <a:solidFill>
                  <a:srgbClr val="FF0000"/>
                </a:solidFill>
              </a:rPr>
              <a:t>x</a:t>
            </a:r>
            <a:r>
              <a:rPr lang="en-US" altLang="zh-CN" sz="2800" baseline="-25000">
                <a:solidFill>
                  <a:srgbClr val="FF0000"/>
                </a:solidFill>
              </a:rPr>
              <a:t>1</a:t>
            </a:r>
            <a:r>
              <a:rPr lang="en-US" altLang="zh-CN" sz="2800">
                <a:solidFill>
                  <a:srgbClr val="FF0000"/>
                </a:solidFill>
              </a:rPr>
              <a:t>), (</a:t>
            </a:r>
            <a:r>
              <a:rPr lang="en-US" altLang="zh-CN" sz="2800" i="1">
                <a:solidFill>
                  <a:srgbClr val="FF0000"/>
                </a:solidFill>
              </a:rPr>
              <a:t>x</a:t>
            </a:r>
            <a:r>
              <a:rPr lang="en-US" altLang="zh-CN" sz="2800" baseline="-25000">
                <a:solidFill>
                  <a:srgbClr val="FF0000"/>
                </a:solidFill>
              </a:rPr>
              <a:t>1</a:t>
            </a:r>
            <a:r>
              <a:rPr lang="en-US" altLang="zh-CN" sz="2800">
                <a:solidFill>
                  <a:srgbClr val="FF0000"/>
                </a:solidFill>
              </a:rPr>
              <a:t>,</a:t>
            </a:r>
            <a:r>
              <a:rPr lang="en-US" altLang="zh-CN" sz="2800" i="1">
                <a:solidFill>
                  <a:srgbClr val="FF0000"/>
                </a:solidFill>
              </a:rPr>
              <a:t>x</a:t>
            </a:r>
            <a:r>
              <a:rPr lang="en-US" altLang="zh-CN" sz="2800" baseline="-25000">
                <a:solidFill>
                  <a:srgbClr val="FF0000"/>
                </a:solidFill>
              </a:rPr>
              <a:t>2</a:t>
            </a:r>
            <a:r>
              <a:rPr lang="en-US" altLang="zh-CN" sz="2800">
                <a:solidFill>
                  <a:srgbClr val="FF0000"/>
                </a:solidFill>
              </a:rPr>
              <a:t>), </a:t>
            </a:r>
            <a:r>
              <a:rPr lang="en-US" altLang="zh-CN" sz="2800">
                <a:solidFill>
                  <a:srgbClr val="FF0000"/>
                </a:solidFill>
                <a:latin typeface="Times New Roman" panose="02020603050405020304" pitchFamily="18" charset="0"/>
              </a:rPr>
              <a:t>…</a:t>
            </a:r>
            <a:r>
              <a:rPr lang="en-US" altLang="zh-CN" sz="2800">
                <a:solidFill>
                  <a:srgbClr val="FF0000"/>
                </a:solidFill>
              </a:rPr>
              <a:t>, (</a:t>
            </a:r>
            <a:r>
              <a:rPr lang="en-US" altLang="zh-CN" sz="2800" i="1">
                <a:solidFill>
                  <a:srgbClr val="FF0000"/>
                </a:solidFill>
              </a:rPr>
              <a:t>x</a:t>
            </a:r>
            <a:r>
              <a:rPr lang="en-US" altLang="zh-CN" sz="2800" i="1" baseline="-25000">
                <a:solidFill>
                  <a:srgbClr val="FF0000"/>
                </a:solidFill>
              </a:rPr>
              <a:t>n</a:t>
            </a:r>
            <a:r>
              <a:rPr lang="en-US" altLang="zh-CN" sz="2800" baseline="-25000">
                <a:solidFill>
                  <a:srgbClr val="FF0000"/>
                </a:solidFill>
                <a:cs typeface="Times New Roman" panose="02020603050405020304" pitchFamily="18" charset="0"/>
              </a:rPr>
              <a:t>−1</a:t>
            </a:r>
            <a:r>
              <a:rPr lang="en-US" altLang="zh-CN" sz="2800">
                <a:solidFill>
                  <a:srgbClr val="FF0000"/>
                </a:solidFill>
                <a:cs typeface="Times New Roman" panose="02020603050405020304" pitchFamily="18" charset="0"/>
              </a:rPr>
              <a:t>,</a:t>
            </a:r>
            <a:r>
              <a:rPr lang="en-US" altLang="zh-CN" sz="2800" i="1">
                <a:solidFill>
                  <a:srgbClr val="FF0000"/>
                </a:solidFill>
                <a:cs typeface="Times New Roman" panose="02020603050405020304" pitchFamily="18" charset="0"/>
              </a:rPr>
              <a:t>b</a:t>
            </a:r>
            <a:r>
              <a:rPr lang="en-US" altLang="zh-CN" sz="2800">
                <a:solidFill>
                  <a:srgbClr val="FF0000"/>
                </a:solidFill>
                <a:cs typeface="Times New Roman" panose="02020603050405020304" pitchFamily="18" charset="0"/>
              </a:rPr>
              <a:t>)</a:t>
            </a:r>
            <a:r>
              <a:rPr lang="en-US" altLang="zh-CN" sz="2800">
                <a:cs typeface="Times New Roman" panose="02020603050405020304" pitchFamily="18" charset="0"/>
              </a:rPr>
              <a:t> of </a:t>
            </a:r>
            <a:r>
              <a:rPr lang="en-US" altLang="zh-CN" sz="2800" i="1">
                <a:cs typeface="Times New Roman" panose="02020603050405020304" pitchFamily="18" charset="0"/>
              </a:rPr>
              <a:t>n</a:t>
            </a:r>
            <a:r>
              <a:rPr lang="en-US" altLang="zh-CN" sz="2800">
                <a:cs typeface="Times New Roman" panose="02020603050405020304" pitchFamily="18" charset="0"/>
              </a:rPr>
              <a:t> ordered pairs in </a:t>
            </a:r>
            <a:r>
              <a:rPr lang="en-US" altLang="zh-CN" sz="2800" i="1">
                <a:cs typeface="Times New Roman" panose="02020603050405020304" pitchFamily="18" charset="0"/>
              </a:rPr>
              <a:t>E</a:t>
            </a:r>
            <a:r>
              <a:rPr lang="en-US" altLang="zh-CN" sz="2800" i="1" baseline="-25000">
                <a:cs typeface="Times New Roman" panose="02020603050405020304" pitchFamily="18" charset="0"/>
              </a:rPr>
              <a:t>G</a:t>
            </a:r>
            <a:r>
              <a:rPr lang="en-US" altLang="zh-CN" sz="2800">
                <a:cs typeface="Times New Roman" panose="02020603050405020304" pitchFamily="18" charset="0"/>
              </a:rPr>
              <a:t> (or </a:t>
            </a:r>
            <a:r>
              <a:rPr lang="en-US" altLang="zh-CN" sz="2800" i="1">
                <a:cs typeface="Times New Roman" panose="02020603050405020304" pitchFamily="18" charset="0"/>
              </a:rPr>
              <a:t>R</a:t>
            </a:r>
            <a:r>
              <a:rPr lang="en-US" altLang="zh-CN" sz="2800">
                <a:cs typeface="Times New Roman" panose="02020603050405020304" pitchFamily="18" charset="0"/>
              </a:rPr>
              <a:t>).</a:t>
            </a:r>
          </a:p>
          <a:p>
            <a:pPr lvl="1" eaLnBrk="1" hangingPunct="1">
              <a:lnSpc>
                <a:spcPct val="150000"/>
              </a:lnSpc>
            </a:pPr>
            <a:r>
              <a:rPr lang="en-US" altLang="zh-CN" sz="2400">
                <a:cs typeface="Times New Roman" panose="02020603050405020304" pitchFamily="18" charset="0"/>
              </a:rPr>
              <a:t>An empty sequence of edges is considered a path of length 0 from </a:t>
            </a:r>
            <a:r>
              <a:rPr lang="en-US" altLang="zh-CN" sz="2400" i="1">
                <a:cs typeface="Times New Roman" panose="02020603050405020304" pitchFamily="18" charset="0"/>
              </a:rPr>
              <a:t>a</a:t>
            </a:r>
            <a:r>
              <a:rPr lang="en-US" altLang="zh-CN" sz="2400">
                <a:cs typeface="Times New Roman" panose="02020603050405020304" pitchFamily="18" charset="0"/>
              </a:rPr>
              <a:t> to </a:t>
            </a:r>
            <a:r>
              <a:rPr lang="en-US" altLang="zh-CN" sz="2400" i="1">
                <a:cs typeface="Times New Roman" panose="02020603050405020304" pitchFamily="18" charset="0"/>
              </a:rPr>
              <a:t>a</a:t>
            </a:r>
            <a:r>
              <a:rPr lang="en-US" altLang="zh-CN" sz="2400">
                <a:cs typeface="Times New Roman" panose="02020603050405020304" pitchFamily="18" charset="0"/>
              </a:rPr>
              <a:t>.</a:t>
            </a:r>
          </a:p>
          <a:p>
            <a:pPr lvl="1" eaLnBrk="1" hangingPunct="1">
              <a:lnSpc>
                <a:spcPct val="150000"/>
              </a:lnSpc>
            </a:pPr>
            <a:r>
              <a:rPr lang="en-US" altLang="zh-CN" sz="2400">
                <a:cs typeface="Times New Roman" panose="02020603050405020304" pitchFamily="18" charset="0"/>
              </a:rPr>
              <a:t>If any path from </a:t>
            </a:r>
            <a:r>
              <a:rPr lang="en-US" altLang="zh-CN" sz="2400" i="1">
                <a:cs typeface="Times New Roman" panose="02020603050405020304" pitchFamily="18" charset="0"/>
              </a:rPr>
              <a:t>a</a:t>
            </a:r>
            <a:r>
              <a:rPr lang="en-US" altLang="zh-CN" sz="2400">
                <a:cs typeface="Times New Roman" panose="02020603050405020304" pitchFamily="18" charset="0"/>
              </a:rPr>
              <a:t> to </a:t>
            </a:r>
            <a:r>
              <a:rPr lang="en-US" altLang="zh-CN" sz="2400" i="1">
                <a:cs typeface="Times New Roman" panose="02020603050405020304" pitchFamily="18" charset="0"/>
              </a:rPr>
              <a:t>b</a:t>
            </a:r>
            <a:r>
              <a:rPr lang="en-US" altLang="zh-CN" sz="2400">
                <a:cs typeface="Times New Roman" panose="02020603050405020304" pitchFamily="18" charset="0"/>
              </a:rPr>
              <a:t> exists, then we say that </a:t>
            </a:r>
            <a:r>
              <a:rPr lang="en-US" altLang="zh-CN" sz="2400" i="1">
                <a:cs typeface="Times New Roman" panose="02020603050405020304" pitchFamily="18" charset="0"/>
              </a:rPr>
              <a:t>a</a:t>
            </a:r>
            <a:r>
              <a:rPr lang="en-US" altLang="zh-CN" sz="2400">
                <a:cs typeface="Times New Roman" panose="02020603050405020304" pitchFamily="18" charset="0"/>
              </a:rPr>
              <a:t> is </a:t>
            </a:r>
            <a:r>
              <a:rPr lang="en-US" altLang="zh-CN" sz="2400" i="1">
                <a:cs typeface="Times New Roman" panose="02020603050405020304" pitchFamily="18" charset="0"/>
              </a:rPr>
              <a:t>connected to</a:t>
            </a:r>
            <a:r>
              <a:rPr lang="en-US" altLang="zh-CN" sz="2400">
                <a:cs typeface="Times New Roman" panose="02020603050405020304" pitchFamily="18" charset="0"/>
              </a:rPr>
              <a:t> </a:t>
            </a:r>
            <a:r>
              <a:rPr lang="en-US" altLang="zh-CN" sz="2400" i="1">
                <a:cs typeface="Times New Roman" panose="02020603050405020304" pitchFamily="18" charset="0"/>
              </a:rPr>
              <a:t>b</a:t>
            </a:r>
            <a:r>
              <a:rPr lang="en-US" altLang="zh-CN" sz="2400">
                <a:cs typeface="Times New Roman" panose="02020603050405020304" pitchFamily="18" charset="0"/>
              </a:rPr>
              <a:t>.  (</a:t>
            </a:r>
            <a:r>
              <a:rPr lang="en-US" altLang="zh-CN" sz="2400">
                <a:latin typeface="Times New Roman" panose="02020603050405020304" pitchFamily="18" charset="0"/>
                <a:cs typeface="Times New Roman" panose="02020603050405020304" pitchFamily="18" charset="0"/>
              </a:rPr>
              <a:t>“</a:t>
            </a:r>
            <a:r>
              <a:rPr lang="en-US" altLang="zh-CN" sz="2400">
                <a:cs typeface="Times New Roman" panose="02020603050405020304" pitchFamily="18" charset="0"/>
              </a:rPr>
              <a:t>You can get there from here</a:t>
            </a:r>
            <a:r>
              <a:rPr lang="en-US" altLang="zh-CN" sz="2400" i="1">
                <a:cs typeface="Times New Roman" panose="02020603050405020304" pitchFamily="18" charset="0"/>
              </a:rPr>
              <a:t>.</a:t>
            </a:r>
            <a:r>
              <a:rPr lang="en-US" altLang="zh-CN" sz="2400" i="1">
                <a:latin typeface="Times New Roman" panose="02020603050405020304" pitchFamily="18" charset="0"/>
                <a:cs typeface="Times New Roman" panose="02020603050405020304" pitchFamily="18" charset="0"/>
              </a:rPr>
              <a:t>”</a:t>
            </a:r>
            <a:r>
              <a:rPr lang="en-US" altLang="zh-CN" sz="2400" i="1">
                <a:cs typeface="Times New Roman" panose="02020603050405020304" pitchFamily="18" charset="0"/>
              </a:rPr>
              <a:t>)</a:t>
            </a:r>
          </a:p>
        </p:txBody>
      </p:sp>
    </p:spTree>
    <p:extLst>
      <p:ext uri="{BB962C8B-B14F-4D97-AF65-F5344CB8AC3E}">
        <p14:creationId xmlns:p14="http://schemas.microsoft.com/office/powerpoint/2010/main" val="33510111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09107" y="0"/>
            <a:ext cx="11056470" cy="830997"/>
          </a:xfrm>
          <a:prstGeom prst="rect">
            <a:avLst/>
          </a:prstGeom>
          <a:noFill/>
        </p:spPr>
        <p:txBody>
          <a:bodyPr wrap="square" rtlCol="0">
            <a:spAutoFit/>
          </a:bodyPr>
          <a:lstStyle/>
          <a:p>
            <a:pPr>
              <a:lnSpc>
                <a:spcPct val="150000"/>
              </a:lnSpc>
            </a:pPr>
            <a:r>
              <a:rPr lang="en-US" altLang="zh-CN" sz="3200" dirty="0"/>
              <a:t>9.4.3  Paths</a:t>
            </a:r>
            <a:r>
              <a:rPr lang="en-US" altLang="zh-CN" sz="2000" dirty="0"/>
              <a:t> </a:t>
            </a:r>
            <a:r>
              <a:rPr lang="en-US" altLang="zh-CN" sz="3200" dirty="0"/>
              <a:t>in Digraphs/Binary Relations</a:t>
            </a:r>
          </a:p>
        </p:txBody>
      </p:sp>
      <p:sp>
        <p:nvSpPr>
          <p:cNvPr id="4" name="Rectangle 3">
            <a:extLst>
              <a:ext uri="{FF2B5EF4-FFF2-40B4-BE49-F238E27FC236}">
                <a16:creationId xmlns:a16="http://schemas.microsoft.com/office/drawing/2014/main" id="{1735849B-72CD-45EA-9513-85E3C008A716}"/>
              </a:ext>
            </a:extLst>
          </p:cNvPr>
          <p:cNvSpPr txBox="1">
            <a:spLocks noChangeArrowheads="1"/>
          </p:cNvSpPr>
          <p:nvPr/>
        </p:nvSpPr>
        <p:spPr bwMode="auto">
          <a:xfrm>
            <a:off x="210046" y="1405716"/>
            <a:ext cx="1105553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eaLnBrk="1" hangingPunct="1">
              <a:lnSpc>
                <a:spcPct val="150000"/>
              </a:lnSpc>
            </a:pPr>
            <a:r>
              <a:rPr lang="en-US" altLang="zh-CN" sz="2800" dirty="0"/>
              <a:t>A path of length </a:t>
            </a:r>
            <a:r>
              <a:rPr lang="en-US" altLang="zh-CN" sz="2800" i="1" dirty="0">
                <a:solidFill>
                  <a:srgbClr val="FF0000"/>
                </a:solidFill>
              </a:rPr>
              <a:t>n</a:t>
            </a:r>
            <a:r>
              <a:rPr lang="en-US" altLang="zh-CN" sz="2800" dirty="0">
                <a:solidFill>
                  <a:srgbClr val="FF0000"/>
                </a:solidFill>
              </a:rPr>
              <a:t>≥1</a:t>
            </a:r>
            <a:r>
              <a:rPr lang="en-US" altLang="zh-CN" sz="2800" dirty="0"/>
              <a:t> from </a:t>
            </a:r>
            <a:r>
              <a:rPr lang="en-US" altLang="zh-CN" sz="2800" i="1" dirty="0"/>
              <a:t>a</a:t>
            </a:r>
            <a:r>
              <a:rPr lang="en-US" altLang="zh-CN" sz="2800" dirty="0"/>
              <a:t> to itself is called a </a:t>
            </a:r>
            <a:r>
              <a:rPr lang="en-US" altLang="zh-CN" sz="2800" i="1" dirty="0"/>
              <a:t>circuit</a:t>
            </a:r>
            <a:r>
              <a:rPr lang="en-US" altLang="zh-CN" sz="2800" dirty="0"/>
              <a:t> or a cycle.</a:t>
            </a:r>
          </a:p>
          <a:p>
            <a:pPr eaLnBrk="1" hangingPunct="1">
              <a:lnSpc>
                <a:spcPct val="150000"/>
              </a:lnSpc>
            </a:pPr>
            <a:r>
              <a:rPr lang="en-US" altLang="zh-CN" sz="2800" dirty="0"/>
              <a:t>Note that there exists a path of length </a:t>
            </a:r>
            <a:r>
              <a:rPr lang="en-US" altLang="zh-CN" sz="2800" i="1" dirty="0"/>
              <a:t>n</a:t>
            </a:r>
            <a:r>
              <a:rPr lang="en-US" altLang="zh-CN" sz="2800" dirty="0"/>
              <a:t> from </a:t>
            </a:r>
            <a:r>
              <a:rPr lang="en-US" altLang="zh-CN" sz="2800" i="1" dirty="0"/>
              <a:t>a</a:t>
            </a:r>
            <a:r>
              <a:rPr lang="en-US" altLang="zh-CN" sz="2800" dirty="0"/>
              <a:t> to </a:t>
            </a:r>
            <a:r>
              <a:rPr lang="en-US" altLang="zh-CN" sz="2800" i="1" dirty="0"/>
              <a:t>b</a:t>
            </a:r>
            <a:r>
              <a:rPr lang="en-US" altLang="zh-CN" sz="2800" dirty="0"/>
              <a:t> in </a:t>
            </a:r>
            <a:r>
              <a:rPr lang="en-US" altLang="zh-CN" sz="2800" i="1" dirty="0"/>
              <a:t>R</a:t>
            </a:r>
            <a:r>
              <a:rPr lang="en-US" altLang="zh-CN" sz="2800" dirty="0"/>
              <a:t> if and only if </a:t>
            </a:r>
            <a:r>
              <a:rPr lang="en-US" altLang="zh-CN" sz="2800" dirty="0">
                <a:solidFill>
                  <a:srgbClr val="FF0000"/>
                </a:solidFill>
              </a:rPr>
              <a:t>(</a:t>
            </a:r>
            <a:r>
              <a:rPr lang="en-US" altLang="zh-CN" sz="2800" i="1" dirty="0" err="1">
                <a:solidFill>
                  <a:srgbClr val="FF0000"/>
                </a:solidFill>
              </a:rPr>
              <a:t>a</a:t>
            </a:r>
            <a:r>
              <a:rPr lang="en-US" altLang="zh-CN" sz="2800" dirty="0" err="1">
                <a:solidFill>
                  <a:srgbClr val="FF0000"/>
                </a:solidFill>
              </a:rPr>
              <a:t>,</a:t>
            </a:r>
            <a:r>
              <a:rPr lang="en-US" altLang="zh-CN" sz="2800" i="1" dirty="0" err="1">
                <a:solidFill>
                  <a:srgbClr val="FF0000"/>
                </a:solidFill>
              </a:rPr>
              <a:t>b</a:t>
            </a:r>
            <a:r>
              <a:rPr lang="en-US" altLang="zh-CN" sz="2800" dirty="0">
                <a:solidFill>
                  <a:srgbClr val="FF0000"/>
                </a:solidFill>
              </a:rPr>
              <a:t>)</a:t>
            </a:r>
            <a:r>
              <a:rPr lang="en-US" altLang="zh-CN" sz="2800" dirty="0">
                <a:solidFill>
                  <a:srgbClr val="FF0000"/>
                </a:solidFill>
                <a:sym typeface="Symbol" panose="05050102010706020507" pitchFamily="18" charset="2"/>
              </a:rPr>
              <a:t></a:t>
            </a:r>
            <a:r>
              <a:rPr lang="en-US" altLang="zh-CN" sz="2800" i="1" dirty="0">
                <a:solidFill>
                  <a:srgbClr val="FF0000"/>
                </a:solidFill>
                <a:sym typeface="Symbol" panose="05050102010706020507" pitchFamily="18" charset="2"/>
              </a:rPr>
              <a:t>R</a:t>
            </a:r>
            <a:r>
              <a:rPr lang="en-US" altLang="zh-CN" sz="2800" i="1" baseline="30000" dirty="0">
                <a:solidFill>
                  <a:srgbClr val="FF0000"/>
                </a:solidFill>
                <a:sym typeface="Symbol" panose="05050102010706020507" pitchFamily="18" charset="2"/>
              </a:rPr>
              <a:t>n</a:t>
            </a:r>
            <a:r>
              <a:rPr lang="en-US" altLang="zh-CN" sz="2800" dirty="0">
                <a:sym typeface="Symbol" panose="05050102010706020507" pitchFamily="18" charset="2"/>
              </a:rPr>
              <a:t>.</a:t>
            </a:r>
          </a:p>
        </p:txBody>
      </p:sp>
    </p:spTree>
    <p:extLst>
      <p:ext uri="{BB962C8B-B14F-4D97-AF65-F5344CB8AC3E}">
        <p14:creationId xmlns:p14="http://schemas.microsoft.com/office/powerpoint/2010/main" val="12043767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09107" y="0"/>
            <a:ext cx="11056470" cy="830997"/>
          </a:xfrm>
          <a:prstGeom prst="rect">
            <a:avLst/>
          </a:prstGeom>
          <a:noFill/>
        </p:spPr>
        <p:txBody>
          <a:bodyPr wrap="square" rtlCol="0">
            <a:spAutoFit/>
          </a:bodyPr>
          <a:lstStyle/>
          <a:p>
            <a:pPr>
              <a:lnSpc>
                <a:spcPct val="150000"/>
              </a:lnSpc>
            </a:pPr>
            <a:r>
              <a:rPr lang="en-US" altLang="zh-CN" sz="3200" dirty="0"/>
              <a:t>9.4.4 Transitive Closures</a:t>
            </a:r>
            <a:r>
              <a:rPr lang="en-US" altLang="zh-CN" sz="2000" dirty="0"/>
              <a:t> — </a:t>
            </a:r>
            <a:r>
              <a:rPr lang="en-US" altLang="zh-CN" sz="3200" dirty="0"/>
              <a:t>Theorem 1</a:t>
            </a:r>
          </a:p>
        </p:txBody>
      </p:sp>
      <p:sp>
        <p:nvSpPr>
          <p:cNvPr id="4" name="Rectangle 3">
            <a:extLst>
              <a:ext uri="{FF2B5EF4-FFF2-40B4-BE49-F238E27FC236}">
                <a16:creationId xmlns:a16="http://schemas.microsoft.com/office/drawing/2014/main" id="{1735849B-72CD-45EA-9513-85E3C008A716}"/>
              </a:ext>
            </a:extLst>
          </p:cNvPr>
          <p:cNvSpPr txBox="1">
            <a:spLocks noChangeArrowheads="1"/>
          </p:cNvSpPr>
          <p:nvPr/>
        </p:nvSpPr>
        <p:spPr bwMode="auto">
          <a:xfrm>
            <a:off x="568234" y="969840"/>
            <a:ext cx="1105553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eaLnBrk="1" hangingPunct="1">
              <a:lnSpc>
                <a:spcPct val="150000"/>
              </a:lnSpc>
            </a:pPr>
            <a:r>
              <a:rPr lang="en-US" altLang="zh-CN" sz="2800" dirty="0"/>
              <a:t>Let </a:t>
            </a:r>
            <a:r>
              <a:rPr lang="en-US" altLang="zh-CN" sz="2800" i="1" dirty="0"/>
              <a:t>R</a:t>
            </a:r>
            <a:r>
              <a:rPr lang="en-US" altLang="zh-CN" sz="2800" dirty="0"/>
              <a:t> be a relation on a set </a:t>
            </a:r>
            <a:r>
              <a:rPr lang="en-US" altLang="zh-CN" sz="2800" i="1" dirty="0"/>
              <a:t>A</a:t>
            </a:r>
            <a:r>
              <a:rPr lang="en-US" altLang="zh-CN" sz="2800" dirty="0"/>
              <a:t>. then </a:t>
            </a:r>
            <a:r>
              <a:rPr lang="en-US" altLang="zh-CN" sz="2800" i="1" dirty="0"/>
              <a:t>R</a:t>
            </a:r>
            <a:r>
              <a:rPr lang="en-US" altLang="zh-CN" sz="2800" baseline="30000" dirty="0">
                <a:sym typeface="Symbol" panose="05050102010706020507" pitchFamily="18" charset="2"/>
              </a:rPr>
              <a:t></a:t>
            </a:r>
            <a:r>
              <a:rPr lang="en-US" altLang="zh-CN" sz="2800" dirty="0"/>
              <a:t> is the transitive closure of </a:t>
            </a:r>
            <a:r>
              <a:rPr lang="en-US" altLang="zh-CN" sz="2800" i="1" dirty="0"/>
              <a:t>R</a:t>
            </a:r>
            <a:r>
              <a:rPr lang="en-US" altLang="zh-CN" sz="2800" dirty="0"/>
              <a:t>.</a:t>
            </a:r>
          </a:p>
          <a:p>
            <a:pPr marL="0" indent="0" eaLnBrk="1" hangingPunct="1">
              <a:lnSpc>
                <a:spcPct val="150000"/>
              </a:lnSpc>
              <a:buNone/>
            </a:pPr>
            <a:endParaRPr lang="en-US" altLang="zh-CN" dirty="0"/>
          </a:p>
          <a:p>
            <a:pPr eaLnBrk="1" hangingPunct="1">
              <a:lnSpc>
                <a:spcPct val="150000"/>
              </a:lnSpc>
            </a:pPr>
            <a:r>
              <a:rPr lang="en-US" altLang="zh-CN" sz="2800" dirty="0"/>
              <a:t>Proof: we must show that </a:t>
            </a:r>
            <a:r>
              <a:rPr lang="en-US" altLang="zh-CN" sz="2800" i="1" dirty="0"/>
              <a:t>R</a:t>
            </a:r>
            <a:r>
              <a:rPr lang="en-US" altLang="zh-CN" sz="2800" baseline="30000" dirty="0">
                <a:sym typeface="Symbol" panose="05050102010706020507" pitchFamily="18" charset="2"/>
              </a:rPr>
              <a:t></a:t>
            </a:r>
            <a:endParaRPr lang="en-US" altLang="zh-CN" sz="2800" i="1" baseline="30000" dirty="0"/>
          </a:p>
          <a:p>
            <a:pPr marL="457200" lvl="1" indent="0" eaLnBrk="1" hangingPunct="1">
              <a:lnSpc>
                <a:spcPct val="150000"/>
              </a:lnSpc>
              <a:buNone/>
            </a:pPr>
            <a:r>
              <a:rPr lang="en-US" altLang="zh-CN" dirty="0"/>
              <a:t>1) is a transitive relation</a:t>
            </a:r>
          </a:p>
          <a:p>
            <a:pPr marL="457200" lvl="1" indent="0" eaLnBrk="1" hangingPunct="1">
              <a:lnSpc>
                <a:spcPct val="150000"/>
              </a:lnSpc>
              <a:buNone/>
            </a:pPr>
            <a:r>
              <a:rPr lang="en-US" altLang="zh-CN" dirty="0"/>
              <a:t>2) contains </a:t>
            </a:r>
            <a:r>
              <a:rPr lang="en-US" altLang="zh-CN" i="1" dirty="0"/>
              <a:t>R</a:t>
            </a:r>
          </a:p>
          <a:p>
            <a:pPr marL="457200" lvl="1" indent="0" eaLnBrk="1" hangingPunct="1">
              <a:lnSpc>
                <a:spcPct val="150000"/>
              </a:lnSpc>
              <a:buNone/>
            </a:pPr>
            <a:r>
              <a:rPr lang="en-US" altLang="zh-CN" dirty="0"/>
              <a:t>3) is the smallest transitive relation which contains </a:t>
            </a:r>
            <a:r>
              <a:rPr lang="en-US" altLang="zh-CN" i="1" dirty="0"/>
              <a:t>R</a:t>
            </a:r>
          </a:p>
        </p:txBody>
      </p:sp>
      <p:graphicFrame>
        <p:nvGraphicFramePr>
          <p:cNvPr id="5" name="Object 4">
            <a:extLst>
              <a:ext uri="{FF2B5EF4-FFF2-40B4-BE49-F238E27FC236}">
                <a16:creationId xmlns:a16="http://schemas.microsoft.com/office/drawing/2014/main" id="{06BBE188-BFD5-4DD7-B7A4-FDDA9CC48D1F}"/>
              </a:ext>
            </a:extLst>
          </p:cNvPr>
          <p:cNvGraphicFramePr>
            <a:graphicFrameLocks noChangeAspect="1"/>
          </p:cNvGraphicFramePr>
          <p:nvPr>
            <p:extLst>
              <p:ext uri="{D42A27DB-BD31-4B8C-83A1-F6EECF244321}">
                <p14:modId xmlns:p14="http://schemas.microsoft.com/office/powerpoint/2010/main" val="2355974745"/>
              </p:ext>
            </p:extLst>
          </p:nvPr>
        </p:nvGraphicFramePr>
        <p:xfrm>
          <a:off x="3971924" y="2011268"/>
          <a:ext cx="4248150" cy="796925"/>
        </p:xfrm>
        <a:graphic>
          <a:graphicData uri="http://schemas.openxmlformats.org/presentationml/2006/ole">
            <mc:AlternateContent xmlns:mc="http://schemas.openxmlformats.org/markup-compatibility/2006">
              <mc:Choice xmlns:v="urn:schemas-microsoft-com:vml" Requires="v">
                <p:oleObj r:id="rId3" imgW="2299698" imgH="431987" progId="Equation.DSMT4">
                  <p:embed/>
                </p:oleObj>
              </mc:Choice>
              <mc:Fallback>
                <p:oleObj r:id="rId3" imgW="2299698" imgH="431987" progId="Equation.DSMT4">
                  <p:embed/>
                  <p:pic>
                    <p:nvPicPr>
                      <p:cNvPr id="84996" name="Object 4">
                        <a:extLst>
                          <a:ext uri="{FF2B5EF4-FFF2-40B4-BE49-F238E27FC236}">
                            <a16:creationId xmlns:a16="http://schemas.microsoft.com/office/drawing/2014/main" id="{9EB38B20-529C-468A-AD73-1A1B6C2C71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71924" y="2011268"/>
                        <a:ext cx="4248150" cy="796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0124027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09107" y="0"/>
            <a:ext cx="11056470" cy="830997"/>
          </a:xfrm>
          <a:prstGeom prst="rect">
            <a:avLst/>
          </a:prstGeom>
          <a:noFill/>
        </p:spPr>
        <p:txBody>
          <a:bodyPr wrap="square" rtlCol="0">
            <a:spAutoFit/>
          </a:bodyPr>
          <a:lstStyle/>
          <a:p>
            <a:pPr>
              <a:lnSpc>
                <a:spcPct val="150000"/>
              </a:lnSpc>
            </a:pPr>
            <a:r>
              <a:rPr lang="en-US" altLang="zh-CN" sz="3200" dirty="0"/>
              <a:t>9.4.4 Transitive Closures</a:t>
            </a:r>
            <a:r>
              <a:rPr lang="en-US" altLang="zh-CN" sz="2000" dirty="0"/>
              <a:t> —  </a:t>
            </a:r>
            <a:r>
              <a:rPr lang="en-US" altLang="zh-CN" sz="3200" dirty="0"/>
              <a:t>Proof of Part 1)</a:t>
            </a:r>
          </a:p>
        </p:txBody>
      </p:sp>
      <p:sp>
        <p:nvSpPr>
          <p:cNvPr id="4" name="Rectangle 3">
            <a:extLst>
              <a:ext uri="{FF2B5EF4-FFF2-40B4-BE49-F238E27FC236}">
                <a16:creationId xmlns:a16="http://schemas.microsoft.com/office/drawing/2014/main" id="{1735849B-72CD-45EA-9513-85E3C008A716}"/>
              </a:ext>
            </a:extLst>
          </p:cNvPr>
          <p:cNvSpPr txBox="1">
            <a:spLocks noChangeArrowheads="1"/>
          </p:cNvSpPr>
          <p:nvPr/>
        </p:nvSpPr>
        <p:spPr bwMode="auto">
          <a:xfrm>
            <a:off x="568234" y="1166018"/>
            <a:ext cx="1105553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eaLnBrk="1" hangingPunct="1">
              <a:lnSpc>
                <a:spcPct val="150000"/>
              </a:lnSpc>
            </a:pPr>
            <a:r>
              <a:rPr lang="en-US" altLang="zh-CN"/>
              <a:t>Suppose (</a:t>
            </a:r>
            <a:r>
              <a:rPr lang="en-US" altLang="zh-CN" i="1"/>
              <a:t>x, y</a:t>
            </a:r>
            <a:r>
              <a:rPr lang="en-US" altLang="zh-CN"/>
              <a:t>)</a:t>
            </a:r>
            <a:r>
              <a:rPr lang="en-US" altLang="zh-CN" i="1"/>
              <a:t> </a:t>
            </a:r>
            <a:r>
              <a:rPr lang="en-US" altLang="zh-CN"/>
              <a:t>and (</a:t>
            </a:r>
            <a:r>
              <a:rPr lang="en-US" altLang="zh-CN" i="1"/>
              <a:t>y, z</a:t>
            </a:r>
            <a:r>
              <a:rPr lang="en-US" altLang="zh-CN"/>
              <a:t>)</a:t>
            </a:r>
            <a:r>
              <a:rPr lang="en-US" altLang="zh-CN" i="1"/>
              <a:t> </a:t>
            </a:r>
            <a:r>
              <a:rPr lang="en-US" altLang="zh-CN"/>
              <a:t>are in </a:t>
            </a:r>
            <a:r>
              <a:rPr lang="en-US" altLang="zh-CN" i="1"/>
              <a:t>R</a:t>
            </a:r>
            <a:r>
              <a:rPr lang="en-US" altLang="zh-CN" baseline="30000">
                <a:sym typeface="Symbol" panose="05050102010706020507" pitchFamily="18" charset="2"/>
              </a:rPr>
              <a:t></a:t>
            </a:r>
            <a:r>
              <a:rPr lang="en-US" altLang="zh-CN" i="1"/>
              <a:t>. </a:t>
            </a:r>
            <a:r>
              <a:rPr lang="en-US" altLang="zh-CN"/>
              <a:t>Show (</a:t>
            </a:r>
            <a:r>
              <a:rPr lang="en-US" altLang="zh-CN" i="1"/>
              <a:t>x, z</a:t>
            </a:r>
            <a:r>
              <a:rPr lang="en-US" altLang="zh-CN"/>
              <a:t>)</a:t>
            </a:r>
            <a:r>
              <a:rPr lang="en-US" altLang="zh-CN" i="1"/>
              <a:t> </a:t>
            </a:r>
            <a:r>
              <a:rPr lang="en-US" altLang="zh-CN"/>
              <a:t>is in </a:t>
            </a:r>
            <a:r>
              <a:rPr lang="en-US" altLang="zh-CN" i="1"/>
              <a:t>R</a:t>
            </a:r>
            <a:r>
              <a:rPr lang="en-US" altLang="zh-CN" baseline="30000">
                <a:sym typeface="Symbol" panose="05050102010706020507" pitchFamily="18" charset="2"/>
              </a:rPr>
              <a:t></a:t>
            </a:r>
            <a:r>
              <a:rPr lang="en-US" altLang="zh-CN" i="1"/>
              <a:t>.</a:t>
            </a:r>
          </a:p>
          <a:p>
            <a:pPr lvl="1" eaLnBrk="1" hangingPunct="1">
              <a:lnSpc>
                <a:spcPct val="150000"/>
              </a:lnSpc>
            </a:pPr>
            <a:r>
              <a:rPr lang="en-US" altLang="zh-CN"/>
              <a:t>By definition of </a:t>
            </a:r>
            <a:r>
              <a:rPr lang="en-US" altLang="zh-CN" i="1"/>
              <a:t>R</a:t>
            </a:r>
            <a:r>
              <a:rPr lang="en-US" altLang="zh-CN" baseline="30000">
                <a:sym typeface="Symbol" panose="05050102010706020507" pitchFamily="18" charset="2"/>
              </a:rPr>
              <a:t></a:t>
            </a:r>
            <a:r>
              <a:rPr lang="en-US" altLang="zh-CN" i="1"/>
              <a:t>, </a:t>
            </a:r>
            <a:r>
              <a:rPr lang="en-US" altLang="zh-CN"/>
              <a:t>(</a:t>
            </a:r>
            <a:r>
              <a:rPr lang="en-US" altLang="zh-CN" i="1"/>
              <a:t>x, y</a:t>
            </a:r>
            <a:r>
              <a:rPr lang="en-US" altLang="zh-CN"/>
              <a:t>)</a:t>
            </a:r>
            <a:r>
              <a:rPr lang="en-US" altLang="zh-CN" i="1"/>
              <a:t> </a:t>
            </a:r>
            <a:r>
              <a:rPr lang="en-US" altLang="zh-CN"/>
              <a:t>is in </a:t>
            </a:r>
            <a:r>
              <a:rPr lang="en-US" altLang="zh-CN" i="1"/>
              <a:t>R</a:t>
            </a:r>
            <a:r>
              <a:rPr lang="en-US" altLang="zh-CN" i="1" baseline="30000"/>
              <a:t>m</a:t>
            </a:r>
            <a:r>
              <a:rPr lang="en-US" altLang="zh-CN" i="1"/>
              <a:t> </a:t>
            </a:r>
            <a:r>
              <a:rPr lang="en-US" altLang="zh-CN"/>
              <a:t>for some </a:t>
            </a:r>
            <a:r>
              <a:rPr lang="en-US" altLang="zh-CN" i="1"/>
              <a:t>m </a:t>
            </a:r>
            <a:r>
              <a:rPr lang="en-US" altLang="zh-CN"/>
              <a:t>and (</a:t>
            </a:r>
            <a:r>
              <a:rPr lang="en-US" altLang="zh-CN" i="1"/>
              <a:t>y, z</a:t>
            </a:r>
            <a:r>
              <a:rPr lang="en-US" altLang="zh-CN"/>
              <a:t>)</a:t>
            </a:r>
            <a:r>
              <a:rPr lang="en-US" altLang="zh-CN" i="1"/>
              <a:t> </a:t>
            </a:r>
            <a:r>
              <a:rPr lang="en-US" altLang="zh-CN"/>
              <a:t>is in </a:t>
            </a:r>
            <a:r>
              <a:rPr lang="en-US" altLang="zh-CN" i="1"/>
              <a:t>R</a:t>
            </a:r>
            <a:r>
              <a:rPr lang="en-US" altLang="zh-CN" i="1" baseline="30000"/>
              <a:t>n</a:t>
            </a:r>
            <a:r>
              <a:rPr lang="en-US" altLang="zh-CN" i="1"/>
              <a:t> </a:t>
            </a:r>
            <a:r>
              <a:rPr lang="en-US" altLang="zh-CN"/>
              <a:t>for some </a:t>
            </a:r>
            <a:r>
              <a:rPr lang="en-US" altLang="zh-CN" i="1"/>
              <a:t>n</a:t>
            </a:r>
            <a:r>
              <a:rPr lang="en-US" altLang="zh-CN"/>
              <a:t>.</a:t>
            </a:r>
          </a:p>
          <a:p>
            <a:pPr lvl="1" eaLnBrk="1" hangingPunct="1">
              <a:lnSpc>
                <a:spcPct val="150000"/>
              </a:lnSpc>
            </a:pPr>
            <a:r>
              <a:rPr lang="en-US" altLang="zh-CN"/>
              <a:t>Then (</a:t>
            </a:r>
            <a:r>
              <a:rPr lang="en-US" altLang="zh-CN" i="1"/>
              <a:t>x, z</a:t>
            </a:r>
            <a:r>
              <a:rPr lang="en-US" altLang="zh-CN"/>
              <a:t>)</a:t>
            </a:r>
            <a:r>
              <a:rPr lang="en-US" altLang="zh-CN" i="1"/>
              <a:t> </a:t>
            </a:r>
            <a:r>
              <a:rPr lang="en-US" altLang="zh-CN"/>
              <a:t>is in </a:t>
            </a:r>
            <a:r>
              <a:rPr lang="en-US" altLang="zh-CN" i="1"/>
              <a:t>R</a:t>
            </a:r>
            <a:r>
              <a:rPr lang="en-US" altLang="zh-CN" i="1" baseline="30000"/>
              <a:t>n</a:t>
            </a:r>
            <a:r>
              <a:rPr lang="en-US" altLang="zh-CN">
                <a:latin typeface="Euclid" pitchFamily="18" charset="0"/>
                <a:sym typeface="Euclid Extra" pitchFamily="18" charset="2"/>
              </a:rPr>
              <a:t></a:t>
            </a:r>
            <a:r>
              <a:rPr lang="en-US" altLang="zh-CN" i="1"/>
              <a:t>R</a:t>
            </a:r>
            <a:r>
              <a:rPr lang="en-US" altLang="zh-CN" i="1" baseline="30000"/>
              <a:t>m</a:t>
            </a:r>
            <a:r>
              <a:rPr lang="en-US" altLang="zh-CN" i="1"/>
              <a:t> = R</a:t>
            </a:r>
            <a:r>
              <a:rPr lang="en-US" altLang="zh-CN" i="1" baseline="30000"/>
              <a:t>m+n</a:t>
            </a:r>
            <a:r>
              <a:rPr lang="en-US" altLang="zh-CN" i="1"/>
              <a:t> </a:t>
            </a:r>
            <a:r>
              <a:rPr lang="en-US" altLang="zh-CN"/>
              <a:t>which is contained in </a:t>
            </a:r>
            <a:r>
              <a:rPr lang="en-US" altLang="zh-CN" i="1"/>
              <a:t>R</a:t>
            </a:r>
            <a:r>
              <a:rPr lang="en-US" altLang="zh-CN" baseline="30000">
                <a:sym typeface="Symbol" panose="05050102010706020507" pitchFamily="18" charset="2"/>
              </a:rPr>
              <a:t></a:t>
            </a:r>
            <a:r>
              <a:rPr lang="en-US" altLang="zh-CN" i="1"/>
              <a:t>.</a:t>
            </a:r>
          </a:p>
          <a:p>
            <a:pPr lvl="1" eaLnBrk="1" hangingPunct="1">
              <a:lnSpc>
                <a:spcPct val="150000"/>
              </a:lnSpc>
            </a:pPr>
            <a:r>
              <a:rPr lang="en-US" altLang="zh-CN"/>
              <a:t>Hence, </a:t>
            </a:r>
            <a:r>
              <a:rPr lang="en-US" altLang="zh-CN" i="1"/>
              <a:t>R</a:t>
            </a:r>
            <a:r>
              <a:rPr lang="en-US" altLang="zh-CN" baseline="30000">
                <a:sym typeface="Symbol" panose="05050102010706020507" pitchFamily="18" charset="2"/>
              </a:rPr>
              <a:t></a:t>
            </a:r>
            <a:r>
              <a:rPr lang="en-US" altLang="zh-CN" i="1"/>
              <a:t> </a:t>
            </a:r>
            <a:r>
              <a:rPr lang="en-US" altLang="zh-CN"/>
              <a:t>must be transitive.</a:t>
            </a:r>
          </a:p>
        </p:txBody>
      </p:sp>
    </p:spTree>
    <p:extLst>
      <p:ext uri="{BB962C8B-B14F-4D97-AF65-F5344CB8AC3E}">
        <p14:creationId xmlns:p14="http://schemas.microsoft.com/office/powerpoint/2010/main" val="10628894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09107" y="0"/>
            <a:ext cx="11056470" cy="830997"/>
          </a:xfrm>
          <a:prstGeom prst="rect">
            <a:avLst/>
          </a:prstGeom>
          <a:noFill/>
        </p:spPr>
        <p:txBody>
          <a:bodyPr wrap="square" rtlCol="0">
            <a:spAutoFit/>
          </a:bodyPr>
          <a:lstStyle/>
          <a:p>
            <a:pPr>
              <a:lnSpc>
                <a:spcPct val="150000"/>
              </a:lnSpc>
            </a:pPr>
            <a:r>
              <a:rPr lang="en-US" altLang="zh-CN" sz="3200" dirty="0"/>
              <a:t>9.4.4 Transitive Closures</a:t>
            </a:r>
            <a:r>
              <a:rPr lang="en-US" altLang="zh-CN" sz="2000" dirty="0"/>
              <a:t> —  </a:t>
            </a:r>
            <a:r>
              <a:rPr lang="en-US" altLang="zh-CN" sz="3200" dirty="0"/>
              <a:t>Proof of Part 2)</a:t>
            </a:r>
          </a:p>
        </p:txBody>
      </p:sp>
      <p:sp>
        <p:nvSpPr>
          <p:cNvPr id="4" name="Rectangle 3">
            <a:extLst>
              <a:ext uri="{FF2B5EF4-FFF2-40B4-BE49-F238E27FC236}">
                <a16:creationId xmlns:a16="http://schemas.microsoft.com/office/drawing/2014/main" id="{1735849B-72CD-45EA-9513-85E3C008A716}"/>
              </a:ext>
            </a:extLst>
          </p:cNvPr>
          <p:cNvSpPr txBox="1">
            <a:spLocks noChangeArrowheads="1"/>
          </p:cNvSpPr>
          <p:nvPr/>
        </p:nvSpPr>
        <p:spPr bwMode="auto">
          <a:xfrm>
            <a:off x="568234" y="1289436"/>
            <a:ext cx="1105553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eaLnBrk="1" hangingPunct="1"/>
            <a:r>
              <a:rPr lang="en-US" altLang="zh-CN"/>
              <a:t>Easy from the definition of </a:t>
            </a:r>
            <a:r>
              <a:rPr lang="en-US" altLang="zh-CN" i="1"/>
              <a:t>R</a:t>
            </a:r>
            <a:r>
              <a:rPr lang="en-US" altLang="zh-CN" baseline="30000">
                <a:sym typeface="Symbol" panose="05050102010706020507" pitchFamily="18" charset="2"/>
              </a:rPr>
              <a:t></a:t>
            </a:r>
          </a:p>
        </p:txBody>
      </p:sp>
    </p:spTree>
    <p:extLst>
      <p:ext uri="{BB962C8B-B14F-4D97-AF65-F5344CB8AC3E}">
        <p14:creationId xmlns:p14="http://schemas.microsoft.com/office/powerpoint/2010/main" val="32143560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09107" y="0"/>
            <a:ext cx="11056470" cy="830997"/>
          </a:xfrm>
          <a:prstGeom prst="rect">
            <a:avLst/>
          </a:prstGeom>
          <a:noFill/>
        </p:spPr>
        <p:txBody>
          <a:bodyPr wrap="square" rtlCol="0">
            <a:spAutoFit/>
          </a:bodyPr>
          <a:lstStyle/>
          <a:p>
            <a:pPr>
              <a:lnSpc>
                <a:spcPct val="150000"/>
              </a:lnSpc>
            </a:pPr>
            <a:r>
              <a:rPr lang="en-US" altLang="zh-CN" sz="3200" dirty="0"/>
              <a:t>9.4.4 Transitive Closures</a:t>
            </a:r>
            <a:r>
              <a:rPr lang="en-US" altLang="zh-CN" sz="2000" dirty="0"/>
              <a:t> —  </a:t>
            </a:r>
            <a:r>
              <a:rPr lang="en-US" altLang="zh-CN" sz="3200" dirty="0"/>
              <a:t>Proof of Part 3)</a:t>
            </a:r>
          </a:p>
        </p:txBody>
      </p:sp>
      <p:sp>
        <p:nvSpPr>
          <p:cNvPr id="4" name="Rectangle 3">
            <a:extLst>
              <a:ext uri="{FF2B5EF4-FFF2-40B4-BE49-F238E27FC236}">
                <a16:creationId xmlns:a16="http://schemas.microsoft.com/office/drawing/2014/main" id="{1735849B-72CD-45EA-9513-85E3C008A716}"/>
              </a:ext>
            </a:extLst>
          </p:cNvPr>
          <p:cNvSpPr txBox="1">
            <a:spLocks noChangeArrowheads="1"/>
          </p:cNvSpPr>
          <p:nvPr/>
        </p:nvSpPr>
        <p:spPr bwMode="auto">
          <a:xfrm>
            <a:off x="568234" y="739754"/>
            <a:ext cx="11055531" cy="5492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eaLnBrk="1" hangingPunct="1">
              <a:lnSpc>
                <a:spcPct val="150000"/>
              </a:lnSpc>
            </a:pPr>
            <a:r>
              <a:rPr lang="en-US" altLang="zh-CN" sz="2800"/>
              <a:t>Now suppose </a:t>
            </a:r>
            <a:r>
              <a:rPr lang="en-US" altLang="zh-CN" sz="2800" i="1"/>
              <a:t>S </a:t>
            </a:r>
            <a:r>
              <a:rPr lang="en-US" altLang="zh-CN" sz="2800"/>
              <a:t>is any transitive relation that contains </a:t>
            </a:r>
            <a:r>
              <a:rPr lang="en-US" altLang="zh-CN" sz="2800" i="1"/>
              <a:t>R, </a:t>
            </a:r>
            <a:r>
              <a:rPr lang="en-US" altLang="zh-CN" sz="2800"/>
              <a:t>show </a:t>
            </a:r>
            <a:r>
              <a:rPr lang="en-US" altLang="zh-CN" sz="2800" i="1"/>
              <a:t>S </a:t>
            </a:r>
            <a:r>
              <a:rPr lang="en-US" altLang="zh-CN" sz="2800"/>
              <a:t>contains </a:t>
            </a:r>
            <a:r>
              <a:rPr lang="en-US" altLang="zh-CN" sz="2800" i="1"/>
              <a:t>R</a:t>
            </a:r>
            <a:r>
              <a:rPr lang="en-US" altLang="zh-CN" sz="2800" baseline="30000">
                <a:sym typeface="Symbol" panose="05050102010706020507" pitchFamily="18" charset="2"/>
              </a:rPr>
              <a:t></a:t>
            </a:r>
            <a:r>
              <a:rPr lang="en-US" altLang="zh-CN" sz="2800" i="1"/>
              <a:t> </a:t>
            </a:r>
            <a:r>
              <a:rPr lang="en-US" altLang="zh-CN" sz="2800"/>
              <a:t>(that is </a:t>
            </a:r>
            <a:r>
              <a:rPr lang="en-US" altLang="zh-CN" sz="2800" i="1"/>
              <a:t>R</a:t>
            </a:r>
            <a:r>
              <a:rPr lang="en-US" altLang="zh-CN" sz="2800" baseline="30000">
                <a:sym typeface="Symbol" panose="05050102010706020507" pitchFamily="18" charset="2"/>
              </a:rPr>
              <a:t></a:t>
            </a:r>
            <a:r>
              <a:rPr lang="en-US" altLang="zh-CN" sz="2800" i="1"/>
              <a:t> </a:t>
            </a:r>
            <a:r>
              <a:rPr lang="en-US" altLang="zh-CN" sz="2800"/>
              <a:t>is the smallest such relation).</a:t>
            </a:r>
          </a:p>
          <a:p>
            <a:pPr eaLnBrk="1" hangingPunct="1">
              <a:lnSpc>
                <a:spcPct val="150000"/>
              </a:lnSpc>
            </a:pPr>
            <a:r>
              <a:rPr lang="en-US" altLang="zh-CN" sz="2800" i="1"/>
              <a:t>R </a:t>
            </a:r>
            <a:r>
              <a:rPr lang="en-US" altLang="zh-CN" sz="2800">
                <a:sym typeface="Symbol" panose="05050102010706020507" pitchFamily="18" charset="2"/>
              </a:rPr>
              <a:t></a:t>
            </a:r>
            <a:r>
              <a:rPr lang="en-US" altLang="zh-CN" sz="2800">
                <a:latin typeface="Symbol" panose="05050102010706020507" pitchFamily="18" charset="2"/>
              </a:rPr>
              <a:t> </a:t>
            </a:r>
            <a:r>
              <a:rPr lang="en-US" altLang="zh-CN" sz="2800" i="1"/>
              <a:t>S </a:t>
            </a:r>
            <a:r>
              <a:rPr lang="en-US" altLang="zh-CN" sz="2800"/>
              <a:t>so </a:t>
            </a:r>
            <a:r>
              <a:rPr lang="en-US" altLang="zh-CN" sz="2800" i="1"/>
              <a:t>R</a:t>
            </a:r>
            <a:r>
              <a:rPr lang="en-US" altLang="zh-CN" sz="2800" i="1" baseline="30000"/>
              <a:t>2</a:t>
            </a:r>
            <a:r>
              <a:rPr lang="en-US" altLang="zh-CN" sz="2800" i="1"/>
              <a:t> </a:t>
            </a:r>
            <a:r>
              <a:rPr lang="en-US" altLang="zh-CN" sz="2800">
                <a:sym typeface="Symbol" panose="05050102010706020507" pitchFamily="18" charset="2"/>
              </a:rPr>
              <a:t></a:t>
            </a:r>
            <a:r>
              <a:rPr lang="en-US" altLang="zh-CN" sz="2800">
                <a:latin typeface="Symbol" panose="05050102010706020507" pitchFamily="18" charset="2"/>
              </a:rPr>
              <a:t> </a:t>
            </a:r>
            <a:r>
              <a:rPr lang="en-US" altLang="zh-CN" sz="2800" i="1"/>
              <a:t>S</a:t>
            </a:r>
            <a:r>
              <a:rPr lang="en-US" altLang="zh-CN" sz="2800" i="1" baseline="30000"/>
              <a:t>2</a:t>
            </a:r>
            <a:r>
              <a:rPr lang="en-US" altLang="zh-CN" sz="2800" i="1"/>
              <a:t> </a:t>
            </a:r>
            <a:r>
              <a:rPr lang="en-US" altLang="zh-CN" sz="2800">
                <a:sym typeface="Symbol" panose="05050102010706020507" pitchFamily="18" charset="2"/>
              </a:rPr>
              <a:t></a:t>
            </a:r>
            <a:r>
              <a:rPr lang="en-US" altLang="zh-CN" sz="2800">
                <a:latin typeface="Symbol" panose="05050102010706020507" pitchFamily="18" charset="2"/>
              </a:rPr>
              <a:t> </a:t>
            </a:r>
            <a:r>
              <a:rPr lang="en-US" altLang="zh-CN" sz="2800" i="1"/>
              <a:t>S </a:t>
            </a:r>
            <a:r>
              <a:rPr lang="en-US" altLang="zh-CN" sz="2800"/>
              <a:t>since </a:t>
            </a:r>
            <a:r>
              <a:rPr lang="en-US" altLang="zh-CN" sz="2800" i="1"/>
              <a:t>S </a:t>
            </a:r>
            <a:r>
              <a:rPr lang="en-US" altLang="zh-CN" sz="2800"/>
              <a:t>is transitive</a:t>
            </a:r>
          </a:p>
          <a:p>
            <a:pPr eaLnBrk="1" hangingPunct="1">
              <a:lnSpc>
                <a:spcPct val="150000"/>
              </a:lnSpc>
            </a:pPr>
            <a:r>
              <a:rPr lang="en-US" altLang="zh-CN" sz="2800"/>
              <a:t>Therefore </a:t>
            </a:r>
            <a:r>
              <a:rPr lang="en-US" altLang="zh-CN" sz="2800" i="1"/>
              <a:t>R</a:t>
            </a:r>
            <a:r>
              <a:rPr lang="en-US" altLang="zh-CN" sz="2800" i="1" baseline="30000"/>
              <a:t>n</a:t>
            </a:r>
            <a:r>
              <a:rPr lang="en-US" altLang="zh-CN" sz="2800" i="1"/>
              <a:t> </a:t>
            </a:r>
            <a:r>
              <a:rPr lang="en-US" altLang="zh-CN" sz="2800">
                <a:sym typeface="Symbol" panose="05050102010706020507" pitchFamily="18" charset="2"/>
              </a:rPr>
              <a:t></a:t>
            </a:r>
            <a:r>
              <a:rPr lang="en-US" altLang="zh-CN" sz="2800">
                <a:latin typeface="Symbol" panose="05050102010706020507" pitchFamily="18" charset="2"/>
              </a:rPr>
              <a:t> </a:t>
            </a:r>
            <a:r>
              <a:rPr lang="en-US" altLang="zh-CN" sz="2800" i="1"/>
              <a:t>S</a:t>
            </a:r>
            <a:r>
              <a:rPr lang="en-US" altLang="zh-CN" sz="2800" i="1" baseline="30000"/>
              <a:t>n</a:t>
            </a:r>
            <a:r>
              <a:rPr lang="en-US" altLang="zh-CN" sz="2800" i="1"/>
              <a:t> </a:t>
            </a:r>
            <a:r>
              <a:rPr lang="en-US" altLang="zh-CN" sz="2800">
                <a:sym typeface="Symbol" panose="05050102010706020507" pitchFamily="18" charset="2"/>
              </a:rPr>
              <a:t></a:t>
            </a:r>
            <a:r>
              <a:rPr lang="en-US" altLang="zh-CN" sz="2800">
                <a:latin typeface="Symbol" panose="05050102010706020507" pitchFamily="18" charset="2"/>
              </a:rPr>
              <a:t> </a:t>
            </a:r>
            <a:r>
              <a:rPr lang="en-US" altLang="zh-CN" sz="2800" i="1"/>
              <a:t>S </a:t>
            </a:r>
            <a:r>
              <a:rPr lang="en-US" altLang="zh-CN" sz="2800"/>
              <a:t>for all </a:t>
            </a:r>
            <a:r>
              <a:rPr lang="en-US" altLang="zh-CN" sz="2800" i="1"/>
              <a:t>n</a:t>
            </a:r>
            <a:r>
              <a:rPr lang="en-US" altLang="zh-CN" sz="2800"/>
              <a:t>. (why?)</a:t>
            </a:r>
          </a:p>
          <a:p>
            <a:pPr eaLnBrk="1" hangingPunct="1">
              <a:lnSpc>
                <a:spcPct val="150000"/>
              </a:lnSpc>
            </a:pPr>
            <a:r>
              <a:rPr lang="en-US" altLang="zh-CN" sz="2800"/>
              <a:t>Hence </a:t>
            </a:r>
            <a:r>
              <a:rPr lang="en-US" altLang="zh-CN" sz="2800" i="1"/>
              <a:t>S </a:t>
            </a:r>
            <a:r>
              <a:rPr lang="en-US" altLang="zh-CN" sz="2800"/>
              <a:t>must contain </a:t>
            </a:r>
            <a:r>
              <a:rPr lang="en-US" altLang="zh-CN" sz="2800" i="1"/>
              <a:t>R</a:t>
            </a:r>
            <a:r>
              <a:rPr lang="en-US" altLang="zh-CN" sz="2800" baseline="30000">
                <a:sym typeface="Symbol" panose="05050102010706020507" pitchFamily="18" charset="2"/>
              </a:rPr>
              <a:t></a:t>
            </a:r>
            <a:r>
              <a:rPr lang="en-US" altLang="zh-CN" sz="2800" i="1"/>
              <a:t> </a:t>
            </a:r>
            <a:r>
              <a:rPr lang="en-US" altLang="zh-CN" sz="2800"/>
              <a:t>since it must also contain the union of all the powers of </a:t>
            </a:r>
            <a:r>
              <a:rPr lang="en-US" altLang="zh-CN" sz="2800" i="1"/>
              <a:t>R</a:t>
            </a:r>
            <a:r>
              <a:rPr lang="en-US" altLang="zh-CN" sz="2800"/>
              <a:t>.</a:t>
            </a:r>
          </a:p>
          <a:p>
            <a:pPr lvl="1" eaLnBrk="1" hangingPunct="1">
              <a:lnSpc>
                <a:spcPct val="150000"/>
              </a:lnSpc>
            </a:pPr>
            <a:r>
              <a:rPr lang="en-US" altLang="zh-CN" sz="2400"/>
              <a:t>Q. E. D.</a:t>
            </a:r>
          </a:p>
          <a:p>
            <a:pPr lvl="1" eaLnBrk="1" hangingPunct="1">
              <a:lnSpc>
                <a:spcPct val="150000"/>
              </a:lnSpc>
            </a:pPr>
            <a:r>
              <a:rPr lang="en-US" altLang="zh-CN" sz="2400"/>
              <a:t>In fact, we need only consider paths of length </a:t>
            </a:r>
            <a:r>
              <a:rPr lang="en-US" altLang="zh-CN" sz="2400" i="1"/>
              <a:t>n</a:t>
            </a:r>
            <a:r>
              <a:rPr lang="en-US" altLang="zh-CN" sz="2400"/>
              <a:t> or less.</a:t>
            </a:r>
          </a:p>
        </p:txBody>
      </p:sp>
    </p:spTree>
    <p:extLst>
      <p:ext uri="{BB962C8B-B14F-4D97-AF65-F5344CB8AC3E}">
        <p14:creationId xmlns:p14="http://schemas.microsoft.com/office/powerpoint/2010/main" val="18413141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392464" y="853942"/>
            <a:ext cx="10732274"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a:t>Example1:</a:t>
            </a:r>
          </a:p>
          <a:p>
            <a:pPr lvl="1">
              <a:lnSpc>
                <a:spcPct val="150000"/>
              </a:lnSpc>
              <a:buClrTx/>
              <a:buFont typeface="Wingdings" panose="05000000000000000000" pitchFamily="2" charset="2"/>
              <a:buChar char="l"/>
            </a:pPr>
            <a:r>
              <a:rPr lang="en-US" altLang="zh-CN" sz="2400"/>
              <a:t>Let</a:t>
            </a:r>
          </a:p>
          <a:p>
            <a:pPr lvl="2">
              <a:lnSpc>
                <a:spcPct val="150000"/>
              </a:lnSpc>
              <a:buClrTx/>
              <a:buFont typeface="Wingdings" panose="05000000000000000000" pitchFamily="2" charset="2"/>
              <a:buChar char="l"/>
            </a:pPr>
            <a:r>
              <a:rPr lang="en-US" altLang="zh-CN"/>
              <a:t>A={1, 2, 3, 4}</a:t>
            </a:r>
          </a:p>
          <a:p>
            <a:pPr lvl="2">
              <a:lnSpc>
                <a:spcPct val="150000"/>
              </a:lnSpc>
              <a:buClrTx/>
              <a:buFont typeface="Wingdings" panose="05000000000000000000" pitchFamily="2" charset="2"/>
              <a:buChar char="l"/>
            </a:pPr>
            <a:r>
              <a:rPr lang="en-US" altLang="zh-CN"/>
              <a:t>R={(1, 2), (2, 3), (3, 4), (2, 1)}</a:t>
            </a:r>
          </a:p>
          <a:p>
            <a:pPr lvl="1">
              <a:lnSpc>
                <a:spcPct val="150000"/>
              </a:lnSpc>
              <a:buClrTx/>
              <a:buFont typeface="Wingdings" panose="05000000000000000000" pitchFamily="2" charset="2"/>
              <a:buChar char="l"/>
            </a:pPr>
            <a:r>
              <a:rPr lang="en-US" altLang="zh-CN" sz="2400"/>
              <a:t>Find the transitive closure of R.</a:t>
            </a:r>
          </a:p>
        </p:txBody>
      </p:sp>
      <p:sp>
        <p:nvSpPr>
          <p:cNvPr id="4" name="文本框 3">
            <a:extLst>
              <a:ext uri="{FF2B5EF4-FFF2-40B4-BE49-F238E27FC236}">
                <a16:creationId xmlns:a16="http://schemas.microsoft.com/office/drawing/2014/main" id="{B2A1B5CA-3EB4-4995-B253-573E6609733B}"/>
              </a:ext>
            </a:extLst>
          </p:cNvPr>
          <p:cNvSpPr txBox="1"/>
          <p:nvPr/>
        </p:nvSpPr>
        <p:spPr>
          <a:xfrm>
            <a:off x="210046" y="0"/>
            <a:ext cx="11056470" cy="830997"/>
          </a:xfrm>
          <a:prstGeom prst="rect">
            <a:avLst/>
          </a:prstGeom>
          <a:noFill/>
        </p:spPr>
        <p:txBody>
          <a:bodyPr wrap="square" rtlCol="0">
            <a:spAutoFit/>
          </a:bodyPr>
          <a:lstStyle/>
          <a:p>
            <a:pPr>
              <a:lnSpc>
                <a:spcPct val="150000"/>
              </a:lnSpc>
            </a:pPr>
            <a:r>
              <a:rPr lang="en-US" altLang="zh-CN" sz="3200" dirty="0"/>
              <a:t>9.4.4 Transitive Closures </a:t>
            </a:r>
            <a:endParaRPr lang="en-US" altLang="zh-CN" sz="2000" dirty="0">
              <a:solidFill>
                <a:schemeClr val="tx2"/>
              </a:solidFill>
              <a:latin typeface="Times New Roman" panose="02020603050405020304" pitchFamily="18" charset="0"/>
            </a:endParaRPr>
          </a:p>
        </p:txBody>
      </p:sp>
      <p:sp>
        <p:nvSpPr>
          <p:cNvPr id="16" name="Oval 4">
            <a:extLst>
              <a:ext uri="{FF2B5EF4-FFF2-40B4-BE49-F238E27FC236}">
                <a16:creationId xmlns:a16="http://schemas.microsoft.com/office/drawing/2014/main" id="{2AED2BFD-AC96-44BE-BC93-45BB229422F0}"/>
              </a:ext>
            </a:extLst>
          </p:cNvPr>
          <p:cNvSpPr>
            <a:spLocks noChangeArrowheads="1"/>
          </p:cNvSpPr>
          <p:nvPr/>
        </p:nvSpPr>
        <p:spPr bwMode="auto">
          <a:xfrm>
            <a:off x="6073378" y="4238380"/>
            <a:ext cx="287337" cy="2889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7" name="Oval 5">
            <a:extLst>
              <a:ext uri="{FF2B5EF4-FFF2-40B4-BE49-F238E27FC236}">
                <a16:creationId xmlns:a16="http://schemas.microsoft.com/office/drawing/2014/main" id="{2F38DDD0-2428-4A50-9B00-9006F0470B49}"/>
              </a:ext>
            </a:extLst>
          </p:cNvPr>
          <p:cNvSpPr>
            <a:spLocks noChangeArrowheads="1"/>
          </p:cNvSpPr>
          <p:nvPr/>
        </p:nvSpPr>
        <p:spPr bwMode="auto">
          <a:xfrm>
            <a:off x="6057503" y="6311655"/>
            <a:ext cx="287337" cy="2889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8" name="Oval 6">
            <a:extLst>
              <a:ext uri="{FF2B5EF4-FFF2-40B4-BE49-F238E27FC236}">
                <a16:creationId xmlns:a16="http://schemas.microsoft.com/office/drawing/2014/main" id="{C66B09F6-E417-4ED1-A525-D510D49321CD}"/>
              </a:ext>
            </a:extLst>
          </p:cNvPr>
          <p:cNvSpPr>
            <a:spLocks noChangeArrowheads="1"/>
          </p:cNvSpPr>
          <p:nvPr/>
        </p:nvSpPr>
        <p:spPr bwMode="auto">
          <a:xfrm>
            <a:off x="7208440" y="5189293"/>
            <a:ext cx="287338" cy="2889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9" name="Oval 7">
            <a:extLst>
              <a:ext uri="{FF2B5EF4-FFF2-40B4-BE49-F238E27FC236}">
                <a16:creationId xmlns:a16="http://schemas.microsoft.com/office/drawing/2014/main" id="{B3B8CDBE-FE49-40D5-9FC8-49D343F911D5}"/>
              </a:ext>
            </a:extLst>
          </p:cNvPr>
          <p:cNvSpPr>
            <a:spLocks noChangeArrowheads="1"/>
          </p:cNvSpPr>
          <p:nvPr/>
        </p:nvSpPr>
        <p:spPr bwMode="auto">
          <a:xfrm>
            <a:off x="4935140" y="5232155"/>
            <a:ext cx="287338" cy="2889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0" name="Line 8">
            <a:extLst>
              <a:ext uri="{FF2B5EF4-FFF2-40B4-BE49-F238E27FC236}">
                <a16:creationId xmlns:a16="http://schemas.microsoft.com/office/drawing/2014/main" id="{0FC7C884-FBBE-4E08-8407-3D43F82D07D3}"/>
              </a:ext>
            </a:extLst>
          </p:cNvPr>
          <p:cNvSpPr>
            <a:spLocks noChangeShapeType="1"/>
          </p:cNvSpPr>
          <p:nvPr/>
        </p:nvSpPr>
        <p:spPr bwMode="auto">
          <a:xfrm flipH="1">
            <a:off x="6332140" y="5462343"/>
            <a:ext cx="1008063" cy="936625"/>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 name="Arc 11">
            <a:extLst>
              <a:ext uri="{FF2B5EF4-FFF2-40B4-BE49-F238E27FC236}">
                <a16:creationId xmlns:a16="http://schemas.microsoft.com/office/drawing/2014/main" id="{EE7E6858-05AA-4975-AD9B-91C13C360BD8}"/>
              </a:ext>
            </a:extLst>
          </p:cNvPr>
          <p:cNvSpPr>
            <a:spLocks/>
          </p:cNvSpPr>
          <p:nvPr/>
        </p:nvSpPr>
        <p:spPr bwMode="auto">
          <a:xfrm rot="1498813" flipH="1" flipV="1">
            <a:off x="6244828" y="4632080"/>
            <a:ext cx="1238250" cy="327025"/>
          </a:xfrm>
          <a:custGeom>
            <a:avLst/>
            <a:gdLst>
              <a:gd name="T0" fmla="*/ 2147483646 w 30275"/>
              <a:gd name="T1" fmla="*/ 2147483646 h 21600"/>
              <a:gd name="T2" fmla="*/ 2147483646 w 30275"/>
              <a:gd name="T3" fmla="*/ 2147483646 h 21600"/>
              <a:gd name="T4" fmla="*/ 0 w 30275"/>
              <a:gd name="T5" fmla="*/ 2147483646 h 21600"/>
              <a:gd name="T6" fmla="*/ 2147483646 w 30275"/>
              <a:gd name="T7" fmla="*/ 2147483646 h 21600"/>
              <a:gd name="T8" fmla="*/ 2147483646 w 30275"/>
              <a:gd name="T9" fmla="*/ 2147483646 h 21600"/>
              <a:gd name="T10" fmla="*/ 0 w 30275"/>
              <a:gd name="T11" fmla="*/ 2147483646 h 21600"/>
              <a:gd name="T12" fmla="*/ 2147483646 w 30275"/>
              <a:gd name="T13" fmla="*/ 0 h 21600"/>
              <a:gd name="T14" fmla="*/ 2147483646 w 30275"/>
              <a:gd name="T15" fmla="*/ 2147483646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275" h="21600" fill="none" extrusionOk="0">
                <a:moveTo>
                  <a:pt x="30275" y="19755"/>
                </a:moveTo>
                <a:cubicBezTo>
                  <a:pt x="27523" y="20971"/>
                  <a:pt x="24549" y="21599"/>
                  <a:pt x="21541" y="21600"/>
                </a:cubicBezTo>
                <a:cubicBezTo>
                  <a:pt x="10231" y="21600"/>
                  <a:pt x="837" y="12876"/>
                  <a:pt x="0" y="1598"/>
                </a:cubicBezTo>
              </a:path>
              <a:path w="30275" h="21600" stroke="0" extrusionOk="0">
                <a:moveTo>
                  <a:pt x="30275" y="19755"/>
                </a:moveTo>
                <a:cubicBezTo>
                  <a:pt x="27523" y="20971"/>
                  <a:pt x="24549" y="21599"/>
                  <a:pt x="21541" y="21600"/>
                </a:cubicBezTo>
                <a:cubicBezTo>
                  <a:pt x="10231" y="21600"/>
                  <a:pt x="837" y="12876"/>
                  <a:pt x="0" y="1598"/>
                </a:cubicBezTo>
                <a:lnTo>
                  <a:pt x="21541" y="0"/>
                </a:lnTo>
                <a:lnTo>
                  <a:pt x="30275" y="19755"/>
                </a:lnTo>
                <a:close/>
              </a:path>
            </a:pathLst>
          </a:custGeom>
          <a:noFill/>
          <a:ln w="19050" cmpd="sng">
            <a:solidFill>
              <a:srgbClr val="0000FF"/>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Text Box 12">
            <a:extLst>
              <a:ext uri="{FF2B5EF4-FFF2-40B4-BE49-F238E27FC236}">
                <a16:creationId xmlns:a16="http://schemas.microsoft.com/office/drawing/2014/main" id="{1C8AC73D-36B7-439C-9FE5-71474356ECF1}"/>
              </a:ext>
            </a:extLst>
          </p:cNvPr>
          <p:cNvSpPr txBox="1">
            <a:spLocks noChangeArrowheads="1"/>
          </p:cNvSpPr>
          <p:nvPr/>
        </p:nvSpPr>
        <p:spPr bwMode="auto">
          <a:xfrm>
            <a:off x="6071790" y="4209805"/>
            <a:ext cx="2952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600">
                <a:solidFill>
                  <a:schemeClr val="hlink"/>
                </a:solidFill>
                <a:latin typeface="Tahoma" panose="020B0604030504040204" pitchFamily="34" charset="0"/>
              </a:rPr>
              <a:t>2</a:t>
            </a:r>
          </a:p>
        </p:txBody>
      </p:sp>
      <p:sp>
        <p:nvSpPr>
          <p:cNvPr id="23" name="Text Box 14">
            <a:extLst>
              <a:ext uri="{FF2B5EF4-FFF2-40B4-BE49-F238E27FC236}">
                <a16:creationId xmlns:a16="http://schemas.microsoft.com/office/drawing/2014/main" id="{4D293D86-2781-4760-97DF-D2A56CE90B48}"/>
              </a:ext>
            </a:extLst>
          </p:cNvPr>
          <p:cNvSpPr txBox="1">
            <a:spLocks noChangeArrowheads="1"/>
          </p:cNvSpPr>
          <p:nvPr/>
        </p:nvSpPr>
        <p:spPr bwMode="auto">
          <a:xfrm>
            <a:off x="7208440" y="5175005"/>
            <a:ext cx="2952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600">
                <a:solidFill>
                  <a:schemeClr val="hlink"/>
                </a:solidFill>
                <a:latin typeface="Tahoma" panose="020B0604030504040204" pitchFamily="34" charset="0"/>
              </a:rPr>
              <a:t>3</a:t>
            </a:r>
          </a:p>
        </p:txBody>
      </p:sp>
      <p:sp>
        <p:nvSpPr>
          <p:cNvPr id="24" name="Text Box 15">
            <a:extLst>
              <a:ext uri="{FF2B5EF4-FFF2-40B4-BE49-F238E27FC236}">
                <a16:creationId xmlns:a16="http://schemas.microsoft.com/office/drawing/2014/main" id="{0F4F3E12-AA39-46FC-A686-938E68E2E03F}"/>
              </a:ext>
            </a:extLst>
          </p:cNvPr>
          <p:cNvSpPr txBox="1">
            <a:spLocks noChangeArrowheads="1"/>
          </p:cNvSpPr>
          <p:nvPr/>
        </p:nvSpPr>
        <p:spPr bwMode="auto">
          <a:xfrm>
            <a:off x="4920853" y="5217868"/>
            <a:ext cx="2952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600">
                <a:solidFill>
                  <a:schemeClr val="hlink"/>
                </a:solidFill>
                <a:latin typeface="Tahoma" panose="020B0604030504040204" pitchFamily="34" charset="0"/>
              </a:rPr>
              <a:t>1</a:t>
            </a:r>
          </a:p>
        </p:txBody>
      </p:sp>
      <p:graphicFrame>
        <p:nvGraphicFramePr>
          <p:cNvPr id="25" name="Object 16">
            <a:extLst>
              <a:ext uri="{FF2B5EF4-FFF2-40B4-BE49-F238E27FC236}">
                <a16:creationId xmlns:a16="http://schemas.microsoft.com/office/drawing/2014/main" id="{D62293A2-B301-46FD-882D-7D8E254A0C68}"/>
              </a:ext>
            </a:extLst>
          </p:cNvPr>
          <p:cNvGraphicFramePr>
            <a:graphicFrameLocks noChangeAspect="1"/>
          </p:cNvGraphicFramePr>
          <p:nvPr>
            <p:extLst>
              <p:ext uri="{D42A27DB-BD31-4B8C-83A1-F6EECF244321}">
                <p14:modId xmlns:p14="http://schemas.microsoft.com/office/powerpoint/2010/main" val="3837039666"/>
              </p:ext>
            </p:extLst>
          </p:nvPr>
        </p:nvGraphicFramePr>
        <p:xfrm>
          <a:off x="8360965" y="4311405"/>
          <a:ext cx="2881313" cy="2054225"/>
        </p:xfrm>
        <a:graphic>
          <a:graphicData uri="http://schemas.openxmlformats.org/presentationml/2006/ole">
            <mc:AlternateContent xmlns:mc="http://schemas.openxmlformats.org/markup-compatibility/2006">
              <mc:Choice xmlns:v="urn:schemas-microsoft-com:vml" Requires="v">
                <p:oleObj r:id="rId3" imgW="1283814" imgH="915194" progId="Equation.DSMT4">
                  <p:embed/>
                </p:oleObj>
              </mc:Choice>
              <mc:Fallback>
                <p:oleObj r:id="rId3" imgW="1283814" imgH="915194" progId="Equation.DSMT4">
                  <p:embed/>
                  <p:pic>
                    <p:nvPicPr>
                      <p:cNvPr id="89102" name="Object 16">
                        <a:extLst>
                          <a:ext uri="{FF2B5EF4-FFF2-40B4-BE49-F238E27FC236}">
                            <a16:creationId xmlns:a16="http://schemas.microsoft.com/office/drawing/2014/main" id="{B0183362-CA11-4609-81B3-F893D12A5F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60965" y="4311405"/>
                        <a:ext cx="2881313" cy="2054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0330139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392464" y="853942"/>
            <a:ext cx="10732274"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a:t>Example1:</a:t>
            </a:r>
          </a:p>
        </p:txBody>
      </p:sp>
      <p:sp>
        <p:nvSpPr>
          <p:cNvPr id="4" name="文本框 3">
            <a:extLst>
              <a:ext uri="{FF2B5EF4-FFF2-40B4-BE49-F238E27FC236}">
                <a16:creationId xmlns:a16="http://schemas.microsoft.com/office/drawing/2014/main" id="{B2A1B5CA-3EB4-4995-B253-573E6609733B}"/>
              </a:ext>
            </a:extLst>
          </p:cNvPr>
          <p:cNvSpPr txBox="1"/>
          <p:nvPr/>
        </p:nvSpPr>
        <p:spPr>
          <a:xfrm>
            <a:off x="210046" y="0"/>
            <a:ext cx="11056470" cy="830997"/>
          </a:xfrm>
          <a:prstGeom prst="rect">
            <a:avLst/>
          </a:prstGeom>
          <a:noFill/>
        </p:spPr>
        <p:txBody>
          <a:bodyPr wrap="square" rtlCol="0">
            <a:spAutoFit/>
          </a:bodyPr>
          <a:lstStyle/>
          <a:p>
            <a:pPr>
              <a:lnSpc>
                <a:spcPct val="150000"/>
              </a:lnSpc>
            </a:pPr>
            <a:r>
              <a:rPr lang="en-US" altLang="zh-CN" sz="3200" dirty="0"/>
              <a:t>9.4.4 Transitive Closures </a:t>
            </a:r>
            <a:endParaRPr lang="en-US" altLang="zh-CN" sz="2000" dirty="0">
              <a:solidFill>
                <a:schemeClr val="tx2"/>
              </a:solidFill>
              <a:latin typeface="Times New Roman" panose="02020603050405020304" pitchFamily="18" charset="0"/>
            </a:endParaRPr>
          </a:p>
        </p:txBody>
      </p:sp>
      <p:graphicFrame>
        <p:nvGraphicFramePr>
          <p:cNvPr id="14" name="Object 3">
            <a:extLst>
              <a:ext uri="{FF2B5EF4-FFF2-40B4-BE49-F238E27FC236}">
                <a16:creationId xmlns:a16="http://schemas.microsoft.com/office/drawing/2014/main" id="{31E5947E-3BC6-4D97-A93F-0A88ABC2D36E}"/>
              </a:ext>
            </a:extLst>
          </p:cNvPr>
          <p:cNvGraphicFramePr>
            <a:graphicFrameLocks noChangeAspect="1"/>
          </p:cNvGraphicFramePr>
          <p:nvPr>
            <p:extLst>
              <p:ext uri="{D42A27DB-BD31-4B8C-83A1-F6EECF244321}">
                <p14:modId xmlns:p14="http://schemas.microsoft.com/office/powerpoint/2010/main" val="2905384171"/>
              </p:ext>
            </p:extLst>
          </p:nvPr>
        </p:nvGraphicFramePr>
        <p:xfrm>
          <a:off x="3575843" y="1541379"/>
          <a:ext cx="5040313" cy="4699000"/>
        </p:xfrm>
        <a:graphic>
          <a:graphicData uri="http://schemas.openxmlformats.org/presentationml/2006/ole">
            <mc:AlternateContent xmlns:mc="http://schemas.openxmlformats.org/markup-compatibility/2006">
              <mc:Choice xmlns:v="urn:schemas-microsoft-com:vml" Requires="v">
                <p:oleObj r:id="rId3" imgW="2997200" imgH="2794000" progId="Equation.DSMT4">
                  <p:embed/>
                </p:oleObj>
              </mc:Choice>
              <mc:Fallback>
                <p:oleObj r:id="rId3" imgW="2997200" imgH="2794000" progId="Equation.DSMT4">
                  <p:embed/>
                  <p:pic>
                    <p:nvPicPr>
                      <p:cNvPr id="90115" name="Object 3">
                        <a:extLst>
                          <a:ext uri="{FF2B5EF4-FFF2-40B4-BE49-F238E27FC236}">
                            <a16:creationId xmlns:a16="http://schemas.microsoft.com/office/drawing/2014/main" id="{B4198A4F-0333-4D22-9149-2CC96A14AC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5843" y="1541379"/>
                        <a:ext cx="5040313" cy="469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8974576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09107" y="0"/>
            <a:ext cx="11056470" cy="830997"/>
          </a:xfrm>
          <a:prstGeom prst="rect">
            <a:avLst/>
          </a:prstGeom>
          <a:noFill/>
        </p:spPr>
        <p:txBody>
          <a:bodyPr wrap="square" rtlCol="0">
            <a:spAutoFit/>
          </a:bodyPr>
          <a:lstStyle/>
          <a:p>
            <a:pPr>
              <a:lnSpc>
                <a:spcPct val="150000"/>
              </a:lnSpc>
            </a:pPr>
            <a:r>
              <a:rPr lang="en-US" altLang="zh-CN" sz="3200" dirty="0"/>
              <a:t>9.4.4 Transitive Closures </a:t>
            </a:r>
            <a:r>
              <a:rPr lang="en-US" altLang="zh-CN" sz="2000" dirty="0"/>
              <a:t>— </a:t>
            </a:r>
            <a:r>
              <a:rPr lang="en-US" altLang="zh-CN" sz="3200" dirty="0"/>
              <a:t>Theorem 2</a:t>
            </a:r>
          </a:p>
        </p:txBody>
      </p:sp>
      <p:sp>
        <p:nvSpPr>
          <p:cNvPr id="4" name="Rectangle 3">
            <a:extLst>
              <a:ext uri="{FF2B5EF4-FFF2-40B4-BE49-F238E27FC236}">
                <a16:creationId xmlns:a16="http://schemas.microsoft.com/office/drawing/2014/main" id="{1735849B-72CD-45EA-9513-85E3C008A716}"/>
              </a:ext>
            </a:extLst>
          </p:cNvPr>
          <p:cNvSpPr txBox="1">
            <a:spLocks noChangeArrowheads="1"/>
          </p:cNvSpPr>
          <p:nvPr/>
        </p:nvSpPr>
        <p:spPr bwMode="auto">
          <a:xfrm>
            <a:off x="568232" y="1166018"/>
            <a:ext cx="1105553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eaLnBrk="1" hangingPunct="1"/>
            <a:r>
              <a:rPr lang="en-US" altLang="zh-CN" sz="2800"/>
              <a:t>Let </a:t>
            </a:r>
            <a:r>
              <a:rPr lang="en-US" altLang="zh-CN" sz="2800" i="1"/>
              <a:t>A</a:t>
            </a:r>
            <a:r>
              <a:rPr lang="en-US" altLang="zh-CN" sz="2800"/>
              <a:t> be a set with |</a:t>
            </a:r>
            <a:r>
              <a:rPr lang="en-US" altLang="zh-CN" sz="2800" i="1"/>
              <a:t>A</a:t>
            </a:r>
            <a:r>
              <a:rPr lang="en-US" altLang="zh-CN" sz="2800"/>
              <a:t>|=</a:t>
            </a:r>
            <a:r>
              <a:rPr lang="en-US" altLang="zh-CN" sz="2800" i="1"/>
              <a:t>n</a:t>
            </a:r>
            <a:r>
              <a:rPr lang="en-US" altLang="zh-CN" sz="2800"/>
              <a:t>, and let </a:t>
            </a:r>
            <a:r>
              <a:rPr lang="en-US" altLang="zh-CN" sz="2800" i="1"/>
              <a:t>R</a:t>
            </a:r>
            <a:r>
              <a:rPr lang="en-US" altLang="zh-CN" sz="2800"/>
              <a:t> be a relation on </a:t>
            </a:r>
            <a:r>
              <a:rPr lang="en-US" altLang="zh-CN" sz="2800" i="1"/>
              <a:t>A</a:t>
            </a:r>
            <a:r>
              <a:rPr lang="en-US" altLang="zh-CN" sz="2800"/>
              <a:t>. Then</a:t>
            </a:r>
          </a:p>
        </p:txBody>
      </p:sp>
      <p:graphicFrame>
        <p:nvGraphicFramePr>
          <p:cNvPr id="6" name="Object 4">
            <a:extLst>
              <a:ext uri="{FF2B5EF4-FFF2-40B4-BE49-F238E27FC236}">
                <a16:creationId xmlns:a16="http://schemas.microsoft.com/office/drawing/2014/main" id="{57173CD9-6582-496A-AB4A-D0E1D81F0B94}"/>
              </a:ext>
            </a:extLst>
          </p:cNvPr>
          <p:cNvGraphicFramePr>
            <a:graphicFrameLocks noChangeAspect="1"/>
          </p:cNvGraphicFramePr>
          <p:nvPr>
            <p:extLst>
              <p:ext uri="{D42A27DB-BD31-4B8C-83A1-F6EECF244321}">
                <p14:modId xmlns:p14="http://schemas.microsoft.com/office/powerpoint/2010/main" val="1939304215"/>
              </p:ext>
            </p:extLst>
          </p:nvPr>
        </p:nvGraphicFramePr>
        <p:xfrm>
          <a:off x="3709190" y="2092056"/>
          <a:ext cx="4773613" cy="1131888"/>
        </p:xfrm>
        <a:graphic>
          <a:graphicData uri="http://schemas.openxmlformats.org/presentationml/2006/ole">
            <mc:AlternateContent xmlns:mc="http://schemas.openxmlformats.org/markup-compatibility/2006">
              <mc:Choice xmlns:v="urn:schemas-microsoft-com:vml" Requires="v">
                <p:oleObj r:id="rId3" imgW="1893122" imgH="431987" progId="Equation.DSMT4">
                  <p:embed/>
                </p:oleObj>
              </mc:Choice>
              <mc:Fallback>
                <p:oleObj r:id="rId3" imgW="1893122" imgH="431987" progId="Equation.DSMT4">
                  <p:embed/>
                  <p:pic>
                    <p:nvPicPr>
                      <p:cNvPr id="91140" name="Object 4">
                        <a:extLst>
                          <a:ext uri="{FF2B5EF4-FFF2-40B4-BE49-F238E27FC236}">
                            <a16:creationId xmlns:a16="http://schemas.microsoft.com/office/drawing/2014/main" id="{9E696792-BFB8-477B-80C2-1AEC66BEE5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09190" y="2092056"/>
                        <a:ext cx="4773613" cy="1131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9752683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09107" y="0"/>
            <a:ext cx="11056470" cy="739754"/>
          </a:xfrm>
          <a:prstGeom prst="rect">
            <a:avLst/>
          </a:prstGeom>
          <a:noFill/>
        </p:spPr>
        <p:txBody>
          <a:bodyPr wrap="square" rtlCol="0">
            <a:spAutoFit/>
          </a:bodyPr>
          <a:lstStyle/>
          <a:p>
            <a:pPr>
              <a:lnSpc>
                <a:spcPct val="150000"/>
              </a:lnSpc>
            </a:pPr>
            <a:r>
              <a:rPr lang="en-US" altLang="zh-CN" sz="3200"/>
              <a:t>9.4.4 </a:t>
            </a:r>
            <a:r>
              <a:rPr lang="en-US" altLang="zh-CN" sz="3200" dirty="0"/>
              <a:t>Transitive Closures </a:t>
            </a:r>
            <a:r>
              <a:rPr lang="en-US" altLang="zh-CN" sz="2000" dirty="0"/>
              <a:t>—  </a:t>
            </a:r>
            <a:r>
              <a:rPr lang="en-US" altLang="zh-CN" sz="3200" dirty="0"/>
              <a:t>Proof</a:t>
            </a:r>
          </a:p>
        </p:txBody>
      </p:sp>
      <p:sp>
        <p:nvSpPr>
          <p:cNvPr id="4" name="Rectangle 3">
            <a:extLst>
              <a:ext uri="{FF2B5EF4-FFF2-40B4-BE49-F238E27FC236}">
                <a16:creationId xmlns:a16="http://schemas.microsoft.com/office/drawing/2014/main" id="{1735849B-72CD-45EA-9513-85E3C008A716}"/>
              </a:ext>
            </a:extLst>
          </p:cNvPr>
          <p:cNvSpPr txBox="1">
            <a:spLocks noChangeArrowheads="1"/>
          </p:cNvSpPr>
          <p:nvPr/>
        </p:nvSpPr>
        <p:spPr bwMode="auto">
          <a:xfrm>
            <a:off x="567293" y="1912161"/>
            <a:ext cx="11055531" cy="3787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eaLnBrk="1" hangingPunct="1"/>
            <a:endParaRPr lang="en-US" altLang="zh-CN" sz="2800" dirty="0"/>
          </a:p>
          <a:p>
            <a:pPr eaLnBrk="1" hangingPunct="1"/>
            <a:endParaRPr lang="en-US" altLang="zh-CN" sz="2800" dirty="0"/>
          </a:p>
          <a:p>
            <a:pPr eaLnBrk="1" hangingPunct="1"/>
            <a:endParaRPr lang="en-US" altLang="zh-CN" sz="2800" dirty="0"/>
          </a:p>
          <a:p>
            <a:pPr eaLnBrk="1" hangingPunct="1">
              <a:lnSpc>
                <a:spcPct val="150000"/>
              </a:lnSpc>
            </a:pPr>
            <a:r>
              <a:rPr lang="en-US" altLang="zh-CN" sz="2800" dirty="0"/>
              <a:t>The equality will hold, if, for </a:t>
            </a:r>
            <a:r>
              <a:rPr lang="en-US" altLang="zh-CN" sz="2800" i="1" dirty="0" err="1"/>
              <a:t>k</a:t>
            </a:r>
            <a:r>
              <a:rPr lang="en-US" altLang="zh-CN" sz="2800" dirty="0" err="1">
                <a:sym typeface="Symbol" panose="05050102010706020507" pitchFamily="18" charset="2"/>
              </a:rPr>
              <a:t></a:t>
            </a:r>
            <a:r>
              <a:rPr lang="en-US" altLang="zh-CN" sz="2800" i="1" dirty="0" err="1">
                <a:sym typeface="Symbol" panose="05050102010706020507" pitchFamily="18" charset="2"/>
              </a:rPr>
              <a:t>n</a:t>
            </a:r>
            <a:r>
              <a:rPr lang="en-US" altLang="zh-CN" sz="2800" dirty="0">
                <a:sym typeface="Symbol" panose="05050102010706020507" pitchFamily="18" charset="2"/>
              </a:rPr>
              <a:t>&lt;</a:t>
            </a:r>
            <a:r>
              <a:rPr lang="en-US" altLang="zh-CN" sz="2800" i="1" dirty="0">
                <a:sym typeface="Symbol" panose="05050102010706020507" pitchFamily="18" charset="2"/>
              </a:rPr>
              <a:t>m,</a:t>
            </a:r>
            <a:r>
              <a:rPr lang="en-US" altLang="zh-CN" sz="2800" dirty="0"/>
              <a:t> we have</a:t>
            </a:r>
            <a:endParaRPr lang="en-US" altLang="zh-CN" sz="2800" i="1" dirty="0"/>
          </a:p>
          <a:p>
            <a:pPr lvl="1" eaLnBrk="1" hangingPunct="1">
              <a:lnSpc>
                <a:spcPct val="150000"/>
              </a:lnSpc>
            </a:pPr>
            <a:r>
              <a:rPr lang="en-US" altLang="zh-CN" sz="2400" i="1" dirty="0"/>
              <a:t>R</a:t>
            </a:r>
            <a:r>
              <a:rPr lang="en-US" altLang="zh-CN" sz="2400" i="1" baseline="30000" dirty="0"/>
              <a:t>m </a:t>
            </a:r>
            <a:r>
              <a:rPr lang="en-US" altLang="zh-CN" sz="2400" dirty="0">
                <a:sym typeface="Symbol" panose="05050102010706020507" pitchFamily="18" charset="2"/>
              </a:rPr>
              <a:t> </a:t>
            </a:r>
            <a:r>
              <a:rPr lang="en-US" altLang="zh-CN" sz="2400" i="1" dirty="0" err="1"/>
              <a:t>R</a:t>
            </a:r>
            <a:r>
              <a:rPr lang="en-US" altLang="zh-CN" sz="2400" i="1" baseline="30000" dirty="0" err="1"/>
              <a:t>k</a:t>
            </a:r>
            <a:endParaRPr lang="en-US" altLang="zh-CN" sz="2400" dirty="0"/>
          </a:p>
          <a:p>
            <a:pPr lvl="1" eaLnBrk="1" hangingPunct="1">
              <a:lnSpc>
                <a:spcPct val="150000"/>
              </a:lnSpc>
            </a:pPr>
            <a:r>
              <a:rPr lang="en-US" altLang="zh-CN" sz="2400" dirty="0"/>
              <a:t>(</a:t>
            </a:r>
            <a:r>
              <a:rPr lang="en-US" altLang="zh-CN" sz="2400" i="1" dirty="0"/>
              <a:t>a</a:t>
            </a:r>
            <a:r>
              <a:rPr lang="en-US" altLang="zh-CN" sz="2400" dirty="0"/>
              <a:t>, </a:t>
            </a:r>
            <a:r>
              <a:rPr lang="en-US" altLang="zh-CN" sz="2400" i="1" dirty="0"/>
              <a:t>b</a:t>
            </a:r>
            <a:r>
              <a:rPr lang="en-US" altLang="zh-CN" sz="2400" dirty="0"/>
              <a:t>) </a:t>
            </a:r>
            <a:r>
              <a:rPr lang="en-US" altLang="zh-CN" sz="2400" dirty="0">
                <a:sym typeface="Symbol" panose="05050102010706020507" pitchFamily="18" charset="2"/>
              </a:rPr>
              <a:t></a:t>
            </a:r>
            <a:r>
              <a:rPr lang="en-US" altLang="zh-CN" sz="2400" dirty="0"/>
              <a:t> </a:t>
            </a:r>
            <a:r>
              <a:rPr lang="en-US" altLang="zh-CN" sz="2400" i="1" dirty="0"/>
              <a:t>R</a:t>
            </a:r>
            <a:r>
              <a:rPr lang="en-US" altLang="zh-CN" sz="2400" i="1" baseline="30000" dirty="0"/>
              <a:t>m </a:t>
            </a:r>
            <a:r>
              <a:rPr lang="en-US" altLang="zh-CN" sz="2400" dirty="0">
                <a:latin typeface="Euclid" pitchFamily="18" charset="0"/>
                <a:sym typeface="Symbol" panose="05050102010706020507" pitchFamily="18" charset="2"/>
              </a:rPr>
              <a:t></a:t>
            </a:r>
            <a:r>
              <a:rPr lang="en-US" altLang="zh-CN" sz="2400" i="1" baseline="30000" dirty="0"/>
              <a:t> </a:t>
            </a:r>
            <a:r>
              <a:rPr lang="en-US" altLang="zh-CN" sz="2400" dirty="0"/>
              <a:t>(</a:t>
            </a:r>
            <a:r>
              <a:rPr lang="en-US" altLang="zh-CN" sz="2400" i="1" dirty="0"/>
              <a:t>a</a:t>
            </a:r>
            <a:r>
              <a:rPr lang="en-US" altLang="zh-CN" sz="2400" dirty="0"/>
              <a:t>, </a:t>
            </a:r>
            <a:r>
              <a:rPr lang="en-US" altLang="zh-CN" sz="2400" i="1" dirty="0"/>
              <a:t>b</a:t>
            </a:r>
            <a:r>
              <a:rPr lang="en-US" altLang="zh-CN" sz="2400" dirty="0"/>
              <a:t>) </a:t>
            </a:r>
            <a:r>
              <a:rPr lang="en-US" altLang="zh-CN" sz="2400" dirty="0">
                <a:sym typeface="Symbol" panose="05050102010706020507" pitchFamily="18" charset="2"/>
              </a:rPr>
              <a:t></a:t>
            </a:r>
            <a:r>
              <a:rPr lang="en-US" altLang="zh-CN" sz="2400" dirty="0"/>
              <a:t> </a:t>
            </a:r>
            <a:r>
              <a:rPr lang="en-US" altLang="zh-CN" sz="2400" i="1" dirty="0" err="1"/>
              <a:t>R</a:t>
            </a:r>
            <a:r>
              <a:rPr lang="en-US" altLang="zh-CN" sz="2400" i="1" baseline="30000" dirty="0" err="1"/>
              <a:t>k</a:t>
            </a:r>
            <a:endParaRPr lang="en-US" altLang="zh-CN" sz="2400" i="1" baseline="30000" dirty="0"/>
          </a:p>
        </p:txBody>
      </p:sp>
      <p:graphicFrame>
        <p:nvGraphicFramePr>
          <p:cNvPr id="5" name="Object 4">
            <a:extLst>
              <a:ext uri="{FF2B5EF4-FFF2-40B4-BE49-F238E27FC236}">
                <a16:creationId xmlns:a16="http://schemas.microsoft.com/office/drawing/2014/main" id="{06366BD8-FB58-40D0-A325-9EC52249DD26}"/>
              </a:ext>
            </a:extLst>
          </p:cNvPr>
          <p:cNvGraphicFramePr>
            <a:graphicFrameLocks noChangeAspect="1"/>
          </p:cNvGraphicFramePr>
          <p:nvPr>
            <p:extLst>
              <p:ext uri="{D42A27DB-BD31-4B8C-83A1-F6EECF244321}">
                <p14:modId xmlns:p14="http://schemas.microsoft.com/office/powerpoint/2010/main" val="864706043"/>
              </p:ext>
            </p:extLst>
          </p:nvPr>
        </p:nvGraphicFramePr>
        <p:xfrm>
          <a:off x="3959799" y="1158536"/>
          <a:ext cx="4272402" cy="2007106"/>
        </p:xfrm>
        <a:graphic>
          <a:graphicData uri="http://schemas.openxmlformats.org/presentationml/2006/ole">
            <mc:AlternateContent xmlns:mc="http://schemas.openxmlformats.org/markup-compatibility/2006">
              <mc:Choice xmlns:v="urn:schemas-microsoft-com:vml" Requires="v">
                <p:oleObj r:id="rId3" imgW="1893122" imgH="889386" progId="Equation.DSMT4">
                  <p:embed/>
                </p:oleObj>
              </mc:Choice>
              <mc:Fallback>
                <p:oleObj r:id="rId3" imgW="1893122" imgH="889386" progId="Equation.DSMT4">
                  <p:embed/>
                  <p:pic>
                    <p:nvPicPr>
                      <p:cNvPr id="92164" name="Object 4">
                        <a:extLst>
                          <a:ext uri="{FF2B5EF4-FFF2-40B4-BE49-F238E27FC236}">
                            <a16:creationId xmlns:a16="http://schemas.microsoft.com/office/drawing/2014/main" id="{E3FE98E1-000E-4A14-B584-6F73431569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9799" y="1158536"/>
                        <a:ext cx="4272402" cy="2007106"/>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4005823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09107" y="0"/>
            <a:ext cx="11056470" cy="739754"/>
          </a:xfrm>
          <a:prstGeom prst="rect">
            <a:avLst/>
          </a:prstGeom>
          <a:noFill/>
        </p:spPr>
        <p:txBody>
          <a:bodyPr wrap="square" rtlCol="0">
            <a:spAutoFit/>
          </a:bodyPr>
          <a:lstStyle/>
          <a:p>
            <a:pPr>
              <a:lnSpc>
                <a:spcPct val="150000"/>
              </a:lnSpc>
            </a:pPr>
            <a:r>
              <a:rPr lang="en-US" altLang="zh-CN" sz="3200"/>
              <a:t>9.4.4 </a:t>
            </a:r>
            <a:r>
              <a:rPr lang="en-US" altLang="zh-CN" sz="3200" dirty="0"/>
              <a:t>Transitive Closures </a:t>
            </a:r>
            <a:r>
              <a:rPr lang="en-US" altLang="zh-CN" sz="2000" dirty="0"/>
              <a:t>—  </a:t>
            </a:r>
            <a:r>
              <a:rPr lang="en-US" altLang="zh-CN" sz="3200" dirty="0"/>
              <a:t>Proof</a:t>
            </a:r>
          </a:p>
        </p:txBody>
      </p:sp>
      <p:sp>
        <p:nvSpPr>
          <p:cNvPr id="4" name="Rectangle 3">
            <a:extLst>
              <a:ext uri="{FF2B5EF4-FFF2-40B4-BE49-F238E27FC236}">
                <a16:creationId xmlns:a16="http://schemas.microsoft.com/office/drawing/2014/main" id="{1735849B-72CD-45EA-9513-85E3C008A716}"/>
              </a:ext>
            </a:extLst>
          </p:cNvPr>
          <p:cNvSpPr txBox="1">
            <a:spLocks noChangeArrowheads="1"/>
          </p:cNvSpPr>
          <p:nvPr/>
        </p:nvSpPr>
        <p:spPr bwMode="auto">
          <a:xfrm>
            <a:off x="568234" y="1190266"/>
            <a:ext cx="11055531" cy="4748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eaLnBrk="1" hangingPunct="1">
              <a:lnSpc>
                <a:spcPct val="150000"/>
              </a:lnSpc>
            </a:pPr>
            <a:r>
              <a:rPr lang="en-US" altLang="zh-CN"/>
              <a:t>Let </a:t>
            </a:r>
            <a:r>
              <a:rPr lang="en-US" altLang="zh-CN" i="1"/>
              <a:t>a</a:t>
            </a:r>
            <a:r>
              <a:rPr lang="en-US" altLang="zh-CN"/>
              <a:t> and </a:t>
            </a:r>
            <a:r>
              <a:rPr lang="en-US" altLang="zh-CN" i="1"/>
              <a:t>b</a:t>
            </a:r>
            <a:r>
              <a:rPr lang="en-US" altLang="zh-CN"/>
              <a:t> be </a:t>
            </a:r>
            <a:r>
              <a:rPr lang="en-US" altLang="zh-CN" i="1"/>
              <a:t>A</a:t>
            </a:r>
            <a:r>
              <a:rPr lang="en-US" altLang="zh-CN"/>
              <a:t> and suppose that </a:t>
            </a:r>
            <a:r>
              <a:rPr lang="en-US" altLang="zh-CN" i="1"/>
              <a:t>a</a:t>
            </a:r>
            <a:r>
              <a:rPr lang="en-US" altLang="zh-CN"/>
              <a:t>, </a:t>
            </a:r>
            <a:r>
              <a:rPr lang="en-US" altLang="zh-CN" i="1"/>
              <a:t>x</a:t>
            </a:r>
            <a:r>
              <a:rPr lang="en-US" altLang="zh-CN" baseline="-25000"/>
              <a:t>1</a:t>
            </a:r>
            <a:r>
              <a:rPr lang="en-US" altLang="zh-CN"/>
              <a:t>, </a:t>
            </a:r>
            <a:r>
              <a:rPr lang="en-US" altLang="zh-CN" i="1"/>
              <a:t>x</a:t>
            </a:r>
            <a:r>
              <a:rPr lang="en-US" altLang="zh-CN" baseline="-25000"/>
              <a:t>2</a:t>
            </a:r>
            <a:r>
              <a:rPr lang="en-US" altLang="zh-CN"/>
              <a:t>, …, </a:t>
            </a:r>
            <a:r>
              <a:rPr lang="en-US" altLang="zh-CN" i="1"/>
              <a:t>x</a:t>
            </a:r>
            <a:r>
              <a:rPr lang="en-US" altLang="zh-CN" i="1" baseline="-25000"/>
              <a:t>m</a:t>
            </a:r>
            <a:r>
              <a:rPr lang="en-US" altLang="zh-CN" baseline="-25000"/>
              <a:t>-1</a:t>
            </a:r>
            <a:r>
              <a:rPr lang="en-US" altLang="zh-CN"/>
              <a:t>, </a:t>
            </a:r>
            <a:r>
              <a:rPr lang="en-US" altLang="zh-CN" i="1"/>
              <a:t>b</a:t>
            </a:r>
            <a:r>
              <a:rPr lang="en-US" altLang="zh-CN"/>
              <a:t> is a path of length </a:t>
            </a:r>
            <a:r>
              <a:rPr lang="en-US" altLang="zh-CN" i="1"/>
              <a:t>m</a:t>
            </a:r>
            <a:r>
              <a:rPr lang="en-US" altLang="zh-CN"/>
              <a:t> from </a:t>
            </a:r>
            <a:r>
              <a:rPr lang="en-US" altLang="zh-CN" i="1"/>
              <a:t>a</a:t>
            </a:r>
            <a:r>
              <a:rPr lang="en-US" altLang="zh-CN"/>
              <a:t> to </a:t>
            </a:r>
            <a:r>
              <a:rPr lang="en-US" altLang="zh-CN" i="1"/>
              <a:t>b</a:t>
            </a:r>
            <a:r>
              <a:rPr lang="en-US" altLang="zh-CN"/>
              <a:t> in </a:t>
            </a:r>
            <a:r>
              <a:rPr lang="en-US" altLang="zh-CN" i="1"/>
              <a:t>R</a:t>
            </a:r>
            <a:r>
              <a:rPr lang="en-US" altLang="zh-CN"/>
              <a:t> </a:t>
            </a:r>
          </a:p>
          <a:p>
            <a:pPr lvl="1" eaLnBrk="1" hangingPunct="1">
              <a:lnSpc>
                <a:spcPct val="150000"/>
              </a:lnSpc>
            </a:pPr>
            <a:r>
              <a:rPr lang="en-US" altLang="zh-CN"/>
              <a:t>(</a:t>
            </a:r>
            <a:r>
              <a:rPr lang="en-US" altLang="zh-CN" i="1"/>
              <a:t>a</a:t>
            </a:r>
            <a:r>
              <a:rPr lang="en-US" altLang="zh-CN"/>
              <a:t>, </a:t>
            </a:r>
            <a:r>
              <a:rPr lang="en-US" altLang="zh-CN" i="1"/>
              <a:t>x</a:t>
            </a:r>
            <a:r>
              <a:rPr lang="en-US" altLang="zh-CN" baseline="-25000"/>
              <a:t>1</a:t>
            </a:r>
            <a:r>
              <a:rPr lang="en-US" altLang="zh-CN"/>
              <a:t>) </a:t>
            </a:r>
            <a:r>
              <a:rPr lang="en-US" altLang="zh-CN">
                <a:sym typeface="Symbol" panose="05050102010706020507" pitchFamily="18" charset="2"/>
              </a:rPr>
              <a:t></a:t>
            </a:r>
            <a:r>
              <a:rPr lang="en-US" altLang="zh-CN" i="1"/>
              <a:t>R</a:t>
            </a:r>
          </a:p>
          <a:p>
            <a:pPr lvl="1" eaLnBrk="1" hangingPunct="1">
              <a:lnSpc>
                <a:spcPct val="150000"/>
              </a:lnSpc>
            </a:pPr>
            <a:r>
              <a:rPr lang="en-US" altLang="zh-CN"/>
              <a:t>(</a:t>
            </a:r>
            <a:r>
              <a:rPr lang="en-US" altLang="zh-CN" i="1"/>
              <a:t>x</a:t>
            </a:r>
            <a:r>
              <a:rPr lang="en-US" altLang="zh-CN" baseline="-25000"/>
              <a:t>1</a:t>
            </a:r>
            <a:r>
              <a:rPr lang="en-US" altLang="zh-CN"/>
              <a:t>, </a:t>
            </a:r>
            <a:r>
              <a:rPr lang="en-US" altLang="zh-CN" i="1"/>
              <a:t>x</a:t>
            </a:r>
            <a:r>
              <a:rPr lang="en-US" altLang="zh-CN" baseline="-25000"/>
              <a:t>2</a:t>
            </a:r>
            <a:r>
              <a:rPr lang="en-US" altLang="zh-CN"/>
              <a:t>) </a:t>
            </a:r>
            <a:r>
              <a:rPr lang="en-US" altLang="zh-CN">
                <a:sym typeface="Symbol" panose="05050102010706020507" pitchFamily="18" charset="2"/>
              </a:rPr>
              <a:t></a:t>
            </a:r>
            <a:r>
              <a:rPr lang="en-US" altLang="zh-CN" i="1"/>
              <a:t>R</a:t>
            </a:r>
          </a:p>
          <a:p>
            <a:pPr lvl="1" eaLnBrk="1" hangingPunct="1">
              <a:lnSpc>
                <a:spcPct val="150000"/>
              </a:lnSpc>
            </a:pPr>
            <a:r>
              <a:rPr lang="en-US" altLang="zh-CN"/>
              <a:t>…</a:t>
            </a:r>
          </a:p>
          <a:p>
            <a:pPr lvl="1" eaLnBrk="1" hangingPunct="1">
              <a:lnSpc>
                <a:spcPct val="150000"/>
              </a:lnSpc>
            </a:pPr>
            <a:r>
              <a:rPr lang="en-US" altLang="zh-CN"/>
              <a:t>(</a:t>
            </a:r>
            <a:r>
              <a:rPr lang="en-US" altLang="zh-CN" i="1"/>
              <a:t>x</a:t>
            </a:r>
            <a:r>
              <a:rPr lang="en-US" altLang="zh-CN" i="1" baseline="-25000"/>
              <a:t>m</a:t>
            </a:r>
            <a:r>
              <a:rPr lang="en-US" altLang="zh-CN" baseline="-25000"/>
              <a:t>-1</a:t>
            </a:r>
            <a:r>
              <a:rPr lang="en-US" altLang="zh-CN"/>
              <a:t>, </a:t>
            </a:r>
            <a:r>
              <a:rPr lang="en-US" altLang="zh-CN" i="1"/>
              <a:t>b</a:t>
            </a:r>
            <a:r>
              <a:rPr lang="en-US" altLang="zh-CN"/>
              <a:t>) </a:t>
            </a:r>
            <a:r>
              <a:rPr lang="en-US" altLang="zh-CN">
                <a:sym typeface="Symbol" panose="05050102010706020507" pitchFamily="18" charset="2"/>
              </a:rPr>
              <a:t></a:t>
            </a:r>
            <a:r>
              <a:rPr lang="en-US" altLang="zh-CN" i="1"/>
              <a:t>R</a:t>
            </a:r>
          </a:p>
        </p:txBody>
      </p:sp>
    </p:spTree>
    <p:extLst>
      <p:ext uri="{BB962C8B-B14F-4D97-AF65-F5344CB8AC3E}">
        <p14:creationId xmlns:p14="http://schemas.microsoft.com/office/powerpoint/2010/main" val="17586263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09107" y="0"/>
            <a:ext cx="11056470" cy="739754"/>
          </a:xfrm>
          <a:prstGeom prst="rect">
            <a:avLst/>
          </a:prstGeom>
          <a:noFill/>
        </p:spPr>
        <p:txBody>
          <a:bodyPr wrap="square" rtlCol="0">
            <a:spAutoFit/>
          </a:bodyPr>
          <a:lstStyle/>
          <a:p>
            <a:pPr>
              <a:lnSpc>
                <a:spcPct val="150000"/>
              </a:lnSpc>
            </a:pPr>
            <a:r>
              <a:rPr lang="en-US" altLang="zh-CN" sz="3200" dirty="0"/>
              <a:t>9.4.4 Transitive Closures </a:t>
            </a:r>
            <a:r>
              <a:rPr lang="en-US" altLang="zh-CN" sz="2000" dirty="0"/>
              <a:t>—  </a:t>
            </a:r>
            <a:r>
              <a:rPr lang="en-US" altLang="zh-CN" sz="3200" dirty="0"/>
              <a:t>Proof</a:t>
            </a:r>
          </a:p>
        </p:txBody>
      </p:sp>
      <p:sp>
        <p:nvSpPr>
          <p:cNvPr id="4" name="Rectangle 3">
            <a:extLst>
              <a:ext uri="{FF2B5EF4-FFF2-40B4-BE49-F238E27FC236}">
                <a16:creationId xmlns:a16="http://schemas.microsoft.com/office/drawing/2014/main" id="{1735849B-72CD-45EA-9513-85E3C008A716}"/>
              </a:ext>
            </a:extLst>
          </p:cNvPr>
          <p:cNvSpPr txBox="1">
            <a:spLocks noChangeArrowheads="1"/>
          </p:cNvSpPr>
          <p:nvPr/>
        </p:nvSpPr>
        <p:spPr bwMode="auto">
          <a:xfrm>
            <a:off x="568234" y="598958"/>
            <a:ext cx="11414659" cy="6118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eaLnBrk="1" hangingPunct="1">
              <a:lnSpc>
                <a:spcPct val="150000"/>
              </a:lnSpc>
            </a:pPr>
            <a:r>
              <a:rPr lang="en-US" altLang="zh-CN" sz="2800"/>
              <a:t>There are m+1 elements in the path, but we have only n distinct elements in A.</a:t>
            </a:r>
          </a:p>
          <a:p>
            <a:pPr lvl="1">
              <a:lnSpc>
                <a:spcPct val="150000"/>
              </a:lnSpc>
            </a:pPr>
            <a:r>
              <a:rPr lang="en-US" altLang="zh-CN" sz="2400"/>
              <a:t>So, there must be some same vertex in the path, say xi = xj = c, i&lt;j</a:t>
            </a:r>
          </a:p>
          <a:p>
            <a:pPr lvl="2" eaLnBrk="1" hangingPunct="1">
              <a:lnSpc>
                <a:spcPct val="150000"/>
              </a:lnSpc>
            </a:pPr>
            <a:r>
              <a:rPr lang="en-US" altLang="zh-CN" sz="1600"/>
              <a:t>(</a:t>
            </a:r>
            <a:r>
              <a:rPr lang="en-US" altLang="zh-CN" sz="1600" i="1"/>
              <a:t>a</a:t>
            </a:r>
            <a:r>
              <a:rPr lang="en-US" altLang="zh-CN" sz="1600"/>
              <a:t>, </a:t>
            </a:r>
            <a:r>
              <a:rPr lang="en-US" altLang="zh-CN" sz="1600" i="1"/>
              <a:t>x</a:t>
            </a:r>
            <a:r>
              <a:rPr lang="en-US" altLang="zh-CN" sz="1600" baseline="-25000"/>
              <a:t>1</a:t>
            </a:r>
            <a:r>
              <a:rPr lang="en-US" altLang="zh-CN" sz="1600"/>
              <a:t>) </a:t>
            </a:r>
            <a:r>
              <a:rPr lang="en-US" altLang="zh-CN" sz="1600">
                <a:sym typeface="Symbol" panose="05050102010706020507" pitchFamily="18" charset="2"/>
              </a:rPr>
              <a:t></a:t>
            </a:r>
            <a:r>
              <a:rPr lang="en-US" altLang="zh-CN" sz="1600" i="1"/>
              <a:t>R</a:t>
            </a:r>
          </a:p>
          <a:p>
            <a:pPr lvl="2" eaLnBrk="1" hangingPunct="1">
              <a:lnSpc>
                <a:spcPct val="150000"/>
              </a:lnSpc>
            </a:pPr>
            <a:r>
              <a:rPr lang="en-US" altLang="zh-CN" sz="1600"/>
              <a:t>(</a:t>
            </a:r>
            <a:r>
              <a:rPr lang="en-US" altLang="zh-CN" sz="1600" i="1"/>
              <a:t>x</a:t>
            </a:r>
            <a:r>
              <a:rPr lang="en-US" altLang="zh-CN" sz="1600" baseline="-25000"/>
              <a:t>1</a:t>
            </a:r>
            <a:r>
              <a:rPr lang="en-US" altLang="zh-CN" sz="1600"/>
              <a:t>, </a:t>
            </a:r>
            <a:r>
              <a:rPr lang="en-US" altLang="zh-CN" sz="1600" i="1"/>
              <a:t>x</a:t>
            </a:r>
            <a:r>
              <a:rPr lang="en-US" altLang="zh-CN" sz="1600" baseline="-25000"/>
              <a:t>2</a:t>
            </a:r>
            <a:r>
              <a:rPr lang="en-US" altLang="zh-CN" sz="1600"/>
              <a:t>) </a:t>
            </a:r>
            <a:r>
              <a:rPr lang="en-US" altLang="zh-CN" sz="1600">
                <a:sym typeface="Symbol" panose="05050102010706020507" pitchFamily="18" charset="2"/>
              </a:rPr>
              <a:t></a:t>
            </a:r>
            <a:r>
              <a:rPr lang="en-US" altLang="zh-CN" sz="1600" i="1"/>
              <a:t>R</a:t>
            </a:r>
          </a:p>
          <a:p>
            <a:pPr lvl="2" eaLnBrk="1" hangingPunct="1">
              <a:lnSpc>
                <a:spcPct val="150000"/>
              </a:lnSpc>
            </a:pPr>
            <a:r>
              <a:rPr lang="en-US" altLang="zh-CN" sz="1600"/>
              <a:t>…</a:t>
            </a:r>
          </a:p>
          <a:p>
            <a:pPr lvl="2" eaLnBrk="1" hangingPunct="1">
              <a:lnSpc>
                <a:spcPct val="150000"/>
              </a:lnSpc>
            </a:pPr>
            <a:r>
              <a:rPr lang="en-US" altLang="zh-CN" sz="1600"/>
              <a:t>(</a:t>
            </a:r>
            <a:r>
              <a:rPr lang="en-US" altLang="zh-CN" sz="1600" i="1"/>
              <a:t>x</a:t>
            </a:r>
            <a:r>
              <a:rPr lang="en-US" altLang="zh-CN" sz="1600" i="1" baseline="-25000"/>
              <a:t>i</a:t>
            </a:r>
            <a:r>
              <a:rPr lang="en-US" altLang="zh-CN" sz="1600" baseline="-25000"/>
              <a:t>-1</a:t>
            </a:r>
            <a:r>
              <a:rPr lang="en-US" altLang="zh-CN" sz="1600"/>
              <a:t>, </a:t>
            </a:r>
            <a:r>
              <a:rPr lang="en-US" altLang="zh-CN" sz="1600" i="1"/>
              <a:t>x</a:t>
            </a:r>
            <a:r>
              <a:rPr lang="en-US" altLang="zh-CN" sz="1600" i="1" baseline="-25000"/>
              <a:t>i</a:t>
            </a:r>
            <a:r>
              <a:rPr lang="en-US" altLang="zh-CN" sz="1600"/>
              <a:t>) </a:t>
            </a:r>
            <a:r>
              <a:rPr lang="en-US" altLang="zh-CN" sz="1600">
                <a:sym typeface="Symbol" panose="05050102010706020507" pitchFamily="18" charset="2"/>
              </a:rPr>
              <a:t></a:t>
            </a:r>
            <a:r>
              <a:rPr lang="en-US" altLang="zh-CN" sz="1600" i="1"/>
              <a:t>R</a:t>
            </a:r>
          </a:p>
          <a:p>
            <a:pPr lvl="2" eaLnBrk="1" hangingPunct="1">
              <a:lnSpc>
                <a:spcPct val="150000"/>
              </a:lnSpc>
            </a:pPr>
            <a:r>
              <a:rPr lang="en-US" altLang="zh-CN" sz="1600">
                <a:solidFill>
                  <a:schemeClr val="hlink"/>
                </a:solidFill>
              </a:rPr>
              <a:t>(</a:t>
            </a:r>
            <a:r>
              <a:rPr lang="en-US" altLang="zh-CN" sz="1600" i="1">
                <a:solidFill>
                  <a:schemeClr val="hlink"/>
                </a:solidFill>
              </a:rPr>
              <a:t>x</a:t>
            </a:r>
            <a:r>
              <a:rPr lang="en-US" altLang="zh-CN" sz="1600" i="1" baseline="-25000">
                <a:solidFill>
                  <a:schemeClr val="hlink"/>
                </a:solidFill>
              </a:rPr>
              <a:t>i</a:t>
            </a:r>
            <a:r>
              <a:rPr lang="en-US" altLang="zh-CN" sz="1600">
                <a:solidFill>
                  <a:schemeClr val="hlink"/>
                </a:solidFill>
              </a:rPr>
              <a:t>, </a:t>
            </a:r>
            <a:r>
              <a:rPr lang="en-US" altLang="zh-CN" sz="1600" i="1">
                <a:solidFill>
                  <a:schemeClr val="hlink"/>
                </a:solidFill>
              </a:rPr>
              <a:t>x</a:t>
            </a:r>
            <a:r>
              <a:rPr lang="en-US" altLang="zh-CN" sz="1600" i="1" baseline="-25000">
                <a:solidFill>
                  <a:schemeClr val="hlink"/>
                </a:solidFill>
              </a:rPr>
              <a:t>i+</a:t>
            </a:r>
            <a:r>
              <a:rPr lang="en-US" altLang="zh-CN" sz="1600" baseline="-25000">
                <a:solidFill>
                  <a:schemeClr val="hlink"/>
                </a:solidFill>
              </a:rPr>
              <a:t>!</a:t>
            </a:r>
            <a:r>
              <a:rPr lang="en-US" altLang="zh-CN" sz="1600">
                <a:solidFill>
                  <a:schemeClr val="hlink"/>
                </a:solidFill>
              </a:rPr>
              <a:t>) </a:t>
            </a:r>
            <a:r>
              <a:rPr lang="en-US" altLang="zh-CN" sz="1600">
                <a:sym typeface="Symbol" panose="05050102010706020507" pitchFamily="18" charset="2"/>
              </a:rPr>
              <a:t></a:t>
            </a:r>
            <a:r>
              <a:rPr lang="en-US" altLang="zh-CN" sz="1600" i="1"/>
              <a:t>R</a:t>
            </a:r>
          </a:p>
          <a:p>
            <a:pPr lvl="2" eaLnBrk="1" hangingPunct="1">
              <a:lnSpc>
                <a:spcPct val="150000"/>
              </a:lnSpc>
            </a:pPr>
            <a:r>
              <a:rPr lang="en-US" altLang="zh-CN" sz="1600">
                <a:solidFill>
                  <a:schemeClr val="hlink"/>
                </a:solidFill>
              </a:rPr>
              <a:t>…</a:t>
            </a:r>
          </a:p>
          <a:p>
            <a:pPr lvl="2" eaLnBrk="1" hangingPunct="1">
              <a:lnSpc>
                <a:spcPct val="150000"/>
              </a:lnSpc>
            </a:pPr>
            <a:r>
              <a:rPr lang="en-US" altLang="zh-CN" sz="1600">
                <a:solidFill>
                  <a:schemeClr val="hlink"/>
                </a:solidFill>
              </a:rPr>
              <a:t>(</a:t>
            </a:r>
            <a:r>
              <a:rPr lang="en-US" altLang="zh-CN" sz="1600" i="1">
                <a:solidFill>
                  <a:schemeClr val="hlink"/>
                </a:solidFill>
              </a:rPr>
              <a:t>x</a:t>
            </a:r>
            <a:r>
              <a:rPr lang="en-US" altLang="zh-CN" sz="1600" i="1" baseline="-25000">
                <a:solidFill>
                  <a:schemeClr val="hlink"/>
                </a:solidFill>
              </a:rPr>
              <a:t>j-</a:t>
            </a:r>
            <a:r>
              <a:rPr lang="en-US" altLang="zh-CN" sz="1600" baseline="-25000">
                <a:solidFill>
                  <a:schemeClr val="hlink"/>
                </a:solidFill>
              </a:rPr>
              <a:t>1</a:t>
            </a:r>
            <a:r>
              <a:rPr lang="en-US" altLang="zh-CN" sz="1600">
                <a:solidFill>
                  <a:schemeClr val="hlink"/>
                </a:solidFill>
              </a:rPr>
              <a:t>, </a:t>
            </a:r>
            <a:r>
              <a:rPr lang="en-US" altLang="zh-CN" sz="1600" i="1">
                <a:solidFill>
                  <a:schemeClr val="hlink"/>
                </a:solidFill>
              </a:rPr>
              <a:t>x</a:t>
            </a:r>
            <a:r>
              <a:rPr lang="en-US" altLang="zh-CN" sz="1600" i="1" baseline="-25000">
                <a:solidFill>
                  <a:schemeClr val="hlink"/>
                </a:solidFill>
              </a:rPr>
              <a:t>j</a:t>
            </a:r>
            <a:r>
              <a:rPr lang="en-US" altLang="zh-CN" sz="1600">
                <a:solidFill>
                  <a:schemeClr val="hlink"/>
                </a:solidFill>
              </a:rPr>
              <a:t>) </a:t>
            </a:r>
            <a:r>
              <a:rPr lang="en-US" altLang="zh-CN" sz="1600">
                <a:sym typeface="Symbol" panose="05050102010706020507" pitchFamily="18" charset="2"/>
              </a:rPr>
              <a:t></a:t>
            </a:r>
            <a:r>
              <a:rPr lang="en-US" altLang="zh-CN" sz="1600" i="1"/>
              <a:t>R</a:t>
            </a:r>
          </a:p>
          <a:p>
            <a:pPr lvl="2" eaLnBrk="1" hangingPunct="1">
              <a:lnSpc>
                <a:spcPct val="150000"/>
              </a:lnSpc>
            </a:pPr>
            <a:r>
              <a:rPr lang="en-US" altLang="zh-CN" sz="1600"/>
              <a:t>(</a:t>
            </a:r>
            <a:r>
              <a:rPr lang="en-US" altLang="zh-CN" sz="1600" i="1"/>
              <a:t>x</a:t>
            </a:r>
            <a:r>
              <a:rPr lang="en-US" altLang="zh-CN" sz="1600" i="1" baseline="-25000"/>
              <a:t>j</a:t>
            </a:r>
            <a:r>
              <a:rPr lang="en-US" altLang="zh-CN" sz="1600"/>
              <a:t>, </a:t>
            </a:r>
            <a:r>
              <a:rPr lang="en-US" altLang="zh-CN" sz="1600" i="1"/>
              <a:t>x</a:t>
            </a:r>
            <a:r>
              <a:rPr lang="en-US" altLang="zh-CN" sz="1600" i="1" baseline="-25000"/>
              <a:t>j+</a:t>
            </a:r>
            <a:r>
              <a:rPr lang="en-US" altLang="zh-CN" sz="1600" baseline="-25000"/>
              <a:t>1</a:t>
            </a:r>
            <a:r>
              <a:rPr lang="en-US" altLang="zh-CN" sz="1600"/>
              <a:t>) </a:t>
            </a:r>
            <a:r>
              <a:rPr lang="en-US" altLang="zh-CN" sz="1600">
                <a:sym typeface="Symbol" panose="05050102010706020507" pitchFamily="18" charset="2"/>
              </a:rPr>
              <a:t></a:t>
            </a:r>
            <a:r>
              <a:rPr lang="en-US" altLang="zh-CN" sz="1600" i="1"/>
              <a:t>R</a:t>
            </a:r>
          </a:p>
          <a:p>
            <a:pPr lvl="2" eaLnBrk="1" hangingPunct="1">
              <a:lnSpc>
                <a:spcPct val="150000"/>
              </a:lnSpc>
            </a:pPr>
            <a:r>
              <a:rPr lang="en-US" altLang="zh-CN" sz="1600"/>
              <a:t>…</a:t>
            </a:r>
          </a:p>
          <a:p>
            <a:pPr lvl="2" eaLnBrk="1" hangingPunct="1">
              <a:lnSpc>
                <a:spcPct val="150000"/>
              </a:lnSpc>
            </a:pPr>
            <a:r>
              <a:rPr lang="en-US" altLang="zh-CN" sz="1600"/>
              <a:t>(</a:t>
            </a:r>
            <a:r>
              <a:rPr lang="en-US" altLang="zh-CN" sz="1600" i="1"/>
              <a:t>x</a:t>
            </a:r>
            <a:r>
              <a:rPr lang="en-US" altLang="zh-CN" sz="1600" i="1" baseline="-25000"/>
              <a:t>m</a:t>
            </a:r>
            <a:r>
              <a:rPr lang="en-US" altLang="zh-CN" sz="1600" baseline="-25000"/>
              <a:t>-1</a:t>
            </a:r>
            <a:r>
              <a:rPr lang="en-US" altLang="zh-CN" sz="1600"/>
              <a:t>, </a:t>
            </a:r>
            <a:r>
              <a:rPr lang="en-US" altLang="zh-CN" sz="1600" i="1"/>
              <a:t>b</a:t>
            </a:r>
            <a:r>
              <a:rPr lang="en-US" altLang="zh-CN" sz="1600"/>
              <a:t>) </a:t>
            </a:r>
            <a:r>
              <a:rPr lang="en-US" altLang="zh-CN" sz="1600">
                <a:sym typeface="Symbol" panose="05050102010706020507" pitchFamily="18" charset="2"/>
              </a:rPr>
              <a:t></a:t>
            </a:r>
            <a:r>
              <a:rPr lang="en-US" altLang="zh-CN" sz="1600" i="1"/>
              <a:t>R</a:t>
            </a:r>
          </a:p>
        </p:txBody>
      </p:sp>
    </p:spTree>
    <p:extLst>
      <p:ext uri="{BB962C8B-B14F-4D97-AF65-F5344CB8AC3E}">
        <p14:creationId xmlns:p14="http://schemas.microsoft.com/office/powerpoint/2010/main" val="5643874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09107" y="0"/>
            <a:ext cx="11056470" cy="830997"/>
          </a:xfrm>
          <a:prstGeom prst="rect">
            <a:avLst/>
          </a:prstGeom>
          <a:noFill/>
        </p:spPr>
        <p:txBody>
          <a:bodyPr wrap="square" rtlCol="0">
            <a:spAutoFit/>
          </a:bodyPr>
          <a:lstStyle/>
          <a:p>
            <a:pPr>
              <a:lnSpc>
                <a:spcPct val="150000"/>
              </a:lnSpc>
            </a:pPr>
            <a:r>
              <a:rPr lang="en-US" altLang="zh-CN" sz="3200" dirty="0"/>
              <a:t>9.4.4 Transitive Closures </a:t>
            </a:r>
            <a:r>
              <a:rPr lang="en-US" altLang="zh-CN" sz="2000" dirty="0"/>
              <a:t>—  </a:t>
            </a:r>
            <a:r>
              <a:rPr lang="en-US" altLang="zh-CN" sz="3200" dirty="0"/>
              <a:t>Proof</a:t>
            </a:r>
          </a:p>
        </p:txBody>
      </p:sp>
      <p:sp>
        <p:nvSpPr>
          <p:cNvPr id="4" name="Rectangle 3">
            <a:extLst>
              <a:ext uri="{FF2B5EF4-FFF2-40B4-BE49-F238E27FC236}">
                <a16:creationId xmlns:a16="http://schemas.microsoft.com/office/drawing/2014/main" id="{1735849B-72CD-45EA-9513-85E3C008A716}"/>
              </a:ext>
            </a:extLst>
          </p:cNvPr>
          <p:cNvSpPr txBox="1">
            <a:spLocks noChangeArrowheads="1"/>
          </p:cNvSpPr>
          <p:nvPr/>
        </p:nvSpPr>
        <p:spPr bwMode="auto">
          <a:xfrm>
            <a:off x="568234" y="870670"/>
            <a:ext cx="11055531" cy="413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eaLnBrk="1" hangingPunct="1">
              <a:lnSpc>
                <a:spcPct val="150000"/>
              </a:lnSpc>
            </a:pPr>
            <a:r>
              <a:rPr lang="en-US" altLang="zh-CN" sz="2800"/>
              <a:t>The red edges form a cycle in the path, we  get a new path by deleting the cycle</a:t>
            </a:r>
          </a:p>
          <a:p>
            <a:pPr eaLnBrk="1" hangingPunct="1">
              <a:lnSpc>
                <a:spcPct val="150000"/>
              </a:lnSpc>
            </a:pPr>
            <a:r>
              <a:rPr lang="en-US" altLang="zh-CN" sz="2800"/>
              <a:t>A new path from </a:t>
            </a:r>
            <a:r>
              <a:rPr lang="en-US" altLang="zh-CN" sz="2800" i="1"/>
              <a:t>a</a:t>
            </a:r>
            <a:r>
              <a:rPr lang="en-US" altLang="zh-CN" sz="2800"/>
              <a:t> to </a:t>
            </a:r>
            <a:r>
              <a:rPr lang="en-US" altLang="zh-CN" sz="2800" i="1"/>
              <a:t>b </a:t>
            </a:r>
            <a:r>
              <a:rPr lang="en-US" altLang="zh-CN" sz="2800"/>
              <a:t>by deleting the cycle</a:t>
            </a:r>
            <a:endParaRPr lang="en-US" altLang="zh-CN" sz="2800" i="1"/>
          </a:p>
          <a:p>
            <a:pPr lvl="1" eaLnBrk="1" hangingPunct="1">
              <a:lnSpc>
                <a:spcPct val="150000"/>
              </a:lnSpc>
            </a:pPr>
            <a:r>
              <a:rPr lang="en-US" altLang="zh-CN" sz="2000"/>
              <a:t>(</a:t>
            </a:r>
            <a:r>
              <a:rPr lang="en-US" altLang="zh-CN" sz="2000" i="1"/>
              <a:t>a</a:t>
            </a:r>
            <a:r>
              <a:rPr lang="en-US" altLang="zh-CN" sz="2000"/>
              <a:t>, </a:t>
            </a:r>
            <a:r>
              <a:rPr lang="en-US" altLang="zh-CN" sz="2000" i="1"/>
              <a:t>x</a:t>
            </a:r>
            <a:r>
              <a:rPr lang="en-US" altLang="zh-CN" sz="2000" baseline="-25000"/>
              <a:t>1</a:t>
            </a:r>
            <a:r>
              <a:rPr lang="en-US" altLang="zh-CN" sz="2000"/>
              <a:t>) </a:t>
            </a:r>
            <a:r>
              <a:rPr lang="en-US" altLang="zh-CN" sz="2000">
                <a:sym typeface="Symbol" panose="05050102010706020507" pitchFamily="18" charset="2"/>
              </a:rPr>
              <a:t></a:t>
            </a:r>
            <a:r>
              <a:rPr lang="en-US" altLang="zh-CN" sz="2000" i="1"/>
              <a:t>R</a:t>
            </a:r>
          </a:p>
          <a:p>
            <a:pPr lvl="1" eaLnBrk="1" hangingPunct="1">
              <a:lnSpc>
                <a:spcPct val="150000"/>
              </a:lnSpc>
            </a:pPr>
            <a:r>
              <a:rPr lang="en-US" altLang="zh-CN" sz="2000"/>
              <a:t>(</a:t>
            </a:r>
            <a:r>
              <a:rPr lang="en-US" altLang="zh-CN" sz="2000" i="1"/>
              <a:t>x</a:t>
            </a:r>
            <a:r>
              <a:rPr lang="en-US" altLang="zh-CN" sz="2000" baseline="-25000"/>
              <a:t>1</a:t>
            </a:r>
            <a:r>
              <a:rPr lang="en-US" altLang="zh-CN" sz="2000"/>
              <a:t>, </a:t>
            </a:r>
            <a:r>
              <a:rPr lang="en-US" altLang="zh-CN" sz="2000" i="1"/>
              <a:t>x</a:t>
            </a:r>
            <a:r>
              <a:rPr lang="en-US" altLang="zh-CN" sz="2000" baseline="-25000"/>
              <a:t>2</a:t>
            </a:r>
            <a:r>
              <a:rPr lang="en-US" altLang="zh-CN" sz="2000"/>
              <a:t>) </a:t>
            </a:r>
            <a:r>
              <a:rPr lang="en-US" altLang="zh-CN" sz="2000">
                <a:sym typeface="Symbol" panose="05050102010706020507" pitchFamily="18" charset="2"/>
              </a:rPr>
              <a:t></a:t>
            </a:r>
            <a:r>
              <a:rPr lang="en-US" altLang="zh-CN" sz="2000" i="1"/>
              <a:t>R</a:t>
            </a:r>
          </a:p>
          <a:p>
            <a:pPr lvl="1" eaLnBrk="1" hangingPunct="1">
              <a:lnSpc>
                <a:spcPct val="150000"/>
              </a:lnSpc>
            </a:pPr>
            <a:r>
              <a:rPr lang="en-US" altLang="zh-CN" sz="2000"/>
              <a:t>…</a:t>
            </a:r>
          </a:p>
          <a:p>
            <a:pPr lvl="1" eaLnBrk="1" hangingPunct="1">
              <a:lnSpc>
                <a:spcPct val="150000"/>
              </a:lnSpc>
            </a:pPr>
            <a:r>
              <a:rPr lang="en-US" altLang="zh-CN" sz="2000"/>
              <a:t>(</a:t>
            </a:r>
            <a:r>
              <a:rPr lang="en-US" altLang="zh-CN" sz="2000" i="1"/>
              <a:t>x</a:t>
            </a:r>
            <a:r>
              <a:rPr lang="en-US" altLang="zh-CN" sz="2000" i="1" baseline="-25000"/>
              <a:t>i</a:t>
            </a:r>
            <a:r>
              <a:rPr lang="en-US" altLang="zh-CN" sz="2000" baseline="-25000"/>
              <a:t>-1</a:t>
            </a:r>
            <a:r>
              <a:rPr lang="en-US" altLang="zh-CN" sz="2000"/>
              <a:t>, </a:t>
            </a:r>
            <a:r>
              <a:rPr lang="en-US" altLang="zh-CN" sz="2000" i="1"/>
              <a:t>x</a:t>
            </a:r>
            <a:r>
              <a:rPr lang="en-US" altLang="zh-CN" sz="2000" i="1" baseline="-25000"/>
              <a:t>i</a:t>
            </a:r>
            <a:r>
              <a:rPr lang="en-US" altLang="zh-CN" sz="2000"/>
              <a:t>) </a:t>
            </a:r>
            <a:r>
              <a:rPr lang="en-US" altLang="zh-CN" sz="2000">
                <a:sym typeface="Symbol" panose="05050102010706020507" pitchFamily="18" charset="2"/>
              </a:rPr>
              <a:t></a:t>
            </a:r>
            <a:r>
              <a:rPr lang="en-US" altLang="zh-CN" sz="2000" i="1"/>
              <a:t>R</a:t>
            </a:r>
          </a:p>
          <a:p>
            <a:pPr lvl="1" eaLnBrk="1" hangingPunct="1">
              <a:lnSpc>
                <a:spcPct val="150000"/>
              </a:lnSpc>
            </a:pPr>
            <a:r>
              <a:rPr lang="en-US" altLang="zh-CN" sz="2000"/>
              <a:t>(</a:t>
            </a:r>
            <a:r>
              <a:rPr lang="en-US" altLang="zh-CN" sz="2000" i="1"/>
              <a:t>x</a:t>
            </a:r>
            <a:r>
              <a:rPr lang="en-US" altLang="zh-CN" sz="2000" i="1" baseline="-25000"/>
              <a:t>j</a:t>
            </a:r>
            <a:r>
              <a:rPr lang="en-US" altLang="zh-CN" sz="2000"/>
              <a:t>, </a:t>
            </a:r>
            <a:r>
              <a:rPr lang="en-US" altLang="zh-CN" sz="2000" i="1"/>
              <a:t>x</a:t>
            </a:r>
            <a:r>
              <a:rPr lang="en-US" altLang="zh-CN" sz="2000" i="1" baseline="-25000"/>
              <a:t>j+</a:t>
            </a:r>
            <a:r>
              <a:rPr lang="en-US" altLang="zh-CN" sz="2000" baseline="-25000"/>
              <a:t>1</a:t>
            </a:r>
            <a:r>
              <a:rPr lang="en-US" altLang="zh-CN" sz="2000"/>
              <a:t>) </a:t>
            </a:r>
            <a:r>
              <a:rPr lang="en-US" altLang="zh-CN" sz="2000">
                <a:sym typeface="Symbol" panose="05050102010706020507" pitchFamily="18" charset="2"/>
              </a:rPr>
              <a:t></a:t>
            </a:r>
            <a:r>
              <a:rPr lang="en-US" altLang="zh-CN" sz="2000" i="1"/>
              <a:t>R</a:t>
            </a:r>
          </a:p>
          <a:p>
            <a:pPr lvl="1" eaLnBrk="1" hangingPunct="1">
              <a:lnSpc>
                <a:spcPct val="150000"/>
              </a:lnSpc>
            </a:pPr>
            <a:r>
              <a:rPr lang="en-US" altLang="zh-CN" sz="2000"/>
              <a:t>…</a:t>
            </a:r>
          </a:p>
          <a:p>
            <a:pPr lvl="1" eaLnBrk="1" hangingPunct="1">
              <a:lnSpc>
                <a:spcPct val="150000"/>
              </a:lnSpc>
            </a:pPr>
            <a:r>
              <a:rPr lang="en-US" altLang="zh-CN" sz="2000"/>
              <a:t>(</a:t>
            </a:r>
            <a:r>
              <a:rPr lang="en-US" altLang="zh-CN" sz="2000" i="1"/>
              <a:t>x</a:t>
            </a:r>
            <a:r>
              <a:rPr lang="en-US" altLang="zh-CN" sz="2000" i="1" baseline="-25000"/>
              <a:t>m</a:t>
            </a:r>
            <a:r>
              <a:rPr lang="en-US" altLang="zh-CN" sz="2000" baseline="-25000"/>
              <a:t>-1</a:t>
            </a:r>
            <a:r>
              <a:rPr lang="en-US" altLang="zh-CN" sz="2000"/>
              <a:t>, </a:t>
            </a:r>
            <a:r>
              <a:rPr lang="en-US" altLang="zh-CN" sz="2000" i="1"/>
              <a:t>b</a:t>
            </a:r>
            <a:r>
              <a:rPr lang="en-US" altLang="zh-CN" sz="2000"/>
              <a:t>) </a:t>
            </a:r>
            <a:r>
              <a:rPr lang="en-US" altLang="zh-CN" sz="2000">
                <a:sym typeface="Symbol" panose="05050102010706020507" pitchFamily="18" charset="2"/>
              </a:rPr>
              <a:t></a:t>
            </a:r>
            <a:r>
              <a:rPr lang="en-US" altLang="zh-CN" sz="2000" i="1"/>
              <a:t>R</a:t>
            </a:r>
            <a:endParaRPr lang="en-US" altLang="zh-CN" sz="2400" i="1"/>
          </a:p>
        </p:txBody>
      </p:sp>
    </p:spTree>
    <p:extLst>
      <p:ext uri="{BB962C8B-B14F-4D97-AF65-F5344CB8AC3E}">
        <p14:creationId xmlns:p14="http://schemas.microsoft.com/office/powerpoint/2010/main" val="677653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09107" y="0"/>
            <a:ext cx="11056470" cy="830997"/>
          </a:xfrm>
          <a:prstGeom prst="rect">
            <a:avLst/>
          </a:prstGeom>
          <a:noFill/>
        </p:spPr>
        <p:txBody>
          <a:bodyPr wrap="square" rtlCol="0">
            <a:spAutoFit/>
          </a:bodyPr>
          <a:lstStyle/>
          <a:p>
            <a:pPr>
              <a:lnSpc>
                <a:spcPct val="150000"/>
              </a:lnSpc>
            </a:pPr>
            <a:r>
              <a:rPr lang="en-US" altLang="zh-CN" sz="3200" dirty="0"/>
              <a:t>9.4.4 Transitive Closures </a:t>
            </a:r>
            <a:r>
              <a:rPr lang="en-US" altLang="zh-CN" sz="2000" dirty="0"/>
              <a:t>—  </a:t>
            </a:r>
            <a:r>
              <a:rPr lang="en-US" altLang="zh-CN" sz="3200" dirty="0"/>
              <a:t>Proof</a:t>
            </a:r>
          </a:p>
        </p:txBody>
      </p:sp>
      <p:sp>
        <p:nvSpPr>
          <p:cNvPr id="4" name="Rectangle 3">
            <a:extLst>
              <a:ext uri="{FF2B5EF4-FFF2-40B4-BE49-F238E27FC236}">
                <a16:creationId xmlns:a16="http://schemas.microsoft.com/office/drawing/2014/main" id="{1735849B-72CD-45EA-9513-85E3C008A716}"/>
              </a:ext>
            </a:extLst>
          </p:cNvPr>
          <p:cNvSpPr txBox="1">
            <a:spLocks noChangeArrowheads="1"/>
          </p:cNvSpPr>
          <p:nvPr/>
        </p:nvSpPr>
        <p:spPr bwMode="auto">
          <a:xfrm>
            <a:off x="568234" y="910065"/>
            <a:ext cx="11055531" cy="5037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eaLnBrk="1" hangingPunct="1">
              <a:lnSpc>
                <a:spcPct val="150000"/>
              </a:lnSpc>
            </a:pPr>
            <a:r>
              <a:rPr lang="en-US" altLang="zh-CN" sz="2800"/>
              <a:t>A path from </a:t>
            </a:r>
            <a:r>
              <a:rPr lang="en-US" altLang="zh-CN" sz="2800" i="1"/>
              <a:t>a</a:t>
            </a:r>
            <a:r>
              <a:rPr lang="en-US" altLang="zh-CN" sz="2800"/>
              <a:t> to </a:t>
            </a:r>
            <a:r>
              <a:rPr lang="en-US" altLang="zh-CN" sz="2800" i="1"/>
              <a:t>b</a:t>
            </a:r>
            <a:r>
              <a:rPr lang="en-US" altLang="zh-CN" sz="2800"/>
              <a:t> (</a:t>
            </a:r>
            <a:r>
              <a:rPr lang="en-US" altLang="zh-CN" sz="2800" i="1"/>
              <a:t>x</a:t>
            </a:r>
            <a:r>
              <a:rPr lang="en-US" altLang="zh-CN" sz="2800" i="1" baseline="-25000"/>
              <a:t>i </a:t>
            </a:r>
            <a:r>
              <a:rPr lang="en-US" altLang="zh-CN" sz="2800" i="1"/>
              <a:t>= x</a:t>
            </a:r>
            <a:r>
              <a:rPr lang="en-US" altLang="zh-CN" sz="2800" i="1" baseline="-25000"/>
              <a:t>j </a:t>
            </a:r>
            <a:r>
              <a:rPr lang="en-US" altLang="zh-CN" sz="2800" i="1"/>
              <a:t>= c</a:t>
            </a:r>
            <a:r>
              <a:rPr lang="en-US" altLang="zh-CN" sz="2800"/>
              <a:t>)</a:t>
            </a:r>
          </a:p>
          <a:p>
            <a:pPr lvl="1" eaLnBrk="1" hangingPunct="1">
              <a:lnSpc>
                <a:spcPct val="150000"/>
              </a:lnSpc>
            </a:pPr>
            <a:r>
              <a:rPr lang="en-US" altLang="zh-CN" sz="2400" i="1"/>
              <a:t>a</a:t>
            </a:r>
            <a:r>
              <a:rPr lang="en-US" altLang="zh-CN" sz="2400"/>
              <a:t>, </a:t>
            </a:r>
            <a:r>
              <a:rPr lang="en-US" altLang="zh-CN" sz="2400" i="1"/>
              <a:t>x</a:t>
            </a:r>
            <a:r>
              <a:rPr lang="en-US" altLang="zh-CN" sz="2400" baseline="-25000"/>
              <a:t>1</a:t>
            </a:r>
            <a:r>
              <a:rPr lang="en-US" altLang="zh-CN" sz="2400"/>
              <a:t>, </a:t>
            </a:r>
            <a:r>
              <a:rPr lang="en-US" altLang="zh-CN" sz="2400" i="1"/>
              <a:t>x</a:t>
            </a:r>
            <a:r>
              <a:rPr lang="en-US" altLang="zh-CN" sz="2400" baseline="-25000"/>
              <a:t>2</a:t>
            </a:r>
            <a:r>
              <a:rPr lang="en-US" altLang="zh-CN" sz="2400"/>
              <a:t>,…, </a:t>
            </a:r>
            <a:r>
              <a:rPr lang="en-US" altLang="zh-CN" sz="2400" i="1"/>
              <a:t>x</a:t>
            </a:r>
            <a:r>
              <a:rPr lang="en-US" altLang="zh-CN" sz="2400" i="1" baseline="-25000"/>
              <a:t>i</a:t>
            </a:r>
            <a:r>
              <a:rPr lang="en-US" altLang="zh-CN" sz="2400" baseline="-25000"/>
              <a:t>-1</a:t>
            </a:r>
            <a:r>
              <a:rPr lang="en-US" altLang="zh-CN" sz="2400"/>
              <a:t>, </a:t>
            </a:r>
            <a:r>
              <a:rPr lang="en-US" altLang="zh-CN" sz="2400" i="1"/>
              <a:t>c</a:t>
            </a:r>
            <a:r>
              <a:rPr lang="en-US" altLang="zh-CN" sz="2400"/>
              <a:t>, </a:t>
            </a:r>
            <a:r>
              <a:rPr lang="en-US" altLang="zh-CN" sz="2400" i="1"/>
              <a:t>x</a:t>
            </a:r>
            <a:r>
              <a:rPr lang="en-US" altLang="zh-CN" sz="2400" i="1" baseline="-25000"/>
              <a:t>j+</a:t>
            </a:r>
            <a:r>
              <a:rPr lang="en-US" altLang="zh-CN" sz="2400" baseline="-25000"/>
              <a:t>1</a:t>
            </a:r>
            <a:r>
              <a:rPr lang="en-US" altLang="zh-CN" sz="2400"/>
              <a:t>,…, </a:t>
            </a:r>
            <a:r>
              <a:rPr lang="en-US" altLang="zh-CN" sz="2400" i="1"/>
              <a:t>x</a:t>
            </a:r>
            <a:r>
              <a:rPr lang="en-US" altLang="zh-CN" sz="2400" i="1" baseline="-25000"/>
              <a:t>m</a:t>
            </a:r>
            <a:r>
              <a:rPr lang="en-US" altLang="zh-CN" sz="2400" baseline="-25000"/>
              <a:t>-1</a:t>
            </a:r>
            <a:r>
              <a:rPr lang="en-US" altLang="zh-CN" sz="2400"/>
              <a:t>, </a:t>
            </a:r>
            <a:r>
              <a:rPr lang="en-US" altLang="zh-CN" sz="2400" i="1"/>
              <a:t>b</a:t>
            </a:r>
          </a:p>
          <a:p>
            <a:pPr eaLnBrk="1" hangingPunct="1">
              <a:lnSpc>
                <a:spcPct val="150000"/>
              </a:lnSpc>
            </a:pPr>
            <a:r>
              <a:rPr lang="en-US" altLang="zh-CN" sz="2800"/>
              <a:t>The length is </a:t>
            </a:r>
            <a:r>
              <a:rPr lang="en-US" altLang="zh-CN" sz="2800" i="1"/>
              <a:t>k</a:t>
            </a:r>
            <a:r>
              <a:rPr lang="en-US" altLang="zh-CN" sz="2800"/>
              <a:t> = </a:t>
            </a:r>
            <a:r>
              <a:rPr lang="en-US" altLang="zh-CN" sz="2800" i="1"/>
              <a:t>m </a:t>
            </a:r>
            <a:r>
              <a:rPr lang="en-US" altLang="zh-CN" sz="2800"/>
              <a:t>- </a:t>
            </a:r>
            <a:r>
              <a:rPr lang="en-US" altLang="zh-CN" sz="2800" i="1"/>
              <a:t>j + i</a:t>
            </a:r>
            <a:r>
              <a:rPr lang="en-US" altLang="zh-CN" sz="2800"/>
              <a:t>.</a:t>
            </a:r>
          </a:p>
          <a:p>
            <a:pPr eaLnBrk="1" hangingPunct="1">
              <a:lnSpc>
                <a:spcPct val="150000"/>
              </a:lnSpc>
            </a:pPr>
            <a:r>
              <a:rPr lang="en-US" altLang="zh-CN" sz="2800"/>
              <a:t>The process can continue until </a:t>
            </a:r>
            <a:r>
              <a:rPr lang="en-US" altLang="zh-CN" sz="2800" i="1"/>
              <a:t>k</a:t>
            </a:r>
            <a:r>
              <a:rPr lang="en-US" altLang="zh-CN" sz="2800">
                <a:sym typeface="Symbol" panose="05050102010706020507" pitchFamily="18" charset="2"/>
              </a:rPr>
              <a:t></a:t>
            </a:r>
            <a:r>
              <a:rPr lang="en-US" altLang="zh-CN" sz="2800" i="1">
                <a:sym typeface="Symbol" panose="05050102010706020507" pitchFamily="18" charset="2"/>
              </a:rPr>
              <a:t>n,</a:t>
            </a:r>
            <a:r>
              <a:rPr lang="en-US" altLang="zh-CN" sz="2800"/>
              <a:t> so we have</a:t>
            </a:r>
            <a:endParaRPr lang="en-US" altLang="zh-CN" sz="2800" i="1"/>
          </a:p>
          <a:p>
            <a:pPr lvl="1" eaLnBrk="1" hangingPunct="1">
              <a:lnSpc>
                <a:spcPct val="150000"/>
              </a:lnSpc>
            </a:pPr>
            <a:r>
              <a:rPr lang="en-US" altLang="zh-CN" sz="2400" i="1"/>
              <a:t>R</a:t>
            </a:r>
            <a:r>
              <a:rPr lang="en-US" altLang="zh-CN" sz="2400" i="1" baseline="30000"/>
              <a:t>m </a:t>
            </a:r>
            <a:r>
              <a:rPr lang="en-US" altLang="zh-CN" sz="2400">
                <a:sym typeface="Symbol" panose="05050102010706020507" pitchFamily="18" charset="2"/>
              </a:rPr>
              <a:t> </a:t>
            </a:r>
            <a:r>
              <a:rPr lang="en-US" altLang="zh-CN" sz="2400" i="1"/>
              <a:t>R</a:t>
            </a:r>
            <a:r>
              <a:rPr lang="en-US" altLang="zh-CN" sz="2400" i="1" baseline="30000"/>
              <a:t>k</a:t>
            </a:r>
            <a:endParaRPr lang="en-US" altLang="zh-CN" sz="2400"/>
          </a:p>
          <a:p>
            <a:pPr lvl="1" eaLnBrk="1" hangingPunct="1">
              <a:lnSpc>
                <a:spcPct val="150000"/>
              </a:lnSpc>
            </a:pPr>
            <a:r>
              <a:rPr lang="en-US" altLang="zh-CN" sz="2400">
                <a:sym typeface="Symbol" panose="05050102010706020507" pitchFamily="18" charset="2"/>
              </a:rPr>
              <a:t></a:t>
            </a:r>
            <a:r>
              <a:rPr lang="en-US" altLang="zh-CN" sz="2400" i="1">
                <a:sym typeface="Symbol" panose="05050102010706020507" pitchFamily="18" charset="2"/>
              </a:rPr>
              <a:t>m </a:t>
            </a:r>
            <a:r>
              <a:rPr lang="en-US" altLang="zh-CN" sz="2400">
                <a:sym typeface="Symbol" panose="05050102010706020507" pitchFamily="18" charset="2"/>
              </a:rPr>
              <a:t>(</a:t>
            </a:r>
            <a:r>
              <a:rPr lang="en-US" altLang="zh-CN" sz="2400" i="1">
                <a:sym typeface="Symbol" panose="05050102010706020507" pitchFamily="18" charset="2"/>
              </a:rPr>
              <a:t>m</a:t>
            </a:r>
            <a:r>
              <a:rPr lang="en-US" altLang="zh-CN" sz="2400">
                <a:sym typeface="Symbol" panose="05050102010706020507" pitchFamily="18" charset="2"/>
              </a:rPr>
              <a:t>&gt;</a:t>
            </a:r>
            <a:r>
              <a:rPr lang="en-US" altLang="zh-CN" sz="2400" i="1">
                <a:sym typeface="Symbol" panose="05050102010706020507" pitchFamily="18" charset="2"/>
              </a:rPr>
              <a:t>n</a:t>
            </a:r>
            <a:r>
              <a:rPr lang="en-US" altLang="zh-CN" sz="2400">
                <a:sym typeface="Symbol" panose="05050102010706020507" pitchFamily="18" charset="2"/>
              </a:rPr>
              <a:t> </a:t>
            </a:r>
            <a:r>
              <a:rPr lang="en-US" altLang="zh-CN" sz="2400">
                <a:latin typeface="Euclid" pitchFamily="18" charset="0"/>
                <a:sym typeface="Symbol" panose="05050102010706020507" pitchFamily="18" charset="2"/>
              </a:rPr>
              <a:t></a:t>
            </a:r>
            <a:r>
              <a:rPr lang="en-US" altLang="zh-CN" sz="2400"/>
              <a:t>(</a:t>
            </a:r>
            <a:r>
              <a:rPr lang="en-US" altLang="zh-CN" sz="2400" i="1"/>
              <a:t>a</a:t>
            </a:r>
            <a:r>
              <a:rPr lang="en-US" altLang="zh-CN" sz="2400"/>
              <a:t>, </a:t>
            </a:r>
            <a:r>
              <a:rPr lang="en-US" altLang="zh-CN" sz="2400" i="1"/>
              <a:t>b</a:t>
            </a:r>
            <a:r>
              <a:rPr lang="en-US" altLang="zh-CN" sz="2400"/>
              <a:t>) </a:t>
            </a:r>
            <a:r>
              <a:rPr lang="en-US" altLang="zh-CN" sz="2400">
                <a:sym typeface="Symbol" panose="05050102010706020507" pitchFamily="18" charset="2"/>
              </a:rPr>
              <a:t></a:t>
            </a:r>
            <a:r>
              <a:rPr lang="en-US" altLang="zh-CN" sz="2400"/>
              <a:t> </a:t>
            </a:r>
            <a:r>
              <a:rPr lang="en-US" altLang="zh-CN" sz="2400" i="1"/>
              <a:t>R</a:t>
            </a:r>
            <a:r>
              <a:rPr lang="en-US" altLang="zh-CN" sz="2400" i="1" baseline="30000"/>
              <a:t>m </a:t>
            </a:r>
            <a:r>
              <a:rPr lang="en-US" altLang="zh-CN" sz="2400">
                <a:latin typeface="Euclid" pitchFamily="18" charset="0"/>
                <a:sym typeface="Symbol" panose="05050102010706020507" pitchFamily="18" charset="2"/>
              </a:rPr>
              <a:t></a:t>
            </a:r>
            <a:r>
              <a:rPr lang="en-US" altLang="zh-CN" sz="2400" i="1" baseline="30000"/>
              <a:t> </a:t>
            </a:r>
            <a:r>
              <a:rPr lang="en-US" altLang="zh-CN" sz="2400">
                <a:sym typeface="Symbol" panose="05050102010706020507" pitchFamily="18" charset="2"/>
              </a:rPr>
              <a:t></a:t>
            </a:r>
            <a:r>
              <a:rPr lang="en-US" altLang="zh-CN" sz="2400" i="1">
                <a:sym typeface="Symbol" panose="05050102010706020507" pitchFamily="18" charset="2"/>
              </a:rPr>
              <a:t>k</a:t>
            </a:r>
            <a:r>
              <a:rPr lang="en-US" altLang="zh-CN" sz="2400">
                <a:sym typeface="Symbol" panose="05050102010706020507" pitchFamily="18" charset="2"/>
              </a:rPr>
              <a:t> (</a:t>
            </a:r>
            <a:r>
              <a:rPr lang="en-US" altLang="zh-CN" sz="2400" i="1">
                <a:sym typeface="Symbol" panose="05050102010706020507" pitchFamily="18" charset="2"/>
              </a:rPr>
              <a:t>k</a:t>
            </a:r>
            <a:r>
              <a:rPr lang="en-US" altLang="zh-CN" sz="2400">
                <a:sym typeface="Symbol" panose="05050102010706020507" pitchFamily="18" charset="2"/>
              </a:rPr>
              <a:t></a:t>
            </a:r>
            <a:r>
              <a:rPr lang="en-US" altLang="zh-CN" sz="2400" i="1">
                <a:sym typeface="Symbol" panose="05050102010706020507" pitchFamily="18" charset="2"/>
              </a:rPr>
              <a:t>n </a:t>
            </a:r>
            <a:r>
              <a:rPr lang="en-US" altLang="zh-CN" sz="2400">
                <a:latin typeface="Euclid" pitchFamily="18" charset="0"/>
                <a:sym typeface="Symbol" panose="05050102010706020507" pitchFamily="18" charset="2"/>
              </a:rPr>
              <a:t></a:t>
            </a:r>
            <a:r>
              <a:rPr lang="en-US" altLang="zh-CN" sz="2400"/>
              <a:t>(</a:t>
            </a:r>
            <a:r>
              <a:rPr lang="en-US" altLang="zh-CN" sz="2400" i="1"/>
              <a:t>a</a:t>
            </a:r>
            <a:r>
              <a:rPr lang="en-US" altLang="zh-CN" sz="2400"/>
              <a:t>, </a:t>
            </a:r>
            <a:r>
              <a:rPr lang="en-US" altLang="zh-CN" sz="2400" i="1"/>
              <a:t>b</a:t>
            </a:r>
            <a:r>
              <a:rPr lang="en-US" altLang="zh-CN" sz="2400"/>
              <a:t>) </a:t>
            </a:r>
            <a:r>
              <a:rPr lang="en-US" altLang="zh-CN" sz="2400">
                <a:sym typeface="Symbol" panose="05050102010706020507" pitchFamily="18" charset="2"/>
              </a:rPr>
              <a:t></a:t>
            </a:r>
            <a:r>
              <a:rPr lang="en-US" altLang="zh-CN" sz="2400"/>
              <a:t> </a:t>
            </a:r>
            <a:r>
              <a:rPr lang="en-US" altLang="zh-CN" sz="2400" i="1"/>
              <a:t>R</a:t>
            </a:r>
            <a:r>
              <a:rPr lang="en-US" altLang="zh-CN" sz="2400" i="1" baseline="30000"/>
              <a:t>k </a:t>
            </a:r>
            <a:r>
              <a:rPr lang="en-US" altLang="zh-CN" sz="2400"/>
              <a:t>))</a:t>
            </a:r>
            <a:endParaRPr lang="en-US" altLang="zh-CN" sz="2400" i="1" baseline="30000"/>
          </a:p>
          <a:p>
            <a:pPr eaLnBrk="1" hangingPunct="1">
              <a:lnSpc>
                <a:spcPct val="150000"/>
              </a:lnSpc>
            </a:pPr>
            <a:r>
              <a:rPr lang="en-US" altLang="zh-CN" sz="2800"/>
              <a:t>Therefore</a:t>
            </a:r>
          </a:p>
          <a:p>
            <a:pPr lvl="3" algn="r" eaLnBrk="1" hangingPunct="1">
              <a:lnSpc>
                <a:spcPct val="150000"/>
              </a:lnSpc>
            </a:pPr>
            <a:endParaRPr lang="en-US" altLang="zh-CN" sz="1800"/>
          </a:p>
          <a:p>
            <a:pPr lvl="3" algn="r" eaLnBrk="1" hangingPunct="1">
              <a:lnSpc>
                <a:spcPct val="150000"/>
              </a:lnSpc>
            </a:pPr>
            <a:endParaRPr lang="en-US" altLang="zh-CN" sz="1800"/>
          </a:p>
          <a:p>
            <a:pPr lvl="3" algn="r" eaLnBrk="1" hangingPunct="1">
              <a:lnSpc>
                <a:spcPct val="150000"/>
              </a:lnSpc>
            </a:pPr>
            <a:r>
              <a:rPr lang="en-US" altLang="zh-CN" sz="1800"/>
              <a:t>QED</a:t>
            </a:r>
          </a:p>
        </p:txBody>
      </p:sp>
      <p:graphicFrame>
        <p:nvGraphicFramePr>
          <p:cNvPr id="5" name="Object 4">
            <a:extLst>
              <a:ext uri="{FF2B5EF4-FFF2-40B4-BE49-F238E27FC236}">
                <a16:creationId xmlns:a16="http://schemas.microsoft.com/office/drawing/2014/main" id="{6EA58D29-5571-4769-876E-A774B9EEFF5D}"/>
              </a:ext>
            </a:extLst>
          </p:cNvPr>
          <p:cNvGraphicFramePr>
            <a:graphicFrameLocks noChangeAspect="1"/>
          </p:cNvGraphicFramePr>
          <p:nvPr>
            <p:extLst>
              <p:ext uri="{D42A27DB-BD31-4B8C-83A1-F6EECF244321}">
                <p14:modId xmlns:p14="http://schemas.microsoft.com/office/powerpoint/2010/main" val="2752390540"/>
              </p:ext>
            </p:extLst>
          </p:nvPr>
        </p:nvGraphicFramePr>
        <p:xfrm>
          <a:off x="3756936" y="5044646"/>
          <a:ext cx="3960812" cy="903288"/>
        </p:xfrm>
        <a:graphic>
          <a:graphicData uri="http://schemas.openxmlformats.org/presentationml/2006/ole">
            <mc:AlternateContent xmlns:mc="http://schemas.openxmlformats.org/markup-compatibility/2006">
              <mc:Choice xmlns:v="urn:schemas-microsoft-com:vml" Requires="v">
                <p:oleObj r:id="rId3" imgW="1893122" imgH="431987" progId="Equation.DSMT4">
                  <p:embed/>
                </p:oleObj>
              </mc:Choice>
              <mc:Fallback>
                <p:oleObj r:id="rId3" imgW="1893122" imgH="431987" progId="Equation.DSMT4">
                  <p:embed/>
                  <p:pic>
                    <p:nvPicPr>
                      <p:cNvPr id="96260" name="Object 4">
                        <a:extLst>
                          <a:ext uri="{FF2B5EF4-FFF2-40B4-BE49-F238E27FC236}">
                            <a16:creationId xmlns:a16="http://schemas.microsoft.com/office/drawing/2014/main" id="{B49F9398-1C1B-40A5-854F-16359A7A47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56936" y="5044646"/>
                        <a:ext cx="3960812" cy="903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8809541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09107" y="0"/>
            <a:ext cx="11056470" cy="739754"/>
          </a:xfrm>
          <a:prstGeom prst="rect">
            <a:avLst/>
          </a:prstGeom>
          <a:noFill/>
        </p:spPr>
        <p:txBody>
          <a:bodyPr wrap="square" rtlCol="0">
            <a:spAutoFit/>
          </a:bodyPr>
          <a:lstStyle/>
          <a:p>
            <a:pPr>
              <a:lnSpc>
                <a:spcPct val="150000"/>
              </a:lnSpc>
            </a:pPr>
            <a:r>
              <a:rPr lang="en-US" altLang="zh-CN" sz="3200" dirty="0"/>
              <a:t>9.4.4 Transitive Closures </a:t>
            </a:r>
            <a:r>
              <a:rPr lang="en-US" altLang="zh-CN" sz="2000" dirty="0"/>
              <a:t>—  </a:t>
            </a:r>
            <a:r>
              <a:rPr lang="en-US" altLang="zh-CN" sz="3200" dirty="0"/>
              <a:t>Simple Transitive Closure </a:t>
            </a:r>
            <a:r>
              <a:rPr lang="en-US" altLang="zh-CN" sz="3200" dirty="0" err="1"/>
              <a:t>Alg</a:t>
            </a:r>
            <a:endParaRPr lang="en-US" altLang="zh-CN" sz="3200" dirty="0"/>
          </a:p>
        </p:txBody>
      </p:sp>
      <p:sp>
        <p:nvSpPr>
          <p:cNvPr id="4" name="Rectangle 3">
            <a:extLst>
              <a:ext uri="{FF2B5EF4-FFF2-40B4-BE49-F238E27FC236}">
                <a16:creationId xmlns:a16="http://schemas.microsoft.com/office/drawing/2014/main" id="{1735849B-72CD-45EA-9513-85E3C008A716}"/>
              </a:ext>
            </a:extLst>
          </p:cNvPr>
          <p:cNvSpPr txBox="1">
            <a:spLocks noChangeArrowheads="1"/>
          </p:cNvSpPr>
          <p:nvPr/>
        </p:nvSpPr>
        <p:spPr bwMode="auto">
          <a:xfrm>
            <a:off x="693740" y="1286518"/>
            <a:ext cx="11055531" cy="413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eaLnBrk="1" hangingPunct="1">
              <a:lnSpc>
                <a:spcPct val="150000"/>
              </a:lnSpc>
              <a:buFontTx/>
              <a:buNone/>
            </a:pPr>
            <a:r>
              <a:rPr lang="en-US" altLang="zh-CN" sz="2800" dirty="0"/>
              <a:t>A procedure to compute </a:t>
            </a:r>
            <a:r>
              <a:rPr lang="en-US" altLang="zh-CN" sz="2800" i="1" dirty="0"/>
              <a:t>R</a:t>
            </a:r>
            <a:r>
              <a:rPr lang="en-US" altLang="zh-CN" sz="2800" baseline="30000" dirty="0"/>
              <a:t>*</a:t>
            </a:r>
            <a:r>
              <a:rPr lang="en-US" altLang="zh-CN" sz="2800" dirty="0"/>
              <a:t> with 0-1 matrices.</a:t>
            </a:r>
          </a:p>
          <a:p>
            <a:pPr eaLnBrk="1" hangingPunct="1">
              <a:lnSpc>
                <a:spcPct val="150000"/>
              </a:lnSpc>
              <a:buFontTx/>
              <a:buNone/>
            </a:pPr>
            <a:r>
              <a:rPr lang="en-US" altLang="zh-CN" sz="2800" b="1" dirty="0"/>
              <a:t>procedure</a:t>
            </a:r>
            <a:r>
              <a:rPr lang="en-US" altLang="zh-CN" sz="2800" dirty="0"/>
              <a:t> </a:t>
            </a:r>
            <a:r>
              <a:rPr lang="en-US" altLang="zh-CN" sz="2800" i="1" dirty="0" err="1"/>
              <a:t>transClosure</a:t>
            </a:r>
            <a:r>
              <a:rPr lang="en-US" altLang="zh-CN" sz="2800" dirty="0"/>
              <a:t>(</a:t>
            </a:r>
            <a:r>
              <a:rPr lang="en-US" altLang="zh-CN" sz="2800" b="1" dirty="0" err="1"/>
              <a:t>M</a:t>
            </a:r>
            <a:r>
              <a:rPr lang="en-US" altLang="zh-CN" sz="2800" i="1" baseline="-25000" dirty="0" err="1"/>
              <a:t>R</a:t>
            </a:r>
            <a:r>
              <a:rPr lang="en-US" altLang="zh-CN" sz="2800" dirty="0" err="1"/>
              <a:t>:rank</a:t>
            </a:r>
            <a:r>
              <a:rPr lang="en-US" altLang="zh-CN" sz="2800" i="1" dirty="0" err="1"/>
              <a:t>-n</a:t>
            </a:r>
            <a:r>
              <a:rPr lang="en-US" altLang="zh-CN" sz="2800" dirty="0">
                <a:cs typeface="Times New Roman" panose="02020603050405020304" pitchFamily="18" charset="0"/>
              </a:rPr>
              <a:t> 0-1 mat.)</a:t>
            </a:r>
          </a:p>
          <a:p>
            <a:pPr eaLnBrk="1" hangingPunct="1">
              <a:lnSpc>
                <a:spcPct val="150000"/>
              </a:lnSpc>
              <a:buFontTx/>
              <a:buNone/>
            </a:pPr>
            <a:r>
              <a:rPr lang="en-US" altLang="zh-CN" sz="2800" dirty="0">
                <a:cs typeface="Times New Roman" panose="02020603050405020304" pitchFamily="18" charset="0"/>
              </a:rPr>
              <a:t>	</a:t>
            </a:r>
            <a:r>
              <a:rPr lang="en-US" altLang="zh-CN" sz="2800" b="1" dirty="0">
                <a:solidFill>
                  <a:srgbClr val="FF0000"/>
                </a:solidFill>
                <a:cs typeface="Times New Roman" panose="02020603050405020304" pitchFamily="18" charset="0"/>
              </a:rPr>
              <a:t>A</a:t>
            </a:r>
            <a:r>
              <a:rPr lang="en-US" altLang="zh-CN" sz="2800" dirty="0">
                <a:solidFill>
                  <a:srgbClr val="FF0000"/>
                </a:solidFill>
                <a:cs typeface="Times New Roman" panose="02020603050405020304" pitchFamily="18" charset="0"/>
              </a:rPr>
              <a:t> := </a:t>
            </a:r>
            <a:r>
              <a:rPr lang="en-US" altLang="zh-CN" sz="2800" b="1" dirty="0">
                <a:solidFill>
                  <a:srgbClr val="FF0000"/>
                </a:solidFill>
                <a:cs typeface="Times New Roman" panose="02020603050405020304" pitchFamily="18" charset="0"/>
              </a:rPr>
              <a:t>B</a:t>
            </a:r>
            <a:r>
              <a:rPr lang="en-US" altLang="zh-CN" sz="2800" dirty="0">
                <a:solidFill>
                  <a:srgbClr val="FF0000"/>
                </a:solidFill>
                <a:cs typeface="Times New Roman" panose="02020603050405020304" pitchFamily="18" charset="0"/>
              </a:rPr>
              <a:t> := </a:t>
            </a:r>
            <a:r>
              <a:rPr lang="en-US" altLang="zh-CN" sz="2800" b="1" dirty="0">
                <a:solidFill>
                  <a:srgbClr val="FF0000"/>
                </a:solidFill>
                <a:cs typeface="Times New Roman" panose="02020603050405020304" pitchFamily="18" charset="0"/>
              </a:rPr>
              <a:t>M</a:t>
            </a:r>
            <a:r>
              <a:rPr lang="en-US" altLang="zh-CN" sz="2800" i="1" baseline="-25000" dirty="0">
                <a:solidFill>
                  <a:srgbClr val="FF0000"/>
                </a:solidFill>
                <a:cs typeface="Times New Roman" panose="02020603050405020304" pitchFamily="18" charset="0"/>
              </a:rPr>
              <a:t>R</a:t>
            </a:r>
            <a:r>
              <a:rPr lang="en-US" altLang="zh-CN" sz="2800" dirty="0">
                <a:cs typeface="Times New Roman" panose="02020603050405020304" pitchFamily="18" charset="0"/>
              </a:rPr>
              <a:t>;</a:t>
            </a:r>
          </a:p>
          <a:p>
            <a:pPr eaLnBrk="1" hangingPunct="1">
              <a:lnSpc>
                <a:spcPct val="150000"/>
              </a:lnSpc>
              <a:buFontTx/>
              <a:buNone/>
            </a:pPr>
            <a:r>
              <a:rPr lang="en-US" altLang="zh-CN" sz="2800" dirty="0">
                <a:cs typeface="Times New Roman" panose="02020603050405020304" pitchFamily="18" charset="0"/>
              </a:rPr>
              <a:t>	</a:t>
            </a:r>
            <a:r>
              <a:rPr lang="en-US" altLang="zh-CN" sz="2800" b="1" dirty="0">
                <a:cs typeface="Times New Roman" panose="02020603050405020304" pitchFamily="18" charset="0"/>
              </a:rPr>
              <a:t>for</a:t>
            </a:r>
            <a:r>
              <a:rPr lang="en-US" altLang="zh-CN" sz="2800" dirty="0">
                <a:cs typeface="Times New Roman" panose="02020603050405020304" pitchFamily="18" charset="0"/>
              </a:rPr>
              <a:t> </a:t>
            </a:r>
            <a:r>
              <a:rPr lang="en-US" altLang="zh-CN" sz="2800" i="1" dirty="0" err="1">
                <a:cs typeface="Times New Roman" panose="02020603050405020304" pitchFamily="18" charset="0"/>
              </a:rPr>
              <a:t>i</a:t>
            </a:r>
            <a:r>
              <a:rPr lang="en-US" altLang="zh-CN" sz="2800" dirty="0">
                <a:cs typeface="Times New Roman" panose="02020603050405020304" pitchFamily="18" charset="0"/>
              </a:rPr>
              <a:t> := 2 to </a:t>
            </a:r>
            <a:r>
              <a:rPr lang="en-US" altLang="zh-CN" sz="2800" i="1" dirty="0">
                <a:cs typeface="Times New Roman" panose="02020603050405020304" pitchFamily="18" charset="0"/>
              </a:rPr>
              <a:t>n</a:t>
            </a:r>
            <a:r>
              <a:rPr lang="en-US" altLang="zh-CN" sz="2800" dirty="0">
                <a:cs typeface="Times New Roman" panose="02020603050405020304" pitchFamily="18" charset="0"/>
              </a:rPr>
              <a:t>   </a:t>
            </a:r>
            <a:r>
              <a:rPr lang="en-US" altLang="zh-CN" sz="2800" b="1" dirty="0">
                <a:cs typeface="Times New Roman" panose="02020603050405020304" pitchFamily="18" charset="0"/>
              </a:rPr>
              <a:t>begin</a:t>
            </a:r>
            <a:br>
              <a:rPr lang="en-US" altLang="zh-CN" sz="2800" dirty="0">
                <a:cs typeface="Times New Roman" panose="02020603050405020304" pitchFamily="18" charset="0"/>
              </a:rPr>
            </a:br>
            <a:r>
              <a:rPr lang="en-US" altLang="zh-CN" sz="2800" dirty="0">
                <a:cs typeface="Times New Roman" panose="02020603050405020304" pitchFamily="18" charset="0"/>
              </a:rPr>
              <a:t>	</a:t>
            </a:r>
            <a:r>
              <a:rPr lang="en-US" altLang="zh-CN" sz="2800" b="1" dirty="0">
                <a:solidFill>
                  <a:srgbClr val="FF0000"/>
                </a:solidFill>
                <a:cs typeface="Times New Roman" panose="02020603050405020304" pitchFamily="18" charset="0"/>
              </a:rPr>
              <a:t>A</a:t>
            </a:r>
            <a:r>
              <a:rPr lang="en-US" altLang="zh-CN" sz="2800" dirty="0">
                <a:solidFill>
                  <a:srgbClr val="FF0000"/>
                </a:solidFill>
                <a:cs typeface="Times New Roman" panose="02020603050405020304" pitchFamily="18" charset="0"/>
              </a:rPr>
              <a:t> := </a:t>
            </a:r>
            <a:r>
              <a:rPr lang="en-US" altLang="zh-CN" sz="2800" b="1" dirty="0">
                <a:solidFill>
                  <a:srgbClr val="FF0000"/>
                </a:solidFill>
                <a:cs typeface="Times New Roman" panose="02020603050405020304" pitchFamily="18" charset="0"/>
              </a:rPr>
              <a:t>A</a:t>
            </a:r>
            <a:r>
              <a:rPr lang="en-US" altLang="zh-CN" sz="2800" dirty="0">
                <a:solidFill>
                  <a:srgbClr val="FF0000"/>
                </a:solidFill>
                <a:latin typeface="Arial Unicode MS" pitchFamily="34" charset="-122"/>
              </a:rPr>
              <a:t>⊙</a:t>
            </a:r>
            <a:r>
              <a:rPr lang="en-US" altLang="zh-CN" sz="2800" b="1" dirty="0">
                <a:solidFill>
                  <a:srgbClr val="FF0000"/>
                </a:solidFill>
              </a:rPr>
              <a:t>M</a:t>
            </a:r>
            <a:r>
              <a:rPr lang="en-US" altLang="zh-CN" sz="2800" i="1" baseline="-25000" dirty="0">
                <a:solidFill>
                  <a:srgbClr val="FF0000"/>
                </a:solidFill>
              </a:rPr>
              <a:t>R</a:t>
            </a:r>
            <a:r>
              <a:rPr lang="en-US" altLang="zh-CN" sz="2800" dirty="0"/>
              <a:t>;   </a:t>
            </a:r>
            <a:r>
              <a:rPr lang="en-US" altLang="zh-CN" sz="2800" b="1" dirty="0">
                <a:solidFill>
                  <a:srgbClr val="FF0000"/>
                </a:solidFill>
              </a:rPr>
              <a:t>B</a:t>
            </a:r>
            <a:r>
              <a:rPr lang="en-US" altLang="zh-CN" sz="2800" dirty="0">
                <a:solidFill>
                  <a:srgbClr val="FF0000"/>
                </a:solidFill>
              </a:rPr>
              <a:t> := </a:t>
            </a:r>
            <a:r>
              <a:rPr lang="en-US" altLang="zh-CN" sz="2800" b="1" dirty="0">
                <a:solidFill>
                  <a:srgbClr val="FF0000"/>
                </a:solidFill>
              </a:rPr>
              <a:t>B</a:t>
            </a:r>
            <a:r>
              <a:rPr lang="en-US" altLang="zh-CN" sz="2800" dirty="0">
                <a:solidFill>
                  <a:srgbClr val="FF0000"/>
                </a:solidFill>
              </a:rPr>
              <a:t> </a:t>
            </a:r>
            <a:r>
              <a:rPr lang="en-US" altLang="zh-CN" sz="2800" dirty="0">
                <a:solidFill>
                  <a:srgbClr val="FF0000"/>
                </a:solidFill>
                <a:sym typeface="Symbol" panose="05050102010706020507" pitchFamily="18" charset="2"/>
              </a:rPr>
              <a:t> </a:t>
            </a:r>
            <a:r>
              <a:rPr lang="en-US" altLang="zh-CN" sz="2800" b="1" dirty="0">
                <a:solidFill>
                  <a:srgbClr val="FF0000"/>
                </a:solidFill>
                <a:sym typeface="Symbol" panose="05050102010706020507" pitchFamily="18" charset="2"/>
              </a:rPr>
              <a:t>A</a:t>
            </a:r>
            <a:r>
              <a:rPr lang="en-US" altLang="zh-CN" sz="2800" b="1" dirty="0">
                <a:sym typeface="Symbol" panose="05050102010706020507" pitchFamily="18" charset="2"/>
              </a:rPr>
              <a:t>     </a:t>
            </a:r>
            <a:r>
              <a:rPr lang="en-US" altLang="zh-CN" sz="2800" dirty="0">
                <a:solidFill>
                  <a:schemeClr val="accent2"/>
                </a:solidFill>
                <a:sym typeface="Symbol" panose="05050102010706020507" pitchFamily="18" charset="2"/>
              </a:rPr>
              <a:t>{join}</a:t>
            </a:r>
            <a:br>
              <a:rPr lang="en-US" altLang="zh-CN" sz="2800" dirty="0">
                <a:sym typeface="Symbol" panose="05050102010706020507" pitchFamily="18" charset="2"/>
              </a:rPr>
            </a:br>
            <a:r>
              <a:rPr lang="en-US" altLang="zh-CN" sz="2800" b="1" dirty="0">
                <a:sym typeface="Symbol" panose="05050102010706020507" pitchFamily="18" charset="2"/>
              </a:rPr>
              <a:t>end</a:t>
            </a:r>
            <a:br>
              <a:rPr lang="en-US" altLang="zh-CN" sz="2800" b="1" dirty="0">
                <a:sym typeface="Symbol" panose="05050102010706020507" pitchFamily="18" charset="2"/>
              </a:rPr>
            </a:br>
            <a:r>
              <a:rPr lang="en-US" altLang="zh-CN" sz="2800" b="1" dirty="0">
                <a:sym typeface="Symbol" panose="05050102010706020507" pitchFamily="18" charset="2"/>
              </a:rPr>
              <a:t>return B  </a:t>
            </a:r>
            <a:r>
              <a:rPr lang="en-US" altLang="zh-CN" sz="2800" dirty="0">
                <a:solidFill>
                  <a:schemeClr val="accent2"/>
                </a:solidFill>
                <a:sym typeface="Symbol" panose="05050102010706020507" pitchFamily="18" charset="2"/>
              </a:rPr>
              <a:t>{Alg. takes </a:t>
            </a:r>
            <a:r>
              <a:rPr lang="el-GR" altLang="en-US" sz="2800" dirty="0">
                <a:solidFill>
                  <a:schemeClr val="accent2"/>
                </a:solidFill>
                <a:cs typeface="Times New Roman" panose="02020603050405020304" pitchFamily="18" charset="0"/>
                <a:sym typeface="Symbol" panose="05050102010706020507" pitchFamily="18" charset="2"/>
              </a:rPr>
              <a:t>Θ</a:t>
            </a:r>
            <a:r>
              <a:rPr lang="en-US" altLang="zh-CN" sz="2800" dirty="0">
                <a:solidFill>
                  <a:schemeClr val="accent2"/>
                </a:solidFill>
                <a:sym typeface="Symbol" panose="05050102010706020507" pitchFamily="18" charset="2"/>
              </a:rPr>
              <a:t>(</a:t>
            </a:r>
            <a:r>
              <a:rPr lang="en-US" altLang="zh-CN" sz="2800" i="1" dirty="0">
                <a:solidFill>
                  <a:schemeClr val="accent2"/>
                </a:solidFill>
                <a:sym typeface="Symbol" panose="05050102010706020507" pitchFamily="18" charset="2"/>
              </a:rPr>
              <a:t>n</a:t>
            </a:r>
            <a:r>
              <a:rPr lang="en-US" altLang="zh-CN" sz="2800" baseline="30000" dirty="0">
                <a:solidFill>
                  <a:schemeClr val="accent2"/>
                </a:solidFill>
                <a:sym typeface="Symbol" panose="05050102010706020507" pitchFamily="18" charset="2"/>
              </a:rPr>
              <a:t>4</a:t>
            </a:r>
            <a:r>
              <a:rPr lang="en-US" altLang="zh-CN" sz="2800" dirty="0">
                <a:solidFill>
                  <a:schemeClr val="accent2"/>
                </a:solidFill>
                <a:sym typeface="Symbol" panose="05050102010706020507" pitchFamily="18" charset="2"/>
              </a:rPr>
              <a:t>) time}</a:t>
            </a:r>
            <a:endParaRPr lang="el-GR" altLang="en-US" sz="2800" dirty="0">
              <a:solidFill>
                <a:schemeClr val="accent2"/>
              </a:solidFill>
              <a:cs typeface="Times New Roman" panose="02020603050405020304" pitchFamily="18" charset="0"/>
              <a:sym typeface="Symbol" panose="05050102010706020507" pitchFamily="18" charset="2"/>
            </a:endParaRPr>
          </a:p>
        </p:txBody>
      </p:sp>
      <p:sp>
        <p:nvSpPr>
          <p:cNvPr id="7" name="Text Box 4">
            <a:extLst>
              <a:ext uri="{FF2B5EF4-FFF2-40B4-BE49-F238E27FC236}">
                <a16:creationId xmlns:a16="http://schemas.microsoft.com/office/drawing/2014/main" id="{5DE5A625-89E9-43AB-9CB5-2A01F4C41228}"/>
              </a:ext>
            </a:extLst>
          </p:cNvPr>
          <p:cNvSpPr txBox="1">
            <a:spLocks noChangeArrowheads="1"/>
          </p:cNvSpPr>
          <p:nvPr/>
        </p:nvSpPr>
        <p:spPr bwMode="auto">
          <a:xfrm>
            <a:off x="1868141" y="5035834"/>
            <a:ext cx="66351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accent2"/>
                </a:solidFill>
                <a:latin typeface="Times New Roman" panose="02020603050405020304" pitchFamily="18" charset="0"/>
              </a:rPr>
              <a:t>{note </a:t>
            </a:r>
            <a:r>
              <a:rPr lang="en-US" altLang="zh-CN" sz="2800" b="1">
                <a:solidFill>
                  <a:schemeClr val="accent2"/>
                </a:solidFill>
                <a:latin typeface="Times New Roman" panose="02020603050405020304" pitchFamily="18" charset="0"/>
              </a:rPr>
              <a:t>A</a:t>
            </a:r>
            <a:r>
              <a:rPr lang="en-US" altLang="zh-CN" sz="2800">
                <a:solidFill>
                  <a:schemeClr val="accent2"/>
                </a:solidFill>
                <a:latin typeface="Times New Roman" panose="02020603050405020304" pitchFamily="18" charset="0"/>
              </a:rPr>
              <a:t> represents </a:t>
            </a:r>
            <a:r>
              <a:rPr lang="en-US" altLang="zh-CN" sz="2800" i="1">
                <a:solidFill>
                  <a:schemeClr val="accent2"/>
                </a:solidFill>
                <a:latin typeface="Times New Roman" panose="02020603050405020304" pitchFamily="18" charset="0"/>
              </a:rPr>
              <a:t>R</a:t>
            </a:r>
            <a:r>
              <a:rPr lang="en-US" altLang="zh-CN" sz="2800" i="1" baseline="30000">
                <a:solidFill>
                  <a:schemeClr val="accent2"/>
                </a:solidFill>
                <a:latin typeface="Times New Roman" panose="02020603050405020304" pitchFamily="18" charset="0"/>
              </a:rPr>
              <a:t>i</a:t>
            </a:r>
            <a:r>
              <a:rPr lang="en-US" altLang="zh-CN" sz="2800" i="1">
                <a:solidFill>
                  <a:schemeClr val="accent2"/>
                </a:solidFill>
                <a:latin typeface="Times New Roman" panose="02020603050405020304" pitchFamily="18" charset="0"/>
              </a:rPr>
              <a:t>,</a:t>
            </a:r>
            <a:r>
              <a:rPr lang="en-US" altLang="zh-CN" sz="2800">
                <a:solidFill>
                  <a:schemeClr val="accent2"/>
                </a:solidFill>
                <a:latin typeface="Times New Roman" panose="02020603050405020304" pitchFamily="18" charset="0"/>
              </a:rPr>
              <a:t> </a:t>
            </a:r>
            <a:r>
              <a:rPr lang="en-US" altLang="zh-CN" sz="2800" b="1">
                <a:solidFill>
                  <a:schemeClr val="accent2"/>
                </a:solidFill>
                <a:latin typeface="Times New Roman" panose="02020603050405020304" pitchFamily="18" charset="0"/>
              </a:rPr>
              <a:t>B</a:t>
            </a:r>
            <a:r>
              <a:rPr lang="en-US" altLang="zh-CN" sz="2800">
                <a:solidFill>
                  <a:schemeClr val="accent2"/>
                </a:solidFill>
                <a:latin typeface="Times New Roman" panose="02020603050405020304" pitchFamily="18" charset="0"/>
              </a:rPr>
              <a:t> represents              }</a:t>
            </a:r>
          </a:p>
        </p:txBody>
      </p:sp>
      <p:graphicFrame>
        <p:nvGraphicFramePr>
          <p:cNvPr id="8" name="Object 5">
            <a:extLst>
              <a:ext uri="{FF2B5EF4-FFF2-40B4-BE49-F238E27FC236}">
                <a16:creationId xmlns:a16="http://schemas.microsoft.com/office/drawing/2014/main" id="{0463D38B-7059-4A55-AFF6-4CC4E0BFCDA5}"/>
              </a:ext>
            </a:extLst>
          </p:cNvPr>
          <p:cNvGraphicFramePr>
            <a:graphicFrameLocks noChangeAspect="1"/>
          </p:cNvGraphicFramePr>
          <p:nvPr>
            <p:extLst>
              <p:ext uri="{D42A27DB-BD31-4B8C-83A1-F6EECF244321}">
                <p14:modId xmlns:p14="http://schemas.microsoft.com/office/powerpoint/2010/main" val="801177120"/>
              </p:ext>
            </p:extLst>
          </p:nvPr>
        </p:nvGraphicFramePr>
        <p:xfrm>
          <a:off x="7181104" y="5063222"/>
          <a:ext cx="779463" cy="1004887"/>
        </p:xfrm>
        <a:graphic>
          <a:graphicData uri="http://schemas.openxmlformats.org/presentationml/2006/ole">
            <mc:AlternateContent xmlns:mc="http://schemas.openxmlformats.org/markup-compatibility/2006">
              <mc:Choice xmlns:v="urn:schemas-microsoft-com:vml" Requires="v">
                <p:oleObj r:id="rId3" imgW="368941" imgH="457995" progId="Equation.3">
                  <p:embed/>
                </p:oleObj>
              </mc:Choice>
              <mc:Fallback>
                <p:oleObj r:id="rId3" imgW="368941" imgH="457995" progId="Equation.3">
                  <p:embed/>
                  <p:pic>
                    <p:nvPicPr>
                      <p:cNvPr id="97285" name="Object 5">
                        <a:extLst>
                          <a:ext uri="{FF2B5EF4-FFF2-40B4-BE49-F238E27FC236}">
                            <a16:creationId xmlns:a16="http://schemas.microsoft.com/office/drawing/2014/main" id="{27C6EC9B-9E8C-4F33-BC7C-73A4433071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81104" y="5063222"/>
                        <a:ext cx="779463" cy="1004887"/>
                      </a:xfrm>
                      <a:prstGeom prst="rect">
                        <a:avLst/>
                      </a:prstGeom>
                      <a:solidFill>
                        <a:srgbClr val="CCE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5423905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09107" y="0"/>
            <a:ext cx="11056470" cy="739754"/>
          </a:xfrm>
          <a:prstGeom prst="rect">
            <a:avLst/>
          </a:prstGeom>
          <a:noFill/>
        </p:spPr>
        <p:txBody>
          <a:bodyPr wrap="square" rtlCol="0">
            <a:spAutoFit/>
          </a:bodyPr>
          <a:lstStyle/>
          <a:p>
            <a:pPr>
              <a:lnSpc>
                <a:spcPct val="150000"/>
              </a:lnSpc>
            </a:pPr>
            <a:r>
              <a:rPr lang="en-US" altLang="zh-CN" sz="3200" dirty="0"/>
              <a:t>9.4.4 Transitive Closures </a:t>
            </a:r>
            <a:r>
              <a:rPr lang="en-US" altLang="zh-CN" sz="2000" dirty="0"/>
              <a:t>—  </a:t>
            </a:r>
            <a:r>
              <a:rPr lang="en-US" altLang="zh-CN" sz="3200" dirty="0"/>
              <a:t>Some definitions</a:t>
            </a:r>
          </a:p>
        </p:txBody>
      </p:sp>
      <p:sp>
        <p:nvSpPr>
          <p:cNvPr id="4" name="Rectangle 3">
            <a:extLst>
              <a:ext uri="{FF2B5EF4-FFF2-40B4-BE49-F238E27FC236}">
                <a16:creationId xmlns:a16="http://schemas.microsoft.com/office/drawing/2014/main" id="{1735849B-72CD-45EA-9513-85E3C008A716}"/>
              </a:ext>
            </a:extLst>
          </p:cNvPr>
          <p:cNvSpPr txBox="1">
            <a:spLocks noChangeArrowheads="1"/>
          </p:cNvSpPr>
          <p:nvPr/>
        </p:nvSpPr>
        <p:spPr bwMode="auto">
          <a:xfrm>
            <a:off x="568234" y="1190266"/>
            <a:ext cx="11055531" cy="413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eaLnBrk="1" hangingPunct="1">
              <a:lnSpc>
                <a:spcPct val="150000"/>
              </a:lnSpc>
            </a:pPr>
            <a:r>
              <a:rPr lang="en-US" altLang="zh-CN" dirty="0"/>
              <a:t>Let</a:t>
            </a:r>
          </a:p>
          <a:p>
            <a:pPr lvl="1" eaLnBrk="1" hangingPunct="1">
              <a:lnSpc>
                <a:spcPct val="150000"/>
              </a:lnSpc>
            </a:pPr>
            <a:r>
              <a:rPr lang="en-US" altLang="zh-CN" i="1" dirty="0"/>
              <a:t>A</a:t>
            </a:r>
            <a:r>
              <a:rPr lang="en-US" altLang="zh-CN" dirty="0"/>
              <a:t> = {</a:t>
            </a:r>
            <a:r>
              <a:rPr lang="en-US" altLang="zh-CN" i="1" dirty="0"/>
              <a:t>a</a:t>
            </a:r>
            <a:r>
              <a:rPr lang="en-US" altLang="zh-CN" baseline="-25000" dirty="0"/>
              <a:t>1</a:t>
            </a:r>
            <a:r>
              <a:rPr lang="en-US" altLang="zh-CN" dirty="0"/>
              <a:t>, </a:t>
            </a:r>
            <a:r>
              <a:rPr lang="en-US" altLang="zh-CN" i="1" dirty="0"/>
              <a:t>a</a:t>
            </a:r>
            <a:r>
              <a:rPr lang="en-US" altLang="zh-CN" baseline="-25000" dirty="0"/>
              <a:t>2</a:t>
            </a:r>
            <a:r>
              <a:rPr lang="en-US" altLang="zh-CN" dirty="0"/>
              <a:t>,…, </a:t>
            </a:r>
            <a:r>
              <a:rPr lang="en-US" altLang="zh-CN" i="1" dirty="0"/>
              <a:t>a</a:t>
            </a:r>
            <a:r>
              <a:rPr lang="en-US" altLang="zh-CN" i="1" baseline="-25000" dirty="0"/>
              <a:t>n</a:t>
            </a:r>
            <a:r>
              <a:rPr lang="en-US" altLang="zh-CN" dirty="0"/>
              <a:t>}</a:t>
            </a:r>
          </a:p>
          <a:p>
            <a:pPr lvl="1" eaLnBrk="1" hangingPunct="1">
              <a:lnSpc>
                <a:spcPct val="150000"/>
              </a:lnSpc>
            </a:pPr>
            <a:r>
              <a:rPr lang="en-US" altLang="zh-CN" i="1" dirty="0"/>
              <a:t>R</a:t>
            </a:r>
            <a:r>
              <a:rPr lang="en-US" altLang="zh-CN" dirty="0"/>
              <a:t> be a relation on </a:t>
            </a:r>
            <a:r>
              <a:rPr lang="en-US" altLang="zh-CN" i="1" dirty="0"/>
              <a:t>A</a:t>
            </a:r>
          </a:p>
          <a:p>
            <a:pPr eaLnBrk="1" hangingPunct="1">
              <a:lnSpc>
                <a:spcPct val="150000"/>
              </a:lnSpc>
            </a:pPr>
            <a:r>
              <a:rPr lang="en-US" altLang="zh-CN" i="1" dirty="0">
                <a:solidFill>
                  <a:schemeClr val="hlink"/>
                </a:solidFill>
              </a:rPr>
              <a:t>Interior vertices</a:t>
            </a:r>
          </a:p>
          <a:p>
            <a:pPr lvl="1" eaLnBrk="1" hangingPunct="1">
              <a:lnSpc>
                <a:spcPct val="150000"/>
              </a:lnSpc>
            </a:pPr>
            <a:r>
              <a:rPr lang="en-US" altLang="zh-CN" i="1" dirty="0"/>
              <a:t>a</a:t>
            </a:r>
            <a:r>
              <a:rPr lang="en-US" altLang="zh-CN" dirty="0"/>
              <a:t>, </a:t>
            </a:r>
            <a:r>
              <a:rPr lang="en-US" altLang="zh-CN" i="1" dirty="0"/>
              <a:t>x</a:t>
            </a:r>
            <a:r>
              <a:rPr lang="en-US" altLang="zh-CN" baseline="-25000" dirty="0"/>
              <a:t>1</a:t>
            </a:r>
            <a:r>
              <a:rPr lang="en-US" altLang="zh-CN" dirty="0"/>
              <a:t>, </a:t>
            </a:r>
            <a:r>
              <a:rPr lang="en-US" altLang="zh-CN" i="1" dirty="0"/>
              <a:t>x</a:t>
            </a:r>
            <a:r>
              <a:rPr lang="en-US" altLang="zh-CN" baseline="-25000" dirty="0"/>
              <a:t>2</a:t>
            </a:r>
            <a:r>
              <a:rPr lang="en-US" altLang="zh-CN" dirty="0"/>
              <a:t>,…, </a:t>
            </a:r>
            <a:r>
              <a:rPr lang="en-US" altLang="zh-CN" i="1" dirty="0"/>
              <a:t>x</a:t>
            </a:r>
            <a:r>
              <a:rPr lang="en-US" altLang="zh-CN" i="1" baseline="-25000" dirty="0"/>
              <a:t>i</a:t>
            </a:r>
            <a:r>
              <a:rPr lang="en-US" altLang="zh-CN" dirty="0"/>
              <a:t>, </a:t>
            </a:r>
            <a:r>
              <a:rPr lang="en-US" altLang="zh-CN" i="1" dirty="0"/>
              <a:t>b</a:t>
            </a:r>
          </a:p>
        </p:txBody>
      </p:sp>
    </p:spTree>
    <p:extLst>
      <p:ext uri="{BB962C8B-B14F-4D97-AF65-F5344CB8AC3E}">
        <p14:creationId xmlns:p14="http://schemas.microsoft.com/office/powerpoint/2010/main" val="36039516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09107" y="0"/>
            <a:ext cx="11056470" cy="739754"/>
          </a:xfrm>
          <a:prstGeom prst="rect">
            <a:avLst/>
          </a:prstGeom>
          <a:noFill/>
        </p:spPr>
        <p:txBody>
          <a:bodyPr wrap="square" rtlCol="0">
            <a:spAutoFit/>
          </a:bodyPr>
          <a:lstStyle/>
          <a:p>
            <a:pPr>
              <a:lnSpc>
                <a:spcPct val="150000"/>
              </a:lnSpc>
            </a:pPr>
            <a:r>
              <a:rPr lang="en-US" altLang="zh-CN" sz="3200"/>
              <a:t>9.4.4 </a:t>
            </a:r>
            <a:r>
              <a:rPr lang="en-US" altLang="zh-CN" sz="3200" dirty="0"/>
              <a:t>Transitive Closures </a:t>
            </a:r>
            <a:r>
              <a:rPr lang="en-US" altLang="zh-CN" sz="2000" dirty="0"/>
              <a:t>—  </a:t>
            </a:r>
            <a:r>
              <a:rPr lang="en-US" altLang="zh-CN" sz="3200" dirty="0"/>
              <a:t>Some definitions</a:t>
            </a:r>
          </a:p>
        </p:txBody>
      </p:sp>
      <p:sp>
        <p:nvSpPr>
          <p:cNvPr id="4" name="Rectangle 3">
            <a:extLst>
              <a:ext uri="{FF2B5EF4-FFF2-40B4-BE49-F238E27FC236}">
                <a16:creationId xmlns:a16="http://schemas.microsoft.com/office/drawing/2014/main" id="{1735849B-72CD-45EA-9513-85E3C008A716}"/>
              </a:ext>
            </a:extLst>
          </p:cNvPr>
          <p:cNvSpPr txBox="1">
            <a:spLocks noChangeArrowheads="1"/>
          </p:cNvSpPr>
          <p:nvPr/>
        </p:nvSpPr>
        <p:spPr bwMode="auto">
          <a:xfrm>
            <a:off x="568234" y="897303"/>
            <a:ext cx="11055531" cy="413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eaLnBrk="1" hangingPunct="1">
              <a:lnSpc>
                <a:spcPct val="150000"/>
              </a:lnSpc>
            </a:pPr>
            <a:r>
              <a:rPr lang="en-US" altLang="zh-CN" sz="2800" i="1" dirty="0" err="1"/>
              <a:t>W</a:t>
            </a:r>
            <a:r>
              <a:rPr lang="en-US" altLang="zh-CN" sz="2800" i="1" baseline="-25000" dirty="0" err="1"/>
              <a:t>k</a:t>
            </a:r>
            <a:r>
              <a:rPr lang="en-US" altLang="zh-CN" sz="2800" dirty="0"/>
              <a:t>: a Boolean matrix, for 1</a:t>
            </a:r>
            <a:r>
              <a:rPr lang="en-US" altLang="zh-CN" sz="2800" dirty="0">
                <a:sym typeface="Symbol" panose="05050102010706020507" pitchFamily="18" charset="2"/>
              </a:rPr>
              <a:t></a:t>
            </a:r>
            <a:r>
              <a:rPr lang="en-US" altLang="zh-CN" sz="2800" i="1" dirty="0"/>
              <a:t>k</a:t>
            </a:r>
            <a:r>
              <a:rPr lang="en-US" altLang="zh-CN" sz="2800" dirty="0">
                <a:sym typeface="Symbol" panose="05050102010706020507" pitchFamily="18" charset="2"/>
              </a:rPr>
              <a:t></a:t>
            </a:r>
            <a:r>
              <a:rPr lang="en-US" altLang="zh-CN" sz="2800" i="1" dirty="0"/>
              <a:t>n</a:t>
            </a:r>
          </a:p>
          <a:p>
            <a:pPr lvl="1" eaLnBrk="1" hangingPunct="1">
              <a:lnSpc>
                <a:spcPct val="150000"/>
              </a:lnSpc>
            </a:pPr>
            <a:r>
              <a:rPr lang="en-US" altLang="zh-CN" sz="2400" i="1" dirty="0" err="1"/>
              <a:t>W</a:t>
            </a:r>
            <a:r>
              <a:rPr lang="en-US" altLang="zh-CN" sz="2400" i="1" baseline="-25000" dirty="0" err="1"/>
              <a:t>k</a:t>
            </a:r>
            <a:r>
              <a:rPr lang="en-US" altLang="zh-CN" sz="2400" dirty="0"/>
              <a:t> has a 1 in position </a:t>
            </a:r>
            <a:r>
              <a:rPr lang="en-US" altLang="zh-CN" sz="2400" i="1" dirty="0" err="1"/>
              <a:t>i</a:t>
            </a:r>
            <a:r>
              <a:rPr lang="en-US" altLang="zh-CN" sz="2400" dirty="0"/>
              <a:t>, </a:t>
            </a:r>
            <a:r>
              <a:rPr lang="en-US" altLang="zh-CN" sz="2400" i="1" dirty="0"/>
              <a:t>j</a:t>
            </a:r>
            <a:endParaRPr lang="en-US" altLang="zh-CN" sz="2400" dirty="0"/>
          </a:p>
          <a:p>
            <a:pPr lvl="2" eaLnBrk="1" hangingPunct="1">
              <a:lnSpc>
                <a:spcPct val="150000"/>
              </a:lnSpc>
            </a:pPr>
            <a:r>
              <a:rPr lang="en-US" altLang="zh-CN" sz="2000" dirty="0"/>
              <a:t>If and only if</a:t>
            </a:r>
          </a:p>
          <a:p>
            <a:pPr lvl="1" eaLnBrk="1" hangingPunct="1">
              <a:lnSpc>
                <a:spcPct val="150000"/>
              </a:lnSpc>
            </a:pPr>
            <a:r>
              <a:rPr lang="en-US" altLang="zh-CN" sz="2400" dirty="0"/>
              <a:t>there is a path from </a:t>
            </a:r>
            <a:r>
              <a:rPr lang="en-US" altLang="zh-CN" sz="2400" i="1" dirty="0" err="1"/>
              <a:t>a</a:t>
            </a:r>
            <a:r>
              <a:rPr lang="en-US" altLang="zh-CN" sz="2400" i="1" baseline="-25000" dirty="0" err="1"/>
              <a:t>i</a:t>
            </a:r>
            <a:r>
              <a:rPr lang="en-US" altLang="zh-CN" sz="2400" dirty="0"/>
              <a:t> to </a:t>
            </a:r>
            <a:r>
              <a:rPr lang="en-US" altLang="zh-CN" sz="2400" i="1" dirty="0" err="1"/>
              <a:t>a</a:t>
            </a:r>
            <a:r>
              <a:rPr lang="en-US" altLang="zh-CN" sz="2400" i="1" baseline="-25000" dirty="0" err="1"/>
              <a:t>j</a:t>
            </a:r>
            <a:r>
              <a:rPr lang="en-US" altLang="zh-CN" sz="2400" dirty="0"/>
              <a:t> in </a:t>
            </a:r>
            <a:r>
              <a:rPr lang="en-US" altLang="zh-CN" sz="2400" i="1" dirty="0"/>
              <a:t>R</a:t>
            </a:r>
            <a:r>
              <a:rPr lang="en-US" altLang="zh-CN" sz="2400" dirty="0"/>
              <a:t> whose interior vertices, if any, come from the set {</a:t>
            </a:r>
            <a:r>
              <a:rPr lang="en-US" altLang="zh-CN" sz="2400" i="1" dirty="0"/>
              <a:t>a</a:t>
            </a:r>
            <a:r>
              <a:rPr lang="en-US" altLang="zh-CN" sz="2400" baseline="-25000" dirty="0"/>
              <a:t>1</a:t>
            </a:r>
            <a:r>
              <a:rPr lang="en-US" altLang="zh-CN" sz="2400" dirty="0"/>
              <a:t>, </a:t>
            </a:r>
            <a:r>
              <a:rPr lang="en-US" altLang="zh-CN" sz="2400" i="1" dirty="0"/>
              <a:t>a</a:t>
            </a:r>
            <a:r>
              <a:rPr lang="en-US" altLang="zh-CN" sz="2400" baseline="-25000" dirty="0"/>
              <a:t>2</a:t>
            </a:r>
            <a:r>
              <a:rPr lang="en-US" altLang="zh-CN" sz="2400" dirty="0"/>
              <a:t>,…, </a:t>
            </a:r>
            <a:r>
              <a:rPr lang="en-US" altLang="zh-CN" sz="2400" i="1" dirty="0" err="1"/>
              <a:t>a</a:t>
            </a:r>
            <a:r>
              <a:rPr lang="en-US" altLang="zh-CN" sz="2400" i="1" baseline="-25000" dirty="0" err="1"/>
              <a:t>k</a:t>
            </a:r>
            <a:r>
              <a:rPr lang="en-US" altLang="zh-CN" sz="2400" dirty="0"/>
              <a:t>}</a:t>
            </a:r>
          </a:p>
          <a:p>
            <a:pPr eaLnBrk="1" hangingPunct="1">
              <a:lnSpc>
                <a:spcPct val="150000"/>
              </a:lnSpc>
            </a:pPr>
            <a:r>
              <a:rPr lang="en-US" altLang="zh-CN" sz="2800" dirty="0"/>
              <a:t>What about </a:t>
            </a:r>
            <a:r>
              <a:rPr lang="en-US" altLang="zh-CN" sz="2800" i="1" dirty="0"/>
              <a:t>W</a:t>
            </a:r>
            <a:r>
              <a:rPr lang="en-US" altLang="zh-CN" sz="2800" i="1" baseline="-25000" dirty="0"/>
              <a:t>0</a:t>
            </a:r>
            <a:r>
              <a:rPr lang="en-US" altLang="zh-CN" sz="2800" dirty="0"/>
              <a:t> </a:t>
            </a:r>
            <a:r>
              <a:rPr lang="en-US" altLang="zh-CN" sz="2800" i="1" dirty="0" err="1"/>
              <a:t>W</a:t>
            </a:r>
            <a:r>
              <a:rPr lang="en-US" altLang="zh-CN" sz="2800" i="1" baseline="-25000" dirty="0" err="1"/>
              <a:t>n</a:t>
            </a:r>
            <a:r>
              <a:rPr lang="en-US" altLang="zh-CN" sz="2800" i="1" baseline="-25000" dirty="0"/>
              <a:t> </a:t>
            </a:r>
            <a:r>
              <a:rPr lang="en-US" altLang="zh-CN" sz="2800" dirty="0"/>
              <a:t>?</a:t>
            </a:r>
          </a:p>
          <a:p>
            <a:pPr lvl="1" eaLnBrk="1" hangingPunct="1">
              <a:lnSpc>
                <a:spcPct val="150000"/>
              </a:lnSpc>
            </a:pPr>
            <a:r>
              <a:rPr lang="en-US" altLang="zh-CN" sz="2400" dirty="0"/>
              <a:t>Let </a:t>
            </a:r>
            <a:r>
              <a:rPr lang="en-US" altLang="zh-CN" sz="2400" i="1" dirty="0"/>
              <a:t>W</a:t>
            </a:r>
            <a:r>
              <a:rPr lang="en-US" altLang="zh-CN" sz="2400" i="1" baseline="-25000" dirty="0"/>
              <a:t>0</a:t>
            </a:r>
            <a:r>
              <a:rPr lang="en-US" altLang="zh-CN" sz="2400" i="1" dirty="0"/>
              <a:t> = W</a:t>
            </a:r>
            <a:r>
              <a:rPr lang="en-US" altLang="zh-CN" sz="2400" i="1" baseline="-25000" dirty="0"/>
              <a:t>R</a:t>
            </a:r>
            <a:endParaRPr lang="en-US" altLang="zh-CN" sz="2400" i="1" dirty="0"/>
          </a:p>
          <a:p>
            <a:pPr lvl="1" eaLnBrk="1" hangingPunct="1">
              <a:lnSpc>
                <a:spcPct val="150000"/>
              </a:lnSpc>
            </a:pPr>
            <a:r>
              <a:rPr lang="en-US" altLang="zh-CN" sz="2400" i="1" dirty="0" err="1"/>
              <a:t>W</a:t>
            </a:r>
            <a:r>
              <a:rPr lang="en-US" altLang="zh-CN" sz="2400" i="1" baseline="-25000" dirty="0" err="1"/>
              <a:t>n</a:t>
            </a:r>
            <a:r>
              <a:rPr lang="en-US" altLang="zh-CN" sz="2400" i="1" dirty="0"/>
              <a:t> = W</a:t>
            </a:r>
            <a:r>
              <a:rPr lang="en-US" altLang="zh-CN" sz="2400" baseline="30000" dirty="0">
                <a:sym typeface="Symbol" panose="05050102010706020507" pitchFamily="18" charset="2"/>
              </a:rPr>
              <a:t></a:t>
            </a:r>
            <a:endParaRPr lang="en-US" altLang="zh-CN" sz="2400" i="1" dirty="0"/>
          </a:p>
          <a:p>
            <a:pPr lvl="1" eaLnBrk="1" hangingPunct="1">
              <a:lnSpc>
                <a:spcPct val="150000"/>
              </a:lnSpc>
            </a:pPr>
            <a:r>
              <a:rPr lang="en-US" altLang="zh-CN" sz="2400" i="1" dirty="0"/>
              <a:t>W</a:t>
            </a:r>
            <a:r>
              <a:rPr lang="en-US" altLang="zh-CN" sz="2400" i="1" baseline="-25000" dirty="0"/>
              <a:t>0</a:t>
            </a:r>
            <a:r>
              <a:rPr lang="en-US" altLang="zh-CN" sz="2400" dirty="0"/>
              <a:t>,</a:t>
            </a:r>
            <a:r>
              <a:rPr lang="en-US" altLang="zh-CN" sz="2400" i="1" dirty="0"/>
              <a:t> W</a:t>
            </a:r>
            <a:r>
              <a:rPr lang="en-US" altLang="zh-CN" sz="2400" i="1" baseline="-25000" dirty="0"/>
              <a:t>1 </a:t>
            </a:r>
            <a:r>
              <a:rPr lang="en-US" altLang="zh-CN" sz="2400" dirty="0"/>
              <a:t>,</a:t>
            </a:r>
            <a:r>
              <a:rPr lang="en-US" altLang="zh-CN" sz="2400" i="1" dirty="0"/>
              <a:t> W</a:t>
            </a:r>
            <a:r>
              <a:rPr lang="en-US" altLang="zh-CN" sz="2400" i="1" baseline="-25000" dirty="0"/>
              <a:t>2 </a:t>
            </a:r>
            <a:r>
              <a:rPr lang="en-US" altLang="zh-CN" sz="2400" dirty="0"/>
              <a:t>,</a:t>
            </a:r>
            <a:r>
              <a:rPr lang="en-US" altLang="zh-CN" sz="2400" i="1" dirty="0"/>
              <a:t> …</a:t>
            </a:r>
            <a:r>
              <a:rPr lang="en-US" altLang="zh-CN" sz="2400" i="1" baseline="-25000" dirty="0"/>
              <a:t> </a:t>
            </a:r>
            <a:r>
              <a:rPr lang="en-US" altLang="zh-CN" sz="2400" dirty="0"/>
              <a:t>,</a:t>
            </a:r>
            <a:r>
              <a:rPr lang="en-US" altLang="zh-CN" sz="2400" i="1" dirty="0"/>
              <a:t> </a:t>
            </a:r>
            <a:r>
              <a:rPr lang="en-US" altLang="zh-CN" sz="2400" i="1" dirty="0" err="1"/>
              <a:t>W</a:t>
            </a:r>
            <a:r>
              <a:rPr lang="en-US" altLang="zh-CN" sz="2400" i="1" baseline="-25000" dirty="0" err="1"/>
              <a:t>n</a:t>
            </a:r>
            <a:endParaRPr lang="en-US" altLang="zh-CN" sz="2400" i="1" baseline="-25000" dirty="0"/>
          </a:p>
        </p:txBody>
      </p:sp>
    </p:spTree>
    <p:extLst>
      <p:ext uri="{BB962C8B-B14F-4D97-AF65-F5344CB8AC3E}">
        <p14:creationId xmlns:p14="http://schemas.microsoft.com/office/powerpoint/2010/main" val="28305530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09107" y="0"/>
            <a:ext cx="11056470" cy="739754"/>
          </a:xfrm>
          <a:prstGeom prst="rect">
            <a:avLst/>
          </a:prstGeom>
          <a:noFill/>
        </p:spPr>
        <p:txBody>
          <a:bodyPr wrap="square" rtlCol="0">
            <a:spAutoFit/>
          </a:bodyPr>
          <a:lstStyle/>
          <a:p>
            <a:pPr>
              <a:lnSpc>
                <a:spcPct val="150000"/>
              </a:lnSpc>
            </a:pPr>
            <a:r>
              <a:rPr lang="en-US" altLang="zh-CN" sz="3200"/>
              <a:t>9.4.5 Warshall’s </a:t>
            </a:r>
            <a:r>
              <a:rPr lang="en-US" altLang="zh-CN" sz="3200" dirty="0"/>
              <a:t>Algorithm</a:t>
            </a:r>
          </a:p>
        </p:txBody>
      </p:sp>
      <p:sp>
        <p:nvSpPr>
          <p:cNvPr id="4" name="Rectangle 3">
            <a:extLst>
              <a:ext uri="{FF2B5EF4-FFF2-40B4-BE49-F238E27FC236}">
                <a16:creationId xmlns:a16="http://schemas.microsoft.com/office/drawing/2014/main" id="{1735849B-72CD-45EA-9513-85E3C008A716}"/>
              </a:ext>
            </a:extLst>
          </p:cNvPr>
          <p:cNvSpPr txBox="1">
            <a:spLocks noChangeArrowheads="1"/>
          </p:cNvSpPr>
          <p:nvPr/>
        </p:nvSpPr>
        <p:spPr bwMode="auto">
          <a:xfrm>
            <a:off x="568234" y="1074856"/>
            <a:ext cx="11055531" cy="413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eaLnBrk="1" hangingPunct="1">
              <a:lnSpc>
                <a:spcPct val="150000"/>
              </a:lnSpc>
            </a:pPr>
            <a:r>
              <a:rPr lang="en-US" altLang="zh-CN"/>
              <a:t>Procedure</a:t>
            </a:r>
          </a:p>
          <a:p>
            <a:pPr lvl="1" eaLnBrk="1" hangingPunct="1">
              <a:lnSpc>
                <a:spcPct val="150000"/>
              </a:lnSpc>
            </a:pPr>
            <a:r>
              <a:rPr lang="en-US" altLang="zh-CN"/>
              <a:t>begin with the matrix of </a:t>
            </a:r>
            <a:r>
              <a:rPr lang="en-US" altLang="zh-CN" i="1"/>
              <a:t>R</a:t>
            </a:r>
            <a:r>
              <a:rPr lang="en-US" altLang="zh-CN"/>
              <a:t>, and </a:t>
            </a:r>
          </a:p>
          <a:p>
            <a:pPr lvl="1" eaLnBrk="1" hangingPunct="1">
              <a:lnSpc>
                <a:spcPct val="150000"/>
              </a:lnSpc>
            </a:pPr>
            <a:r>
              <a:rPr lang="en-US" altLang="zh-CN"/>
              <a:t>compute each matrix ,</a:t>
            </a:r>
            <a:r>
              <a:rPr lang="en-US" altLang="zh-CN" i="1"/>
              <a:t> W</a:t>
            </a:r>
            <a:r>
              <a:rPr lang="en-US" altLang="zh-CN" i="1" baseline="-25000"/>
              <a:t>k-1</a:t>
            </a:r>
            <a:r>
              <a:rPr lang="en-US" altLang="zh-CN"/>
              <a:t> from the previous matrix </a:t>
            </a:r>
            <a:r>
              <a:rPr lang="en-US" altLang="zh-CN" i="1"/>
              <a:t>W</a:t>
            </a:r>
            <a:r>
              <a:rPr lang="en-US" altLang="zh-CN" i="1" baseline="-25000"/>
              <a:t>k</a:t>
            </a:r>
            <a:r>
              <a:rPr lang="en-US" altLang="zh-CN"/>
              <a:t>, and, </a:t>
            </a:r>
          </a:p>
          <a:p>
            <a:pPr lvl="1" eaLnBrk="1" hangingPunct="1">
              <a:lnSpc>
                <a:spcPct val="150000"/>
              </a:lnSpc>
            </a:pPr>
            <a:r>
              <a:rPr lang="en-US" altLang="zh-CN"/>
              <a:t>reach</a:t>
            </a:r>
            <a:r>
              <a:rPr lang="en-US" altLang="zh-CN" i="1"/>
              <a:t> W</a:t>
            </a:r>
            <a:r>
              <a:rPr lang="en-US" altLang="zh-CN" baseline="30000">
                <a:sym typeface="Symbol" panose="05050102010706020507" pitchFamily="18" charset="2"/>
              </a:rPr>
              <a:t> </a:t>
            </a:r>
            <a:r>
              <a:rPr lang="en-US" altLang="zh-CN"/>
              <a:t>in </a:t>
            </a:r>
            <a:r>
              <a:rPr lang="en-US" altLang="zh-CN" i="1"/>
              <a:t>n</a:t>
            </a:r>
            <a:r>
              <a:rPr lang="en-US" altLang="zh-CN"/>
              <a:t> steps, </a:t>
            </a:r>
          </a:p>
        </p:txBody>
      </p:sp>
    </p:spTree>
    <p:extLst>
      <p:ext uri="{BB962C8B-B14F-4D97-AF65-F5344CB8AC3E}">
        <p14:creationId xmlns:p14="http://schemas.microsoft.com/office/powerpoint/2010/main" val="29815864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09107" y="0"/>
            <a:ext cx="11056470" cy="739754"/>
          </a:xfrm>
          <a:prstGeom prst="rect">
            <a:avLst/>
          </a:prstGeom>
          <a:noFill/>
        </p:spPr>
        <p:txBody>
          <a:bodyPr wrap="square" rtlCol="0">
            <a:spAutoFit/>
          </a:bodyPr>
          <a:lstStyle/>
          <a:p>
            <a:pPr>
              <a:lnSpc>
                <a:spcPct val="150000"/>
              </a:lnSpc>
            </a:pPr>
            <a:r>
              <a:rPr lang="en-US" altLang="zh-CN" sz="3200"/>
              <a:t>9.4.5 Warshall’s </a:t>
            </a:r>
            <a:r>
              <a:rPr lang="en-US" altLang="zh-CN" sz="3200" dirty="0"/>
              <a:t>Algorithm</a:t>
            </a:r>
          </a:p>
        </p:txBody>
      </p:sp>
      <p:sp>
        <p:nvSpPr>
          <p:cNvPr id="4" name="Rectangle 3">
            <a:extLst>
              <a:ext uri="{FF2B5EF4-FFF2-40B4-BE49-F238E27FC236}">
                <a16:creationId xmlns:a16="http://schemas.microsoft.com/office/drawing/2014/main" id="{1735849B-72CD-45EA-9513-85E3C008A716}"/>
              </a:ext>
            </a:extLst>
          </p:cNvPr>
          <p:cNvSpPr txBox="1">
            <a:spLocks noChangeArrowheads="1"/>
          </p:cNvSpPr>
          <p:nvPr/>
        </p:nvSpPr>
        <p:spPr bwMode="auto">
          <a:xfrm>
            <a:off x="568234" y="852915"/>
            <a:ext cx="11055531" cy="543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eaLnBrk="1" hangingPunct="1">
              <a:lnSpc>
                <a:spcPct val="150000"/>
              </a:lnSpc>
            </a:pPr>
            <a:r>
              <a:rPr lang="en-US" altLang="zh-CN"/>
              <a:t>Suppose</a:t>
            </a:r>
          </a:p>
          <a:p>
            <a:pPr lvl="1" eaLnBrk="1" hangingPunct="1">
              <a:lnSpc>
                <a:spcPct val="150000"/>
              </a:lnSpc>
            </a:pPr>
            <a:r>
              <a:rPr lang="en-US" altLang="zh-CN" i="1"/>
              <a:t>W</a:t>
            </a:r>
            <a:r>
              <a:rPr lang="en-US" altLang="zh-CN" i="1" baseline="-25000"/>
              <a:t>k</a:t>
            </a:r>
            <a:r>
              <a:rPr lang="en-US" altLang="zh-CN" i="1"/>
              <a:t> </a:t>
            </a:r>
            <a:r>
              <a:rPr lang="en-US" altLang="zh-CN"/>
              <a:t>= [</a:t>
            </a:r>
            <a:r>
              <a:rPr lang="en-US" altLang="zh-CN" i="1"/>
              <a:t>t</a:t>
            </a:r>
            <a:r>
              <a:rPr lang="en-US" altLang="zh-CN" i="1" baseline="-25000"/>
              <a:t>ij</a:t>
            </a:r>
            <a:r>
              <a:rPr lang="en-US" altLang="zh-CN"/>
              <a:t>]</a:t>
            </a:r>
          </a:p>
          <a:p>
            <a:pPr lvl="1" eaLnBrk="1" hangingPunct="1">
              <a:lnSpc>
                <a:spcPct val="150000"/>
              </a:lnSpc>
            </a:pPr>
            <a:r>
              <a:rPr lang="en-US" altLang="zh-CN" i="1"/>
              <a:t>W</a:t>
            </a:r>
            <a:r>
              <a:rPr lang="en-US" altLang="zh-CN" i="1" baseline="-25000"/>
              <a:t>k</a:t>
            </a:r>
            <a:r>
              <a:rPr lang="en-US" altLang="zh-CN" baseline="-25000"/>
              <a:t>-1</a:t>
            </a:r>
            <a:r>
              <a:rPr lang="en-US" altLang="zh-CN"/>
              <a:t> = [</a:t>
            </a:r>
            <a:r>
              <a:rPr lang="en-US" altLang="zh-CN" i="1"/>
              <a:t>s</a:t>
            </a:r>
            <a:r>
              <a:rPr lang="en-US" altLang="zh-CN" i="1" baseline="-25000"/>
              <a:t>ij</a:t>
            </a:r>
            <a:r>
              <a:rPr lang="en-US" altLang="zh-CN"/>
              <a:t>]</a:t>
            </a:r>
          </a:p>
          <a:p>
            <a:pPr eaLnBrk="1" hangingPunct="1">
              <a:lnSpc>
                <a:spcPct val="150000"/>
              </a:lnSpc>
            </a:pPr>
            <a:r>
              <a:rPr lang="en-US" altLang="zh-CN"/>
              <a:t>If </a:t>
            </a:r>
            <a:r>
              <a:rPr lang="en-US" altLang="zh-CN" i="1"/>
              <a:t>t</a:t>
            </a:r>
            <a:r>
              <a:rPr lang="en-US" altLang="zh-CN" i="1" baseline="-25000"/>
              <a:t>ij</a:t>
            </a:r>
            <a:r>
              <a:rPr lang="en-US" altLang="zh-CN"/>
              <a:t> = 1, then there must be a path from </a:t>
            </a:r>
            <a:r>
              <a:rPr lang="en-US" altLang="zh-CN" i="1"/>
              <a:t>a</a:t>
            </a:r>
            <a:r>
              <a:rPr lang="en-US" altLang="zh-CN" i="1" baseline="-25000"/>
              <a:t>i</a:t>
            </a:r>
            <a:r>
              <a:rPr lang="en-US" altLang="zh-CN"/>
              <a:t> to </a:t>
            </a:r>
            <a:r>
              <a:rPr lang="en-US" altLang="zh-CN" i="1"/>
              <a:t>a</a:t>
            </a:r>
            <a:r>
              <a:rPr lang="en-US" altLang="zh-CN" i="1" baseline="-25000"/>
              <a:t>j</a:t>
            </a:r>
            <a:r>
              <a:rPr lang="en-US" altLang="zh-CN"/>
              <a:t> whose interior vertices come from the set {</a:t>
            </a:r>
            <a:r>
              <a:rPr lang="en-US" altLang="zh-CN" i="1"/>
              <a:t>a</a:t>
            </a:r>
            <a:r>
              <a:rPr lang="en-US" altLang="zh-CN" baseline="-25000"/>
              <a:t>1</a:t>
            </a:r>
            <a:r>
              <a:rPr lang="en-US" altLang="zh-CN"/>
              <a:t>, </a:t>
            </a:r>
            <a:r>
              <a:rPr lang="en-US" altLang="zh-CN" i="1"/>
              <a:t>a</a:t>
            </a:r>
            <a:r>
              <a:rPr lang="en-US" altLang="zh-CN" baseline="-25000"/>
              <a:t>2</a:t>
            </a:r>
            <a:r>
              <a:rPr lang="en-US" altLang="zh-CN"/>
              <a:t>,…, </a:t>
            </a:r>
            <a:r>
              <a:rPr lang="en-US" altLang="zh-CN" i="1"/>
              <a:t>a</a:t>
            </a:r>
            <a:r>
              <a:rPr lang="en-US" altLang="zh-CN" i="1" baseline="-25000"/>
              <a:t>k</a:t>
            </a:r>
            <a:r>
              <a:rPr lang="en-US" altLang="zh-CN"/>
              <a:t>}.</a:t>
            </a:r>
          </a:p>
          <a:p>
            <a:pPr lvl="1" eaLnBrk="1" hangingPunct="1">
              <a:lnSpc>
                <a:spcPct val="150000"/>
              </a:lnSpc>
            </a:pPr>
            <a:r>
              <a:rPr lang="en-US" altLang="zh-CN"/>
              <a:t>Whether </a:t>
            </a:r>
            <a:r>
              <a:rPr lang="en-US" altLang="zh-CN" i="1"/>
              <a:t>a</a:t>
            </a:r>
            <a:r>
              <a:rPr lang="en-US" altLang="zh-CN" i="1" baseline="-25000"/>
              <a:t>k</a:t>
            </a:r>
            <a:r>
              <a:rPr lang="en-US" altLang="zh-CN"/>
              <a:t> is an interior vertex ?</a:t>
            </a:r>
          </a:p>
          <a:p>
            <a:pPr lvl="1" eaLnBrk="1" hangingPunct="1">
              <a:lnSpc>
                <a:spcPct val="150000"/>
              </a:lnSpc>
            </a:pPr>
            <a:r>
              <a:rPr lang="en-US" altLang="zh-CN"/>
              <a:t>Two cases</a:t>
            </a:r>
          </a:p>
        </p:txBody>
      </p:sp>
    </p:spTree>
    <p:extLst>
      <p:ext uri="{BB962C8B-B14F-4D97-AF65-F5344CB8AC3E}">
        <p14:creationId xmlns:p14="http://schemas.microsoft.com/office/powerpoint/2010/main" val="35792859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09107" y="0"/>
            <a:ext cx="11056470" cy="739754"/>
          </a:xfrm>
          <a:prstGeom prst="rect">
            <a:avLst/>
          </a:prstGeom>
          <a:noFill/>
        </p:spPr>
        <p:txBody>
          <a:bodyPr wrap="square" rtlCol="0">
            <a:spAutoFit/>
          </a:bodyPr>
          <a:lstStyle/>
          <a:p>
            <a:pPr>
              <a:lnSpc>
                <a:spcPct val="150000"/>
              </a:lnSpc>
            </a:pPr>
            <a:r>
              <a:rPr lang="en-US" altLang="zh-CN" sz="3200"/>
              <a:t>9.4.5 Warshall’s </a:t>
            </a:r>
            <a:r>
              <a:rPr lang="en-US" altLang="zh-CN" sz="3200" dirty="0"/>
              <a:t>Algorithm</a:t>
            </a:r>
          </a:p>
        </p:txBody>
      </p:sp>
      <p:sp>
        <p:nvSpPr>
          <p:cNvPr id="4" name="Rectangle 3">
            <a:extLst>
              <a:ext uri="{FF2B5EF4-FFF2-40B4-BE49-F238E27FC236}">
                <a16:creationId xmlns:a16="http://schemas.microsoft.com/office/drawing/2014/main" id="{1735849B-72CD-45EA-9513-85E3C008A716}"/>
              </a:ext>
            </a:extLst>
          </p:cNvPr>
          <p:cNvSpPr txBox="1">
            <a:spLocks noChangeArrowheads="1"/>
          </p:cNvSpPr>
          <p:nvPr/>
        </p:nvSpPr>
        <p:spPr bwMode="auto">
          <a:xfrm>
            <a:off x="568234" y="887290"/>
            <a:ext cx="11055531" cy="413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eaLnBrk="1" hangingPunct="1">
              <a:lnSpc>
                <a:spcPct val="150000"/>
              </a:lnSpc>
            </a:pPr>
            <a:r>
              <a:rPr lang="en-US" altLang="zh-CN" sz="2800" i="1" dirty="0" err="1"/>
              <a:t>a</a:t>
            </a:r>
            <a:r>
              <a:rPr lang="en-US" altLang="zh-CN" sz="2800" i="1" baseline="-25000" dirty="0" err="1"/>
              <a:t>k</a:t>
            </a:r>
            <a:r>
              <a:rPr lang="en-US" altLang="zh-CN" sz="2800" dirty="0"/>
              <a:t> is not an interior vertex</a:t>
            </a:r>
          </a:p>
          <a:p>
            <a:pPr lvl="1" eaLnBrk="1" hangingPunct="1">
              <a:lnSpc>
                <a:spcPct val="150000"/>
              </a:lnSpc>
            </a:pPr>
            <a:r>
              <a:rPr lang="en-US" altLang="zh-CN" sz="2400" dirty="0"/>
              <a:t>then all interior vertices must actually come from the set {</a:t>
            </a:r>
            <a:r>
              <a:rPr lang="en-US" altLang="zh-CN" sz="2400" i="1" dirty="0"/>
              <a:t>a</a:t>
            </a:r>
            <a:r>
              <a:rPr lang="en-US" altLang="zh-CN" sz="2400" baseline="-25000" dirty="0"/>
              <a:t>1</a:t>
            </a:r>
            <a:r>
              <a:rPr lang="en-US" altLang="zh-CN" sz="2400" dirty="0"/>
              <a:t>, </a:t>
            </a:r>
            <a:r>
              <a:rPr lang="en-US" altLang="zh-CN" sz="2400" i="1" dirty="0"/>
              <a:t>a</a:t>
            </a:r>
            <a:r>
              <a:rPr lang="en-US" altLang="zh-CN" sz="2400" baseline="-25000" dirty="0"/>
              <a:t>2</a:t>
            </a:r>
            <a:r>
              <a:rPr lang="en-US" altLang="zh-CN" sz="2400" dirty="0"/>
              <a:t>,…, </a:t>
            </a:r>
            <a:r>
              <a:rPr lang="en-US" altLang="zh-CN" sz="2400" i="1" dirty="0"/>
              <a:t>a</a:t>
            </a:r>
            <a:r>
              <a:rPr lang="en-US" altLang="zh-CN" sz="2400" i="1" baseline="-25000" dirty="0"/>
              <a:t>k-1</a:t>
            </a:r>
            <a:r>
              <a:rPr lang="en-US" altLang="zh-CN" sz="2400" dirty="0"/>
              <a:t>}</a:t>
            </a:r>
          </a:p>
          <a:p>
            <a:pPr lvl="1" eaLnBrk="1" hangingPunct="1">
              <a:lnSpc>
                <a:spcPct val="150000"/>
              </a:lnSpc>
            </a:pPr>
            <a:r>
              <a:rPr lang="en-US" altLang="zh-CN" sz="2400" dirty="0"/>
              <a:t>so </a:t>
            </a:r>
            <a:r>
              <a:rPr lang="en-US" altLang="zh-CN" sz="2400" i="1" dirty="0" err="1"/>
              <a:t>s</a:t>
            </a:r>
            <a:r>
              <a:rPr lang="en-US" altLang="zh-CN" sz="2400" i="1" baseline="-25000" dirty="0" err="1"/>
              <a:t>ij</a:t>
            </a:r>
            <a:r>
              <a:rPr lang="en-US" altLang="zh-CN" sz="2400" dirty="0"/>
              <a:t> = 1.</a:t>
            </a:r>
          </a:p>
          <a:p>
            <a:pPr eaLnBrk="1" hangingPunct="1">
              <a:lnSpc>
                <a:spcPct val="150000"/>
              </a:lnSpc>
            </a:pPr>
            <a:r>
              <a:rPr lang="en-US" altLang="zh-CN" sz="2800" i="1" dirty="0" err="1"/>
              <a:t>a</a:t>
            </a:r>
            <a:r>
              <a:rPr lang="en-US" altLang="zh-CN" sz="2800" i="1" baseline="-25000" dirty="0" err="1"/>
              <a:t>k</a:t>
            </a:r>
            <a:r>
              <a:rPr lang="en-US" altLang="zh-CN" sz="2800" dirty="0"/>
              <a:t> is an interior vertex</a:t>
            </a:r>
          </a:p>
          <a:p>
            <a:pPr lvl="1" eaLnBrk="1" hangingPunct="1">
              <a:lnSpc>
                <a:spcPct val="150000"/>
              </a:lnSpc>
            </a:pPr>
            <a:r>
              <a:rPr lang="en-US" altLang="zh-CN" sz="2400" dirty="0"/>
              <a:t>Assume </a:t>
            </a:r>
            <a:r>
              <a:rPr lang="en-US" altLang="zh-CN" sz="2400" i="1" dirty="0" err="1"/>
              <a:t>a</a:t>
            </a:r>
            <a:r>
              <a:rPr lang="en-US" altLang="zh-CN" sz="2400" i="1" baseline="-25000" dirty="0" err="1"/>
              <a:t>k</a:t>
            </a:r>
            <a:r>
              <a:rPr lang="en-US" altLang="zh-CN" sz="2400" dirty="0"/>
              <a:t> appears only once (why?)</a:t>
            </a:r>
          </a:p>
          <a:p>
            <a:pPr lvl="1" eaLnBrk="1" hangingPunct="1">
              <a:lnSpc>
                <a:spcPct val="150000"/>
              </a:lnSpc>
            </a:pPr>
            <a:r>
              <a:rPr lang="en-US" altLang="zh-CN" sz="2400" dirty="0"/>
              <a:t>Two </a:t>
            </a:r>
            <a:r>
              <a:rPr lang="en-US" altLang="zh-CN" sz="2400" dirty="0" err="1"/>
              <a:t>subpaths</a:t>
            </a:r>
            <a:endParaRPr lang="en-US" altLang="zh-CN" sz="2400" dirty="0"/>
          </a:p>
          <a:p>
            <a:pPr lvl="2" eaLnBrk="1" hangingPunct="1">
              <a:lnSpc>
                <a:spcPct val="150000"/>
              </a:lnSpc>
            </a:pPr>
            <a:r>
              <a:rPr lang="en-US" altLang="zh-CN" sz="2000" i="1" dirty="0" err="1"/>
              <a:t>a</a:t>
            </a:r>
            <a:r>
              <a:rPr lang="en-US" altLang="zh-CN" sz="2000" i="1" baseline="-25000" dirty="0" err="1"/>
              <a:t>i</a:t>
            </a:r>
            <a:r>
              <a:rPr lang="en-US" altLang="zh-CN" sz="2000" dirty="0"/>
              <a:t> to </a:t>
            </a:r>
            <a:r>
              <a:rPr lang="en-US" altLang="zh-CN" sz="2000" i="1" dirty="0" err="1"/>
              <a:t>a</a:t>
            </a:r>
            <a:r>
              <a:rPr lang="en-US" altLang="zh-CN" sz="2000" i="1" baseline="-25000" dirty="0" err="1"/>
              <a:t>k</a:t>
            </a:r>
            <a:r>
              <a:rPr lang="en-US" altLang="zh-CN" sz="2000" dirty="0"/>
              <a:t> and </a:t>
            </a:r>
            <a:r>
              <a:rPr lang="en-US" altLang="zh-CN" sz="2000" i="1" dirty="0" err="1"/>
              <a:t>a</a:t>
            </a:r>
            <a:r>
              <a:rPr lang="en-US" altLang="zh-CN" sz="2000" i="1" baseline="-25000" dirty="0" err="1"/>
              <a:t>k</a:t>
            </a:r>
            <a:r>
              <a:rPr lang="en-US" altLang="zh-CN" sz="2000" dirty="0"/>
              <a:t> to </a:t>
            </a:r>
            <a:r>
              <a:rPr lang="en-US" altLang="zh-CN" sz="2000" i="1" dirty="0" err="1"/>
              <a:t>a</a:t>
            </a:r>
            <a:r>
              <a:rPr lang="en-US" altLang="zh-CN" sz="2000" i="1" baseline="-25000" dirty="0" err="1"/>
              <a:t>j</a:t>
            </a:r>
            <a:endParaRPr lang="en-US" altLang="zh-CN" sz="2000" dirty="0"/>
          </a:p>
          <a:p>
            <a:pPr lvl="1" eaLnBrk="1" hangingPunct="1">
              <a:lnSpc>
                <a:spcPct val="150000"/>
              </a:lnSpc>
            </a:pPr>
            <a:r>
              <a:rPr lang="en-US" altLang="zh-CN" sz="2400" i="1" dirty="0" err="1"/>
              <a:t>s</a:t>
            </a:r>
            <a:r>
              <a:rPr lang="en-US" altLang="zh-CN" sz="2400" i="1" baseline="-25000" dirty="0" err="1"/>
              <a:t>ik</a:t>
            </a:r>
            <a:r>
              <a:rPr lang="en-US" altLang="zh-CN" sz="2400" dirty="0"/>
              <a:t> = 1 and </a:t>
            </a:r>
            <a:r>
              <a:rPr lang="en-US" altLang="zh-CN" sz="2400" i="1" dirty="0" err="1"/>
              <a:t>s</a:t>
            </a:r>
            <a:r>
              <a:rPr lang="en-US" altLang="zh-CN" sz="2400" i="1" baseline="-25000" dirty="0" err="1"/>
              <a:t>kj</a:t>
            </a:r>
            <a:r>
              <a:rPr lang="en-US" altLang="zh-CN" sz="2400" dirty="0"/>
              <a:t> = 1</a:t>
            </a:r>
          </a:p>
        </p:txBody>
      </p:sp>
      <p:grpSp>
        <p:nvGrpSpPr>
          <p:cNvPr id="5" name="Group 4">
            <a:extLst>
              <a:ext uri="{FF2B5EF4-FFF2-40B4-BE49-F238E27FC236}">
                <a16:creationId xmlns:a16="http://schemas.microsoft.com/office/drawing/2014/main" id="{1C377531-8A18-4473-AC9D-C797AA1B765B}"/>
              </a:ext>
            </a:extLst>
          </p:cNvPr>
          <p:cNvGrpSpPr>
            <a:grpSpLocks/>
          </p:cNvGrpSpPr>
          <p:nvPr/>
        </p:nvGrpSpPr>
        <p:grpSpPr bwMode="auto">
          <a:xfrm>
            <a:off x="7200316" y="4656848"/>
            <a:ext cx="2611437" cy="1338262"/>
            <a:chOff x="0" y="0"/>
            <a:chExt cx="1645" cy="843"/>
          </a:xfrm>
        </p:grpSpPr>
        <p:sp>
          <p:nvSpPr>
            <p:cNvPr id="6" name="Oval 5">
              <a:extLst>
                <a:ext uri="{FF2B5EF4-FFF2-40B4-BE49-F238E27FC236}">
                  <a16:creationId xmlns:a16="http://schemas.microsoft.com/office/drawing/2014/main" id="{39F7F26D-47DC-4F77-BD01-75F6E77EFA7A}"/>
                </a:ext>
              </a:extLst>
            </p:cNvPr>
            <p:cNvSpPr>
              <a:spLocks noChangeArrowheads="1"/>
            </p:cNvSpPr>
            <p:nvPr/>
          </p:nvSpPr>
          <p:spPr bwMode="auto">
            <a:xfrm>
              <a:off x="736" y="33"/>
              <a:ext cx="181" cy="18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 name="Oval 6">
              <a:extLst>
                <a:ext uri="{FF2B5EF4-FFF2-40B4-BE49-F238E27FC236}">
                  <a16:creationId xmlns:a16="http://schemas.microsoft.com/office/drawing/2014/main" id="{077E0CD1-0093-4F12-99AD-92DE4A3AB08E}"/>
                </a:ext>
              </a:extLst>
            </p:cNvPr>
            <p:cNvSpPr>
              <a:spLocks noChangeArrowheads="1"/>
            </p:cNvSpPr>
            <p:nvPr/>
          </p:nvSpPr>
          <p:spPr bwMode="auto">
            <a:xfrm>
              <a:off x="1451" y="632"/>
              <a:ext cx="181" cy="18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 name="Oval 7">
              <a:extLst>
                <a:ext uri="{FF2B5EF4-FFF2-40B4-BE49-F238E27FC236}">
                  <a16:creationId xmlns:a16="http://schemas.microsoft.com/office/drawing/2014/main" id="{42A4AC6A-E34D-4797-9198-B6B3E42DC71E}"/>
                </a:ext>
              </a:extLst>
            </p:cNvPr>
            <p:cNvSpPr>
              <a:spLocks noChangeArrowheads="1"/>
            </p:cNvSpPr>
            <p:nvPr/>
          </p:nvSpPr>
          <p:spPr bwMode="auto">
            <a:xfrm>
              <a:off x="19" y="659"/>
              <a:ext cx="181" cy="18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 name="Arc 8">
              <a:extLst>
                <a:ext uri="{FF2B5EF4-FFF2-40B4-BE49-F238E27FC236}">
                  <a16:creationId xmlns:a16="http://schemas.microsoft.com/office/drawing/2014/main" id="{94F96DDD-E805-4234-8C18-4AC9BD91AF74}"/>
                </a:ext>
              </a:extLst>
            </p:cNvPr>
            <p:cNvSpPr>
              <a:spLocks/>
            </p:cNvSpPr>
            <p:nvPr/>
          </p:nvSpPr>
          <p:spPr bwMode="auto">
            <a:xfrm rot="2926926" flipV="1">
              <a:off x="360" y="-11"/>
              <a:ext cx="91" cy="811"/>
            </a:xfrm>
            <a:custGeom>
              <a:avLst/>
              <a:gdLst>
                <a:gd name="T0" fmla="*/ 0 w 21600"/>
                <a:gd name="T1" fmla="*/ 0 h 37867"/>
                <a:gd name="T2" fmla="*/ 0 w 21600"/>
                <a:gd name="T3" fmla="*/ 0 h 37867"/>
                <a:gd name="T4" fmla="*/ 0 w 21600"/>
                <a:gd name="T5" fmla="*/ 0 h 37867"/>
                <a:gd name="T6" fmla="*/ 0 w 21600"/>
                <a:gd name="T7" fmla="*/ 0 h 37867"/>
                <a:gd name="T8" fmla="*/ 0 w 21600"/>
                <a:gd name="T9" fmla="*/ 0 h 37867"/>
                <a:gd name="T10" fmla="*/ 0 w 21600"/>
                <a:gd name="T11" fmla="*/ 0 h 37867"/>
                <a:gd name="T12" fmla="*/ 0 w 21600"/>
                <a:gd name="T13" fmla="*/ 0 h 37867"/>
                <a:gd name="T14" fmla="*/ 0 w 21600"/>
                <a:gd name="T15" fmla="*/ 0 h 3786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37867" fill="none" extrusionOk="0">
                  <a:moveTo>
                    <a:pt x="9740" y="37866"/>
                  </a:moveTo>
                  <a:cubicBezTo>
                    <a:pt x="3660" y="33873"/>
                    <a:pt x="0" y="27087"/>
                    <a:pt x="0" y="19814"/>
                  </a:cubicBezTo>
                  <a:cubicBezTo>
                    <a:pt x="-1" y="11209"/>
                    <a:pt x="5107" y="3425"/>
                    <a:pt x="13000" y="-1"/>
                  </a:cubicBezTo>
                </a:path>
                <a:path w="21600" h="37867" stroke="0" extrusionOk="0">
                  <a:moveTo>
                    <a:pt x="9740" y="37866"/>
                  </a:moveTo>
                  <a:cubicBezTo>
                    <a:pt x="3660" y="33873"/>
                    <a:pt x="0" y="27087"/>
                    <a:pt x="0" y="19814"/>
                  </a:cubicBezTo>
                  <a:cubicBezTo>
                    <a:pt x="-1" y="11209"/>
                    <a:pt x="5107" y="3425"/>
                    <a:pt x="13000" y="-1"/>
                  </a:cubicBezTo>
                  <a:lnTo>
                    <a:pt x="21600" y="19814"/>
                  </a:lnTo>
                  <a:lnTo>
                    <a:pt x="9740" y="37866"/>
                  </a:lnTo>
                  <a:close/>
                </a:path>
              </a:pathLst>
            </a:custGeom>
            <a:noFill/>
            <a:ln w="19050" cmpd="sng">
              <a:solidFill>
                <a:srgbClr val="0000FF"/>
              </a:solidFill>
              <a:prstDash val="dash"/>
              <a:round/>
              <a:headEnd type="stealth" w="lg" len="lg"/>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Arc 9">
              <a:extLst>
                <a:ext uri="{FF2B5EF4-FFF2-40B4-BE49-F238E27FC236}">
                  <a16:creationId xmlns:a16="http://schemas.microsoft.com/office/drawing/2014/main" id="{22E80867-874D-43D2-AEE9-87A7FF6D19D8}"/>
                </a:ext>
              </a:extLst>
            </p:cNvPr>
            <p:cNvSpPr>
              <a:spLocks/>
            </p:cNvSpPr>
            <p:nvPr/>
          </p:nvSpPr>
          <p:spPr bwMode="auto">
            <a:xfrm rot="1498813" flipH="1" flipV="1">
              <a:off x="844" y="281"/>
              <a:ext cx="780" cy="206"/>
            </a:xfrm>
            <a:custGeom>
              <a:avLst/>
              <a:gdLst>
                <a:gd name="T0" fmla="*/ 0 w 30275"/>
                <a:gd name="T1" fmla="*/ 0 h 21600"/>
                <a:gd name="T2" fmla="*/ 0 w 30275"/>
                <a:gd name="T3" fmla="*/ 0 h 21600"/>
                <a:gd name="T4" fmla="*/ 0 w 30275"/>
                <a:gd name="T5" fmla="*/ 0 h 21600"/>
                <a:gd name="T6" fmla="*/ 0 w 30275"/>
                <a:gd name="T7" fmla="*/ 0 h 21600"/>
                <a:gd name="T8" fmla="*/ 0 w 30275"/>
                <a:gd name="T9" fmla="*/ 0 h 21600"/>
                <a:gd name="T10" fmla="*/ 0 w 30275"/>
                <a:gd name="T11" fmla="*/ 0 h 21600"/>
                <a:gd name="T12" fmla="*/ 0 w 30275"/>
                <a:gd name="T13" fmla="*/ 0 h 21600"/>
                <a:gd name="T14" fmla="*/ 0 w 30275"/>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275" h="21600" fill="none" extrusionOk="0">
                  <a:moveTo>
                    <a:pt x="30275" y="19755"/>
                  </a:moveTo>
                  <a:cubicBezTo>
                    <a:pt x="27523" y="20971"/>
                    <a:pt x="24549" y="21599"/>
                    <a:pt x="21541" y="21600"/>
                  </a:cubicBezTo>
                  <a:cubicBezTo>
                    <a:pt x="10231" y="21600"/>
                    <a:pt x="837" y="12876"/>
                    <a:pt x="0" y="1598"/>
                  </a:cubicBezTo>
                </a:path>
                <a:path w="30275" h="21600" stroke="0" extrusionOk="0">
                  <a:moveTo>
                    <a:pt x="30275" y="19755"/>
                  </a:moveTo>
                  <a:cubicBezTo>
                    <a:pt x="27523" y="20971"/>
                    <a:pt x="24549" y="21599"/>
                    <a:pt x="21541" y="21600"/>
                  </a:cubicBezTo>
                  <a:cubicBezTo>
                    <a:pt x="10231" y="21600"/>
                    <a:pt x="837" y="12876"/>
                    <a:pt x="0" y="1598"/>
                  </a:cubicBezTo>
                  <a:lnTo>
                    <a:pt x="21541" y="0"/>
                  </a:lnTo>
                  <a:lnTo>
                    <a:pt x="30275" y="19755"/>
                  </a:lnTo>
                  <a:close/>
                </a:path>
              </a:pathLst>
            </a:custGeom>
            <a:noFill/>
            <a:ln w="19050" cmpd="sng">
              <a:solidFill>
                <a:srgbClr val="0000FF"/>
              </a:solidFill>
              <a:prstDash val="dash"/>
              <a:round/>
              <a:headEn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Text Box 10">
              <a:extLst>
                <a:ext uri="{FF2B5EF4-FFF2-40B4-BE49-F238E27FC236}">
                  <a16:creationId xmlns:a16="http://schemas.microsoft.com/office/drawing/2014/main" id="{11B9E80A-90ED-4D04-B9A7-E702A0819862}"/>
                </a:ext>
              </a:extLst>
            </p:cNvPr>
            <p:cNvSpPr txBox="1">
              <a:spLocks noChangeArrowheads="1"/>
            </p:cNvSpPr>
            <p:nvPr/>
          </p:nvSpPr>
          <p:spPr bwMode="auto">
            <a:xfrm>
              <a:off x="735" y="0"/>
              <a:ext cx="21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i="1">
                  <a:solidFill>
                    <a:schemeClr val="hlink"/>
                  </a:solidFill>
                  <a:latin typeface="Georgia" panose="02040502050405020303" pitchFamily="18" charset="0"/>
                </a:rPr>
                <a:t>a</a:t>
              </a:r>
              <a:r>
                <a:rPr lang="en-US" altLang="zh-CN" sz="1400" i="1" baseline="-25000">
                  <a:solidFill>
                    <a:schemeClr val="hlink"/>
                  </a:solidFill>
                  <a:latin typeface="Georgia" panose="02040502050405020303" pitchFamily="18" charset="0"/>
                </a:rPr>
                <a:t>k</a:t>
              </a:r>
            </a:p>
          </p:txBody>
        </p:sp>
        <p:sp>
          <p:nvSpPr>
            <p:cNvPr id="12" name="Text Box 11">
              <a:extLst>
                <a:ext uri="{FF2B5EF4-FFF2-40B4-BE49-F238E27FC236}">
                  <a16:creationId xmlns:a16="http://schemas.microsoft.com/office/drawing/2014/main" id="{7FED6F62-E7E8-469A-A584-03E6D14C64C2}"/>
                </a:ext>
              </a:extLst>
            </p:cNvPr>
            <p:cNvSpPr txBox="1">
              <a:spLocks noChangeArrowheads="1"/>
            </p:cNvSpPr>
            <p:nvPr/>
          </p:nvSpPr>
          <p:spPr bwMode="auto">
            <a:xfrm>
              <a:off x="1444" y="614"/>
              <a:ext cx="20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i="1">
                  <a:solidFill>
                    <a:schemeClr val="hlink"/>
                  </a:solidFill>
                  <a:latin typeface="Georgia" panose="02040502050405020303" pitchFamily="18" charset="0"/>
                </a:rPr>
                <a:t>a</a:t>
              </a:r>
              <a:r>
                <a:rPr lang="en-US" altLang="zh-CN" sz="1400" i="1" baseline="-25000">
                  <a:solidFill>
                    <a:schemeClr val="hlink"/>
                  </a:solidFill>
                  <a:latin typeface="Georgia" panose="02040502050405020303" pitchFamily="18" charset="0"/>
                </a:rPr>
                <a:t>j</a:t>
              </a:r>
            </a:p>
          </p:txBody>
        </p:sp>
        <p:sp>
          <p:nvSpPr>
            <p:cNvPr id="13" name="Text Box 12">
              <a:extLst>
                <a:ext uri="{FF2B5EF4-FFF2-40B4-BE49-F238E27FC236}">
                  <a16:creationId xmlns:a16="http://schemas.microsoft.com/office/drawing/2014/main" id="{8D3534FF-2AD7-4EF6-BC73-7776B315E1F7}"/>
                </a:ext>
              </a:extLst>
            </p:cNvPr>
            <p:cNvSpPr txBox="1">
              <a:spLocks noChangeArrowheads="1"/>
            </p:cNvSpPr>
            <p:nvPr/>
          </p:nvSpPr>
          <p:spPr bwMode="auto">
            <a:xfrm>
              <a:off x="10" y="651"/>
              <a:ext cx="20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i="1">
                  <a:solidFill>
                    <a:schemeClr val="hlink"/>
                  </a:solidFill>
                  <a:latin typeface="Georgia" panose="02040502050405020303" pitchFamily="18" charset="0"/>
                </a:rPr>
                <a:t>a</a:t>
              </a:r>
              <a:r>
                <a:rPr lang="en-US" altLang="zh-CN" sz="1400" i="1" baseline="-25000">
                  <a:solidFill>
                    <a:schemeClr val="hlink"/>
                  </a:solidFill>
                  <a:latin typeface="Georgia" panose="02040502050405020303" pitchFamily="18" charset="0"/>
                </a:rPr>
                <a:t>i</a:t>
              </a:r>
            </a:p>
          </p:txBody>
        </p:sp>
      </p:grpSp>
    </p:spTree>
    <p:extLst>
      <p:ext uri="{BB962C8B-B14F-4D97-AF65-F5344CB8AC3E}">
        <p14:creationId xmlns:p14="http://schemas.microsoft.com/office/powerpoint/2010/main" val="41424215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735849B-72CD-45EA-9513-85E3C008A716}"/>
              </a:ext>
            </a:extLst>
          </p:cNvPr>
          <p:cNvSpPr txBox="1">
            <a:spLocks noChangeArrowheads="1"/>
          </p:cNvSpPr>
          <p:nvPr/>
        </p:nvSpPr>
        <p:spPr bwMode="auto">
          <a:xfrm>
            <a:off x="568234" y="1190266"/>
            <a:ext cx="11055531" cy="413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eaLnBrk="1" hangingPunct="1">
              <a:lnSpc>
                <a:spcPct val="150000"/>
              </a:lnSpc>
            </a:pPr>
            <a:r>
              <a:rPr lang="en-US" altLang="zh-CN"/>
              <a:t>The basis for Warshall’s Algorithm</a:t>
            </a:r>
          </a:p>
          <a:p>
            <a:pPr lvl="1" eaLnBrk="1" hangingPunct="1">
              <a:lnSpc>
                <a:spcPct val="150000"/>
              </a:lnSpc>
            </a:pPr>
            <a:r>
              <a:rPr lang="en-US" altLang="zh-CN" i="1"/>
              <a:t>t</a:t>
            </a:r>
            <a:r>
              <a:rPr lang="en-US" altLang="zh-CN" i="1" baseline="-25000"/>
              <a:t>ij</a:t>
            </a:r>
            <a:r>
              <a:rPr lang="en-US" altLang="zh-CN"/>
              <a:t> = 1</a:t>
            </a:r>
          </a:p>
          <a:p>
            <a:pPr lvl="2" eaLnBrk="1" hangingPunct="1">
              <a:lnSpc>
                <a:spcPct val="150000"/>
              </a:lnSpc>
            </a:pPr>
            <a:r>
              <a:rPr lang="en-US" altLang="zh-CN"/>
              <a:t>If and only if</a:t>
            </a:r>
          </a:p>
          <a:p>
            <a:pPr lvl="1" eaLnBrk="1" hangingPunct="1">
              <a:lnSpc>
                <a:spcPct val="150000"/>
              </a:lnSpc>
            </a:pPr>
            <a:r>
              <a:rPr lang="en-US" altLang="zh-CN"/>
              <a:t>either</a:t>
            </a:r>
          </a:p>
          <a:p>
            <a:pPr lvl="2" eaLnBrk="1" hangingPunct="1">
              <a:lnSpc>
                <a:spcPct val="150000"/>
              </a:lnSpc>
            </a:pPr>
            <a:r>
              <a:rPr lang="en-US" altLang="zh-CN" i="1"/>
              <a:t>s</a:t>
            </a:r>
            <a:r>
              <a:rPr lang="en-US" altLang="zh-CN" i="1" baseline="-25000"/>
              <a:t>ij</a:t>
            </a:r>
            <a:r>
              <a:rPr lang="en-US" altLang="zh-CN"/>
              <a:t> = 1</a:t>
            </a:r>
            <a:endParaRPr lang="en-US" altLang="zh-CN" i="1"/>
          </a:p>
          <a:p>
            <a:pPr lvl="2" eaLnBrk="1" hangingPunct="1">
              <a:lnSpc>
                <a:spcPct val="150000"/>
              </a:lnSpc>
            </a:pPr>
            <a:r>
              <a:rPr lang="en-US" altLang="zh-CN" i="1"/>
              <a:t>s</a:t>
            </a:r>
            <a:r>
              <a:rPr lang="en-US" altLang="zh-CN" i="1" baseline="-25000"/>
              <a:t>ik</a:t>
            </a:r>
            <a:r>
              <a:rPr lang="en-US" altLang="zh-CN"/>
              <a:t> = 1 and </a:t>
            </a:r>
            <a:r>
              <a:rPr lang="en-US" altLang="zh-CN" i="1"/>
              <a:t>s</a:t>
            </a:r>
            <a:r>
              <a:rPr lang="en-US" altLang="zh-CN" i="1" baseline="-25000"/>
              <a:t>kj</a:t>
            </a:r>
            <a:r>
              <a:rPr lang="en-US" altLang="zh-CN"/>
              <a:t> = 1</a:t>
            </a:r>
          </a:p>
        </p:txBody>
      </p:sp>
      <p:sp>
        <p:nvSpPr>
          <p:cNvPr id="5" name="文本框 4">
            <a:extLst>
              <a:ext uri="{FF2B5EF4-FFF2-40B4-BE49-F238E27FC236}">
                <a16:creationId xmlns:a16="http://schemas.microsoft.com/office/drawing/2014/main" id="{2BC0EC4E-4B07-472F-931A-3B3D6138D8B5}"/>
              </a:ext>
            </a:extLst>
          </p:cNvPr>
          <p:cNvSpPr txBox="1"/>
          <p:nvPr/>
        </p:nvSpPr>
        <p:spPr>
          <a:xfrm>
            <a:off x="209107" y="0"/>
            <a:ext cx="11056470" cy="739754"/>
          </a:xfrm>
          <a:prstGeom prst="rect">
            <a:avLst/>
          </a:prstGeom>
          <a:noFill/>
        </p:spPr>
        <p:txBody>
          <a:bodyPr wrap="square" rtlCol="0">
            <a:spAutoFit/>
          </a:bodyPr>
          <a:lstStyle/>
          <a:p>
            <a:pPr>
              <a:lnSpc>
                <a:spcPct val="150000"/>
              </a:lnSpc>
            </a:pPr>
            <a:r>
              <a:rPr lang="en-US" altLang="zh-CN" sz="3200"/>
              <a:t>9.4.5 Warshall’s </a:t>
            </a:r>
            <a:r>
              <a:rPr lang="en-US" altLang="zh-CN" sz="3200" dirty="0"/>
              <a:t>Algorithm</a:t>
            </a:r>
          </a:p>
        </p:txBody>
      </p:sp>
    </p:spTree>
    <p:extLst>
      <p:ext uri="{BB962C8B-B14F-4D97-AF65-F5344CB8AC3E}">
        <p14:creationId xmlns:p14="http://schemas.microsoft.com/office/powerpoint/2010/main" val="33800218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735849B-72CD-45EA-9513-85E3C008A716}"/>
              </a:ext>
            </a:extLst>
          </p:cNvPr>
          <p:cNvSpPr txBox="1">
            <a:spLocks noChangeArrowheads="1"/>
          </p:cNvSpPr>
          <p:nvPr/>
        </p:nvSpPr>
        <p:spPr bwMode="auto">
          <a:xfrm>
            <a:off x="568234" y="1190266"/>
            <a:ext cx="11055531" cy="413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eaLnBrk="1" hangingPunct="1">
              <a:lnSpc>
                <a:spcPct val="90000"/>
              </a:lnSpc>
            </a:pPr>
            <a:r>
              <a:rPr lang="en-US" altLang="zh-CN" sz="2800" i="1">
                <a:solidFill>
                  <a:schemeClr val="hlink"/>
                </a:solidFill>
              </a:rPr>
              <a:t>Step1</a:t>
            </a:r>
            <a:r>
              <a:rPr lang="en-US" altLang="zh-CN" sz="2800"/>
              <a:t>: </a:t>
            </a:r>
          </a:p>
          <a:p>
            <a:pPr lvl="1" eaLnBrk="1" hangingPunct="1">
              <a:lnSpc>
                <a:spcPct val="90000"/>
              </a:lnSpc>
            </a:pPr>
            <a:r>
              <a:rPr lang="en-US" altLang="zh-CN" sz="2400"/>
              <a:t>First transfer to </a:t>
            </a:r>
            <a:r>
              <a:rPr lang="en-US" altLang="zh-CN" sz="2400" i="1"/>
              <a:t>W</a:t>
            </a:r>
            <a:r>
              <a:rPr lang="en-US" altLang="zh-CN" sz="2400" i="1" baseline="-25000"/>
              <a:t>k</a:t>
            </a:r>
            <a:r>
              <a:rPr lang="en-US" altLang="zh-CN" sz="2400"/>
              <a:t> all 1’s in </a:t>
            </a:r>
            <a:r>
              <a:rPr lang="en-US" altLang="zh-CN" sz="2400" i="1"/>
              <a:t>W</a:t>
            </a:r>
            <a:r>
              <a:rPr lang="en-US" altLang="zh-CN" sz="2400" i="1" baseline="-25000"/>
              <a:t>k</a:t>
            </a:r>
            <a:r>
              <a:rPr lang="en-US" altLang="zh-CN" sz="2400" baseline="-25000"/>
              <a:t>-1</a:t>
            </a:r>
            <a:r>
              <a:rPr lang="en-US" altLang="zh-CN" sz="2400"/>
              <a:t>.</a:t>
            </a:r>
          </a:p>
          <a:p>
            <a:pPr eaLnBrk="1" hangingPunct="1">
              <a:lnSpc>
                <a:spcPct val="90000"/>
              </a:lnSpc>
            </a:pPr>
            <a:r>
              <a:rPr lang="en-US" altLang="zh-CN" sz="2800" i="1">
                <a:solidFill>
                  <a:schemeClr val="hlink"/>
                </a:solidFill>
              </a:rPr>
              <a:t>Step2</a:t>
            </a:r>
            <a:r>
              <a:rPr lang="en-US" altLang="zh-CN" sz="2800"/>
              <a:t>: </a:t>
            </a:r>
          </a:p>
          <a:p>
            <a:pPr lvl="1" eaLnBrk="1" hangingPunct="1">
              <a:lnSpc>
                <a:spcPct val="90000"/>
              </a:lnSpc>
            </a:pPr>
            <a:r>
              <a:rPr lang="en-US" altLang="zh-CN" sz="2400"/>
              <a:t>List the locations </a:t>
            </a:r>
            <a:r>
              <a:rPr lang="en-US" altLang="zh-CN" sz="2400" i="1"/>
              <a:t>p</a:t>
            </a:r>
            <a:r>
              <a:rPr lang="en-US" altLang="zh-CN" sz="2400" baseline="-25000"/>
              <a:t>1</a:t>
            </a:r>
            <a:r>
              <a:rPr lang="en-US" altLang="zh-CN" sz="2400"/>
              <a:t>, </a:t>
            </a:r>
            <a:r>
              <a:rPr lang="en-US" altLang="zh-CN" sz="2400" i="1"/>
              <a:t>p</a:t>
            </a:r>
            <a:r>
              <a:rPr lang="en-US" altLang="zh-CN" sz="2400" baseline="-25000"/>
              <a:t>2</a:t>
            </a:r>
            <a:r>
              <a:rPr lang="en-US" altLang="zh-CN" sz="2400"/>
              <a:t>, …, in column </a:t>
            </a:r>
            <a:r>
              <a:rPr lang="en-US" altLang="zh-CN" sz="2400" i="1"/>
              <a:t>k</a:t>
            </a:r>
            <a:r>
              <a:rPr lang="en-US" altLang="zh-CN" sz="2400"/>
              <a:t> of </a:t>
            </a:r>
            <a:r>
              <a:rPr lang="en-US" altLang="zh-CN" sz="2400" i="1"/>
              <a:t>W</a:t>
            </a:r>
            <a:r>
              <a:rPr lang="en-US" altLang="zh-CN" sz="2400" i="1" baseline="-25000"/>
              <a:t>k</a:t>
            </a:r>
            <a:r>
              <a:rPr lang="en-US" altLang="zh-CN" sz="2400" baseline="-25000"/>
              <a:t>-1</a:t>
            </a:r>
            <a:r>
              <a:rPr lang="en-US" altLang="zh-CN" sz="2400"/>
              <a:t>, where the entry is 1 </a:t>
            </a:r>
          </a:p>
          <a:p>
            <a:pPr lvl="1" eaLnBrk="1" hangingPunct="1">
              <a:lnSpc>
                <a:spcPct val="90000"/>
              </a:lnSpc>
            </a:pPr>
            <a:r>
              <a:rPr lang="en-US" altLang="zh-CN" sz="2400"/>
              <a:t>List the locations </a:t>
            </a:r>
            <a:r>
              <a:rPr lang="en-US" altLang="zh-CN" sz="2400" i="1"/>
              <a:t>q</a:t>
            </a:r>
            <a:r>
              <a:rPr lang="en-US" altLang="zh-CN" sz="2400" baseline="-25000"/>
              <a:t>1</a:t>
            </a:r>
            <a:r>
              <a:rPr lang="en-US" altLang="zh-CN" sz="2400"/>
              <a:t>, </a:t>
            </a:r>
            <a:r>
              <a:rPr lang="en-US" altLang="zh-CN" sz="2400" i="1"/>
              <a:t>q</a:t>
            </a:r>
            <a:r>
              <a:rPr lang="en-US" altLang="zh-CN" sz="2400" baseline="-25000"/>
              <a:t>2</a:t>
            </a:r>
            <a:r>
              <a:rPr lang="en-US" altLang="zh-CN" sz="2400"/>
              <a:t>, …, in row </a:t>
            </a:r>
            <a:r>
              <a:rPr lang="en-US" altLang="zh-CN" sz="2400" i="1"/>
              <a:t>k</a:t>
            </a:r>
            <a:r>
              <a:rPr lang="en-US" altLang="zh-CN" sz="2400"/>
              <a:t> of </a:t>
            </a:r>
            <a:r>
              <a:rPr lang="en-US" altLang="zh-CN" sz="2400" i="1"/>
              <a:t>W</a:t>
            </a:r>
            <a:r>
              <a:rPr lang="en-US" altLang="zh-CN" sz="2400" i="1" baseline="-25000"/>
              <a:t>k</a:t>
            </a:r>
            <a:r>
              <a:rPr lang="en-US" altLang="zh-CN" sz="2400" baseline="-25000"/>
              <a:t>-1</a:t>
            </a:r>
            <a:r>
              <a:rPr lang="en-US" altLang="zh-CN" sz="2400"/>
              <a:t>, where the entry is 1</a:t>
            </a:r>
          </a:p>
          <a:p>
            <a:pPr eaLnBrk="1" hangingPunct="1">
              <a:lnSpc>
                <a:spcPct val="90000"/>
              </a:lnSpc>
            </a:pPr>
            <a:r>
              <a:rPr lang="en-US" altLang="zh-CN" sz="2800" i="1">
                <a:solidFill>
                  <a:schemeClr val="hlink"/>
                </a:solidFill>
              </a:rPr>
              <a:t>Step3</a:t>
            </a:r>
            <a:r>
              <a:rPr lang="en-US" altLang="zh-CN" sz="2800"/>
              <a:t>: </a:t>
            </a:r>
          </a:p>
          <a:p>
            <a:pPr lvl="1" eaLnBrk="1" hangingPunct="1">
              <a:lnSpc>
                <a:spcPct val="90000"/>
              </a:lnSpc>
            </a:pPr>
            <a:r>
              <a:rPr lang="en-US" altLang="zh-CN" sz="2400"/>
              <a:t>Put 1’s in all the positions </a:t>
            </a:r>
            <a:r>
              <a:rPr lang="en-US" altLang="zh-CN" sz="2400" i="1"/>
              <a:t>p</a:t>
            </a:r>
            <a:r>
              <a:rPr lang="en-US" altLang="zh-CN" sz="2400" i="1" baseline="-25000"/>
              <a:t>i</a:t>
            </a:r>
            <a:r>
              <a:rPr lang="en-US" altLang="zh-CN" sz="2400"/>
              <a:t>, </a:t>
            </a:r>
            <a:r>
              <a:rPr lang="en-US" altLang="zh-CN" sz="2400" i="1"/>
              <a:t>q</a:t>
            </a:r>
            <a:r>
              <a:rPr lang="en-US" altLang="zh-CN" sz="2400" i="1" baseline="-25000"/>
              <a:t>j</a:t>
            </a:r>
            <a:r>
              <a:rPr lang="en-US" altLang="zh-CN" sz="2400"/>
              <a:t> of </a:t>
            </a:r>
            <a:r>
              <a:rPr lang="en-US" altLang="zh-CN" sz="2400" i="1"/>
              <a:t>W</a:t>
            </a:r>
            <a:r>
              <a:rPr lang="en-US" altLang="zh-CN" sz="2400" i="1" baseline="-25000"/>
              <a:t>k</a:t>
            </a:r>
            <a:r>
              <a:rPr lang="en-US" altLang="zh-CN" sz="2400"/>
              <a:t> (if they are not already there)</a:t>
            </a:r>
          </a:p>
        </p:txBody>
      </p:sp>
      <p:sp>
        <p:nvSpPr>
          <p:cNvPr id="5" name="文本框 4">
            <a:extLst>
              <a:ext uri="{FF2B5EF4-FFF2-40B4-BE49-F238E27FC236}">
                <a16:creationId xmlns:a16="http://schemas.microsoft.com/office/drawing/2014/main" id="{643C7AD3-D0B3-44A1-B458-72A64BE4C125}"/>
              </a:ext>
            </a:extLst>
          </p:cNvPr>
          <p:cNvSpPr txBox="1"/>
          <p:nvPr/>
        </p:nvSpPr>
        <p:spPr>
          <a:xfrm>
            <a:off x="209107" y="0"/>
            <a:ext cx="11056470" cy="739754"/>
          </a:xfrm>
          <a:prstGeom prst="rect">
            <a:avLst/>
          </a:prstGeom>
          <a:noFill/>
        </p:spPr>
        <p:txBody>
          <a:bodyPr wrap="square" rtlCol="0">
            <a:spAutoFit/>
          </a:bodyPr>
          <a:lstStyle/>
          <a:p>
            <a:pPr>
              <a:lnSpc>
                <a:spcPct val="150000"/>
              </a:lnSpc>
            </a:pPr>
            <a:r>
              <a:rPr lang="en-US" altLang="zh-CN" sz="3200"/>
              <a:t>9.4.5 Warshall’s </a:t>
            </a:r>
            <a:r>
              <a:rPr lang="en-US" altLang="zh-CN" sz="3200" dirty="0"/>
              <a:t>Algorithm</a:t>
            </a:r>
          </a:p>
        </p:txBody>
      </p:sp>
    </p:spTree>
    <p:extLst>
      <p:ext uri="{BB962C8B-B14F-4D97-AF65-F5344CB8AC3E}">
        <p14:creationId xmlns:p14="http://schemas.microsoft.com/office/powerpoint/2010/main" val="6551881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392464" y="853942"/>
            <a:ext cx="10732274"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eaLnBrk="1" hangingPunct="1">
              <a:lnSpc>
                <a:spcPct val="150000"/>
              </a:lnSpc>
            </a:pPr>
            <a:r>
              <a:rPr lang="en-US" altLang="zh-CN"/>
              <a:t>Let</a:t>
            </a:r>
          </a:p>
          <a:p>
            <a:pPr lvl="1" eaLnBrk="1" hangingPunct="1">
              <a:lnSpc>
                <a:spcPct val="150000"/>
              </a:lnSpc>
            </a:pPr>
            <a:r>
              <a:rPr lang="en-US" altLang="zh-CN" i="1"/>
              <a:t>A</a:t>
            </a:r>
            <a:r>
              <a:rPr lang="en-US" altLang="zh-CN"/>
              <a:t>={1, 2, 3, 4}</a:t>
            </a:r>
          </a:p>
          <a:p>
            <a:pPr lvl="1" eaLnBrk="1" hangingPunct="1">
              <a:lnSpc>
                <a:spcPct val="150000"/>
              </a:lnSpc>
            </a:pPr>
            <a:r>
              <a:rPr lang="en-US" altLang="zh-CN" i="1"/>
              <a:t>R</a:t>
            </a:r>
            <a:r>
              <a:rPr lang="en-US" altLang="zh-CN"/>
              <a:t>={(1, 2), (2, 3), (3, 4), (2, 1)}</a:t>
            </a:r>
          </a:p>
          <a:p>
            <a:pPr eaLnBrk="1" hangingPunct="1">
              <a:lnSpc>
                <a:spcPct val="150000"/>
              </a:lnSpc>
            </a:pPr>
            <a:r>
              <a:rPr lang="en-US" altLang="zh-CN"/>
              <a:t>Find the transitive closure of </a:t>
            </a:r>
            <a:r>
              <a:rPr lang="en-US" altLang="zh-CN" i="1"/>
              <a:t>R</a:t>
            </a:r>
            <a:r>
              <a:rPr lang="en-US" altLang="zh-CN"/>
              <a:t>.</a:t>
            </a:r>
          </a:p>
        </p:txBody>
      </p:sp>
      <p:sp>
        <p:nvSpPr>
          <p:cNvPr id="5" name="Oval 4">
            <a:extLst>
              <a:ext uri="{FF2B5EF4-FFF2-40B4-BE49-F238E27FC236}">
                <a16:creationId xmlns:a16="http://schemas.microsoft.com/office/drawing/2014/main" id="{7F370C84-F588-4443-8A30-82AA80BED953}"/>
              </a:ext>
            </a:extLst>
          </p:cNvPr>
          <p:cNvSpPr>
            <a:spLocks noChangeArrowheads="1"/>
          </p:cNvSpPr>
          <p:nvPr/>
        </p:nvSpPr>
        <p:spPr bwMode="auto">
          <a:xfrm>
            <a:off x="6524985" y="4075876"/>
            <a:ext cx="287337" cy="2889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 name="Oval 5">
            <a:extLst>
              <a:ext uri="{FF2B5EF4-FFF2-40B4-BE49-F238E27FC236}">
                <a16:creationId xmlns:a16="http://schemas.microsoft.com/office/drawing/2014/main" id="{F54F9D9A-543D-4A75-82F3-57E23975D811}"/>
              </a:ext>
            </a:extLst>
          </p:cNvPr>
          <p:cNvSpPr>
            <a:spLocks noChangeArrowheads="1"/>
          </p:cNvSpPr>
          <p:nvPr/>
        </p:nvSpPr>
        <p:spPr bwMode="auto">
          <a:xfrm>
            <a:off x="6509110" y="6149151"/>
            <a:ext cx="287337" cy="2889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 name="Oval 6">
            <a:extLst>
              <a:ext uri="{FF2B5EF4-FFF2-40B4-BE49-F238E27FC236}">
                <a16:creationId xmlns:a16="http://schemas.microsoft.com/office/drawing/2014/main" id="{A6A8DC45-6AB9-4959-8843-BF582CEA39FE}"/>
              </a:ext>
            </a:extLst>
          </p:cNvPr>
          <p:cNvSpPr>
            <a:spLocks noChangeArrowheads="1"/>
          </p:cNvSpPr>
          <p:nvPr/>
        </p:nvSpPr>
        <p:spPr bwMode="auto">
          <a:xfrm>
            <a:off x="7660047" y="5026789"/>
            <a:ext cx="287338" cy="2889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 name="Oval 7">
            <a:extLst>
              <a:ext uri="{FF2B5EF4-FFF2-40B4-BE49-F238E27FC236}">
                <a16:creationId xmlns:a16="http://schemas.microsoft.com/office/drawing/2014/main" id="{88D72723-5218-46D6-BB93-20AE5C9CE42E}"/>
              </a:ext>
            </a:extLst>
          </p:cNvPr>
          <p:cNvSpPr>
            <a:spLocks noChangeArrowheads="1"/>
          </p:cNvSpPr>
          <p:nvPr/>
        </p:nvSpPr>
        <p:spPr bwMode="auto">
          <a:xfrm>
            <a:off x="5386747" y="5069651"/>
            <a:ext cx="287338" cy="2889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 name="Line 8">
            <a:extLst>
              <a:ext uri="{FF2B5EF4-FFF2-40B4-BE49-F238E27FC236}">
                <a16:creationId xmlns:a16="http://schemas.microsoft.com/office/drawing/2014/main" id="{904D98BC-0ADF-4B24-B115-CEF2B29A5A5E}"/>
              </a:ext>
            </a:extLst>
          </p:cNvPr>
          <p:cNvSpPr>
            <a:spLocks noChangeShapeType="1"/>
          </p:cNvSpPr>
          <p:nvPr/>
        </p:nvSpPr>
        <p:spPr bwMode="auto">
          <a:xfrm flipH="1">
            <a:off x="6774222" y="5287139"/>
            <a:ext cx="1008063" cy="936625"/>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 name="Arc 11">
            <a:extLst>
              <a:ext uri="{FF2B5EF4-FFF2-40B4-BE49-F238E27FC236}">
                <a16:creationId xmlns:a16="http://schemas.microsoft.com/office/drawing/2014/main" id="{9157F63F-E901-47E3-B313-8C4EC2935029}"/>
              </a:ext>
            </a:extLst>
          </p:cNvPr>
          <p:cNvSpPr>
            <a:spLocks/>
          </p:cNvSpPr>
          <p:nvPr/>
        </p:nvSpPr>
        <p:spPr bwMode="auto">
          <a:xfrm rot="1498813" flipH="1" flipV="1">
            <a:off x="6740885" y="4469576"/>
            <a:ext cx="1238250" cy="327025"/>
          </a:xfrm>
          <a:custGeom>
            <a:avLst/>
            <a:gdLst>
              <a:gd name="T0" fmla="*/ 2147483646 w 30275"/>
              <a:gd name="T1" fmla="*/ 2147483646 h 21600"/>
              <a:gd name="T2" fmla="*/ 2147483646 w 30275"/>
              <a:gd name="T3" fmla="*/ 2147483646 h 21600"/>
              <a:gd name="T4" fmla="*/ 0 w 30275"/>
              <a:gd name="T5" fmla="*/ 2147483646 h 21600"/>
              <a:gd name="T6" fmla="*/ 2147483646 w 30275"/>
              <a:gd name="T7" fmla="*/ 2147483646 h 21600"/>
              <a:gd name="T8" fmla="*/ 2147483646 w 30275"/>
              <a:gd name="T9" fmla="*/ 2147483646 h 21600"/>
              <a:gd name="T10" fmla="*/ 0 w 30275"/>
              <a:gd name="T11" fmla="*/ 2147483646 h 21600"/>
              <a:gd name="T12" fmla="*/ 2147483646 w 30275"/>
              <a:gd name="T13" fmla="*/ 0 h 21600"/>
              <a:gd name="T14" fmla="*/ 2147483646 w 30275"/>
              <a:gd name="T15" fmla="*/ 2147483646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275" h="21600" fill="none" extrusionOk="0">
                <a:moveTo>
                  <a:pt x="30275" y="19755"/>
                </a:moveTo>
                <a:cubicBezTo>
                  <a:pt x="27523" y="20971"/>
                  <a:pt x="24549" y="21599"/>
                  <a:pt x="21541" y="21600"/>
                </a:cubicBezTo>
                <a:cubicBezTo>
                  <a:pt x="10231" y="21600"/>
                  <a:pt x="837" y="12876"/>
                  <a:pt x="0" y="1598"/>
                </a:cubicBezTo>
              </a:path>
              <a:path w="30275" h="21600" stroke="0" extrusionOk="0">
                <a:moveTo>
                  <a:pt x="30275" y="19755"/>
                </a:moveTo>
                <a:cubicBezTo>
                  <a:pt x="27523" y="20971"/>
                  <a:pt x="24549" y="21599"/>
                  <a:pt x="21541" y="21600"/>
                </a:cubicBezTo>
                <a:cubicBezTo>
                  <a:pt x="10231" y="21600"/>
                  <a:pt x="837" y="12876"/>
                  <a:pt x="0" y="1598"/>
                </a:cubicBezTo>
                <a:lnTo>
                  <a:pt x="21541" y="0"/>
                </a:lnTo>
                <a:lnTo>
                  <a:pt x="30275" y="19755"/>
                </a:lnTo>
                <a:close/>
              </a:path>
            </a:pathLst>
          </a:custGeom>
          <a:noFill/>
          <a:ln w="19050" cmpd="sng">
            <a:solidFill>
              <a:srgbClr val="0000FF"/>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Text Box 12">
            <a:extLst>
              <a:ext uri="{FF2B5EF4-FFF2-40B4-BE49-F238E27FC236}">
                <a16:creationId xmlns:a16="http://schemas.microsoft.com/office/drawing/2014/main" id="{202B5432-0840-4B7B-8A7B-59C3436C1920}"/>
              </a:ext>
            </a:extLst>
          </p:cNvPr>
          <p:cNvSpPr txBox="1">
            <a:spLocks noChangeArrowheads="1"/>
          </p:cNvSpPr>
          <p:nvPr/>
        </p:nvSpPr>
        <p:spPr bwMode="auto">
          <a:xfrm>
            <a:off x="6523397" y="4047301"/>
            <a:ext cx="2952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600">
                <a:solidFill>
                  <a:schemeClr val="hlink"/>
                </a:solidFill>
                <a:latin typeface="Tahoma" panose="020B0604030504040204" pitchFamily="34" charset="0"/>
              </a:rPr>
              <a:t>2</a:t>
            </a:r>
          </a:p>
        </p:txBody>
      </p:sp>
      <p:sp>
        <p:nvSpPr>
          <p:cNvPr id="12" name="Text Box 13">
            <a:extLst>
              <a:ext uri="{FF2B5EF4-FFF2-40B4-BE49-F238E27FC236}">
                <a16:creationId xmlns:a16="http://schemas.microsoft.com/office/drawing/2014/main" id="{C8D395DD-6052-425B-AB1B-1DD2092B1FC9}"/>
              </a:ext>
            </a:extLst>
          </p:cNvPr>
          <p:cNvSpPr txBox="1">
            <a:spLocks noChangeArrowheads="1"/>
          </p:cNvSpPr>
          <p:nvPr/>
        </p:nvSpPr>
        <p:spPr bwMode="auto">
          <a:xfrm>
            <a:off x="6494822" y="6134864"/>
            <a:ext cx="2952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600">
                <a:solidFill>
                  <a:schemeClr val="hlink"/>
                </a:solidFill>
                <a:latin typeface="Tahoma" panose="020B0604030504040204" pitchFamily="34" charset="0"/>
              </a:rPr>
              <a:t>4</a:t>
            </a:r>
          </a:p>
        </p:txBody>
      </p:sp>
      <p:sp>
        <p:nvSpPr>
          <p:cNvPr id="13" name="Text Box 14">
            <a:extLst>
              <a:ext uri="{FF2B5EF4-FFF2-40B4-BE49-F238E27FC236}">
                <a16:creationId xmlns:a16="http://schemas.microsoft.com/office/drawing/2014/main" id="{4EDAF8F5-9212-4071-94E0-7A067FE19175}"/>
              </a:ext>
            </a:extLst>
          </p:cNvPr>
          <p:cNvSpPr txBox="1">
            <a:spLocks noChangeArrowheads="1"/>
          </p:cNvSpPr>
          <p:nvPr/>
        </p:nvSpPr>
        <p:spPr bwMode="auto">
          <a:xfrm>
            <a:off x="7660047" y="5012501"/>
            <a:ext cx="2952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600">
                <a:solidFill>
                  <a:schemeClr val="hlink"/>
                </a:solidFill>
                <a:latin typeface="Tahoma" panose="020B0604030504040204" pitchFamily="34" charset="0"/>
              </a:rPr>
              <a:t>3</a:t>
            </a:r>
          </a:p>
        </p:txBody>
      </p:sp>
      <p:sp>
        <p:nvSpPr>
          <p:cNvPr id="15" name="Text Box 15">
            <a:extLst>
              <a:ext uri="{FF2B5EF4-FFF2-40B4-BE49-F238E27FC236}">
                <a16:creationId xmlns:a16="http://schemas.microsoft.com/office/drawing/2014/main" id="{6A7EB915-FE46-461C-99E6-6596898A9599}"/>
              </a:ext>
            </a:extLst>
          </p:cNvPr>
          <p:cNvSpPr txBox="1">
            <a:spLocks noChangeArrowheads="1"/>
          </p:cNvSpPr>
          <p:nvPr/>
        </p:nvSpPr>
        <p:spPr bwMode="auto">
          <a:xfrm>
            <a:off x="5372460" y="5055364"/>
            <a:ext cx="2952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600">
                <a:solidFill>
                  <a:schemeClr val="hlink"/>
                </a:solidFill>
                <a:latin typeface="Tahoma" panose="020B0604030504040204" pitchFamily="34" charset="0"/>
              </a:rPr>
              <a:t>1</a:t>
            </a:r>
          </a:p>
        </p:txBody>
      </p:sp>
      <p:graphicFrame>
        <p:nvGraphicFramePr>
          <p:cNvPr id="16" name="Object 16">
            <a:extLst>
              <a:ext uri="{FF2B5EF4-FFF2-40B4-BE49-F238E27FC236}">
                <a16:creationId xmlns:a16="http://schemas.microsoft.com/office/drawing/2014/main" id="{F25C2F50-B780-4EC0-8F24-B34A9FD3AECB}"/>
              </a:ext>
            </a:extLst>
          </p:cNvPr>
          <p:cNvGraphicFramePr>
            <a:graphicFrameLocks noChangeAspect="1"/>
          </p:cNvGraphicFramePr>
          <p:nvPr>
            <p:extLst>
              <p:ext uri="{D42A27DB-BD31-4B8C-83A1-F6EECF244321}">
                <p14:modId xmlns:p14="http://schemas.microsoft.com/office/powerpoint/2010/main" val="3618846185"/>
              </p:ext>
            </p:extLst>
          </p:nvPr>
        </p:nvGraphicFramePr>
        <p:xfrm>
          <a:off x="8812572" y="4148901"/>
          <a:ext cx="2881313" cy="2054225"/>
        </p:xfrm>
        <a:graphic>
          <a:graphicData uri="http://schemas.openxmlformats.org/presentationml/2006/ole">
            <mc:AlternateContent xmlns:mc="http://schemas.openxmlformats.org/markup-compatibility/2006">
              <mc:Choice xmlns:v="urn:schemas-microsoft-com:vml" Requires="v">
                <p:oleObj r:id="rId3" imgW="1283814" imgH="915194" progId="Equation.DSMT4">
                  <p:embed/>
                </p:oleObj>
              </mc:Choice>
              <mc:Fallback>
                <p:oleObj r:id="rId3" imgW="1283814" imgH="915194" progId="Equation.DSMT4">
                  <p:embed/>
                  <p:pic>
                    <p:nvPicPr>
                      <p:cNvPr id="105486" name="Object 16">
                        <a:extLst>
                          <a:ext uri="{FF2B5EF4-FFF2-40B4-BE49-F238E27FC236}">
                            <a16:creationId xmlns:a16="http://schemas.microsoft.com/office/drawing/2014/main" id="{7D264EC2-ECF8-4AFE-BA2D-244DE12BA2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12572" y="4148901"/>
                        <a:ext cx="2881313" cy="2054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 name="Arc 11">
            <a:extLst>
              <a:ext uri="{FF2B5EF4-FFF2-40B4-BE49-F238E27FC236}">
                <a16:creationId xmlns:a16="http://schemas.microsoft.com/office/drawing/2014/main" id="{CD2B2C4B-7F26-45CC-84AB-A06521893E11}"/>
              </a:ext>
            </a:extLst>
          </p:cNvPr>
          <p:cNvSpPr>
            <a:spLocks/>
          </p:cNvSpPr>
          <p:nvPr/>
        </p:nvSpPr>
        <p:spPr bwMode="auto">
          <a:xfrm rot="1498813" flipV="1">
            <a:off x="5704247" y="4075876"/>
            <a:ext cx="684213" cy="1198563"/>
          </a:xfrm>
          <a:custGeom>
            <a:avLst/>
            <a:gdLst>
              <a:gd name="T0" fmla="*/ 2147483646 w 30275"/>
              <a:gd name="T1" fmla="*/ 2147483646 h 21600"/>
              <a:gd name="T2" fmla="*/ 2147483646 w 30275"/>
              <a:gd name="T3" fmla="*/ 2147483646 h 21600"/>
              <a:gd name="T4" fmla="*/ 0 w 30275"/>
              <a:gd name="T5" fmla="*/ 2147483646 h 21600"/>
              <a:gd name="T6" fmla="*/ 2147483646 w 30275"/>
              <a:gd name="T7" fmla="*/ 2147483646 h 21600"/>
              <a:gd name="T8" fmla="*/ 2147483646 w 30275"/>
              <a:gd name="T9" fmla="*/ 2147483646 h 21600"/>
              <a:gd name="T10" fmla="*/ 0 w 30275"/>
              <a:gd name="T11" fmla="*/ 2147483646 h 21600"/>
              <a:gd name="T12" fmla="*/ 2147483646 w 30275"/>
              <a:gd name="T13" fmla="*/ 0 h 21600"/>
              <a:gd name="T14" fmla="*/ 2147483646 w 30275"/>
              <a:gd name="T15" fmla="*/ 2147483646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275" h="21600" fill="none" extrusionOk="0">
                <a:moveTo>
                  <a:pt x="30275" y="19755"/>
                </a:moveTo>
                <a:cubicBezTo>
                  <a:pt x="27523" y="20971"/>
                  <a:pt x="24549" y="21599"/>
                  <a:pt x="21541" y="21600"/>
                </a:cubicBezTo>
                <a:cubicBezTo>
                  <a:pt x="10231" y="21600"/>
                  <a:pt x="837" y="12876"/>
                  <a:pt x="0" y="1598"/>
                </a:cubicBezTo>
              </a:path>
              <a:path w="30275" h="21600" stroke="0" extrusionOk="0">
                <a:moveTo>
                  <a:pt x="30275" y="19755"/>
                </a:moveTo>
                <a:cubicBezTo>
                  <a:pt x="27523" y="20971"/>
                  <a:pt x="24549" y="21599"/>
                  <a:pt x="21541" y="21600"/>
                </a:cubicBezTo>
                <a:cubicBezTo>
                  <a:pt x="10231" y="21600"/>
                  <a:pt x="837" y="12876"/>
                  <a:pt x="0" y="1598"/>
                </a:cubicBezTo>
                <a:lnTo>
                  <a:pt x="21541" y="0"/>
                </a:lnTo>
                <a:lnTo>
                  <a:pt x="30275" y="19755"/>
                </a:lnTo>
                <a:close/>
              </a:path>
            </a:pathLst>
          </a:custGeom>
          <a:noFill/>
          <a:ln w="19050" cmpd="sng">
            <a:solidFill>
              <a:srgbClr val="0000FF"/>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Arc 11">
            <a:extLst>
              <a:ext uri="{FF2B5EF4-FFF2-40B4-BE49-F238E27FC236}">
                <a16:creationId xmlns:a16="http://schemas.microsoft.com/office/drawing/2014/main" id="{329BCC64-5DBF-4BB7-940E-E776392D36C3}"/>
              </a:ext>
            </a:extLst>
          </p:cNvPr>
          <p:cNvSpPr>
            <a:spLocks/>
          </p:cNvSpPr>
          <p:nvPr/>
        </p:nvSpPr>
        <p:spPr bwMode="auto">
          <a:xfrm rot="1498813" flipH="1">
            <a:off x="5878872" y="4166364"/>
            <a:ext cx="652463" cy="1295400"/>
          </a:xfrm>
          <a:custGeom>
            <a:avLst/>
            <a:gdLst>
              <a:gd name="T0" fmla="*/ 2147483646 w 30275"/>
              <a:gd name="T1" fmla="*/ 2147483646 h 21600"/>
              <a:gd name="T2" fmla="*/ 2147483646 w 30275"/>
              <a:gd name="T3" fmla="*/ 2147483646 h 21600"/>
              <a:gd name="T4" fmla="*/ 0 w 30275"/>
              <a:gd name="T5" fmla="*/ 2147483646 h 21600"/>
              <a:gd name="T6" fmla="*/ 2147483646 w 30275"/>
              <a:gd name="T7" fmla="*/ 2147483646 h 21600"/>
              <a:gd name="T8" fmla="*/ 2147483646 w 30275"/>
              <a:gd name="T9" fmla="*/ 2147483646 h 21600"/>
              <a:gd name="T10" fmla="*/ 0 w 30275"/>
              <a:gd name="T11" fmla="*/ 2147483646 h 21600"/>
              <a:gd name="T12" fmla="*/ 2147483646 w 30275"/>
              <a:gd name="T13" fmla="*/ 0 h 21600"/>
              <a:gd name="T14" fmla="*/ 2147483646 w 30275"/>
              <a:gd name="T15" fmla="*/ 2147483646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275" h="21600" fill="none" extrusionOk="0">
                <a:moveTo>
                  <a:pt x="30275" y="19755"/>
                </a:moveTo>
                <a:cubicBezTo>
                  <a:pt x="27523" y="20971"/>
                  <a:pt x="24549" y="21599"/>
                  <a:pt x="21541" y="21600"/>
                </a:cubicBezTo>
                <a:cubicBezTo>
                  <a:pt x="10231" y="21600"/>
                  <a:pt x="837" y="12876"/>
                  <a:pt x="0" y="1598"/>
                </a:cubicBezTo>
              </a:path>
              <a:path w="30275" h="21600" stroke="0" extrusionOk="0">
                <a:moveTo>
                  <a:pt x="30275" y="19755"/>
                </a:moveTo>
                <a:cubicBezTo>
                  <a:pt x="27523" y="20971"/>
                  <a:pt x="24549" y="21599"/>
                  <a:pt x="21541" y="21600"/>
                </a:cubicBezTo>
                <a:cubicBezTo>
                  <a:pt x="10231" y="21600"/>
                  <a:pt x="837" y="12876"/>
                  <a:pt x="0" y="1598"/>
                </a:cubicBezTo>
                <a:lnTo>
                  <a:pt x="21541" y="0"/>
                </a:lnTo>
                <a:lnTo>
                  <a:pt x="30275" y="19755"/>
                </a:lnTo>
                <a:close/>
              </a:path>
            </a:pathLst>
          </a:custGeom>
          <a:noFill/>
          <a:ln w="19050" cmpd="sng">
            <a:solidFill>
              <a:srgbClr val="0000FF"/>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文本框 18">
            <a:extLst>
              <a:ext uri="{FF2B5EF4-FFF2-40B4-BE49-F238E27FC236}">
                <a16:creationId xmlns:a16="http://schemas.microsoft.com/office/drawing/2014/main" id="{B037F122-028F-462D-A9ED-388072B76C3F}"/>
              </a:ext>
            </a:extLst>
          </p:cNvPr>
          <p:cNvSpPr txBox="1"/>
          <p:nvPr/>
        </p:nvSpPr>
        <p:spPr>
          <a:xfrm>
            <a:off x="209107" y="0"/>
            <a:ext cx="11056470" cy="739754"/>
          </a:xfrm>
          <a:prstGeom prst="rect">
            <a:avLst/>
          </a:prstGeom>
          <a:noFill/>
        </p:spPr>
        <p:txBody>
          <a:bodyPr wrap="square" rtlCol="0">
            <a:spAutoFit/>
          </a:bodyPr>
          <a:lstStyle/>
          <a:p>
            <a:pPr>
              <a:lnSpc>
                <a:spcPct val="150000"/>
              </a:lnSpc>
            </a:pPr>
            <a:r>
              <a:rPr lang="en-US" altLang="zh-CN" sz="3200"/>
              <a:t>9.4.5 Warshall’s </a:t>
            </a:r>
            <a:r>
              <a:rPr lang="en-US" altLang="zh-CN" sz="3200" dirty="0"/>
              <a:t>Algorithm</a:t>
            </a:r>
          </a:p>
        </p:txBody>
      </p:sp>
    </p:spTree>
    <p:extLst>
      <p:ext uri="{BB962C8B-B14F-4D97-AF65-F5344CB8AC3E}">
        <p14:creationId xmlns:p14="http://schemas.microsoft.com/office/powerpoint/2010/main" val="1901640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392464" y="853942"/>
            <a:ext cx="10732274"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a:t>Example2:</a:t>
            </a:r>
          </a:p>
        </p:txBody>
      </p:sp>
      <p:graphicFrame>
        <p:nvGraphicFramePr>
          <p:cNvPr id="14" name="Object 3">
            <a:extLst>
              <a:ext uri="{FF2B5EF4-FFF2-40B4-BE49-F238E27FC236}">
                <a16:creationId xmlns:a16="http://schemas.microsoft.com/office/drawing/2014/main" id="{69C29982-39EF-4478-8082-B86B938D9CDA}"/>
              </a:ext>
            </a:extLst>
          </p:cNvPr>
          <p:cNvGraphicFramePr>
            <a:graphicFrameLocks noChangeAspect="1"/>
          </p:cNvGraphicFramePr>
          <p:nvPr>
            <p:extLst>
              <p:ext uri="{D42A27DB-BD31-4B8C-83A1-F6EECF244321}">
                <p14:modId xmlns:p14="http://schemas.microsoft.com/office/powerpoint/2010/main" val="963247901"/>
              </p:ext>
            </p:extLst>
          </p:nvPr>
        </p:nvGraphicFramePr>
        <p:xfrm>
          <a:off x="3016250" y="1804904"/>
          <a:ext cx="6938963" cy="4435475"/>
        </p:xfrm>
        <a:graphic>
          <a:graphicData uri="http://schemas.openxmlformats.org/presentationml/2006/ole">
            <mc:AlternateContent xmlns:mc="http://schemas.openxmlformats.org/markup-compatibility/2006">
              <mc:Choice xmlns:v="urn:schemas-microsoft-com:vml" Requires="v">
                <p:oleObj r:id="rId3" imgW="3657600" imgH="2260600" progId="Equation.DSMT4">
                  <p:embed/>
                </p:oleObj>
              </mc:Choice>
              <mc:Fallback>
                <p:oleObj r:id="rId3" imgW="3657600" imgH="2260600" progId="Equation.DSMT4">
                  <p:embed/>
                  <p:pic>
                    <p:nvPicPr>
                      <p:cNvPr id="106499" name="Object 3">
                        <a:extLst>
                          <a:ext uri="{FF2B5EF4-FFF2-40B4-BE49-F238E27FC236}">
                            <a16:creationId xmlns:a16="http://schemas.microsoft.com/office/drawing/2014/main" id="{F527A6C7-6B42-4BBB-89D5-91637C9808D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16250" y="1804904"/>
                        <a:ext cx="6938963" cy="4435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文本框 4">
            <a:extLst>
              <a:ext uri="{FF2B5EF4-FFF2-40B4-BE49-F238E27FC236}">
                <a16:creationId xmlns:a16="http://schemas.microsoft.com/office/drawing/2014/main" id="{CB30269B-42D6-4C3E-8437-2AA487C705C1}"/>
              </a:ext>
            </a:extLst>
          </p:cNvPr>
          <p:cNvSpPr txBox="1"/>
          <p:nvPr/>
        </p:nvSpPr>
        <p:spPr>
          <a:xfrm>
            <a:off x="209107" y="0"/>
            <a:ext cx="11056470" cy="739754"/>
          </a:xfrm>
          <a:prstGeom prst="rect">
            <a:avLst/>
          </a:prstGeom>
          <a:noFill/>
        </p:spPr>
        <p:txBody>
          <a:bodyPr wrap="square" rtlCol="0">
            <a:spAutoFit/>
          </a:bodyPr>
          <a:lstStyle/>
          <a:p>
            <a:pPr>
              <a:lnSpc>
                <a:spcPct val="150000"/>
              </a:lnSpc>
            </a:pPr>
            <a:r>
              <a:rPr lang="en-US" altLang="zh-CN" sz="3200"/>
              <a:t>9.4.5 Warshall’s </a:t>
            </a:r>
            <a:r>
              <a:rPr lang="en-US" altLang="zh-CN" sz="3200" dirty="0"/>
              <a:t>Algorithm</a:t>
            </a:r>
          </a:p>
        </p:txBody>
      </p:sp>
    </p:spTree>
    <p:extLst>
      <p:ext uri="{BB962C8B-B14F-4D97-AF65-F5344CB8AC3E}">
        <p14:creationId xmlns:p14="http://schemas.microsoft.com/office/powerpoint/2010/main" val="32836543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a:extLst>
              <a:ext uri="{FF2B5EF4-FFF2-40B4-BE49-F238E27FC236}">
                <a16:creationId xmlns:a16="http://schemas.microsoft.com/office/drawing/2014/main" id="{0CE69FF7-0CBF-4E9D-8226-9E24241EE21C}"/>
              </a:ext>
            </a:extLst>
          </p:cNvPr>
          <p:cNvSpPr txBox="1">
            <a:spLocks noChangeArrowheads="1"/>
          </p:cNvSpPr>
          <p:nvPr/>
        </p:nvSpPr>
        <p:spPr bwMode="auto">
          <a:xfrm>
            <a:off x="1243264" y="1327484"/>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a:buFontTx/>
              <a:buNone/>
            </a:pPr>
            <a:r>
              <a:rPr lang="en-US" altLang="zh-CN" sz="2000" u="sng" kern="0">
                <a:latin typeface="Courier New" panose="02070309020205020404" pitchFamily="49" charset="0"/>
                <a:sym typeface="Symbol" panose="05050102010706020507" pitchFamily="18" charset="2"/>
              </a:rPr>
              <a:t>Algorithm Warshall</a:t>
            </a:r>
            <a:endParaRPr lang="en-US" altLang="zh-CN" sz="2000" u="sng" kern="0">
              <a:latin typeface="Courier New" panose="02070309020205020404" pitchFamily="49" charset="0"/>
            </a:endParaRPr>
          </a:p>
          <a:p>
            <a:pPr>
              <a:buFontTx/>
              <a:buNone/>
            </a:pPr>
            <a:r>
              <a:rPr lang="en-US" altLang="zh-CN" sz="2000" kern="0">
                <a:latin typeface="Courier New" panose="02070309020205020404" pitchFamily="49" charset="0"/>
              </a:rPr>
              <a:t>CLOSURE</a:t>
            </a:r>
            <a:r>
              <a:rPr lang="en-US" altLang="zh-CN" sz="2000" kern="0">
                <a:latin typeface="Courier New" panose="02070309020205020404" pitchFamily="49" charset="0"/>
                <a:sym typeface="Symbol" panose="05050102010706020507" pitchFamily="18" charset="2"/>
              </a:rPr>
              <a:t>MAT</a:t>
            </a:r>
          </a:p>
          <a:p>
            <a:pPr>
              <a:buFontTx/>
              <a:buNone/>
            </a:pPr>
            <a:r>
              <a:rPr lang="en-US" altLang="zh-CN" sz="2000" kern="0">
                <a:latin typeface="Courier New" panose="02070309020205020404" pitchFamily="49" charset="0"/>
                <a:sym typeface="Symbol" panose="05050102010706020507" pitchFamily="18" charset="2"/>
              </a:rPr>
              <a:t>	For k = 1 thru N</a:t>
            </a:r>
          </a:p>
          <a:p>
            <a:pPr>
              <a:buFontTx/>
              <a:buNone/>
            </a:pPr>
            <a:r>
              <a:rPr lang="en-US" altLang="zh-CN" sz="2000" kern="0">
                <a:latin typeface="Courier New" panose="02070309020205020404" pitchFamily="49" charset="0"/>
                <a:sym typeface="Symbol" panose="05050102010706020507" pitchFamily="18" charset="2"/>
              </a:rPr>
              <a:t>	  For i = 1 thru N</a:t>
            </a:r>
          </a:p>
          <a:p>
            <a:pPr>
              <a:buFontTx/>
              <a:buNone/>
            </a:pPr>
            <a:r>
              <a:rPr lang="en-US" altLang="zh-CN" sz="2000" kern="0">
                <a:latin typeface="Courier New" panose="02070309020205020404" pitchFamily="49" charset="0"/>
                <a:sym typeface="Symbol" panose="05050102010706020507" pitchFamily="18" charset="2"/>
              </a:rPr>
              <a:t>		For j = 1 thru N</a:t>
            </a:r>
          </a:p>
          <a:p>
            <a:pPr>
              <a:buFontTx/>
              <a:buNone/>
            </a:pPr>
            <a:r>
              <a:rPr lang="en-US" altLang="zh-CN" sz="2000" kern="0">
                <a:latin typeface="Courier New" panose="02070309020205020404" pitchFamily="49" charset="0"/>
                <a:sym typeface="Symbol" panose="05050102010706020507" pitchFamily="18" charset="2"/>
              </a:rPr>
              <a:t>		  CLOSURE[i,j]CLOSURE[i,j]</a:t>
            </a:r>
          </a:p>
          <a:p>
            <a:pPr>
              <a:buFontTx/>
              <a:buNone/>
            </a:pPr>
            <a:r>
              <a:rPr lang="en-US" altLang="zh-CN" sz="2000" kern="0">
                <a:latin typeface="Courier New" panose="02070309020205020404" pitchFamily="49" charset="0"/>
                <a:sym typeface="Symbol" panose="05050102010706020507" pitchFamily="18" charset="2"/>
              </a:rPr>
              <a:t>				(CLOSURE[i,k]CLOSURE[k,j])</a:t>
            </a:r>
          </a:p>
          <a:p>
            <a:pPr>
              <a:buFontTx/>
              <a:buNone/>
            </a:pPr>
            <a:r>
              <a:rPr lang="en-US" altLang="zh-CN" sz="2000" u="sng" kern="0">
                <a:latin typeface="Courier New" panose="02070309020205020404" pitchFamily="49" charset="0"/>
                <a:sym typeface="Symbol" panose="05050102010706020507" pitchFamily="18" charset="2"/>
              </a:rPr>
              <a:t>End of Algorithm Warshall</a:t>
            </a:r>
          </a:p>
        </p:txBody>
      </p:sp>
      <p:sp>
        <p:nvSpPr>
          <p:cNvPr id="4" name="文本框 3">
            <a:extLst>
              <a:ext uri="{FF2B5EF4-FFF2-40B4-BE49-F238E27FC236}">
                <a16:creationId xmlns:a16="http://schemas.microsoft.com/office/drawing/2014/main" id="{D1330CAC-7D78-4BE9-B0C9-6FF390486124}"/>
              </a:ext>
            </a:extLst>
          </p:cNvPr>
          <p:cNvSpPr txBox="1"/>
          <p:nvPr/>
        </p:nvSpPr>
        <p:spPr>
          <a:xfrm>
            <a:off x="209107" y="0"/>
            <a:ext cx="11056470" cy="739754"/>
          </a:xfrm>
          <a:prstGeom prst="rect">
            <a:avLst/>
          </a:prstGeom>
          <a:noFill/>
        </p:spPr>
        <p:txBody>
          <a:bodyPr wrap="square" rtlCol="0">
            <a:spAutoFit/>
          </a:bodyPr>
          <a:lstStyle/>
          <a:p>
            <a:pPr>
              <a:lnSpc>
                <a:spcPct val="150000"/>
              </a:lnSpc>
            </a:pPr>
            <a:r>
              <a:rPr lang="en-US" altLang="zh-CN" sz="3200"/>
              <a:t>9.4.5 Warshall’s </a:t>
            </a:r>
            <a:r>
              <a:rPr lang="en-US" altLang="zh-CN" sz="3200" dirty="0"/>
              <a:t>Algorithm</a:t>
            </a:r>
          </a:p>
        </p:txBody>
      </p:sp>
    </p:spTree>
    <p:extLst>
      <p:ext uri="{BB962C8B-B14F-4D97-AF65-F5344CB8AC3E}">
        <p14:creationId xmlns:p14="http://schemas.microsoft.com/office/powerpoint/2010/main" val="15938255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735849B-72CD-45EA-9513-85E3C008A716}"/>
              </a:ext>
            </a:extLst>
          </p:cNvPr>
          <p:cNvSpPr txBox="1">
            <a:spLocks noChangeArrowheads="1"/>
          </p:cNvSpPr>
          <p:nvPr/>
        </p:nvSpPr>
        <p:spPr bwMode="auto">
          <a:xfrm>
            <a:off x="568234" y="1190266"/>
            <a:ext cx="11055531" cy="413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eaLnBrk="1" hangingPunct="1">
              <a:lnSpc>
                <a:spcPct val="150000"/>
              </a:lnSpc>
            </a:pPr>
            <a:r>
              <a:rPr lang="en-US" altLang="zh-CN"/>
              <a:t>Complexity of Algorithm</a:t>
            </a:r>
          </a:p>
          <a:p>
            <a:pPr lvl="1" eaLnBrk="1" hangingPunct="1">
              <a:lnSpc>
                <a:spcPct val="150000"/>
              </a:lnSpc>
            </a:pPr>
            <a:r>
              <a:rPr lang="en-US" altLang="zh-CN"/>
              <a:t>Warshall</a:t>
            </a:r>
          </a:p>
          <a:p>
            <a:pPr lvl="2" eaLnBrk="1" hangingPunct="1">
              <a:lnSpc>
                <a:spcPct val="150000"/>
              </a:lnSpc>
            </a:pPr>
            <a:r>
              <a:rPr lang="en-US" altLang="zh-CN" i="1"/>
              <a:t>n</a:t>
            </a:r>
            <a:r>
              <a:rPr lang="en-US" altLang="zh-CN" baseline="30000"/>
              <a:t>3</a:t>
            </a:r>
          </a:p>
          <a:p>
            <a:pPr lvl="1" eaLnBrk="1" hangingPunct="1">
              <a:lnSpc>
                <a:spcPct val="150000"/>
              </a:lnSpc>
            </a:pPr>
            <a:r>
              <a:rPr lang="en-US" altLang="zh-CN"/>
              <a:t>M</a:t>
            </a:r>
            <a:r>
              <a:rPr lang="en-US" altLang="zh-CN" baseline="30000">
                <a:sym typeface="Symbol" panose="05050102010706020507" pitchFamily="18" charset="2"/>
              </a:rPr>
              <a:t></a:t>
            </a:r>
          </a:p>
          <a:p>
            <a:pPr lvl="2" eaLnBrk="1" hangingPunct="1">
              <a:lnSpc>
                <a:spcPct val="150000"/>
              </a:lnSpc>
            </a:pPr>
            <a:r>
              <a:rPr lang="en-US" altLang="zh-CN" i="1"/>
              <a:t>n</a:t>
            </a:r>
            <a:r>
              <a:rPr lang="en-US" altLang="zh-CN" baseline="30000"/>
              <a:t>4</a:t>
            </a:r>
          </a:p>
        </p:txBody>
      </p:sp>
      <p:graphicFrame>
        <p:nvGraphicFramePr>
          <p:cNvPr id="5" name="Object 4">
            <a:extLst>
              <a:ext uri="{FF2B5EF4-FFF2-40B4-BE49-F238E27FC236}">
                <a16:creationId xmlns:a16="http://schemas.microsoft.com/office/drawing/2014/main" id="{E30E41A5-33C4-4C21-8769-CEC32E4DC957}"/>
              </a:ext>
            </a:extLst>
          </p:cNvPr>
          <p:cNvGraphicFramePr>
            <a:graphicFrameLocks noChangeAspect="1"/>
          </p:cNvGraphicFramePr>
          <p:nvPr>
            <p:extLst>
              <p:ext uri="{D42A27DB-BD31-4B8C-83A1-F6EECF244321}">
                <p14:modId xmlns:p14="http://schemas.microsoft.com/office/powerpoint/2010/main" val="3468208517"/>
              </p:ext>
            </p:extLst>
          </p:nvPr>
        </p:nvGraphicFramePr>
        <p:xfrm>
          <a:off x="2677632" y="3429000"/>
          <a:ext cx="3719512" cy="620712"/>
        </p:xfrm>
        <a:graphic>
          <a:graphicData uri="http://schemas.openxmlformats.org/presentationml/2006/ole">
            <mc:AlternateContent xmlns:mc="http://schemas.openxmlformats.org/markup-compatibility/2006">
              <mc:Choice xmlns:v="urn:schemas-microsoft-com:vml" Requires="v">
                <p:oleObj r:id="rId3" imgW="1753361" imgH="292227" progId="Equation.DSMT4">
                  <p:embed/>
                </p:oleObj>
              </mc:Choice>
              <mc:Fallback>
                <p:oleObj r:id="rId3" imgW="1753361" imgH="292227" progId="Equation.DSMT4">
                  <p:embed/>
                  <p:pic>
                    <p:nvPicPr>
                      <p:cNvPr id="108548" name="Object 4">
                        <a:extLst>
                          <a:ext uri="{FF2B5EF4-FFF2-40B4-BE49-F238E27FC236}">
                            <a16:creationId xmlns:a16="http://schemas.microsoft.com/office/drawing/2014/main" id="{6FC50CB4-DB5D-40A2-8CEA-1720ABFD4D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77632" y="3429000"/>
                        <a:ext cx="3719512" cy="620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文本框 5">
            <a:extLst>
              <a:ext uri="{FF2B5EF4-FFF2-40B4-BE49-F238E27FC236}">
                <a16:creationId xmlns:a16="http://schemas.microsoft.com/office/drawing/2014/main" id="{EFF25420-AB43-4BAF-8FB8-ADF084C649C0}"/>
              </a:ext>
            </a:extLst>
          </p:cNvPr>
          <p:cNvSpPr txBox="1"/>
          <p:nvPr/>
        </p:nvSpPr>
        <p:spPr>
          <a:xfrm>
            <a:off x="209107" y="0"/>
            <a:ext cx="11056470" cy="739754"/>
          </a:xfrm>
          <a:prstGeom prst="rect">
            <a:avLst/>
          </a:prstGeom>
          <a:noFill/>
        </p:spPr>
        <p:txBody>
          <a:bodyPr wrap="square" rtlCol="0">
            <a:spAutoFit/>
          </a:bodyPr>
          <a:lstStyle/>
          <a:p>
            <a:pPr>
              <a:lnSpc>
                <a:spcPct val="150000"/>
              </a:lnSpc>
            </a:pPr>
            <a:r>
              <a:rPr lang="en-US" altLang="zh-CN" sz="3200"/>
              <a:t>9.4.5 Warshall’s </a:t>
            </a:r>
            <a:r>
              <a:rPr lang="en-US" altLang="zh-CN" sz="3200" dirty="0"/>
              <a:t>Algorithm</a:t>
            </a:r>
          </a:p>
        </p:txBody>
      </p:sp>
    </p:spTree>
    <p:extLst>
      <p:ext uri="{BB962C8B-B14F-4D97-AF65-F5344CB8AC3E}">
        <p14:creationId xmlns:p14="http://schemas.microsoft.com/office/powerpoint/2010/main" val="1671296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735849B-72CD-45EA-9513-85E3C008A716}"/>
              </a:ext>
            </a:extLst>
          </p:cNvPr>
          <p:cNvSpPr txBox="1">
            <a:spLocks noChangeArrowheads="1"/>
          </p:cNvSpPr>
          <p:nvPr/>
        </p:nvSpPr>
        <p:spPr bwMode="auto">
          <a:xfrm>
            <a:off x="568234" y="739754"/>
            <a:ext cx="11055531" cy="413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eaLnBrk="1" hangingPunct="1">
              <a:lnSpc>
                <a:spcPct val="150000"/>
              </a:lnSpc>
            </a:pPr>
            <a:r>
              <a:rPr lang="en-US" altLang="zh-CN" sz="3200">
                <a:latin typeface="Times New Roman" panose="02020603050405020304" pitchFamily="18" charset="0"/>
                <a:ea typeface="黑体" panose="02010609060101010101" pitchFamily="49" charset="-122"/>
              </a:rPr>
              <a:t>1</a:t>
            </a:r>
            <a:r>
              <a:rPr lang="zh-CN" altLang="en-US" sz="3200">
                <a:latin typeface="Times New Roman" panose="02020603050405020304" pitchFamily="18" charset="0"/>
                <a:ea typeface="黑体" panose="02010609060101010101" pitchFamily="49" charset="-122"/>
              </a:rPr>
              <a:t>）置新矩阵</a:t>
            </a:r>
            <a:r>
              <a:rPr lang="en-US" altLang="zh-CN" sz="3200">
                <a:latin typeface="Times New Roman" panose="02020603050405020304" pitchFamily="18" charset="0"/>
                <a:ea typeface="黑体" panose="02010609060101010101" pitchFamily="49" charset="-122"/>
              </a:rPr>
              <a:t>A</a:t>
            </a:r>
            <a:r>
              <a:rPr lang="zh-CN" altLang="en-US" sz="3200">
                <a:latin typeface="Times New Roman" panose="02020603050405020304" pitchFamily="18" charset="0"/>
                <a:ea typeface="黑体" panose="02010609060101010101" pitchFamily="49" charset="-122"/>
              </a:rPr>
              <a:t>：</a:t>
            </a:r>
            <a:r>
              <a:rPr lang="en-US" altLang="zh-CN" sz="3200">
                <a:latin typeface="Times New Roman" panose="02020603050405020304" pitchFamily="18" charset="0"/>
                <a:ea typeface="黑体" panose="02010609060101010101" pitchFamily="49" charset="-122"/>
              </a:rPr>
              <a:t>=M</a:t>
            </a:r>
          </a:p>
          <a:p>
            <a:pPr eaLnBrk="1" hangingPunct="1">
              <a:lnSpc>
                <a:spcPct val="150000"/>
              </a:lnSpc>
            </a:pPr>
            <a:r>
              <a:rPr lang="en-US" altLang="zh-CN">
                <a:latin typeface="Times New Roman" panose="02020603050405020304" pitchFamily="18" charset="0"/>
                <a:ea typeface="黑体" panose="02010609060101010101" pitchFamily="49" charset="-122"/>
              </a:rPr>
              <a:t>2</a:t>
            </a:r>
            <a:r>
              <a:rPr lang="zh-CN" altLang="en-US">
                <a:latin typeface="Times New Roman" panose="02020603050405020304" pitchFamily="18" charset="0"/>
                <a:ea typeface="黑体" panose="02010609060101010101" pitchFamily="49" charset="-122"/>
              </a:rPr>
              <a:t>）</a:t>
            </a:r>
            <a:r>
              <a:rPr lang="en-US" altLang="zh-CN">
                <a:latin typeface="Times New Roman" panose="02020603050405020304" pitchFamily="18" charset="0"/>
                <a:ea typeface="黑体" panose="02010609060101010101" pitchFamily="49" charset="-122"/>
              </a:rPr>
              <a:t>i</a:t>
            </a:r>
            <a:r>
              <a:rPr lang="zh-CN" altLang="en-US">
                <a:latin typeface="Times New Roman" panose="02020603050405020304" pitchFamily="18" charset="0"/>
                <a:ea typeface="黑体" panose="02010609060101010101" pitchFamily="49" charset="-122"/>
              </a:rPr>
              <a:t>：</a:t>
            </a:r>
            <a:r>
              <a:rPr lang="en-US" altLang="zh-CN">
                <a:latin typeface="Times New Roman" panose="02020603050405020304" pitchFamily="18" charset="0"/>
                <a:ea typeface="黑体" panose="02010609060101010101" pitchFamily="49" charset="-122"/>
              </a:rPr>
              <a:t>=1</a:t>
            </a:r>
          </a:p>
          <a:p>
            <a:pPr eaLnBrk="1" hangingPunct="1">
              <a:lnSpc>
                <a:spcPct val="150000"/>
              </a:lnSpc>
            </a:pPr>
            <a:r>
              <a:rPr lang="en-US" altLang="zh-CN">
                <a:latin typeface="Times New Roman" panose="02020603050405020304" pitchFamily="18" charset="0"/>
                <a:ea typeface="黑体" panose="02010609060101010101" pitchFamily="49" charset="-122"/>
              </a:rPr>
              <a:t>3</a:t>
            </a:r>
            <a:r>
              <a:rPr lang="zh-CN" altLang="en-US">
                <a:latin typeface="Times New Roman" panose="02020603050405020304" pitchFamily="18" charset="0"/>
                <a:ea typeface="黑体" panose="02010609060101010101" pitchFamily="49" charset="-122"/>
              </a:rPr>
              <a:t>）</a:t>
            </a:r>
            <a:r>
              <a:rPr lang="zh-CN" altLang="en-US" sz="3200">
                <a:latin typeface="Times New Roman" panose="02020603050405020304" pitchFamily="18" charset="0"/>
                <a:ea typeface="黑体" panose="02010609060101010101" pitchFamily="49" charset="-122"/>
              </a:rPr>
              <a:t>对所有</a:t>
            </a:r>
            <a:r>
              <a:rPr lang="en-US" altLang="zh-CN" sz="3200">
                <a:latin typeface="Times New Roman" panose="02020603050405020304" pitchFamily="18" charset="0"/>
                <a:ea typeface="黑体" panose="02010609060101010101" pitchFamily="49" charset="-122"/>
              </a:rPr>
              <a:t>j,</a:t>
            </a:r>
            <a:r>
              <a:rPr lang="zh-CN" altLang="en-US" sz="3200">
                <a:latin typeface="Times New Roman" panose="02020603050405020304" pitchFamily="18" charset="0"/>
                <a:ea typeface="黑体" panose="02010609060101010101" pitchFamily="49" charset="-122"/>
              </a:rPr>
              <a:t>若</a:t>
            </a:r>
            <a:r>
              <a:rPr lang="en-US" altLang="zh-CN" sz="3200">
                <a:latin typeface="Times New Roman" panose="02020603050405020304" pitchFamily="18" charset="0"/>
                <a:ea typeface="黑体" panose="02010609060101010101" pitchFamily="49" charset="-122"/>
              </a:rPr>
              <a:t>A[j,i]=1,</a:t>
            </a:r>
            <a:r>
              <a:rPr lang="zh-CN" altLang="en-US" sz="3200">
                <a:latin typeface="Times New Roman" panose="02020603050405020304" pitchFamily="18" charset="0"/>
                <a:ea typeface="黑体" panose="02010609060101010101" pitchFamily="49" charset="-122"/>
              </a:rPr>
              <a:t>则对</a:t>
            </a:r>
            <a:r>
              <a:rPr lang="en-US" altLang="zh-CN" sz="3200">
                <a:latin typeface="Times New Roman" panose="02020603050405020304" pitchFamily="18" charset="0"/>
                <a:ea typeface="黑体" panose="02010609060101010101" pitchFamily="49" charset="-122"/>
              </a:rPr>
              <a:t>k = 1,2,…,n</a:t>
            </a:r>
          </a:p>
          <a:p>
            <a:pPr marL="0" indent="0" eaLnBrk="1" hangingPunct="1">
              <a:lnSpc>
                <a:spcPct val="150000"/>
              </a:lnSpc>
              <a:buNone/>
            </a:pPr>
            <a:r>
              <a:rPr lang="en-US" altLang="zh-CN" sz="3200">
                <a:latin typeface="Times New Roman" panose="02020603050405020304" pitchFamily="18" charset="0"/>
                <a:ea typeface="黑体" panose="02010609060101010101" pitchFamily="49" charset="-122"/>
              </a:rPr>
              <a:t>	A[j,k]:= A[j,k]+ A[i,k]</a:t>
            </a:r>
          </a:p>
          <a:p>
            <a:pPr marL="0" indent="0" eaLnBrk="1" hangingPunct="1">
              <a:lnSpc>
                <a:spcPct val="150000"/>
              </a:lnSpc>
              <a:buNone/>
            </a:pPr>
            <a:r>
              <a:rPr lang="en-US" altLang="zh-CN">
                <a:latin typeface="Times New Roman" panose="02020603050405020304" pitchFamily="18" charset="0"/>
                <a:ea typeface="黑体" panose="02010609060101010101" pitchFamily="49" charset="-122"/>
              </a:rPr>
              <a:t>	 j</a:t>
            </a:r>
            <a:r>
              <a:rPr lang="zh-CN" altLang="en-US">
                <a:latin typeface="Times New Roman" panose="02020603050405020304" pitchFamily="18" charset="0"/>
                <a:ea typeface="黑体" panose="02010609060101010101" pitchFamily="49" charset="-122"/>
              </a:rPr>
              <a:t>行 ← </a:t>
            </a:r>
            <a:r>
              <a:rPr lang="en-US" altLang="zh-CN">
                <a:latin typeface="Times New Roman" panose="02020603050405020304" pitchFamily="18" charset="0"/>
                <a:ea typeface="黑体" panose="02010609060101010101" pitchFamily="49" charset="-122"/>
              </a:rPr>
              <a:t>j</a:t>
            </a:r>
            <a:r>
              <a:rPr lang="zh-CN" altLang="en-US">
                <a:latin typeface="Times New Roman" panose="02020603050405020304" pitchFamily="18" charset="0"/>
                <a:ea typeface="黑体" panose="02010609060101010101" pitchFamily="49" charset="-122"/>
              </a:rPr>
              <a:t>行 </a:t>
            </a:r>
            <a:r>
              <a:rPr lang="en-US" altLang="zh-CN">
                <a:latin typeface="Times New Roman" panose="02020603050405020304" pitchFamily="18" charset="0"/>
                <a:ea typeface="黑体" panose="02010609060101010101" pitchFamily="49" charset="-122"/>
              </a:rPr>
              <a:t>+ i</a:t>
            </a:r>
            <a:r>
              <a:rPr lang="zh-CN" altLang="en-US">
                <a:latin typeface="Times New Roman" panose="02020603050405020304" pitchFamily="18" charset="0"/>
                <a:ea typeface="黑体" panose="02010609060101010101" pitchFamily="49" charset="-122"/>
              </a:rPr>
              <a:t>行</a:t>
            </a:r>
            <a:endParaRPr lang="en-US" altLang="zh-CN" sz="3200">
              <a:latin typeface="Times New Roman" panose="02020603050405020304" pitchFamily="18" charset="0"/>
              <a:ea typeface="黑体" panose="02010609060101010101" pitchFamily="49" charset="-122"/>
            </a:endParaRPr>
          </a:p>
          <a:p>
            <a:pPr eaLnBrk="1" hangingPunct="1">
              <a:lnSpc>
                <a:spcPct val="150000"/>
              </a:lnSpc>
            </a:pPr>
            <a:r>
              <a:rPr lang="en-US" altLang="zh-CN" sz="3200">
                <a:latin typeface="Times New Roman" panose="02020603050405020304" pitchFamily="18" charset="0"/>
                <a:ea typeface="黑体" panose="02010609060101010101" pitchFamily="49" charset="-122"/>
              </a:rPr>
              <a:t>4</a:t>
            </a:r>
            <a:r>
              <a:rPr lang="zh-CN" altLang="en-US" sz="3200">
                <a:latin typeface="Times New Roman" panose="02020603050405020304" pitchFamily="18" charset="0"/>
                <a:ea typeface="黑体" panose="02010609060101010101" pitchFamily="49" charset="-122"/>
              </a:rPr>
              <a:t>）</a:t>
            </a:r>
            <a:r>
              <a:rPr lang="en-US" altLang="zh-CN" sz="3200">
                <a:latin typeface="Times New Roman" panose="02020603050405020304" pitchFamily="18" charset="0"/>
                <a:ea typeface="黑体" panose="02010609060101010101" pitchFamily="49" charset="-122"/>
              </a:rPr>
              <a:t>i+1</a:t>
            </a:r>
          </a:p>
          <a:p>
            <a:pPr eaLnBrk="1" hangingPunct="1">
              <a:lnSpc>
                <a:spcPct val="150000"/>
              </a:lnSpc>
            </a:pPr>
            <a:r>
              <a:rPr lang="en-US" altLang="zh-CN">
                <a:latin typeface="Times New Roman" panose="02020603050405020304" pitchFamily="18" charset="0"/>
                <a:ea typeface="黑体" panose="02010609060101010101" pitchFamily="49" charset="-122"/>
              </a:rPr>
              <a:t>5</a:t>
            </a:r>
            <a:r>
              <a:rPr lang="zh-CN" altLang="en-US">
                <a:latin typeface="Times New Roman" panose="02020603050405020304" pitchFamily="18" charset="0"/>
                <a:ea typeface="黑体" panose="02010609060101010101" pitchFamily="49" charset="-122"/>
              </a:rPr>
              <a:t>）若</a:t>
            </a:r>
            <a:r>
              <a:rPr lang="en-US" altLang="zh-CN">
                <a:latin typeface="Times New Roman" panose="02020603050405020304" pitchFamily="18" charset="0"/>
                <a:ea typeface="黑体" panose="02010609060101010101" pitchFamily="49" charset="-122"/>
              </a:rPr>
              <a:t>i</a:t>
            </a:r>
            <a:r>
              <a:rPr lang="zh-CN" altLang="en-US">
                <a:latin typeface="Times New Roman" panose="02020603050405020304" pitchFamily="18" charset="0"/>
                <a:ea typeface="黑体" panose="02010609060101010101" pitchFamily="49" charset="-122"/>
              </a:rPr>
              <a:t>≤</a:t>
            </a:r>
            <a:r>
              <a:rPr lang="en-US" altLang="zh-CN">
                <a:latin typeface="Times New Roman" panose="02020603050405020304" pitchFamily="18" charset="0"/>
                <a:ea typeface="黑体" panose="02010609060101010101" pitchFamily="49" charset="-122"/>
              </a:rPr>
              <a:t>n</a:t>
            </a:r>
            <a:r>
              <a:rPr lang="zh-CN" altLang="en-US">
                <a:latin typeface="Times New Roman" panose="02020603050405020304" pitchFamily="18" charset="0"/>
                <a:ea typeface="黑体" panose="02010609060101010101" pitchFamily="49" charset="-122"/>
              </a:rPr>
              <a:t>，则转</a:t>
            </a:r>
            <a:r>
              <a:rPr lang="en-US" altLang="zh-CN">
                <a:latin typeface="Times New Roman" panose="02020603050405020304" pitchFamily="18" charset="0"/>
                <a:ea typeface="黑体" panose="02010609060101010101" pitchFamily="49" charset="-122"/>
              </a:rPr>
              <a:t>3</a:t>
            </a:r>
            <a:r>
              <a:rPr lang="zh-CN" altLang="en-US">
                <a:latin typeface="Times New Roman" panose="02020603050405020304" pitchFamily="18" charset="0"/>
                <a:ea typeface="黑体" panose="02010609060101010101" pitchFamily="49" charset="-122"/>
              </a:rPr>
              <a:t>），否则停止</a:t>
            </a:r>
            <a:r>
              <a:rPr lang="en-US" altLang="zh-CN">
                <a:latin typeface="Times New Roman" panose="02020603050405020304" pitchFamily="18" charset="0"/>
                <a:ea typeface="黑体" panose="02010609060101010101" pitchFamily="49" charset="-122"/>
              </a:rPr>
              <a:t>.</a:t>
            </a:r>
            <a:endParaRPr lang="en-US" altLang="zh-CN" sz="3200">
              <a:latin typeface="Times New Roman" panose="02020603050405020304" pitchFamily="18" charset="0"/>
              <a:ea typeface="黑体" panose="02010609060101010101" pitchFamily="49" charset="-122"/>
            </a:endParaRPr>
          </a:p>
          <a:p>
            <a:pPr marL="0" indent="0" eaLnBrk="1" hangingPunct="1">
              <a:lnSpc>
                <a:spcPct val="150000"/>
              </a:lnSpc>
              <a:buNone/>
            </a:pPr>
            <a:r>
              <a:rPr lang="en-US" altLang="zh-CN">
                <a:latin typeface="Times New Roman" panose="02020603050405020304" pitchFamily="18" charset="0"/>
                <a:ea typeface="黑体" panose="02010609060101010101" pitchFamily="49" charset="-122"/>
              </a:rPr>
              <a:t>	</a:t>
            </a:r>
            <a:endParaRPr lang="en-US" altLang="zh-CN" sz="3200">
              <a:latin typeface="Times New Roman" panose="02020603050405020304" pitchFamily="18" charset="0"/>
              <a:ea typeface="黑体" panose="02010609060101010101" pitchFamily="49" charset="-122"/>
            </a:endParaRPr>
          </a:p>
        </p:txBody>
      </p:sp>
      <p:sp>
        <p:nvSpPr>
          <p:cNvPr id="5" name="文本框 4">
            <a:extLst>
              <a:ext uri="{FF2B5EF4-FFF2-40B4-BE49-F238E27FC236}">
                <a16:creationId xmlns:a16="http://schemas.microsoft.com/office/drawing/2014/main" id="{EAB29676-309B-4855-8FBE-09AE49398627}"/>
              </a:ext>
            </a:extLst>
          </p:cNvPr>
          <p:cNvSpPr txBox="1"/>
          <p:nvPr/>
        </p:nvSpPr>
        <p:spPr>
          <a:xfrm>
            <a:off x="209107" y="0"/>
            <a:ext cx="11056470" cy="739754"/>
          </a:xfrm>
          <a:prstGeom prst="rect">
            <a:avLst/>
          </a:prstGeom>
          <a:noFill/>
        </p:spPr>
        <p:txBody>
          <a:bodyPr wrap="square" rtlCol="0">
            <a:spAutoFit/>
          </a:bodyPr>
          <a:lstStyle/>
          <a:p>
            <a:pPr>
              <a:lnSpc>
                <a:spcPct val="150000"/>
              </a:lnSpc>
            </a:pPr>
            <a:r>
              <a:rPr lang="en-US" altLang="zh-CN" sz="3200"/>
              <a:t>9.4.5 Warshall’s </a:t>
            </a:r>
            <a:r>
              <a:rPr lang="en-US" altLang="zh-CN" sz="3200" dirty="0"/>
              <a:t>Algorithm</a:t>
            </a:r>
          </a:p>
        </p:txBody>
      </p:sp>
    </p:spTree>
    <p:extLst>
      <p:ext uri="{BB962C8B-B14F-4D97-AF65-F5344CB8AC3E}">
        <p14:creationId xmlns:p14="http://schemas.microsoft.com/office/powerpoint/2010/main" val="19664893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392464" y="853942"/>
            <a:ext cx="10732274"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zh-CN" altLang="en-US" sz="2800"/>
              <a:t>例６：设Ａ＝｛１，２，３｝，Ｒ＝｛（１，１），（１，２），</a:t>
            </a:r>
            <a:r>
              <a:rPr lang="en-US" altLang="zh-CN" sz="2800"/>
              <a:t>(</a:t>
            </a:r>
            <a:r>
              <a:rPr lang="zh-CN" altLang="en-US" sz="2800"/>
              <a:t>２，３）｝求Ｒ* 。</a:t>
            </a:r>
          </a:p>
        </p:txBody>
      </p:sp>
      <p:graphicFrame>
        <p:nvGraphicFramePr>
          <p:cNvPr id="5" name="Object 2">
            <a:extLst>
              <a:ext uri="{FF2B5EF4-FFF2-40B4-BE49-F238E27FC236}">
                <a16:creationId xmlns:a16="http://schemas.microsoft.com/office/drawing/2014/main" id="{22850143-EC97-4188-94AB-81647CF7DB8D}"/>
              </a:ext>
            </a:extLst>
          </p:cNvPr>
          <p:cNvGraphicFramePr>
            <a:graphicFrameLocks noChangeAspect="1"/>
          </p:cNvGraphicFramePr>
          <p:nvPr>
            <p:extLst>
              <p:ext uri="{D42A27DB-BD31-4B8C-83A1-F6EECF244321}">
                <p14:modId xmlns:p14="http://schemas.microsoft.com/office/powerpoint/2010/main" val="2574156348"/>
              </p:ext>
            </p:extLst>
          </p:nvPr>
        </p:nvGraphicFramePr>
        <p:xfrm>
          <a:off x="2785310" y="1804737"/>
          <a:ext cx="7391400" cy="4876800"/>
        </p:xfrm>
        <a:graphic>
          <a:graphicData uri="http://schemas.openxmlformats.org/presentationml/2006/ole">
            <mc:AlternateContent xmlns:mc="http://schemas.openxmlformats.org/markup-compatibility/2006">
              <mc:Choice xmlns:v="urn:schemas-microsoft-com:vml" Requires="v">
                <p:oleObj r:id="rId3" imgW="3197352" imgH="1923288" progId="Word.Picture.8">
                  <p:embed/>
                </p:oleObj>
              </mc:Choice>
              <mc:Fallback>
                <p:oleObj r:id="rId3" imgW="3197352" imgH="1923288" progId="Word.Picture.8">
                  <p:embed/>
                  <p:pic>
                    <p:nvPicPr>
                      <p:cNvPr id="148482" name="Object 2">
                        <a:extLst>
                          <a:ext uri="{FF2B5EF4-FFF2-40B4-BE49-F238E27FC236}">
                            <a16:creationId xmlns:a16="http://schemas.microsoft.com/office/drawing/2014/main" id="{AACA6D22-1297-4A04-B1C0-997C05002E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85310" y="1804737"/>
                        <a:ext cx="7391400" cy="487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文本框 5">
            <a:extLst>
              <a:ext uri="{FF2B5EF4-FFF2-40B4-BE49-F238E27FC236}">
                <a16:creationId xmlns:a16="http://schemas.microsoft.com/office/drawing/2014/main" id="{3066B19B-82DA-4AEC-948C-74D29614F9BF}"/>
              </a:ext>
            </a:extLst>
          </p:cNvPr>
          <p:cNvSpPr txBox="1"/>
          <p:nvPr/>
        </p:nvSpPr>
        <p:spPr>
          <a:xfrm>
            <a:off x="209107" y="0"/>
            <a:ext cx="11056470" cy="739754"/>
          </a:xfrm>
          <a:prstGeom prst="rect">
            <a:avLst/>
          </a:prstGeom>
          <a:noFill/>
        </p:spPr>
        <p:txBody>
          <a:bodyPr wrap="square" rtlCol="0">
            <a:spAutoFit/>
          </a:bodyPr>
          <a:lstStyle/>
          <a:p>
            <a:pPr>
              <a:lnSpc>
                <a:spcPct val="150000"/>
              </a:lnSpc>
            </a:pPr>
            <a:r>
              <a:rPr lang="en-US" altLang="zh-CN" sz="3200"/>
              <a:t>9.4.5 Warshall’s </a:t>
            </a:r>
            <a:r>
              <a:rPr lang="en-US" altLang="zh-CN" sz="3200" dirty="0"/>
              <a:t>Algorithm</a:t>
            </a:r>
          </a:p>
        </p:txBody>
      </p:sp>
    </p:spTree>
    <p:extLst>
      <p:ext uri="{BB962C8B-B14F-4D97-AF65-F5344CB8AC3E}">
        <p14:creationId xmlns:p14="http://schemas.microsoft.com/office/powerpoint/2010/main" val="3538805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392464" y="853942"/>
            <a:ext cx="10732274" cy="1391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zh-CN" altLang="en-US" sz="2800"/>
              <a:t>注： 当｜Ａ｜＝ｎ较大时，用定理</a:t>
            </a:r>
            <a:r>
              <a:rPr lang="en-US" altLang="zh-CN" sz="2800"/>
              <a:t>5</a:t>
            </a:r>
            <a:r>
              <a:rPr lang="zh-CN" altLang="en-US" sz="2800"/>
              <a:t>计算Ｒ* </a:t>
            </a:r>
          </a:p>
          <a:p>
            <a:pPr marL="0" indent="0">
              <a:lnSpc>
                <a:spcPct val="150000"/>
              </a:lnSpc>
              <a:buNone/>
            </a:pPr>
            <a:r>
              <a:rPr lang="zh-CN" altLang="en-US" sz="2800"/>
              <a:t>            工作量非常大。</a:t>
            </a:r>
          </a:p>
        </p:txBody>
      </p:sp>
      <p:sp>
        <p:nvSpPr>
          <p:cNvPr id="6" name="Text Box 2">
            <a:extLst>
              <a:ext uri="{FF2B5EF4-FFF2-40B4-BE49-F238E27FC236}">
                <a16:creationId xmlns:a16="http://schemas.microsoft.com/office/drawing/2014/main" id="{89C237B8-BCFE-44C1-BD5E-DFED8B4E1B45}"/>
              </a:ext>
            </a:extLst>
          </p:cNvPr>
          <p:cNvSpPr txBox="1">
            <a:spLocks noChangeArrowheads="1"/>
          </p:cNvSpPr>
          <p:nvPr/>
        </p:nvSpPr>
        <p:spPr bwMode="auto">
          <a:xfrm>
            <a:off x="717884" y="2375318"/>
            <a:ext cx="6553200" cy="447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solidFill>
                  <a:schemeClr val="tx2"/>
                </a:solidFill>
                <a:latin typeface="宋体" panose="02010600030101010101" pitchFamily="2" charset="-122"/>
              </a:rPr>
              <a:t>Ｗａｒｓｈａｌｌ算法：（１９６２）</a:t>
            </a:r>
            <a:r>
              <a:rPr lang="zh-CN" altLang="en-US" sz="2400">
                <a:latin typeface="宋体" panose="02010600030101010101" pitchFamily="2" charset="-122"/>
              </a:rPr>
              <a:t></a:t>
            </a:r>
          </a:p>
          <a:p>
            <a:pPr algn="just" eaLnBrk="1" hangingPunct="1">
              <a:spcBef>
                <a:spcPct val="0"/>
              </a:spcBef>
              <a:buFontTx/>
              <a:buNone/>
            </a:pPr>
            <a:r>
              <a:rPr lang="zh-CN" altLang="en-US" sz="2400">
                <a:latin typeface="宋体" panose="02010600030101010101" pitchFamily="2" charset="-122"/>
              </a:rPr>
              <a:t> </a:t>
            </a:r>
            <a:r>
              <a:rPr lang="zh-CN" altLang="en-US" sz="2400" b="1">
                <a:latin typeface="宋体" panose="02010600030101010101" pitchFamily="2" charset="-122"/>
              </a:rPr>
              <a:t>设Ｒ是ｎ个元素集合上的二元关系</a:t>
            </a:r>
          </a:p>
          <a:p>
            <a:pPr algn="just" eaLnBrk="1" hangingPunct="1">
              <a:spcBef>
                <a:spcPct val="0"/>
              </a:spcBef>
              <a:buFontTx/>
              <a:buNone/>
            </a:pPr>
            <a:r>
              <a:rPr lang="zh-CN" altLang="en-US" sz="2400" b="1">
                <a:latin typeface="宋体" panose="02010600030101010101" pitchFamily="2" charset="-122"/>
              </a:rPr>
              <a:t> </a:t>
            </a:r>
            <a:r>
              <a:rPr lang="en-US" altLang="zh-CN" sz="2400" b="1">
                <a:latin typeface="宋体" panose="02010600030101010101" pitchFamily="2" charset="-122"/>
              </a:rPr>
              <a:t>(1)</a:t>
            </a:r>
            <a:r>
              <a:rPr lang="zh-CN" altLang="en-US" sz="2400" b="1">
                <a:latin typeface="宋体" panose="02010600030101010101" pitchFamily="2" charset="-122"/>
              </a:rPr>
              <a:t>是Ｒ的相关矩阵；</a:t>
            </a:r>
          </a:p>
          <a:p>
            <a:pPr algn="just" eaLnBrk="1" hangingPunct="1">
              <a:spcBef>
                <a:spcPct val="0"/>
              </a:spcBef>
              <a:buFontTx/>
              <a:buNone/>
            </a:pPr>
            <a:r>
              <a:rPr lang="zh-CN" altLang="en-US" sz="2400" b="1">
                <a:latin typeface="宋体" panose="02010600030101010101" pitchFamily="2" charset="-122"/>
              </a:rPr>
              <a:t> </a:t>
            </a:r>
            <a:r>
              <a:rPr lang="en-US" altLang="zh-CN" sz="2400" b="1">
                <a:latin typeface="宋体" panose="02010600030101010101" pitchFamily="2" charset="-122"/>
              </a:rPr>
              <a:t>(2)</a:t>
            </a:r>
            <a:r>
              <a:rPr lang="zh-CN" altLang="en-US" sz="2400" b="1">
                <a:latin typeface="宋体" panose="02010600030101010101" pitchFamily="2" charset="-122"/>
              </a:rPr>
              <a:t>ｉ←１；</a:t>
            </a:r>
          </a:p>
          <a:p>
            <a:pPr algn="just" eaLnBrk="1" hangingPunct="1">
              <a:spcBef>
                <a:spcPct val="0"/>
              </a:spcBef>
              <a:buFontTx/>
              <a:buNone/>
            </a:pPr>
            <a:r>
              <a:rPr lang="zh-CN" altLang="en-US" sz="2400" b="1">
                <a:latin typeface="宋体" panose="02010600030101010101" pitchFamily="2" charset="-122"/>
              </a:rPr>
              <a:t> </a:t>
            </a:r>
            <a:r>
              <a:rPr lang="en-US" altLang="zh-CN" sz="2400" b="1">
                <a:latin typeface="宋体" panose="02010600030101010101" pitchFamily="2" charset="-122"/>
              </a:rPr>
              <a:t>(3)</a:t>
            </a:r>
            <a:r>
              <a:rPr lang="zh-CN" altLang="en-US" sz="2400" b="1">
                <a:latin typeface="宋体" panose="02010600030101010101" pitchFamily="2" charset="-122"/>
              </a:rPr>
              <a:t>ｆｏｒ  ｊ＝１  ｔｏ  ｎ  ｄｏ</a:t>
            </a:r>
          </a:p>
          <a:p>
            <a:pPr algn="just" eaLnBrk="1" hangingPunct="1">
              <a:spcBef>
                <a:spcPct val="0"/>
              </a:spcBef>
              <a:buFontTx/>
              <a:buNone/>
            </a:pPr>
            <a:r>
              <a:rPr lang="zh-CN" altLang="en-US" sz="2400" b="1">
                <a:latin typeface="宋体" panose="02010600030101010101" pitchFamily="2" charset="-122"/>
              </a:rPr>
              <a:t>       </a:t>
            </a:r>
            <a:r>
              <a:rPr lang="en-US" altLang="zh-CN" sz="2400" b="1">
                <a:latin typeface="宋体" panose="02010600030101010101" pitchFamily="2" charset="-122"/>
              </a:rPr>
              <a:t>i</a:t>
            </a:r>
            <a:r>
              <a:rPr lang="zh-CN" altLang="en-US" sz="2400" b="1">
                <a:latin typeface="宋体" panose="02010600030101010101" pitchFamily="2" charset="-122"/>
              </a:rPr>
              <a:t>ｆ  ａ</a:t>
            </a:r>
            <a:r>
              <a:rPr lang="en-US" altLang="zh-CN" sz="2400" b="1" baseline="-25000">
                <a:latin typeface="宋体" panose="02010600030101010101" pitchFamily="2" charset="-122"/>
              </a:rPr>
              <a:t>j,i</a:t>
            </a:r>
            <a:r>
              <a:rPr lang="zh-CN" altLang="en-US" sz="2400" b="1">
                <a:latin typeface="宋体" panose="02010600030101010101" pitchFamily="2" charset="-122"/>
              </a:rPr>
              <a:t>＝１　ｔｈｅｎ  ｄｏ</a:t>
            </a:r>
          </a:p>
          <a:p>
            <a:pPr algn="just" eaLnBrk="1" hangingPunct="1">
              <a:spcBef>
                <a:spcPct val="0"/>
              </a:spcBef>
              <a:buFontTx/>
              <a:buNone/>
            </a:pPr>
            <a:r>
              <a:rPr lang="zh-CN" altLang="en-US" sz="2400" b="1">
                <a:latin typeface="宋体" panose="02010600030101010101" pitchFamily="2" charset="-122"/>
              </a:rPr>
              <a:t>          ｆｏｒ  ｋ＝１  ｔｏ  ｎ  ｄｏ</a:t>
            </a:r>
          </a:p>
          <a:p>
            <a:pPr algn="just" eaLnBrk="1" hangingPunct="1">
              <a:spcBef>
                <a:spcPct val="0"/>
              </a:spcBef>
              <a:buFontTx/>
              <a:buNone/>
            </a:pPr>
            <a:r>
              <a:rPr lang="zh-CN" altLang="en-US" sz="2400" b="1">
                <a:latin typeface="宋体" panose="02010600030101010101" pitchFamily="2" charset="-122"/>
              </a:rPr>
              <a:t>                 ａ</a:t>
            </a:r>
            <a:r>
              <a:rPr lang="en-US" altLang="zh-CN" sz="2400" b="1" baseline="-25000">
                <a:latin typeface="宋体" panose="02010600030101010101" pitchFamily="2" charset="-122"/>
              </a:rPr>
              <a:t>j,k</a:t>
            </a:r>
            <a:r>
              <a:rPr lang="en-US" altLang="zh-CN" sz="2400" b="1">
                <a:latin typeface="宋体" panose="02010600030101010101" pitchFamily="2" charset="-122"/>
              </a:rPr>
              <a:t>←</a:t>
            </a:r>
            <a:r>
              <a:rPr lang="zh-CN" altLang="en-US" sz="2400" b="1">
                <a:latin typeface="宋体" panose="02010600030101010101" pitchFamily="2" charset="-122"/>
              </a:rPr>
              <a:t>ａ</a:t>
            </a:r>
            <a:r>
              <a:rPr lang="en-US" altLang="zh-CN" sz="2400" b="1" baseline="-25000">
                <a:latin typeface="宋体" panose="02010600030101010101" pitchFamily="2" charset="-122"/>
              </a:rPr>
              <a:t>j,k</a:t>
            </a:r>
            <a:r>
              <a:rPr lang="en-US" altLang="zh-CN" sz="2400" b="1">
                <a:latin typeface="宋体" panose="02010600030101010101" pitchFamily="2" charset="-122"/>
              </a:rPr>
              <a:t>∨</a:t>
            </a:r>
            <a:r>
              <a:rPr lang="zh-CN" altLang="en-US" sz="2400" b="1">
                <a:latin typeface="宋体" panose="02010600030101010101" pitchFamily="2" charset="-122"/>
              </a:rPr>
              <a:t>ａ</a:t>
            </a:r>
            <a:r>
              <a:rPr lang="en-US" altLang="zh-CN" sz="2400" b="1" baseline="-25000">
                <a:latin typeface="宋体" panose="02010600030101010101" pitchFamily="2" charset="-122"/>
              </a:rPr>
              <a:t>i,k</a:t>
            </a:r>
            <a:r>
              <a:rPr lang="en-US" altLang="zh-CN" sz="2400" b="1">
                <a:latin typeface="Times New Roman" panose="02020603050405020304" pitchFamily="18" charset="0"/>
              </a:rPr>
              <a:t></a:t>
            </a:r>
          </a:p>
          <a:p>
            <a:pPr eaLnBrk="1" hangingPunct="1">
              <a:spcBef>
                <a:spcPct val="0"/>
              </a:spcBef>
              <a:buFontTx/>
              <a:buNone/>
            </a:pPr>
            <a:r>
              <a:rPr lang="en-US" altLang="zh-CN" sz="2400" b="1">
                <a:latin typeface="宋体" panose="02010600030101010101" pitchFamily="2" charset="-122"/>
              </a:rPr>
              <a:t> (4)</a:t>
            </a:r>
            <a:r>
              <a:rPr lang="zh-CN" altLang="en-US" sz="2400" b="1">
                <a:latin typeface="宋体" panose="02010600030101010101" pitchFamily="2" charset="-122"/>
              </a:rPr>
              <a:t>ｉ</a:t>
            </a:r>
            <a:r>
              <a:rPr lang="en-US" altLang="zh-CN" sz="2400" b="1">
                <a:latin typeface="宋体" panose="02010600030101010101" pitchFamily="2" charset="-122"/>
              </a:rPr>
              <a:t>=</a:t>
            </a:r>
            <a:r>
              <a:rPr lang="zh-CN" altLang="en-US" sz="2400" b="1">
                <a:latin typeface="宋体" panose="02010600030101010101" pitchFamily="2" charset="-122"/>
              </a:rPr>
              <a:t>ｉ＋１；</a:t>
            </a:r>
          </a:p>
          <a:p>
            <a:pPr eaLnBrk="1" hangingPunct="1">
              <a:spcBef>
                <a:spcPct val="0"/>
              </a:spcBef>
              <a:buFontTx/>
              <a:buNone/>
            </a:pPr>
            <a:r>
              <a:rPr lang="zh-CN" altLang="en-US" sz="2400" b="1">
                <a:latin typeface="Times New Roman" panose="02020603050405020304" pitchFamily="18" charset="0"/>
              </a:rPr>
              <a:t>   </a:t>
            </a:r>
            <a:r>
              <a:rPr lang="en-US" altLang="zh-CN" sz="2400" b="1">
                <a:latin typeface="Times New Roman" panose="02020603050405020304" pitchFamily="18" charset="0"/>
              </a:rPr>
              <a:t>(5)  i</a:t>
            </a:r>
            <a:r>
              <a:rPr lang="zh-CN" altLang="en-US" sz="2400" b="1">
                <a:latin typeface="Times New Roman" panose="02020603050405020304" pitchFamily="18" charset="0"/>
              </a:rPr>
              <a:t>ｆ  ｉ≤ｎ，  ｔｈｅｎ  </a:t>
            </a:r>
            <a:r>
              <a:rPr lang="en-US" altLang="zh-CN" sz="2400" b="1">
                <a:latin typeface="Times New Roman" panose="02020603050405020304" pitchFamily="18" charset="0"/>
              </a:rPr>
              <a:t>go    (3)</a:t>
            </a:r>
          </a:p>
          <a:p>
            <a:pPr eaLnBrk="1" hangingPunct="1">
              <a:spcBef>
                <a:spcPct val="0"/>
              </a:spcBef>
              <a:buFontTx/>
              <a:buNone/>
            </a:pPr>
            <a:r>
              <a:rPr lang="en-US" altLang="zh-CN" sz="2400" b="1">
                <a:latin typeface="Times New Roman" panose="02020603050405020304" pitchFamily="18" charset="0"/>
              </a:rPr>
              <a:t>                                    </a:t>
            </a:r>
            <a:r>
              <a:rPr lang="zh-CN" altLang="en-US" sz="2400" b="1">
                <a:latin typeface="Times New Roman" panose="02020603050405020304" pitchFamily="18" charset="0"/>
              </a:rPr>
              <a:t>ｅｌｓｅ     ｓｔｏｐ</a:t>
            </a:r>
          </a:p>
          <a:p>
            <a:pPr algn="just" eaLnBrk="1" hangingPunct="1">
              <a:spcBef>
                <a:spcPct val="0"/>
              </a:spcBef>
              <a:buFontTx/>
              <a:buNone/>
            </a:pPr>
            <a:endParaRPr lang="en-US" altLang="zh-CN" sz="2400" b="1">
              <a:latin typeface="Times New Roman" panose="02020603050405020304" pitchFamily="18" charset="0"/>
            </a:endParaRPr>
          </a:p>
        </p:txBody>
      </p:sp>
      <p:sp>
        <p:nvSpPr>
          <p:cNvPr id="5" name="文本框 4">
            <a:extLst>
              <a:ext uri="{FF2B5EF4-FFF2-40B4-BE49-F238E27FC236}">
                <a16:creationId xmlns:a16="http://schemas.microsoft.com/office/drawing/2014/main" id="{FC58E1FA-1E2A-4D00-996F-8D00A12057C2}"/>
              </a:ext>
            </a:extLst>
          </p:cNvPr>
          <p:cNvSpPr txBox="1"/>
          <p:nvPr/>
        </p:nvSpPr>
        <p:spPr>
          <a:xfrm>
            <a:off x="209107" y="0"/>
            <a:ext cx="11056470" cy="739754"/>
          </a:xfrm>
          <a:prstGeom prst="rect">
            <a:avLst/>
          </a:prstGeom>
          <a:noFill/>
        </p:spPr>
        <p:txBody>
          <a:bodyPr wrap="square" rtlCol="0">
            <a:spAutoFit/>
          </a:bodyPr>
          <a:lstStyle/>
          <a:p>
            <a:pPr>
              <a:lnSpc>
                <a:spcPct val="150000"/>
              </a:lnSpc>
            </a:pPr>
            <a:r>
              <a:rPr lang="en-US" altLang="zh-CN" sz="3200"/>
              <a:t>9.4.5 Warshall’s </a:t>
            </a:r>
            <a:r>
              <a:rPr lang="en-US" altLang="zh-CN" sz="3200" dirty="0"/>
              <a:t>Algorithm</a:t>
            </a:r>
          </a:p>
        </p:txBody>
      </p:sp>
    </p:spTree>
    <p:extLst>
      <p:ext uri="{BB962C8B-B14F-4D97-AF65-F5344CB8AC3E}">
        <p14:creationId xmlns:p14="http://schemas.microsoft.com/office/powerpoint/2010/main" val="876780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对象 4">
            <a:extLst>
              <a:ext uri="{FF2B5EF4-FFF2-40B4-BE49-F238E27FC236}">
                <a16:creationId xmlns:a16="http://schemas.microsoft.com/office/drawing/2014/main" id="{597906FB-B042-4ADE-84BD-CD8E5CB25938}"/>
              </a:ext>
            </a:extLst>
          </p:cNvPr>
          <p:cNvGraphicFramePr>
            <a:graphicFrameLocks noChangeAspect="1"/>
          </p:cNvGraphicFramePr>
          <p:nvPr>
            <p:extLst>
              <p:ext uri="{D42A27DB-BD31-4B8C-83A1-F6EECF244321}">
                <p14:modId xmlns:p14="http://schemas.microsoft.com/office/powerpoint/2010/main" val="1651742532"/>
              </p:ext>
            </p:extLst>
          </p:nvPr>
        </p:nvGraphicFramePr>
        <p:xfrm>
          <a:off x="410161" y="1173162"/>
          <a:ext cx="4548187" cy="2255838"/>
        </p:xfrm>
        <a:graphic>
          <a:graphicData uri="http://schemas.openxmlformats.org/presentationml/2006/ole">
            <mc:AlternateContent xmlns:mc="http://schemas.openxmlformats.org/markup-compatibility/2006">
              <mc:Choice xmlns:v="urn:schemas-microsoft-com:vml" Requires="v">
                <p:oleObj name="Picture" r:id="rId2" imgW="1939682" imgH="984271" progId="Word.Picture.8">
                  <p:embed/>
                </p:oleObj>
              </mc:Choice>
              <mc:Fallback>
                <p:oleObj name="Picture" r:id="rId2" imgW="1939682" imgH="984271" progId="Word.Picture.8">
                  <p:embed/>
                  <p:pic>
                    <p:nvPicPr>
                      <p:cNvPr id="2" name="对象 1">
                        <a:extLst>
                          <a:ext uri="{FF2B5EF4-FFF2-40B4-BE49-F238E27FC236}">
                            <a16:creationId xmlns:a16="http://schemas.microsoft.com/office/drawing/2014/main" id="{8D6EE716-6312-46B1-97B3-A52BA83E29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0161" y="1173162"/>
                        <a:ext cx="4548187" cy="2255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文本框 5">
            <a:extLst>
              <a:ext uri="{FF2B5EF4-FFF2-40B4-BE49-F238E27FC236}">
                <a16:creationId xmlns:a16="http://schemas.microsoft.com/office/drawing/2014/main" id="{A00280CC-5876-467F-81E2-A8FD35A4E317}"/>
              </a:ext>
            </a:extLst>
          </p:cNvPr>
          <p:cNvSpPr txBox="1"/>
          <p:nvPr/>
        </p:nvSpPr>
        <p:spPr>
          <a:xfrm>
            <a:off x="209107" y="0"/>
            <a:ext cx="11056470" cy="739754"/>
          </a:xfrm>
          <a:prstGeom prst="rect">
            <a:avLst/>
          </a:prstGeom>
          <a:noFill/>
        </p:spPr>
        <p:txBody>
          <a:bodyPr wrap="square" rtlCol="0">
            <a:spAutoFit/>
          </a:bodyPr>
          <a:lstStyle/>
          <a:p>
            <a:pPr>
              <a:lnSpc>
                <a:spcPct val="150000"/>
              </a:lnSpc>
            </a:pPr>
            <a:r>
              <a:rPr lang="en-US" altLang="zh-CN" sz="3200"/>
              <a:t>9.4.5 Warshall’s </a:t>
            </a:r>
            <a:r>
              <a:rPr lang="en-US" altLang="zh-CN" sz="3200" dirty="0"/>
              <a:t>Algorithm</a:t>
            </a:r>
          </a:p>
        </p:txBody>
      </p:sp>
    </p:spTree>
    <p:extLst>
      <p:ext uri="{BB962C8B-B14F-4D97-AF65-F5344CB8AC3E}">
        <p14:creationId xmlns:p14="http://schemas.microsoft.com/office/powerpoint/2010/main" val="377017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9.5.1 </a:t>
            </a:r>
            <a:r>
              <a:rPr lang="en-US" altLang="zh-CN" sz="3200" dirty="0"/>
              <a:t>Equivalence Relations</a:t>
            </a:r>
            <a:endParaRPr lang="zh-CN" altLang="en-US" sz="3200" dirty="0"/>
          </a:p>
        </p:txBody>
      </p:sp>
      <p:sp>
        <p:nvSpPr>
          <p:cNvPr id="4" name="Rectangle 3">
            <a:extLst>
              <a:ext uri="{FF2B5EF4-FFF2-40B4-BE49-F238E27FC236}">
                <a16:creationId xmlns:a16="http://schemas.microsoft.com/office/drawing/2014/main" id="{8B46E076-8636-4CBB-8DD9-FB709008B5F0}"/>
              </a:ext>
            </a:extLst>
          </p:cNvPr>
          <p:cNvSpPr txBox="1">
            <a:spLocks noChangeArrowheads="1"/>
          </p:cNvSpPr>
          <p:nvPr/>
        </p:nvSpPr>
        <p:spPr bwMode="auto">
          <a:xfrm>
            <a:off x="568234" y="888715"/>
            <a:ext cx="1105553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a:lnSpc>
                <a:spcPct val="150000"/>
              </a:lnSpc>
            </a:pPr>
            <a:r>
              <a:rPr lang="en-US" altLang="zh-CN" dirty="0"/>
              <a:t>An </a:t>
            </a:r>
            <a:r>
              <a:rPr lang="en-US" altLang="zh-CN" i="1" dirty="0"/>
              <a:t>equivalence relation</a:t>
            </a:r>
            <a:r>
              <a:rPr lang="en-US" altLang="zh-CN" dirty="0"/>
              <a:t> (</a:t>
            </a:r>
            <a:r>
              <a:rPr lang="en-US" altLang="zh-CN" dirty="0" err="1"/>
              <a:t>e.r.</a:t>
            </a:r>
            <a:r>
              <a:rPr lang="en-US" altLang="zh-CN" dirty="0"/>
              <a:t>) on a set </a:t>
            </a:r>
            <a:r>
              <a:rPr lang="en-US" altLang="zh-CN" i="1" dirty="0"/>
              <a:t>A</a:t>
            </a:r>
            <a:r>
              <a:rPr lang="en-US" altLang="zh-CN" dirty="0"/>
              <a:t> is simply any binary relation on </a:t>
            </a:r>
            <a:r>
              <a:rPr lang="en-US" altLang="zh-CN" i="1" dirty="0"/>
              <a:t>A</a:t>
            </a:r>
            <a:r>
              <a:rPr lang="en-US" altLang="zh-CN" dirty="0"/>
              <a:t> that is reflexive, symmetric, and transitive.</a:t>
            </a:r>
          </a:p>
          <a:p>
            <a:pPr lvl="1" eaLnBrk="1" hangingPunct="1">
              <a:lnSpc>
                <a:spcPct val="150000"/>
              </a:lnSpc>
            </a:pPr>
            <a:r>
              <a:rPr lang="en-US" altLang="zh-CN" i="1" dirty="0"/>
              <a:t>E.g.</a:t>
            </a:r>
            <a:r>
              <a:rPr lang="en-US" altLang="zh-CN" dirty="0"/>
              <a:t>, </a:t>
            </a:r>
            <a:r>
              <a:rPr lang="en-US" altLang="zh-CN" b="1" dirty="0"/>
              <a:t>=</a:t>
            </a:r>
            <a:r>
              <a:rPr lang="en-US" altLang="zh-CN" dirty="0"/>
              <a:t> itself is an equivalence relation.</a:t>
            </a:r>
            <a:endParaRPr lang="en-US" altLang="zh-CN" kern="0" dirty="0"/>
          </a:p>
          <a:p>
            <a:pPr lvl="1">
              <a:lnSpc>
                <a:spcPct val="150000"/>
              </a:lnSpc>
            </a:pPr>
            <a:r>
              <a:rPr lang="en-US" altLang="zh-CN" dirty="0"/>
              <a:t>For any function </a:t>
            </a:r>
            <a:r>
              <a:rPr lang="en-US" altLang="zh-CN" i="1" dirty="0">
                <a:solidFill>
                  <a:srgbClr val="FF0000"/>
                </a:solidFill>
              </a:rPr>
              <a:t>f</a:t>
            </a:r>
            <a:r>
              <a:rPr lang="en-US" altLang="zh-CN" dirty="0">
                <a:solidFill>
                  <a:srgbClr val="FF0000"/>
                </a:solidFill>
              </a:rPr>
              <a:t>:</a:t>
            </a:r>
            <a:r>
              <a:rPr lang="en-US" altLang="zh-CN" i="1" dirty="0">
                <a:solidFill>
                  <a:srgbClr val="FF0000"/>
                </a:solidFill>
              </a:rPr>
              <a:t>A</a:t>
            </a:r>
            <a:r>
              <a:rPr lang="en-US" altLang="zh-CN" i="1" dirty="0">
                <a:solidFill>
                  <a:srgbClr val="FF0000"/>
                </a:solidFill>
                <a:cs typeface="Times New Roman" panose="02020603050405020304" pitchFamily="18" charset="0"/>
              </a:rPr>
              <a:t>→B</a:t>
            </a:r>
            <a:r>
              <a:rPr lang="en-US" altLang="zh-CN" dirty="0"/>
              <a:t>, the relation </a:t>
            </a:r>
            <a:r>
              <a:rPr lang="en-US" altLang="zh-CN" dirty="0">
                <a:latin typeface="Times New Roman" panose="02020603050405020304" pitchFamily="18" charset="0"/>
              </a:rPr>
              <a:t>“</a:t>
            </a:r>
            <a:r>
              <a:rPr lang="en-US" altLang="zh-CN" dirty="0"/>
              <a:t>have the same </a:t>
            </a:r>
            <a:r>
              <a:rPr lang="en-US" altLang="zh-CN" i="1" dirty="0"/>
              <a:t>f</a:t>
            </a:r>
            <a:r>
              <a:rPr lang="en-US" altLang="zh-CN" dirty="0"/>
              <a:t> value</a:t>
            </a:r>
            <a:r>
              <a:rPr lang="en-US" altLang="zh-CN" dirty="0">
                <a:latin typeface="Times New Roman" panose="02020603050405020304" pitchFamily="18" charset="0"/>
              </a:rPr>
              <a:t>”</a:t>
            </a:r>
            <a:r>
              <a:rPr lang="en-US" altLang="zh-CN" dirty="0"/>
              <a:t>, or </a:t>
            </a:r>
            <a:r>
              <a:rPr lang="en-US" altLang="zh-CN" b="1" dirty="0">
                <a:solidFill>
                  <a:srgbClr val="FF0000"/>
                </a:solidFill>
              </a:rPr>
              <a:t>=</a:t>
            </a:r>
            <a:r>
              <a:rPr lang="en-US" altLang="zh-CN" i="1" baseline="-25000" dirty="0">
                <a:solidFill>
                  <a:srgbClr val="FF0000"/>
                </a:solidFill>
              </a:rPr>
              <a:t>f</a:t>
            </a:r>
            <a:r>
              <a:rPr lang="en-US" altLang="zh-CN" dirty="0">
                <a:solidFill>
                  <a:srgbClr val="FF0000"/>
                </a:solidFill>
              </a:rPr>
              <a:t> :≡ {(</a:t>
            </a:r>
            <a:r>
              <a:rPr lang="en-US" altLang="zh-CN" i="1" dirty="0">
                <a:solidFill>
                  <a:srgbClr val="FF0000"/>
                </a:solidFill>
              </a:rPr>
              <a:t>a</a:t>
            </a:r>
            <a:r>
              <a:rPr lang="en-US" altLang="zh-CN" baseline="-25000" dirty="0">
                <a:solidFill>
                  <a:srgbClr val="FF0000"/>
                </a:solidFill>
              </a:rPr>
              <a:t>1</a:t>
            </a:r>
            <a:r>
              <a:rPr lang="en-US" altLang="zh-CN" dirty="0">
                <a:solidFill>
                  <a:srgbClr val="FF0000"/>
                </a:solidFill>
              </a:rPr>
              <a:t>,</a:t>
            </a:r>
            <a:r>
              <a:rPr lang="en-US" altLang="zh-CN" i="1" dirty="0">
                <a:solidFill>
                  <a:srgbClr val="FF0000"/>
                </a:solidFill>
              </a:rPr>
              <a:t>a</a:t>
            </a:r>
            <a:r>
              <a:rPr lang="en-US" altLang="zh-CN" baseline="-25000" dirty="0">
                <a:solidFill>
                  <a:srgbClr val="FF0000"/>
                </a:solidFill>
              </a:rPr>
              <a:t>2</a:t>
            </a:r>
            <a:r>
              <a:rPr lang="en-US" altLang="zh-CN" dirty="0">
                <a:solidFill>
                  <a:srgbClr val="FF0000"/>
                </a:solidFill>
              </a:rPr>
              <a:t>) | </a:t>
            </a:r>
            <a:r>
              <a:rPr lang="en-US" altLang="zh-CN" i="1" dirty="0">
                <a:solidFill>
                  <a:srgbClr val="FF0000"/>
                </a:solidFill>
              </a:rPr>
              <a:t>f</a:t>
            </a:r>
            <a:r>
              <a:rPr lang="en-US" altLang="zh-CN" dirty="0">
                <a:solidFill>
                  <a:srgbClr val="FF0000"/>
                </a:solidFill>
              </a:rPr>
              <a:t>(</a:t>
            </a:r>
            <a:r>
              <a:rPr lang="en-US" altLang="zh-CN" i="1" dirty="0">
                <a:solidFill>
                  <a:srgbClr val="FF0000"/>
                </a:solidFill>
              </a:rPr>
              <a:t>a</a:t>
            </a:r>
            <a:r>
              <a:rPr lang="en-US" altLang="zh-CN" baseline="-25000" dirty="0">
                <a:solidFill>
                  <a:srgbClr val="FF0000"/>
                </a:solidFill>
              </a:rPr>
              <a:t>1</a:t>
            </a:r>
            <a:r>
              <a:rPr lang="en-US" altLang="zh-CN" dirty="0">
                <a:solidFill>
                  <a:srgbClr val="FF0000"/>
                </a:solidFill>
              </a:rPr>
              <a:t>)=</a:t>
            </a:r>
            <a:r>
              <a:rPr lang="en-US" altLang="zh-CN" i="1" dirty="0">
                <a:solidFill>
                  <a:srgbClr val="FF0000"/>
                </a:solidFill>
              </a:rPr>
              <a:t>f</a:t>
            </a:r>
            <a:r>
              <a:rPr lang="en-US" altLang="zh-CN" dirty="0">
                <a:solidFill>
                  <a:srgbClr val="FF0000"/>
                </a:solidFill>
              </a:rPr>
              <a:t>(</a:t>
            </a:r>
            <a:r>
              <a:rPr lang="en-US" altLang="zh-CN" i="1" dirty="0">
                <a:solidFill>
                  <a:srgbClr val="FF0000"/>
                </a:solidFill>
              </a:rPr>
              <a:t>a</a:t>
            </a:r>
            <a:r>
              <a:rPr lang="en-US" altLang="zh-CN" baseline="-25000" dirty="0">
                <a:solidFill>
                  <a:srgbClr val="FF0000"/>
                </a:solidFill>
              </a:rPr>
              <a:t>2</a:t>
            </a:r>
            <a:r>
              <a:rPr lang="en-US" altLang="zh-CN" dirty="0">
                <a:solidFill>
                  <a:srgbClr val="FF0000"/>
                </a:solidFill>
              </a:rPr>
              <a:t>)}</a:t>
            </a:r>
            <a:r>
              <a:rPr lang="en-US" altLang="zh-CN" dirty="0"/>
              <a:t> </a:t>
            </a:r>
            <a:br>
              <a:rPr lang="en-US" altLang="zh-CN" dirty="0"/>
            </a:br>
            <a:r>
              <a:rPr lang="en-US" altLang="zh-CN" dirty="0"/>
              <a:t>is an equivalence relation, </a:t>
            </a:r>
          </a:p>
          <a:p>
            <a:pPr lvl="2">
              <a:lnSpc>
                <a:spcPct val="150000"/>
              </a:lnSpc>
            </a:pPr>
            <a:r>
              <a:rPr lang="en-US" altLang="zh-CN" i="1" dirty="0"/>
              <a:t>e.g.</a:t>
            </a:r>
            <a:r>
              <a:rPr lang="en-US" altLang="zh-CN" dirty="0"/>
              <a:t>, let </a:t>
            </a:r>
            <a:r>
              <a:rPr lang="en-US" altLang="zh-CN" i="1" dirty="0"/>
              <a:t>m=</a:t>
            </a:r>
            <a:r>
              <a:rPr lang="en-US" altLang="zh-CN" i="1" dirty="0">
                <a:latin typeface="Times New Roman" panose="02020603050405020304" pitchFamily="18" charset="0"/>
              </a:rPr>
              <a:t>“</a:t>
            </a:r>
            <a:r>
              <a:rPr lang="en-US" altLang="zh-CN" dirty="0"/>
              <a:t>mother of</a:t>
            </a:r>
            <a:r>
              <a:rPr lang="en-US" altLang="zh-CN" dirty="0">
                <a:latin typeface="Times New Roman" panose="02020603050405020304" pitchFamily="18" charset="0"/>
              </a:rPr>
              <a:t>”</a:t>
            </a:r>
            <a:r>
              <a:rPr lang="en-US" altLang="zh-CN" dirty="0"/>
              <a:t> then </a:t>
            </a:r>
            <a:r>
              <a:rPr lang="en-US" altLang="zh-CN" b="1" dirty="0"/>
              <a:t>=</a:t>
            </a:r>
            <a:r>
              <a:rPr lang="en-US" altLang="zh-CN" i="1" baseline="-25000" dirty="0"/>
              <a:t>m</a:t>
            </a:r>
            <a:r>
              <a:rPr lang="en-US" altLang="zh-CN" dirty="0"/>
              <a:t> = </a:t>
            </a:r>
            <a:r>
              <a:rPr lang="en-US" altLang="zh-CN" dirty="0">
                <a:latin typeface="Times New Roman" panose="02020603050405020304" pitchFamily="18" charset="0"/>
              </a:rPr>
              <a:t>“</a:t>
            </a:r>
            <a:r>
              <a:rPr lang="en-US" altLang="zh-CN" dirty="0"/>
              <a:t>have the same mother</a:t>
            </a:r>
            <a:r>
              <a:rPr lang="en-US" altLang="zh-CN" dirty="0">
                <a:latin typeface="Times New Roman" panose="02020603050405020304" pitchFamily="18" charset="0"/>
              </a:rPr>
              <a:t>”</a:t>
            </a:r>
            <a:r>
              <a:rPr lang="en-US" altLang="zh-CN" dirty="0"/>
              <a:t> is an </a:t>
            </a:r>
            <a:r>
              <a:rPr lang="en-US" altLang="zh-CN" dirty="0" err="1"/>
              <a:t>e.r.</a:t>
            </a:r>
            <a:endParaRPr lang="en-US" altLang="zh-CN" dirty="0"/>
          </a:p>
          <a:p>
            <a:pPr marL="457200" lvl="1" indent="0">
              <a:lnSpc>
                <a:spcPct val="150000"/>
              </a:lnSpc>
              <a:buNone/>
            </a:pPr>
            <a:endParaRPr lang="en-US" altLang="zh-CN" dirty="0"/>
          </a:p>
        </p:txBody>
      </p:sp>
    </p:spTree>
    <p:extLst>
      <p:ext uri="{BB962C8B-B14F-4D97-AF65-F5344CB8AC3E}">
        <p14:creationId xmlns:p14="http://schemas.microsoft.com/office/powerpoint/2010/main" val="34623590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9.5.2 </a:t>
            </a:r>
            <a:r>
              <a:rPr lang="en-US" altLang="zh-CN" sz="3200" dirty="0"/>
              <a:t>Equivalence Relations</a:t>
            </a:r>
            <a:endParaRPr lang="zh-CN" altLang="en-US" sz="3200" dirty="0"/>
          </a:p>
        </p:txBody>
      </p:sp>
      <p:sp>
        <p:nvSpPr>
          <p:cNvPr id="5" name="Text Box 3">
            <a:extLst>
              <a:ext uri="{FF2B5EF4-FFF2-40B4-BE49-F238E27FC236}">
                <a16:creationId xmlns:a16="http://schemas.microsoft.com/office/drawing/2014/main" id="{C207D04A-3978-4C56-AB29-D84CC60D7828}"/>
              </a:ext>
            </a:extLst>
          </p:cNvPr>
          <p:cNvSpPr txBox="1">
            <a:spLocks noChangeArrowheads="1"/>
          </p:cNvSpPr>
          <p:nvPr/>
        </p:nvSpPr>
        <p:spPr bwMode="auto">
          <a:xfrm>
            <a:off x="2080681" y="1479550"/>
            <a:ext cx="7315200" cy="3898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lang="en-US" altLang="zh-CN" sz="2400" dirty="0">
                <a:latin typeface="Times New Roman" panose="02020603050405020304" pitchFamily="18" charset="0"/>
              </a:rPr>
              <a:t> </a:t>
            </a:r>
            <a:r>
              <a:rPr lang="en-US" altLang="zh-CN" sz="2400" b="1" dirty="0">
                <a:latin typeface="Times New Roman" panose="02020603050405020304" pitchFamily="18" charset="0"/>
              </a:rPr>
              <a:t>[</a:t>
            </a:r>
            <a:r>
              <a:rPr lang="zh-CN" altLang="en-US" sz="2800" b="1" dirty="0">
                <a:latin typeface="隶书" pitchFamily="49" charset="-122"/>
                <a:ea typeface="隶书" pitchFamily="49" charset="-122"/>
              </a:rPr>
              <a:t>定义1]</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等价关系</a:t>
            </a:r>
            <a:r>
              <a:rPr lang="en-US" altLang="zh-CN" sz="2400" b="1" dirty="0">
                <a:latin typeface="Times New Roman" panose="02020603050405020304" pitchFamily="18" charset="0"/>
              </a:rPr>
              <a:t>:  </a:t>
            </a:r>
          </a:p>
          <a:p>
            <a:pPr algn="just" eaLnBrk="1" hangingPunct="1">
              <a:spcBef>
                <a:spcPct val="50000"/>
              </a:spcBef>
              <a:buFontTx/>
              <a:buNone/>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Ａ上的二元关系Ｒ，如果Ｒ是</a:t>
            </a:r>
          </a:p>
          <a:p>
            <a:pPr algn="just" eaLnBrk="1" hangingPunct="1">
              <a:spcBef>
                <a:spcPct val="50000"/>
              </a:spcBef>
              <a:buFontTx/>
              <a:buNone/>
            </a:pPr>
            <a:r>
              <a:rPr lang="zh-CN" altLang="en-US" sz="2400" b="1" dirty="0">
                <a:latin typeface="Times New Roman" panose="02020603050405020304" pitchFamily="18" charset="0"/>
              </a:rPr>
              <a:t>                       </a:t>
            </a:r>
            <a:r>
              <a:rPr lang="en-US" altLang="zh-CN" sz="2400" b="1" dirty="0">
                <a:latin typeface="Times New Roman" panose="02020603050405020304" pitchFamily="18" charset="0"/>
              </a:rPr>
              <a:t>(1</a:t>
            </a:r>
            <a:r>
              <a:rPr lang="zh-CN" altLang="en-US" sz="2400" b="1" dirty="0">
                <a:latin typeface="Times New Roman" panose="02020603050405020304" pitchFamily="18" charset="0"/>
              </a:rPr>
              <a:t>）自反的</a:t>
            </a:r>
          </a:p>
          <a:p>
            <a:pPr algn="just" eaLnBrk="1" hangingPunct="1">
              <a:spcBef>
                <a:spcPct val="50000"/>
              </a:spcBef>
              <a:buFontTx/>
              <a:buNone/>
            </a:pPr>
            <a:r>
              <a:rPr lang="zh-CN" altLang="en-US" sz="2400" b="1" dirty="0">
                <a:latin typeface="Times New Roman" panose="02020603050405020304" pitchFamily="18" charset="0"/>
              </a:rPr>
              <a:t>                       </a:t>
            </a:r>
            <a:r>
              <a:rPr lang="en-US" altLang="zh-CN" sz="2400" b="1" dirty="0">
                <a:latin typeface="Times New Roman" panose="02020603050405020304" pitchFamily="18" charset="0"/>
              </a:rPr>
              <a:t>(2</a:t>
            </a:r>
            <a:r>
              <a:rPr lang="zh-CN" altLang="en-US" sz="2400" b="1" dirty="0">
                <a:latin typeface="Times New Roman" panose="02020603050405020304" pitchFamily="18" charset="0"/>
              </a:rPr>
              <a:t>）对称的</a:t>
            </a:r>
          </a:p>
          <a:p>
            <a:pPr algn="just" eaLnBrk="1" hangingPunct="1">
              <a:spcBef>
                <a:spcPct val="50000"/>
              </a:spcBef>
              <a:buFontTx/>
              <a:buNone/>
            </a:pPr>
            <a:r>
              <a:rPr lang="zh-CN" altLang="en-US" sz="2400" b="1" dirty="0">
                <a:latin typeface="Times New Roman" panose="02020603050405020304" pitchFamily="18" charset="0"/>
              </a:rPr>
              <a:t>                       </a:t>
            </a:r>
            <a:r>
              <a:rPr lang="en-US" altLang="zh-CN" sz="2400" b="1" dirty="0">
                <a:latin typeface="Times New Roman" panose="02020603050405020304" pitchFamily="18" charset="0"/>
              </a:rPr>
              <a:t>(3)  </a:t>
            </a:r>
            <a:r>
              <a:rPr lang="zh-CN" altLang="en-US" sz="2400" b="1" dirty="0">
                <a:latin typeface="Times New Roman" panose="02020603050405020304" pitchFamily="18" charset="0"/>
              </a:rPr>
              <a:t>传递的</a:t>
            </a:r>
          </a:p>
          <a:p>
            <a:pPr algn="just" eaLnBrk="1" hangingPunct="1">
              <a:spcBef>
                <a:spcPct val="50000"/>
              </a:spcBef>
              <a:buFontTx/>
              <a:buNone/>
            </a:pPr>
            <a:r>
              <a:rPr lang="zh-CN" altLang="en-US" sz="2400" b="1" dirty="0">
                <a:latin typeface="Times New Roman" panose="02020603050405020304" pitchFamily="18" charset="0"/>
              </a:rPr>
              <a:t>  称Ｒ为</a:t>
            </a:r>
            <a:r>
              <a:rPr lang="zh-CN" altLang="en-US" sz="2400" b="1" dirty="0">
                <a:solidFill>
                  <a:schemeClr val="tx2"/>
                </a:solidFill>
                <a:latin typeface="Times New Roman" panose="02020603050405020304" pitchFamily="18" charset="0"/>
              </a:rPr>
              <a:t>等价关系</a:t>
            </a:r>
            <a:r>
              <a:rPr lang="en-US" altLang="zh-CN" sz="2400" b="1" dirty="0">
                <a:solidFill>
                  <a:schemeClr val="tx2"/>
                </a:solidFill>
                <a:latin typeface="Times New Roman" panose="02020603050405020304" pitchFamily="18" charset="0"/>
              </a:rPr>
              <a:t>/</a:t>
            </a:r>
            <a:r>
              <a:rPr lang="en-US" altLang="zh-CN" sz="2800" dirty="0">
                <a:solidFill>
                  <a:schemeClr val="tx2"/>
                </a:solidFill>
                <a:latin typeface="黑体" panose="02010609060101010101" pitchFamily="49" charset="-122"/>
                <a:ea typeface="黑体" panose="02010609060101010101" pitchFamily="49" charset="-122"/>
              </a:rPr>
              <a:t>Equivalence Relations</a:t>
            </a:r>
            <a:r>
              <a:rPr lang="en-US" altLang="zh-CN" sz="1800" dirty="0">
                <a:solidFill>
                  <a:schemeClr val="tx2"/>
                </a:solidFill>
                <a:latin typeface="黑体" panose="02010609060101010101" pitchFamily="49" charset="-122"/>
                <a:ea typeface="黑体" panose="02010609060101010101" pitchFamily="49" charset="-122"/>
              </a:rPr>
              <a:t> </a:t>
            </a:r>
            <a:r>
              <a:rPr lang="zh-CN" altLang="en-US" sz="1800" b="1" dirty="0">
                <a:solidFill>
                  <a:schemeClr val="tx2"/>
                </a:solidFill>
                <a:latin typeface="Times New Roman" panose="02020603050405020304" pitchFamily="18" charset="0"/>
              </a:rPr>
              <a:t>。</a:t>
            </a:r>
          </a:p>
          <a:p>
            <a:pPr algn="just" eaLnBrk="1" hangingPunct="1">
              <a:spcBef>
                <a:spcPct val="50000"/>
              </a:spcBef>
              <a:buFontTx/>
              <a:buNone/>
            </a:pPr>
            <a:r>
              <a:rPr lang="zh-CN" altLang="en-US" sz="2400" b="1" dirty="0">
                <a:latin typeface="Times New Roman" panose="02020603050405020304" pitchFamily="18" charset="0"/>
              </a:rPr>
              <a:t>（ａ，ｂ）∈Ｒ，称ａ与ｂ等价。</a:t>
            </a:r>
          </a:p>
        </p:txBody>
      </p:sp>
    </p:spTree>
    <p:extLst>
      <p:ext uri="{BB962C8B-B14F-4D97-AF65-F5344CB8AC3E}">
        <p14:creationId xmlns:p14="http://schemas.microsoft.com/office/powerpoint/2010/main" val="1448830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9.5.2 Equivalence Relations</a:t>
            </a:r>
            <a:endParaRPr lang="zh-CN" altLang="en-US" sz="3200" dirty="0"/>
          </a:p>
        </p:txBody>
      </p:sp>
      <p:sp>
        <p:nvSpPr>
          <p:cNvPr id="4" name="Rectangle 3">
            <a:extLst>
              <a:ext uri="{FF2B5EF4-FFF2-40B4-BE49-F238E27FC236}">
                <a16:creationId xmlns:a16="http://schemas.microsoft.com/office/drawing/2014/main" id="{8B46E076-8636-4CBB-8DD9-FB709008B5F0}"/>
              </a:ext>
            </a:extLst>
          </p:cNvPr>
          <p:cNvSpPr txBox="1">
            <a:spLocks noChangeArrowheads="1"/>
          </p:cNvSpPr>
          <p:nvPr/>
        </p:nvSpPr>
        <p:spPr bwMode="auto">
          <a:xfrm>
            <a:off x="152400" y="992997"/>
            <a:ext cx="11887199" cy="4872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a:lnSpc>
                <a:spcPct val="150000"/>
              </a:lnSpc>
            </a:pPr>
            <a:r>
              <a:rPr lang="en-US" altLang="zh-CN" dirty="0">
                <a:latin typeface="Times New Roman" panose="02020603050405020304" pitchFamily="18" charset="0"/>
              </a:rPr>
              <a:t>“</a:t>
            </a:r>
            <a:r>
              <a:rPr lang="en-US" altLang="zh-CN" dirty="0"/>
              <a:t>Strings </a:t>
            </a:r>
            <a:r>
              <a:rPr lang="en-US" altLang="zh-CN" i="1" dirty="0"/>
              <a:t>a</a:t>
            </a:r>
            <a:r>
              <a:rPr lang="en-US" altLang="zh-CN" dirty="0"/>
              <a:t> and </a:t>
            </a:r>
            <a:r>
              <a:rPr lang="en-US" altLang="zh-CN" i="1" dirty="0"/>
              <a:t>b</a:t>
            </a:r>
            <a:r>
              <a:rPr lang="en-US" altLang="zh-CN" dirty="0"/>
              <a:t> are the same length.</a:t>
            </a:r>
            <a:r>
              <a:rPr lang="en-US" altLang="zh-CN" dirty="0">
                <a:latin typeface="Times New Roman" panose="02020603050405020304" pitchFamily="18" charset="0"/>
              </a:rPr>
              <a:t>”</a:t>
            </a:r>
          </a:p>
          <a:p>
            <a:pPr>
              <a:lnSpc>
                <a:spcPct val="150000"/>
              </a:lnSpc>
            </a:pPr>
            <a:r>
              <a:rPr lang="en-US" altLang="zh-CN" dirty="0">
                <a:latin typeface="Times New Roman" panose="02020603050405020304" pitchFamily="18" charset="0"/>
              </a:rPr>
              <a:t>“</a:t>
            </a:r>
            <a:r>
              <a:rPr lang="en-US" altLang="zh-CN" dirty="0"/>
              <a:t>Integers </a:t>
            </a:r>
            <a:r>
              <a:rPr lang="en-US" altLang="zh-CN" i="1" dirty="0"/>
              <a:t>a</a:t>
            </a:r>
            <a:r>
              <a:rPr lang="en-US" altLang="zh-CN" dirty="0"/>
              <a:t> and </a:t>
            </a:r>
            <a:r>
              <a:rPr lang="en-US" altLang="zh-CN" i="1" dirty="0"/>
              <a:t>b</a:t>
            </a:r>
            <a:r>
              <a:rPr lang="en-US" altLang="zh-CN" dirty="0"/>
              <a:t> have the same absolute value</a:t>
            </a:r>
            <a:r>
              <a:rPr lang="zh-CN" altLang="en-US" dirty="0"/>
              <a:t>（绝对值）</a:t>
            </a:r>
            <a:r>
              <a:rPr lang="en-US" altLang="zh-CN" dirty="0"/>
              <a:t>.</a:t>
            </a:r>
            <a:r>
              <a:rPr lang="en-US" altLang="zh-CN" dirty="0">
                <a:latin typeface="Times New Roman" panose="02020603050405020304" pitchFamily="18" charset="0"/>
              </a:rPr>
              <a:t>”</a:t>
            </a:r>
            <a:endParaRPr lang="en-US" altLang="zh-CN" dirty="0"/>
          </a:p>
          <a:p>
            <a:pPr>
              <a:lnSpc>
                <a:spcPct val="150000"/>
              </a:lnSpc>
            </a:pPr>
            <a:r>
              <a:rPr lang="en-US" altLang="zh-CN" dirty="0">
                <a:latin typeface="Times New Roman" panose="02020603050405020304" pitchFamily="18" charset="0"/>
              </a:rPr>
              <a:t>“</a:t>
            </a:r>
            <a:r>
              <a:rPr lang="en-US" altLang="zh-CN" dirty="0"/>
              <a:t>Real numbers </a:t>
            </a:r>
            <a:r>
              <a:rPr lang="en-US" altLang="zh-CN" i="1" dirty="0"/>
              <a:t>a</a:t>
            </a:r>
            <a:r>
              <a:rPr lang="en-US" altLang="zh-CN" dirty="0"/>
              <a:t> and </a:t>
            </a:r>
            <a:r>
              <a:rPr lang="en-US" altLang="zh-CN" i="1" dirty="0"/>
              <a:t>b</a:t>
            </a:r>
            <a:r>
              <a:rPr lang="en-US" altLang="zh-CN" dirty="0"/>
              <a:t> have the same fractional part.</a:t>
            </a:r>
            <a:r>
              <a:rPr lang="en-US" altLang="zh-CN" dirty="0">
                <a:latin typeface="Times New Roman" panose="02020603050405020304" pitchFamily="18" charset="0"/>
              </a:rPr>
              <a:t>”</a:t>
            </a:r>
            <a:r>
              <a:rPr lang="en-US" altLang="zh-CN" dirty="0"/>
              <a:t> </a:t>
            </a:r>
          </a:p>
          <a:p>
            <a:pPr lvl="1">
              <a:lnSpc>
                <a:spcPct val="150000"/>
              </a:lnSpc>
            </a:pPr>
            <a:r>
              <a:rPr lang="en-US" altLang="zh-CN" dirty="0">
                <a:solidFill>
                  <a:schemeClr val="accent2"/>
                </a:solidFill>
              </a:rPr>
              <a:t>(</a:t>
            </a:r>
            <a:r>
              <a:rPr lang="en-US" altLang="zh-CN" i="1" dirty="0">
                <a:solidFill>
                  <a:schemeClr val="accent2"/>
                </a:solidFill>
              </a:rPr>
              <a:t>i.e.</a:t>
            </a:r>
            <a:r>
              <a:rPr lang="en-US" altLang="zh-CN" dirty="0">
                <a:solidFill>
                  <a:schemeClr val="accent2"/>
                </a:solidFill>
              </a:rPr>
              <a:t>, </a:t>
            </a:r>
            <a:r>
              <a:rPr lang="en-US" altLang="zh-CN" i="1" dirty="0">
                <a:solidFill>
                  <a:srgbClr val="FF0000"/>
                </a:solidFill>
              </a:rPr>
              <a:t>a</a:t>
            </a:r>
            <a:r>
              <a:rPr lang="en-US" altLang="zh-CN" dirty="0">
                <a:solidFill>
                  <a:srgbClr val="FF0000"/>
                </a:solidFill>
              </a:rPr>
              <a:t> </a:t>
            </a:r>
            <a:r>
              <a:rPr lang="en-US" altLang="zh-CN" dirty="0">
                <a:solidFill>
                  <a:srgbClr val="FF0000"/>
                </a:solidFill>
                <a:cs typeface="Times New Roman" panose="02020603050405020304" pitchFamily="18" charset="0"/>
              </a:rPr>
              <a:t>− </a:t>
            </a:r>
            <a:r>
              <a:rPr lang="en-US" altLang="zh-CN" i="1" dirty="0">
                <a:solidFill>
                  <a:srgbClr val="FF0000"/>
                </a:solidFill>
                <a:cs typeface="Times New Roman" panose="02020603050405020304" pitchFamily="18" charset="0"/>
              </a:rPr>
              <a:t>b</a:t>
            </a:r>
            <a:r>
              <a:rPr lang="en-US" altLang="zh-CN" dirty="0">
                <a:solidFill>
                  <a:srgbClr val="FF0000"/>
                </a:solidFill>
                <a:cs typeface="Times New Roman" panose="02020603050405020304" pitchFamily="18" charset="0"/>
              </a:rPr>
              <a:t> </a:t>
            </a:r>
            <a:r>
              <a:rPr lang="en-US" altLang="zh-CN" dirty="0">
                <a:solidFill>
                  <a:srgbClr val="FF0000"/>
                </a:solidFill>
                <a:cs typeface="Times New Roman" panose="02020603050405020304" pitchFamily="18" charset="0"/>
                <a:sym typeface="Symbol" panose="05050102010706020507" pitchFamily="18" charset="2"/>
              </a:rPr>
              <a:t> </a:t>
            </a:r>
            <a:r>
              <a:rPr lang="en-US" altLang="zh-CN" b="1" dirty="0">
                <a:solidFill>
                  <a:srgbClr val="FF0000"/>
                </a:solidFill>
                <a:cs typeface="Times New Roman" panose="02020603050405020304" pitchFamily="18" charset="0"/>
                <a:sym typeface="Symbol" panose="05050102010706020507" pitchFamily="18" charset="2"/>
              </a:rPr>
              <a:t>Z</a:t>
            </a:r>
            <a:r>
              <a:rPr lang="en-US" altLang="zh-CN" dirty="0">
                <a:solidFill>
                  <a:schemeClr val="accent2"/>
                </a:solidFill>
                <a:cs typeface="Times New Roman" panose="02020603050405020304" pitchFamily="18" charset="0"/>
                <a:sym typeface="Symbol" panose="05050102010706020507" pitchFamily="18" charset="2"/>
              </a:rPr>
              <a:t>)</a:t>
            </a:r>
          </a:p>
          <a:p>
            <a:pPr>
              <a:lnSpc>
                <a:spcPct val="150000"/>
              </a:lnSpc>
            </a:pP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cs typeface="Times New Roman" panose="02020603050405020304" pitchFamily="18" charset="0"/>
                <a:sym typeface="Symbol" panose="05050102010706020507" pitchFamily="18" charset="2"/>
              </a:rPr>
              <a:t>Integers </a:t>
            </a:r>
            <a:r>
              <a:rPr lang="en-US" altLang="zh-CN" i="1" dirty="0">
                <a:cs typeface="Times New Roman" panose="02020603050405020304" pitchFamily="18" charset="0"/>
                <a:sym typeface="Symbol" panose="05050102010706020507" pitchFamily="18" charset="2"/>
              </a:rPr>
              <a:t>a</a:t>
            </a:r>
            <a:r>
              <a:rPr lang="en-US" altLang="zh-CN" dirty="0">
                <a:cs typeface="Times New Roman" panose="02020603050405020304" pitchFamily="18" charset="0"/>
                <a:sym typeface="Symbol" panose="05050102010706020507" pitchFamily="18" charset="2"/>
              </a:rPr>
              <a:t> and </a:t>
            </a:r>
            <a:r>
              <a:rPr lang="en-US" altLang="zh-CN" i="1" dirty="0">
                <a:cs typeface="Times New Roman" panose="02020603050405020304" pitchFamily="18" charset="0"/>
                <a:sym typeface="Symbol" panose="05050102010706020507" pitchFamily="18" charset="2"/>
              </a:rPr>
              <a:t>b</a:t>
            </a:r>
            <a:r>
              <a:rPr lang="en-US" altLang="zh-CN" dirty="0">
                <a:cs typeface="Times New Roman" panose="02020603050405020304" pitchFamily="18" charset="0"/>
                <a:sym typeface="Symbol" panose="05050102010706020507" pitchFamily="18" charset="2"/>
              </a:rPr>
              <a:t> have the same residue modulo </a:t>
            </a:r>
            <a:r>
              <a:rPr lang="en-US" altLang="zh-CN" i="1" dirty="0">
                <a:cs typeface="Times New Roman" panose="02020603050405020304" pitchFamily="18" charset="0"/>
                <a:sym typeface="Symbol" panose="05050102010706020507" pitchFamily="18" charset="2"/>
              </a:rPr>
              <a:t>m</a:t>
            </a:r>
            <a:r>
              <a:rPr lang="en-US" altLang="zh-CN" dirty="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cs typeface="Times New Roman" panose="02020603050405020304" pitchFamily="18" charset="0"/>
                <a:sym typeface="Symbol" panose="05050102010706020507" pitchFamily="18" charset="2"/>
              </a:rPr>
              <a:t>  </a:t>
            </a:r>
          </a:p>
          <a:p>
            <a:pPr lvl="1">
              <a:lnSpc>
                <a:spcPct val="150000"/>
              </a:lnSpc>
            </a:pPr>
            <a:r>
              <a:rPr lang="en-US" altLang="zh-CN" dirty="0">
                <a:solidFill>
                  <a:schemeClr val="accent2"/>
                </a:solidFill>
                <a:cs typeface="Times New Roman" panose="02020603050405020304" pitchFamily="18" charset="0"/>
                <a:sym typeface="Symbol" panose="05050102010706020507" pitchFamily="18" charset="2"/>
              </a:rPr>
              <a:t>(for a given </a:t>
            </a:r>
            <a:r>
              <a:rPr lang="en-US" altLang="zh-CN" i="1" dirty="0">
                <a:solidFill>
                  <a:srgbClr val="FF0000"/>
                </a:solidFill>
                <a:cs typeface="Times New Roman" panose="02020603050405020304" pitchFamily="18" charset="0"/>
                <a:sym typeface="Symbol" panose="05050102010706020507" pitchFamily="18" charset="2"/>
              </a:rPr>
              <a:t>m</a:t>
            </a:r>
            <a:r>
              <a:rPr lang="en-US" altLang="zh-CN" dirty="0">
                <a:solidFill>
                  <a:srgbClr val="FF0000"/>
                </a:solidFill>
                <a:cs typeface="Times New Roman" panose="02020603050405020304" pitchFamily="18" charset="0"/>
                <a:sym typeface="Symbol" panose="05050102010706020507" pitchFamily="18" charset="2"/>
              </a:rPr>
              <a:t>&gt;1</a:t>
            </a:r>
            <a:r>
              <a:rPr lang="en-US" altLang="zh-CN" dirty="0">
                <a:solidFill>
                  <a:schemeClr val="accent2"/>
                </a:solidFill>
                <a:cs typeface="Times New Roman" panose="02020603050405020304" pitchFamily="18" charset="0"/>
                <a:sym typeface="Symbol" panose="05050102010706020507" pitchFamily="18" charset="2"/>
              </a:rPr>
              <a:t>)</a:t>
            </a:r>
            <a:endParaRPr lang="en-US" altLang="zh-CN" dirty="0">
              <a:solidFill>
                <a:schemeClr val="accent2"/>
              </a:solidFill>
            </a:endParaRPr>
          </a:p>
        </p:txBody>
      </p:sp>
    </p:spTree>
    <p:extLst>
      <p:ext uri="{BB962C8B-B14F-4D97-AF65-F5344CB8AC3E}">
        <p14:creationId xmlns:p14="http://schemas.microsoft.com/office/powerpoint/2010/main" val="33886006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9.5.3 Equivalence </a:t>
            </a:r>
            <a:r>
              <a:rPr lang="en-US" altLang="zh-CN" sz="3200" dirty="0"/>
              <a:t>Classes</a:t>
            </a:r>
            <a:endParaRPr lang="zh-CN" altLang="en-US" sz="3200" dirty="0"/>
          </a:p>
        </p:txBody>
      </p:sp>
      <p:sp>
        <p:nvSpPr>
          <p:cNvPr id="4" name="Rectangle 3">
            <a:extLst>
              <a:ext uri="{FF2B5EF4-FFF2-40B4-BE49-F238E27FC236}">
                <a16:creationId xmlns:a16="http://schemas.microsoft.com/office/drawing/2014/main" id="{8B46E076-8636-4CBB-8DD9-FB709008B5F0}"/>
              </a:ext>
            </a:extLst>
          </p:cNvPr>
          <p:cNvSpPr txBox="1">
            <a:spLocks noChangeArrowheads="1"/>
          </p:cNvSpPr>
          <p:nvPr/>
        </p:nvSpPr>
        <p:spPr bwMode="auto">
          <a:xfrm>
            <a:off x="568234" y="739754"/>
            <a:ext cx="1105553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eaLnBrk="1" hangingPunct="1">
              <a:lnSpc>
                <a:spcPct val="150000"/>
              </a:lnSpc>
            </a:pPr>
            <a:r>
              <a:rPr lang="en-US" altLang="zh-CN" sz="2800" dirty="0"/>
              <a:t>Let </a:t>
            </a:r>
            <a:r>
              <a:rPr lang="en-US" altLang="zh-CN" sz="2800" i="1" dirty="0"/>
              <a:t>R</a:t>
            </a:r>
            <a:r>
              <a:rPr lang="en-US" altLang="zh-CN" sz="2800" dirty="0"/>
              <a:t> be any equiv. rel. on a set </a:t>
            </a:r>
            <a:r>
              <a:rPr lang="en-US" altLang="zh-CN" sz="2800" i="1" dirty="0"/>
              <a:t>A</a:t>
            </a:r>
            <a:r>
              <a:rPr lang="en-US" altLang="zh-CN" sz="2800" dirty="0"/>
              <a:t>.</a:t>
            </a:r>
          </a:p>
          <a:p>
            <a:pPr>
              <a:lnSpc>
                <a:spcPct val="150000"/>
              </a:lnSpc>
            </a:pPr>
            <a:r>
              <a:rPr lang="en-US" altLang="zh-CN" sz="2800" dirty="0"/>
              <a:t>The </a:t>
            </a:r>
            <a:r>
              <a:rPr lang="en-US" altLang="zh-CN" sz="2800" i="1" dirty="0"/>
              <a:t>equivalence class</a:t>
            </a:r>
            <a:r>
              <a:rPr lang="en-US" altLang="zh-CN" sz="2800" dirty="0"/>
              <a:t> of </a:t>
            </a:r>
            <a:r>
              <a:rPr lang="en-US" altLang="zh-CN" sz="2800" i="1" dirty="0"/>
              <a:t>a</a:t>
            </a:r>
            <a:r>
              <a:rPr lang="en-US" altLang="zh-CN" sz="2800" dirty="0"/>
              <a:t>,</a:t>
            </a:r>
            <a:br>
              <a:rPr lang="en-US" altLang="zh-CN" sz="3200" dirty="0"/>
            </a:br>
            <a:r>
              <a:rPr lang="en-US" altLang="zh-CN" sz="3200" dirty="0"/>
              <a:t>	</a:t>
            </a:r>
            <a:r>
              <a:rPr lang="en-US" altLang="zh-CN" sz="2800" dirty="0">
                <a:solidFill>
                  <a:srgbClr val="FF0000"/>
                </a:solidFill>
              </a:rPr>
              <a:t>[</a:t>
            </a:r>
            <a:r>
              <a:rPr lang="en-US" altLang="zh-CN" sz="2800" i="1" dirty="0">
                <a:solidFill>
                  <a:srgbClr val="FF0000"/>
                </a:solidFill>
              </a:rPr>
              <a:t>a</a:t>
            </a:r>
            <a:r>
              <a:rPr lang="en-US" altLang="zh-CN" sz="2800" dirty="0">
                <a:solidFill>
                  <a:srgbClr val="FF0000"/>
                </a:solidFill>
              </a:rPr>
              <a:t>]</a:t>
            </a:r>
            <a:r>
              <a:rPr lang="en-US" altLang="zh-CN" sz="2800" i="1" baseline="-25000" dirty="0">
                <a:solidFill>
                  <a:srgbClr val="FF0000"/>
                </a:solidFill>
              </a:rPr>
              <a:t>R</a:t>
            </a:r>
            <a:r>
              <a:rPr lang="en-US" altLang="zh-CN" sz="2800" dirty="0">
                <a:solidFill>
                  <a:srgbClr val="FF0000"/>
                </a:solidFill>
              </a:rPr>
              <a:t> :</a:t>
            </a:r>
            <a:r>
              <a:rPr lang="en-US" altLang="zh-CN" sz="2800" dirty="0">
                <a:solidFill>
                  <a:srgbClr val="FF0000"/>
                </a:solidFill>
                <a:cs typeface="Times New Roman" panose="02020603050405020304" pitchFamily="18" charset="0"/>
              </a:rPr>
              <a:t>≡ { </a:t>
            </a:r>
            <a:r>
              <a:rPr lang="en-US" altLang="zh-CN" sz="2800" i="1" dirty="0">
                <a:solidFill>
                  <a:srgbClr val="FF0000"/>
                </a:solidFill>
                <a:cs typeface="Times New Roman" panose="02020603050405020304" pitchFamily="18" charset="0"/>
              </a:rPr>
              <a:t>b</a:t>
            </a:r>
            <a:r>
              <a:rPr lang="en-US" altLang="zh-CN" sz="2800" dirty="0">
                <a:solidFill>
                  <a:srgbClr val="FF0000"/>
                </a:solidFill>
                <a:cs typeface="Times New Roman" panose="02020603050405020304" pitchFamily="18" charset="0"/>
              </a:rPr>
              <a:t> | </a:t>
            </a:r>
            <a:r>
              <a:rPr lang="en-US" altLang="zh-CN" sz="2800" i="1" dirty="0" err="1">
                <a:solidFill>
                  <a:srgbClr val="FF0000"/>
                </a:solidFill>
                <a:cs typeface="Times New Roman" panose="02020603050405020304" pitchFamily="18" charset="0"/>
              </a:rPr>
              <a:t>aRb</a:t>
            </a:r>
            <a:r>
              <a:rPr lang="en-US" altLang="zh-CN" sz="2800" dirty="0">
                <a:solidFill>
                  <a:srgbClr val="FF0000"/>
                </a:solidFill>
                <a:cs typeface="Times New Roman" panose="02020603050405020304" pitchFamily="18" charset="0"/>
              </a:rPr>
              <a:t> }</a:t>
            </a:r>
            <a:r>
              <a:rPr lang="en-US" altLang="zh-CN" sz="2800" dirty="0">
                <a:cs typeface="Times New Roman" panose="02020603050405020304" pitchFamily="18" charset="0"/>
              </a:rPr>
              <a:t>	    (optional subscript </a:t>
            </a:r>
            <a:r>
              <a:rPr lang="en-US" altLang="zh-CN" sz="2800" i="1" dirty="0">
                <a:cs typeface="Times New Roman" panose="02020603050405020304" pitchFamily="18" charset="0"/>
              </a:rPr>
              <a:t>R</a:t>
            </a:r>
            <a:r>
              <a:rPr lang="en-US" altLang="zh-CN" sz="2800" dirty="0">
                <a:cs typeface="Times New Roman" panose="02020603050405020304" pitchFamily="18" charset="0"/>
              </a:rPr>
              <a:t>)</a:t>
            </a:r>
          </a:p>
          <a:p>
            <a:pPr lvl="1">
              <a:lnSpc>
                <a:spcPct val="150000"/>
              </a:lnSpc>
            </a:pPr>
            <a:r>
              <a:rPr lang="en-US" altLang="zh-CN" dirty="0">
                <a:cs typeface="Times New Roman" panose="02020603050405020304" pitchFamily="18" charset="0"/>
              </a:rPr>
              <a:t>It is the set of all elements of </a:t>
            </a:r>
            <a:r>
              <a:rPr lang="en-US" altLang="zh-CN" i="1" dirty="0">
                <a:cs typeface="Times New Roman" panose="02020603050405020304" pitchFamily="18" charset="0"/>
              </a:rPr>
              <a:t>A</a:t>
            </a:r>
            <a:r>
              <a:rPr lang="en-US" altLang="zh-CN" dirty="0">
                <a:cs typeface="Times New Roman" panose="02020603050405020304" pitchFamily="18" charset="0"/>
              </a:rPr>
              <a:t> that are </a:t>
            </a:r>
            <a:r>
              <a:rPr lang="en-US" altLang="zh-CN" dirty="0">
                <a:latin typeface="Times New Roman" panose="02020603050405020304" pitchFamily="18" charset="0"/>
                <a:cs typeface="Times New Roman" panose="02020603050405020304" pitchFamily="18" charset="0"/>
              </a:rPr>
              <a:t>“</a:t>
            </a:r>
            <a:r>
              <a:rPr lang="en-US" altLang="zh-CN" dirty="0">
                <a:cs typeface="Times New Roman" panose="02020603050405020304" pitchFamily="18" charset="0"/>
              </a:rPr>
              <a:t>equivalent</a:t>
            </a:r>
            <a:r>
              <a:rPr lang="en-US" altLang="zh-CN" dirty="0">
                <a:latin typeface="Times New Roman" panose="02020603050405020304" pitchFamily="18" charset="0"/>
                <a:cs typeface="Times New Roman" panose="02020603050405020304" pitchFamily="18" charset="0"/>
              </a:rPr>
              <a:t>”</a:t>
            </a:r>
            <a:r>
              <a:rPr lang="en-US" altLang="zh-CN" dirty="0">
                <a:cs typeface="Times New Roman" panose="02020603050405020304" pitchFamily="18" charset="0"/>
              </a:rPr>
              <a:t> to </a:t>
            </a:r>
            <a:r>
              <a:rPr lang="en-US" altLang="zh-CN" i="1" dirty="0">
                <a:cs typeface="Times New Roman" panose="02020603050405020304" pitchFamily="18" charset="0"/>
              </a:rPr>
              <a:t>a</a:t>
            </a:r>
            <a:r>
              <a:rPr lang="en-US" altLang="zh-CN" dirty="0">
                <a:cs typeface="Times New Roman" panose="02020603050405020304" pitchFamily="18" charset="0"/>
              </a:rPr>
              <a:t> according to the </a:t>
            </a:r>
            <a:r>
              <a:rPr lang="en-US" altLang="zh-CN" dirty="0" err="1">
                <a:cs typeface="Times New Roman" panose="02020603050405020304" pitchFamily="18" charset="0"/>
              </a:rPr>
              <a:t>eq.rel</a:t>
            </a:r>
            <a:r>
              <a:rPr lang="en-US" altLang="zh-CN" dirty="0">
                <a:cs typeface="Times New Roman" panose="02020603050405020304" pitchFamily="18" charset="0"/>
              </a:rPr>
              <a:t>. </a:t>
            </a:r>
            <a:r>
              <a:rPr lang="en-US" altLang="zh-CN" i="1" dirty="0">
                <a:cs typeface="Times New Roman" panose="02020603050405020304" pitchFamily="18" charset="0"/>
              </a:rPr>
              <a:t>R</a:t>
            </a:r>
            <a:r>
              <a:rPr lang="en-US" altLang="zh-CN" dirty="0">
                <a:cs typeface="Times New Roman" panose="02020603050405020304" pitchFamily="18" charset="0"/>
              </a:rPr>
              <a:t>.</a:t>
            </a:r>
            <a:endParaRPr lang="en-US" altLang="zh-CN" sz="2400" kern="0" dirty="0"/>
          </a:p>
          <a:p>
            <a:pPr lvl="1" eaLnBrk="1" hangingPunct="1">
              <a:lnSpc>
                <a:spcPct val="150000"/>
              </a:lnSpc>
            </a:pPr>
            <a:r>
              <a:rPr lang="en-US" altLang="zh-CN" dirty="0">
                <a:cs typeface="Times New Roman" panose="02020603050405020304" pitchFamily="18" charset="0"/>
              </a:rPr>
              <a:t>Each such </a:t>
            </a:r>
            <a:r>
              <a:rPr lang="en-US" altLang="zh-CN" i="1" dirty="0">
                <a:cs typeface="Times New Roman" panose="02020603050405020304" pitchFamily="18" charset="0"/>
              </a:rPr>
              <a:t>b</a:t>
            </a:r>
            <a:r>
              <a:rPr lang="en-US" altLang="zh-CN" dirty="0">
                <a:cs typeface="Times New Roman" panose="02020603050405020304" pitchFamily="18" charset="0"/>
              </a:rPr>
              <a:t> (including </a:t>
            </a:r>
            <a:r>
              <a:rPr lang="en-US" altLang="zh-CN" i="1" dirty="0">
                <a:cs typeface="Times New Roman" panose="02020603050405020304" pitchFamily="18" charset="0"/>
              </a:rPr>
              <a:t>a</a:t>
            </a:r>
            <a:r>
              <a:rPr lang="en-US" altLang="zh-CN" dirty="0">
                <a:cs typeface="Times New Roman" panose="02020603050405020304" pitchFamily="18" charset="0"/>
              </a:rPr>
              <a:t> itself) is called a </a:t>
            </a:r>
            <a:r>
              <a:rPr lang="en-US" altLang="zh-CN" i="1" dirty="0">
                <a:cs typeface="Times New Roman" panose="02020603050405020304" pitchFamily="18" charset="0"/>
              </a:rPr>
              <a:t>representative</a:t>
            </a:r>
            <a:r>
              <a:rPr lang="zh-CN" altLang="en-US" i="1" dirty="0">
                <a:cs typeface="Times New Roman" panose="02020603050405020304" pitchFamily="18" charset="0"/>
              </a:rPr>
              <a:t>（代表元）</a:t>
            </a:r>
            <a:r>
              <a:rPr lang="en-US" altLang="zh-CN" dirty="0">
                <a:cs typeface="Times New Roman" panose="02020603050405020304" pitchFamily="18" charset="0"/>
              </a:rPr>
              <a:t> of [</a:t>
            </a:r>
            <a:r>
              <a:rPr lang="en-US" altLang="zh-CN" i="1" dirty="0">
                <a:cs typeface="Times New Roman" panose="02020603050405020304" pitchFamily="18" charset="0"/>
              </a:rPr>
              <a:t>a</a:t>
            </a:r>
            <a:r>
              <a:rPr lang="en-US" altLang="zh-CN" dirty="0">
                <a:cs typeface="Times New Roman" panose="02020603050405020304" pitchFamily="18" charset="0"/>
              </a:rPr>
              <a:t>]</a:t>
            </a:r>
            <a:r>
              <a:rPr lang="en-US" altLang="zh-CN" i="1" baseline="-25000" dirty="0">
                <a:cs typeface="Times New Roman" panose="02020603050405020304" pitchFamily="18" charset="0"/>
              </a:rPr>
              <a:t>R</a:t>
            </a:r>
            <a:r>
              <a:rPr lang="en-US" altLang="zh-CN" dirty="0">
                <a:cs typeface="Times New Roman" panose="02020603050405020304" pitchFamily="18" charset="0"/>
              </a:rPr>
              <a:t>.</a:t>
            </a:r>
          </a:p>
        </p:txBody>
      </p:sp>
    </p:spTree>
    <p:extLst>
      <p:ext uri="{BB962C8B-B14F-4D97-AF65-F5344CB8AC3E}">
        <p14:creationId xmlns:p14="http://schemas.microsoft.com/office/powerpoint/2010/main" val="23793626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9.5.3 Equivalence </a:t>
            </a:r>
            <a:r>
              <a:rPr lang="en-US" altLang="zh-CN" sz="3200" dirty="0"/>
              <a:t>Classes</a:t>
            </a:r>
            <a:endParaRPr lang="zh-CN" altLang="en-US" sz="3200" dirty="0"/>
          </a:p>
        </p:txBody>
      </p:sp>
      <p:sp>
        <p:nvSpPr>
          <p:cNvPr id="4" name="Rectangle 3">
            <a:extLst>
              <a:ext uri="{FF2B5EF4-FFF2-40B4-BE49-F238E27FC236}">
                <a16:creationId xmlns:a16="http://schemas.microsoft.com/office/drawing/2014/main" id="{8B46E076-8636-4CBB-8DD9-FB709008B5F0}"/>
              </a:ext>
            </a:extLst>
          </p:cNvPr>
          <p:cNvSpPr txBox="1">
            <a:spLocks noChangeArrowheads="1"/>
          </p:cNvSpPr>
          <p:nvPr/>
        </p:nvSpPr>
        <p:spPr bwMode="auto">
          <a:xfrm>
            <a:off x="568234" y="739754"/>
            <a:ext cx="1105553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a:lnSpc>
                <a:spcPct val="150000"/>
              </a:lnSpc>
            </a:pPr>
            <a:r>
              <a:rPr lang="en-US" altLang="zh-CN" sz="2800">
                <a:cs typeface="Times New Roman" panose="02020603050405020304" pitchFamily="18" charset="0"/>
              </a:rPr>
              <a:t>Since </a:t>
            </a:r>
            <a:r>
              <a:rPr lang="en-US" altLang="zh-CN" sz="2800" i="1" dirty="0">
                <a:solidFill>
                  <a:srgbClr val="FF0000"/>
                </a:solidFill>
                <a:cs typeface="Times New Roman" panose="02020603050405020304" pitchFamily="18" charset="0"/>
              </a:rPr>
              <a:t>f</a:t>
            </a:r>
            <a:r>
              <a:rPr lang="en-US" altLang="zh-CN" sz="2800" dirty="0">
                <a:solidFill>
                  <a:srgbClr val="FF0000"/>
                </a:solidFill>
                <a:cs typeface="Times New Roman" panose="02020603050405020304" pitchFamily="18" charset="0"/>
              </a:rPr>
              <a:t>(</a:t>
            </a:r>
            <a:r>
              <a:rPr lang="en-US" altLang="zh-CN" sz="2800" i="1" dirty="0">
                <a:solidFill>
                  <a:srgbClr val="FF0000"/>
                </a:solidFill>
                <a:cs typeface="Times New Roman" panose="02020603050405020304" pitchFamily="18" charset="0"/>
              </a:rPr>
              <a:t>a</a:t>
            </a:r>
            <a:r>
              <a:rPr lang="en-US" altLang="zh-CN" sz="2800" dirty="0">
                <a:solidFill>
                  <a:srgbClr val="FF0000"/>
                </a:solidFill>
                <a:cs typeface="Times New Roman" panose="02020603050405020304" pitchFamily="18" charset="0"/>
              </a:rPr>
              <a:t>)=</a:t>
            </a:r>
            <a:r>
              <a:rPr lang="en-US" altLang="zh-CN" sz="2800" dirty="0">
                <a:solidFill>
                  <a:srgbClr val="FF0000"/>
                </a:solidFill>
              </a:rPr>
              <a:t>[</a:t>
            </a:r>
            <a:r>
              <a:rPr lang="en-US" altLang="zh-CN" sz="2800" i="1" dirty="0">
                <a:solidFill>
                  <a:srgbClr val="FF0000"/>
                </a:solidFill>
              </a:rPr>
              <a:t>a</a:t>
            </a:r>
            <a:r>
              <a:rPr lang="en-US" altLang="zh-CN" sz="2800" dirty="0">
                <a:solidFill>
                  <a:srgbClr val="FF0000"/>
                </a:solidFill>
              </a:rPr>
              <a:t>]</a:t>
            </a:r>
            <a:r>
              <a:rPr lang="en-US" altLang="zh-CN" sz="2800" i="1" baseline="-25000" dirty="0">
                <a:solidFill>
                  <a:srgbClr val="FF0000"/>
                </a:solidFill>
              </a:rPr>
              <a:t>R</a:t>
            </a:r>
            <a:r>
              <a:rPr lang="en-US" altLang="zh-CN" sz="2800" i="1" dirty="0"/>
              <a:t> </a:t>
            </a:r>
            <a:r>
              <a:rPr lang="en-US" altLang="zh-CN" sz="2800" dirty="0"/>
              <a:t>is a function of </a:t>
            </a:r>
            <a:r>
              <a:rPr lang="en-US" altLang="zh-CN" sz="2800" i="1" dirty="0"/>
              <a:t>a</a:t>
            </a:r>
            <a:r>
              <a:rPr lang="en-US" altLang="zh-CN" sz="2800" dirty="0"/>
              <a:t>,  any equivalence relation </a:t>
            </a:r>
            <a:r>
              <a:rPr lang="en-US" altLang="zh-CN" sz="2800" i="1" dirty="0"/>
              <a:t>R </a:t>
            </a:r>
            <a:r>
              <a:rPr lang="en-US" altLang="zh-CN" sz="2800" dirty="0"/>
              <a:t>can be defined using </a:t>
            </a:r>
            <a:br>
              <a:rPr lang="en-US" altLang="zh-CN" sz="2800" dirty="0"/>
            </a:br>
            <a:r>
              <a:rPr lang="en-US" altLang="zh-CN" sz="2800" i="1" dirty="0" err="1">
                <a:solidFill>
                  <a:srgbClr val="FF0000"/>
                </a:solidFill>
              </a:rPr>
              <a:t>aRb</a:t>
            </a:r>
            <a:r>
              <a:rPr lang="en-US" altLang="zh-CN" sz="2800" dirty="0">
                <a:solidFill>
                  <a:srgbClr val="FF0000"/>
                </a:solidFill>
              </a:rPr>
              <a:t> :≡ </a:t>
            </a:r>
            <a:r>
              <a:rPr lang="en-US" altLang="zh-CN" sz="2800" dirty="0">
                <a:solidFill>
                  <a:srgbClr val="FF0000"/>
                </a:solidFill>
                <a:latin typeface="Times New Roman" panose="02020603050405020304" pitchFamily="18" charset="0"/>
              </a:rPr>
              <a:t>“</a:t>
            </a:r>
            <a:r>
              <a:rPr lang="en-US" altLang="zh-CN" sz="2800" i="1" dirty="0">
                <a:solidFill>
                  <a:srgbClr val="FF0000"/>
                </a:solidFill>
              </a:rPr>
              <a:t>a</a:t>
            </a:r>
            <a:r>
              <a:rPr lang="en-US" altLang="zh-CN" sz="2800" dirty="0">
                <a:solidFill>
                  <a:srgbClr val="FF0000"/>
                </a:solidFill>
              </a:rPr>
              <a:t> and </a:t>
            </a:r>
            <a:r>
              <a:rPr lang="en-US" altLang="zh-CN" sz="2800" i="1" dirty="0">
                <a:solidFill>
                  <a:srgbClr val="FF0000"/>
                </a:solidFill>
              </a:rPr>
              <a:t>b</a:t>
            </a:r>
            <a:r>
              <a:rPr lang="en-US" altLang="zh-CN" sz="2800" dirty="0">
                <a:solidFill>
                  <a:srgbClr val="FF0000"/>
                </a:solidFill>
              </a:rPr>
              <a:t> have the same </a:t>
            </a:r>
            <a:r>
              <a:rPr lang="en-US" altLang="zh-CN" sz="2800" i="1" dirty="0">
                <a:solidFill>
                  <a:srgbClr val="FF0000"/>
                </a:solidFill>
              </a:rPr>
              <a:t>f</a:t>
            </a:r>
            <a:r>
              <a:rPr lang="en-US" altLang="zh-CN" sz="2800" dirty="0">
                <a:solidFill>
                  <a:srgbClr val="FF0000"/>
                </a:solidFill>
              </a:rPr>
              <a:t> value</a:t>
            </a:r>
            <a:r>
              <a:rPr lang="en-US" altLang="zh-CN" sz="2800" dirty="0">
                <a:solidFill>
                  <a:srgbClr val="FF0000"/>
                </a:solidFill>
                <a:latin typeface="Times New Roman" panose="02020603050405020304" pitchFamily="18" charset="0"/>
              </a:rPr>
              <a:t>”</a:t>
            </a:r>
            <a:r>
              <a:rPr lang="en-US" altLang="zh-CN" sz="2800" dirty="0"/>
              <a:t>, given </a:t>
            </a:r>
            <a:r>
              <a:rPr lang="en-US" altLang="zh-CN" sz="2800" i="1" dirty="0"/>
              <a:t>f</a:t>
            </a:r>
            <a:r>
              <a:rPr lang="en-US" altLang="zh-CN" sz="2800" dirty="0"/>
              <a:t>.</a:t>
            </a:r>
          </a:p>
        </p:txBody>
      </p:sp>
    </p:spTree>
    <p:extLst>
      <p:ext uri="{BB962C8B-B14F-4D97-AF65-F5344CB8AC3E}">
        <p14:creationId xmlns:p14="http://schemas.microsoft.com/office/powerpoint/2010/main" val="7528011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9.5.3 Equivalence Classes</a:t>
            </a:r>
            <a:endParaRPr lang="zh-CN" altLang="en-US" sz="3200" dirty="0"/>
          </a:p>
        </p:txBody>
      </p:sp>
      <p:sp>
        <p:nvSpPr>
          <p:cNvPr id="4" name="Rectangle 3">
            <a:extLst>
              <a:ext uri="{FF2B5EF4-FFF2-40B4-BE49-F238E27FC236}">
                <a16:creationId xmlns:a16="http://schemas.microsoft.com/office/drawing/2014/main" id="{8B46E076-8636-4CBB-8DD9-FB709008B5F0}"/>
              </a:ext>
            </a:extLst>
          </p:cNvPr>
          <p:cNvSpPr txBox="1">
            <a:spLocks noChangeArrowheads="1"/>
          </p:cNvSpPr>
          <p:nvPr/>
        </p:nvSpPr>
        <p:spPr bwMode="auto">
          <a:xfrm>
            <a:off x="568234" y="916944"/>
            <a:ext cx="1105553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a:lnSpc>
                <a:spcPct val="150000"/>
              </a:lnSpc>
            </a:pPr>
            <a:r>
              <a:rPr lang="en-US" altLang="zh-CN" dirty="0">
                <a:latin typeface="Times New Roman" panose="02020603050405020304" pitchFamily="18" charset="0"/>
              </a:rPr>
              <a:t>“</a:t>
            </a:r>
            <a:r>
              <a:rPr lang="en-US" altLang="zh-CN" dirty="0"/>
              <a:t>Strings </a:t>
            </a:r>
            <a:r>
              <a:rPr lang="en-US" altLang="zh-CN" i="1" dirty="0"/>
              <a:t>a</a:t>
            </a:r>
            <a:r>
              <a:rPr lang="en-US" altLang="zh-CN" dirty="0"/>
              <a:t> and </a:t>
            </a:r>
            <a:r>
              <a:rPr lang="en-US" altLang="zh-CN" i="1" dirty="0"/>
              <a:t>b</a:t>
            </a:r>
            <a:r>
              <a:rPr lang="en-US" altLang="zh-CN" dirty="0"/>
              <a:t> are the same length.</a:t>
            </a:r>
            <a:r>
              <a:rPr lang="en-US" altLang="zh-CN" dirty="0">
                <a:latin typeface="Times New Roman" panose="02020603050405020304" pitchFamily="18" charset="0"/>
              </a:rPr>
              <a:t>”</a:t>
            </a:r>
          </a:p>
          <a:p>
            <a:pPr lvl="1">
              <a:lnSpc>
                <a:spcPct val="150000"/>
              </a:lnSpc>
            </a:pPr>
            <a:r>
              <a:rPr lang="en-US" altLang="zh-CN" dirty="0"/>
              <a:t>[</a:t>
            </a:r>
            <a:r>
              <a:rPr lang="en-US" altLang="zh-CN" i="1" dirty="0"/>
              <a:t>a</a:t>
            </a:r>
            <a:r>
              <a:rPr lang="en-US" altLang="zh-CN" dirty="0"/>
              <a:t>] = the set of all strings of the same length as </a:t>
            </a:r>
            <a:r>
              <a:rPr lang="en-US" altLang="zh-CN" i="1" dirty="0"/>
              <a:t>a.</a:t>
            </a:r>
            <a:endParaRPr lang="en-US" altLang="zh-CN" dirty="0">
              <a:latin typeface="Times New Roman" panose="02020603050405020304" pitchFamily="18" charset="0"/>
            </a:endParaRPr>
          </a:p>
          <a:p>
            <a:pPr eaLnBrk="1" hangingPunct="1">
              <a:lnSpc>
                <a:spcPct val="150000"/>
              </a:lnSpc>
            </a:pPr>
            <a:r>
              <a:rPr lang="en-US" altLang="zh-CN" dirty="0">
                <a:latin typeface="Times New Roman" panose="02020603050405020304" pitchFamily="18" charset="0"/>
              </a:rPr>
              <a:t>“</a:t>
            </a:r>
            <a:r>
              <a:rPr lang="en-US" altLang="zh-CN" dirty="0"/>
              <a:t>Integers </a:t>
            </a:r>
            <a:r>
              <a:rPr lang="en-US" altLang="zh-CN" i="1" dirty="0"/>
              <a:t>a</a:t>
            </a:r>
            <a:r>
              <a:rPr lang="en-US" altLang="zh-CN" dirty="0"/>
              <a:t> and </a:t>
            </a:r>
            <a:r>
              <a:rPr lang="en-US" altLang="zh-CN" i="1" dirty="0"/>
              <a:t>b</a:t>
            </a:r>
            <a:r>
              <a:rPr lang="en-US" altLang="zh-CN" dirty="0"/>
              <a:t> have the same absolute value.</a:t>
            </a:r>
            <a:r>
              <a:rPr lang="en-US" altLang="zh-CN" dirty="0">
                <a:latin typeface="Times New Roman" panose="02020603050405020304" pitchFamily="18" charset="0"/>
              </a:rPr>
              <a:t>”</a:t>
            </a:r>
          </a:p>
          <a:p>
            <a:pPr lvl="1">
              <a:lnSpc>
                <a:spcPct val="150000"/>
              </a:lnSpc>
            </a:pPr>
            <a:r>
              <a:rPr lang="en-US" altLang="zh-CN" dirty="0"/>
              <a:t>[</a:t>
            </a:r>
            <a:r>
              <a:rPr lang="en-US" altLang="zh-CN" i="1" dirty="0"/>
              <a:t>a</a:t>
            </a:r>
            <a:r>
              <a:rPr lang="en-US" altLang="zh-CN" dirty="0"/>
              <a:t>] = the set {</a:t>
            </a:r>
            <a:r>
              <a:rPr lang="en-US" altLang="zh-CN" i="1" dirty="0"/>
              <a:t>a</a:t>
            </a:r>
            <a:r>
              <a:rPr lang="en-US" altLang="zh-CN" dirty="0"/>
              <a:t>, </a:t>
            </a:r>
            <a:r>
              <a:rPr lang="en-US" altLang="zh-CN" dirty="0">
                <a:cs typeface="Times New Roman" panose="02020603050405020304" pitchFamily="18" charset="0"/>
              </a:rPr>
              <a:t>−</a:t>
            </a:r>
            <a:r>
              <a:rPr lang="en-US" altLang="zh-CN" i="1">
                <a:cs typeface="Times New Roman" panose="02020603050405020304" pitchFamily="18" charset="0"/>
              </a:rPr>
              <a:t>a</a:t>
            </a:r>
            <a:r>
              <a:rPr lang="en-US" altLang="zh-CN">
                <a:cs typeface="Times New Roman" panose="02020603050405020304" pitchFamily="18" charset="0"/>
              </a:rPr>
              <a:t>}</a:t>
            </a:r>
            <a:endParaRPr lang="en-US" altLang="zh-CN" dirty="0"/>
          </a:p>
        </p:txBody>
      </p:sp>
    </p:spTree>
    <p:extLst>
      <p:ext uri="{BB962C8B-B14F-4D97-AF65-F5344CB8AC3E}">
        <p14:creationId xmlns:p14="http://schemas.microsoft.com/office/powerpoint/2010/main" val="7494899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9.5.3 Equivalence Classes</a:t>
            </a:r>
            <a:endParaRPr lang="zh-CN" altLang="en-US" sz="3200" dirty="0"/>
          </a:p>
        </p:txBody>
      </p:sp>
      <p:sp>
        <p:nvSpPr>
          <p:cNvPr id="4" name="Rectangle 3">
            <a:extLst>
              <a:ext uri="{FF2B5EF4-FFF2-40B4-BE49-F238E27FC236}">
                <a16:creationId xmlns:a16="http://schemas.microsoft.com/office/drawing/2014/main" id="{8B46E076-8636-4CBB-8DD9-FB709008B5F0}"/>
              </a:ext>
            </a:extLst>
          </p:cNvPr>
          <p:cNvSpPr txBox="1">
            <a:spLocks noChangeArrowheads="1"/>
          </p:cNvSpPr>
          <p:nvPr/>
        </p:nvSpPr>
        <p:spPr bwMode="auto">
          <a:xfrm>
            <a:off x="568234" y="997154"/>
            <a:ext cx="1105553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eaLnBrk="1" hangingPunct="1">
              <a:lnSpc>
                <a:spcPct val="150000"/>
              </a:lnSpc>
            </a:pPr>
            <a:r>
              <a:rPr lang="en-US" altLang="zh-CN">
                <a:latin typeface="Times New Roman" panose="02020603050405020304" pitchFamily="18" charset="0"/>
              </a:rPr>
              <a:t>“</a:t>
            </a:r>
            <a:r>
              <a:rPr lang="en-US" altLang="zh-CN" dirty="0"/>
              <a:t>Real numbers </a:t>
            </a:r>
            <a:r>
              <a:rPr lang="en-US" altLang="zh-CN" i="1" dirty="0"/>
              <a:t>a</a:t>
            </a:r>
            <a:r>
              <a:rPr lang="en-US" altLang="zh-CN" dirty="0"/>
              <a:t> and </a:t>
            </a:r>
            <a:r>
              <a:rPr lang="en-US" altLang="zh-CN" i="1" dirty="0"/>
              <a:t>b</a:t>
            </a:r>
            <a:r>
              <a:rPr lang="en-US" altLang="zh-CN" dirty="0"/>
              <a:t> have the same fractional part (</a:t>
            </a:r>
            <a:r>
              <a:rPr lang="en-US" altLang="zh-CN" i="1" dirty="0"/>
              <a:t>i.e.</a:t>
            </a:r>
            <a:r>
              <a:rPr lang="en-US" altLang="zh-CN" dirty="0"/>
              <a:t>, </a:t>
            </a:r>
            <a:r>
              <a:rPr lang="en-US" altLang="zh-CN" i="1" dirty="0"/>
              <a:t>a</a:t>
            </a:r>
            <a:r>
              <a:rPr lang="en-US" altLang="zh-CN" dirty="0"/>
              <a:t> − </a:t>
            </a:r>
            <a:r>
              <a:rPr lang="en-US" altLang="zh-CN" i="1" dirty="0"/>
              <a:t>b</a:t>
            </a:r>
            <a:r>
              <a:rPr lang="en-US" altLang="zh-CN" dirty="0"/>
              <a:t> </a:t>
            </a:r>
            <a:r>
              <a:rPr lang="en-US" altLang="zh-CN" dirty="0">
                <a:sym typeface="Symbol" panose="05050102010706020507" pitchFamily="18" charset="2"/>
              </a:rPr>
              <a:t> </a:t>
            </a:r>
            <a:r>
              <a:rPr lang="en-US" altLang="zh-CN" b="1" dirty="0">
                <a:sym typeface="Symbol" panose="05050102010706020507" pitchFamily="18" charset="2"/>
              </a:rPr>
              <a:t>Z</a:t>
            </a:r>
            <a:r>
              <a:rPr lang="en-US" altLang="zh-CN" dirty="0">
                <a:sym typeface="Symbol" panose="05050102010706020507" pitchFamily="18" charset="2"/>
              </a:rPr>
              <a:t>).</a:t>
            </a:r>
            <a:r>
              <a:rPr lang="en-US" altLang="zh-CN" dirty="0">
                <a:latin typeface="Times New Roman" panose="02020603050405020304" pitchFamily="18" charset="0"/>
                <a:sym typeface="Symbol" panose="05050102010706020507" pitchFamily="18" charset="2"/>
              </a:rPr>
              <a:t>”</a:t>
            </a:r>
          </a:p>
          <a:p>
            <a:pPr lvl="1">
              <a:lnSpc>
                <a:spcPct val="150000"/>
              </a:lnSpc>
            </a:pPr>
            <a:r>
              <a:rPr lang="en-US" altLang="zh-CN" dirty="0">
                <a:sym typeface="Symbol" panose="05050102010706020507" pitchFamily="18" charset="2"/>
              </a:rPr>
              <a:t>[</a:t>
            </a:r>
            <a:r>
              <a:rPr lang="en-US" altLang="zh-CN" i="1" dirty="0">
                <a:sym typeface="Symbol" panose="05050102010706020507" pitchFamily="18" charset="2"/>
              </a:rPr>
              <a:t>a</a:t>
            </a:r>
            <a:r>
              <a:rPr lang="en-US" altLang="zh-CN" dirty="0">
                <a:sym typeface="Symbol" panose="05050102010706020507" pitchFamily="18" charset="2"/>
              </a:rPr>
              <a:t>] = the set {</a:t>
            </a:r>
            <a:r>
              <a:rPr lang="en-US" altLang="zh-CN" dirty="0">
                <a:latin typeface="Times New Roman" panose="02020603050405020304" pitchFamily="18" charset="0"/>
                <a:sym typeface="Symbol" panose="05050102010706020507" pitchFamily="18" charset="2"/>
              </a:rPr>
              <a:t>…</a:t>
            </a:r>
            <a:r>
              <a:rPr lang="en-US" altLang="zh-CN" dirty="0">
                <a:sym typeface="Symbol" panose="05050102010706020507" pitchFamily="18" charset="2"/>
              </a:rPr>
              <a:t>, </a:t>
            </a:r>
            <a:r>
              <a:rPr lang="en-US" altLang="zh-CN" i="1" dirty="0">
                <a:sym typeface="Symbol" panose="05050102010706020507" pitchFamily="18" charset="2"/>
              </a:rPr>
              <a:t>a</a:t>
            </a:r>
            <a:r>
              <a:rPr lang="en-US" altLang="zh-CN" dirty="0">
                <a:sym typeface="Symbol" panose="05050102010706020507" pitchFamily="18" charset="2"/>
              </a:rPr>
              <a:t>−2, </a:t>
            </a:r>
            <a:r>
              <a:rPr lang="en-US" altLang="zh-CN" i="1" dirty="0">
                <a:sym typeface="Symbol" panose="05050102010706020507" pitchFamily="18" charset="2"/>
              </a:rPr>
              <a:t>a</a:t>
            </a:r>
            <a:r>
              <a:rPr lang="en-US" altLang="zh-CN" dirty="0">
                <a:sym typeface="Symbol" panose="05050102010706020507" pitchFamily="18" charset="2"/>
              </a:rPr>
              <a:t>−1, </a:t>
            </a:r>
            <a:r>
              <a:rPr lang="en-US" altLang="zh-CN" i="1" dirty="0">
                <a:sym typeface="Symbol" panose="05050102010706020507" pitchFamily="18" charset="2"/>
              </a:rPr>
              <a:t>a</a:t>
            </a:r>
            <a:r>
              <a:rPr lang="en-US" altLang="zh-CN" dirty="0">
                <a:sym typeface="Symbol" panose="05050102010706020507" pitchFamily="18" charset="2"/>
              </a:rPr>
              <a:t>, </a:t>
            </a:r>
            <a:r>
              <a:rPr lang="en-US" altLang="zh-CN" i="1" dirty="0">
                <a:sym typeface="Symbol" panose="05050102010706020507" pitchFamily="18" charset="2"/>
              </a:rPr>
              <a:t>a</a:t>
            </a:r>
            <a:r>
              <a:rPr lang="en-US" altLang="zh-CN" dirty="0">
                <a:sym typeface="Symbol" panose="05050102010706020507" pitchFamily="18" charset="2"/>
              </a:rPr>
              <a:t>+1, </a:t>
            </a:r>
            <a:r>
              <a:rPr lang="en-US" altLang="zh-CN" i="1" dirty="0">
                <a:sym typeface="Symbol" panose="05050102010706020507" pitchFamily="18" charset="2"/>
              </a:rPr>
              <a:t>a</a:t>
            </a:r>
            <a:r>
              <a:rPr lang="en-US" altLang="zh-CN" dirty="0">
                <a:sym typeface="Symbol" panose="05050102010706020507" pitchFamily="18" charset="2"/>
              </a:rPr>
              <a:t>+2, </a:t>
            </a:r>
            <a:r>
              <a:rPr lang="en-US" altLang="zh-CN" dirty="0">
                <a:latin typeface="Times New Roman" panose="02020603050405020304" pitchFamily="18" charset="0"/>
                <a:sym typeface="Symbol" panose="05050102010706020507" pitchFamily="18" charset="2"/>
              </a:rPr>
              <a:t>…</a:t>
            </a:r>
            <a:r>
              <a:rPr lang="en-US" altLang="zh-CN" dirty="0">
                <a:sym typeface="Symbol" panose="05050102010706020507" pitchFamily="18" charset="2"/>
              </a:rPr>
              <a:t>}</a:t>
            </a:r>
          </a:p>
          <a:p>
            <a:pPr eaLnBrk="1" hangingPunct="1">
              <a:lnSpc>
                <a:spcPct val="150000"/>
              </a:lnSpc>
            </a:pPr>
            <a:r>
              <a:rPr lang="en-US" altLang="zh-CN" dirty="0">
                <a:latin typeface="Times New Roman" panose="02020603050405020304" pitchFamily="18" charset="0"/>
                <a:sym typeface="Symbol" panose="05050102010706020507" pitchFamily="18" charset="2"/>
              </a:rPr>
              <a:t>“</a:t>
            </a:r>
            <a:r>
              <a:rPr lang="en-US" altLang="zh-CN" dirty="0">
                <a:sym typeface="Symbol" panose="05050102010706020507" pitchFamily="18" charset="2"/>
              </a:rPr>
              <a:t>Integers </a:t>
            </a:r>
            <a:r>
              <a:rPr lang="en-US" altLang="zh-CN" i="1" dirty="0">
                <a:sym typeface="Symbol" panose="05050102010706020507" pitchFamily="18" charset="2"/>
              </a:rPr>
              <a:t>a</a:t>
            </a:r>
            <a:r>
              <a:rPr lang="en-US" altLang="zh-CN" dirty="0">
                <a:sym typeface="Symbol" panose="05050102010706020507" pitchFamily="18" charset="2"/>
              </a:rPr>
              <a:t> and </a:t>
            </a:r>
            <a:r>
              <a:rPr lang="en-US" altLang="zh-CN" i="1" dirty="0">
                <a:sym typeface="Symbol" panose="05050102010706020507" pitchFamily="18" charset="2"/>
              </a:rPr>
              <a:t>b</a:t>
            </a:r>
            <a:r>
              <a:rPr lang="en-US" altLang="zh-CN" dirty="0">
                <a:sym typeface="Symbol" panose="05050102010706020507" pitchFamily="18" charset="2"/>
              </a:rPr>
              <a:t> have the same residue modulo </a:t>
            </a:r>
            <a:r>
              <a:rPr lang="en-US" altLang="zh-CN" i="1" dirty="0">
                <a:sym typeface="Symbol" panose="05050102010706020507" pitchFamily="18" charset="2"/>
              </a:rPr>
              <a:t>m</a:t>
            </a:r>
            <a:r>
              <a:rPr lang="en-US" altLang="zh-CN" dirty="0">
                <a:sym typeface="Symbol" panose="05050102010706020507" pitchFamily="18" charset="2"/>
              </a:rPr>
              <a:t>.</a:t>
            </a:r>
            <a:r>
              <a:rPr lang="en-US" altLang="zh-CN" dirty="0">
                <a:latin typeface="Times New Roman" panose="02020603050405020304" pitchFamily="18" charset="0"/>
                <a:sym typeface="Symbol" panose="05050102010706020507" pitchFamily="18" charset="2"/>
              </a:rPr>
              <a:t>”</a:t>
            </a:r>
            <a:r>
              <a:rPr lang="en-US" altLang="zh-CN" dirty="0">
                <a:sym typeface="Symbol" panose="05050102010706020507" pitchFamily="18" charset="2"/>
              </a:rPr>
              <a:t>  (for a given </a:t>
            </a:r>
            <a:r>
              <a:rPr lang="en-US" altLang="zh-CN" i="1" dirty="0">
                <a:sym typeface="Symbol" panose="05050102010706020507" pitchFamily="18" charset="2"/>
              </a:rPr>
              <a:t>m</a:t>
            </a:r>
            <a:r>
              <a:rPr lang="en-US" altLang="zh-CN" dirty="0">
                <a:sym typeface="Symbol" panose="05050102010706020507" pitchFamily="18" charset="2"/>
              </a:rPr>
              <a:t>&gt;1)</a:t>
            </a:r>
          </a:p>
          <a:p>
            <a:pPr lvl="1">
              <a:lnSpc>
                <a:spcPct val="150000"/>
              </a:lnSpc>
            </a:pPr>
            <a:r>
              <a:rPr lang="en-US" altLang="zh-CN" dirty="0"/>
              <a:t>[</a:t>
            </a:r>
            <a:r>
              <a:rPr lang="en-US" altLang="zh-CN" i="1" dirty="0"/>
              <a:t>a</a:t>
            </a:r>
            <a:r>
              <a:rPr lang="en-US" altLang="zh-CN" dirty="0"/>
              <a:t>] = the set {</a:t>
            </a:r>
            <a:r>
              <a:rPr lang="en-US" altLang="zh-CN" dirty="0">
                <a:latin typeface="Times New Roman" panose="02020603050405020304" pitchFamily="18" charset="0"/>
              </a:rPr>
              <a:t>…</a:t>
            </a:r>
            <a:r>
              <a:rPr lang="en-US" altLang="zh-CN" dirty="0"/>
              <a:t>, </a:t>
            </a:r>
            <a:r>
              <a:rPr lang="en-US" altLang="zh-CN" i="1" dirty="0"/>
              <a:t>a−</a:t>
            </a:r>
            <a:r>
              <a:rPr lang="en-US" altLang="zh-CN" dirty="0"/>
              <a:t>2</a:t>
            </a:r>
            <a:r>
              <a:rPr lang="en-US" altLang="zh-CN" i="1" dirty="0"/>
              <a:t>m</a:t>
            </a:r>
            <a:r>
              <a:rPr lang="en-US" altLang="zh-CN" dirty="0"/>
              <a:t>, </a:t>
            </a:r>
            <a:r>
              <a:rPr lang="en-US" altLang="zh-CN" i="1" dirty="0"/>
              <a:t>a</a:t>
            </a:r>
            <a:r>
              <a:rPr lang="en-US" altLang="zh-CN" dirty="0"/>
              <a:t>−</a:t>
            </a:r>
            <a:r>
              <a:rPr lang="en-US" altLang="zh-CN" i="1" dirty="0"/>
              <a:t>m</a:t>
            </a:r>
            <a:r>
              <a:rPr lang="en-US" altLang="zh-CN" dirty="0"/>
              <a:t>, </a:t>
            </a:r>
            <a:r>
              <a:rPr lang="en-US" altLang="zh-CN" i="1" dirty="0"/>
              <a:t>a</a:t>
            </a:r>
            <a:r>
              <a:rPr lang="en-US" altLang="zh-CN" dirty="0"/>
              <a:t>, </a:t>
            </a:r>
            <a:r>
              <a:rPr lang="en-US" altLang="zh-CN" i="1" dirty="0" err="1"/>
              <a:t>a</a:t>
            </a:r>
            <a:r>
              <a:rPr lang="en-US" altLang="zh-CN" dirty="0" err="1"/>
              <a:t>+</a:t>
            </a:r>
            <a:r>
              <a:rPr lang="en-US" altLang="zh-CN" i="1" dirty="0" err="1"/>
              <a:t>m</a:t>
            </a:r>
            <a:r>
              <a:rPr lang="en-US" altLang="zh-CN" dirty="0"/>
              <a:t>, </a:t>
            </a:r>
            <a:r>
              <a:rPr lang="en-US" altLang="zh-CN" i="1" dirty="0"/>
              <a:t>a</a:t>
            </a:r>
            <a:r>
              <a:rPr lang="en-US" altLang="zh-CN" dirty="0"/>
              <a:t>+2</a:t>
            </a:r>
            <a:r>
              <a:rPr lang="en-US" altLang="zh-CN" i="1" dirty="0"/>
              <a:t>m</a:t>
            </a:r>
            <a:r>
              <a:rPr lang="en-US" altLang="zh-CN" dirty="0"/>
              <a:t>, </a:t>
            </a:r>
            <a:r>
              <a:rPr lang="en-US" altLang="zh-CN" dirty="0">
                <a:latin typeface="Times New Roman" panose="02020603050405020304" pitchFamily="18" charset="0"/>
              </a:rPr>
              <a:t>…</a:t>
            </a:r>
            <a:r>
              <a:rPr lang="en-US" altLang="zh-CN" dirty="0"/>
              <a:t>}</a:t>
            </a:r>
          </a:p>
        </p:txBody>
      </p:sp>
    </p:spTree>
    <p:extLst>
      <p:ext uri="{BB962C8B-B14F-4D97-AF65-F5344CB8AC3E}">
        <p14:creationId xmlns:p14="http://schemas.microsoft.com/office/powerpoint/2010/main" val="7055505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46E076-8636-4CBB-8DD9-FB709008B5F0}"/>
              </a:ext>
            </a:extLst>
          </p:cNvPr>
          <p:cNvSpPr txBox="1">
            <a:spLocks noChangeArrowheads="1"/>
          </p:cNvSpPr>
          <p:nvPr/>
        </p:nvSpPr>
        <p:spPr bwMode="auto">
          <a:xfrm>
            <a:off x="568234" y="739754"/>
            <a:ext cx="1105553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eaLnBrk="1" hangingPunct="1">
              <a:lnSpc>
                <a:spcPts val="4500"/>
              </a:lnSpc>
            </a:pPr>
            <a:r>
              <a:rPr lang="en-US" altLang="zh-CN" dirty="0"/>
              <a:t>Let </a:t>
            </a:r>
            <a:r>
              <a:rPr lang="en-US" altLang="zh-CN" i="1" dirty="0"/>
              <a:t>A</a:t>
            </a:r>
            <a:r>
              <a:rPr lang="en-US" altLang="zh-CN" dirty="0"/>
              <a:t> = </a:t>
            </a:r>
            <a:r>
              <a:rPr lang="en-US" altLang="zh-CN" i="1" dirty="0"/>
              <a:t>Z</a:t>
            </a:r>
            <a:r>
              <a:rPr lang="en-US" altLang="zh-CN" dirty="0"/>
              <a:t> and let</a:t>
            </a:r>
          </a:p>
          <a:p>
            <a:pPr lvl="1" eaLnBrk="1" hangingPunct="1">
              <a:lnSpc>
                <a:spcPts val="4500"/>
              </a:lnSpc>
            </a:pPr>
            <a:r>
              <a:rPr lang="en-US" altLang="zh-CN" i="1" dirty="0"/>
              <a:t>R</a:t>
            </a:r>
            <a:r>
              <a:rPr lang="en-US" altLang="zh-CN" dirty="0"/>
              <a:t> = {(</a:t>
            </a:r>
            <a:r>
              <a:rPr lang="en-US" altLang="zh-CN" i="1" dirty="0"/>
              <a:t>a</a:t>
            </a:r>
            <a:r>
              <a:rPr lang="en-US" altLang="zh-CN" dirty="0"/>
              <a:t>, </a:t>
            </a:r>
            <a:r>
              <a:rPr lang="en-US" altLang="zh-CN" i="1" dirty="0"/>
              <a:t>b</a:t>
            </a:r>
            <a:r>
              <a:rPr lang="en-US" altLang="zh-CN" dirty="0"/>
              <a:t>) </a:t>
            </a:r>
            <a:r>
              <a:rPr lang="en-US" altLang="zh-CN" dirty="0">
                <a:sym typeface="Symbol" panose="05050102010706020507" pitchFamily="18" charset="2"/>
              </a:rPr>
              <a:t></a:t>
            </a:r>
            <a:r>
              <a:rPr lang="en-US" altLang="zh-CN" dirty="0"/>
              <a:t> </a:t>
            </a:r>
            <a:r>
              <a:rPr lang="en-US" altLang="zh-CN" i="1" dirty="0"/>
              <a:t>A</a:t>
            </a:r>
            <a:r>
              <a:rPr lang="en-US" altLang="zh-CN" dirty="0"/>
              <a:t> x </a:t>
            </a:r>
            <a:r>
              <a:rPr lang="en-US" altLang="zh-CN" i="1" dirty="0"/>
              <a:t>A</a:t>
            </a:r>
            <a:r>
              <a:rPr lang="en-US" altLang="zh-CN" dirty="0"/>
              <a:t> | </a:t>
            </a:r>
            <a:r>
              <a:rPr lang="en-US" altLang="zh-CN" i="1" dirty="0"/>
              <a:t>a</a:t>
            </a:r>
            <a:r>
              <a:rPr lang="en-US" altLang="zh-CN" dirty="0"/>
              <a:t> and </a:t>
            </a:r>
            <a:r>
              <a:rPr lang="en-US" altLang="zh-CN" i="1" dirty="0"/>
              <a:t>b</a:t>
            </a:r>
            <a:r>
              <a:rPr lang="en-US" altLang="zh-CN" dirty="0"/>
              <a:t> yield the same remainder when divided by 2}.</a:t>
            </a:r>
          </a:p>
          <a:p>
            <a:pPr eaLnBrk="1" hangingPunct="1">
              <a:lnSpc>
                <a:spcPts val="4500"/>
              </a:lnSpc>
            </a:pPr>
            <a:r>
              <a:rPr lang="en-US" altLang="zh-CN" dirty="0"/>
              <a:t>Show</a:t>
            </a:r>
          </a:p>
          <a:p>
            <a:pPr lvl="1">
              <a:lnSpc>
                <a:spcPts val="4500"/>
              </a:lnSpc>
            </a:pPr>
            <a:r>
              <a:rPr lang="en-US" altLang="zh-CN" dirty="0"/>
              <a:t>congruence mod 2 is an equivalence relation</a:t>
            </a:r>
          </a:p>
          <a:p>
            <a:pPr>
              <a:lnSpc>
                <a:spcPts val="4500"/>
              </a:lnSpc>
            </a:pPr>
            <a:r>
              <a:rPr lang="en-US" altLang="zh-CN" dirty="0"/>
              <a:t>note</a:t>
            </a:r>
            <a:endParaRPr lang="en-US" altLang="zh-CN" dirty="0">
              <a:latin typeface="Times New Roman" panose="02020603050405020304" pitchFamily="18" charset="0"/>
              <a:sym typeface="Symbol" panose="05050102010706020507" pitchFamily="18" charset="2"/>
            </a:endParaRPr>
          </a:p>
          <a:p>
            <a:pPr lvl="1">
              <a:lnSpc>
                <a:spcPts val="4500"/>
              </a:lnSpc>
            </a:pPr>
            <a:r>
              <a:rPr lang="en-US" altLang="zh-CN" dirty="0"/>
              <a:t>2 is called the </a:t>
            </a:r>
            <a:r>
              <a:rPr lang="en-US" altLang="zh-CN" i="1" dirty="0">
                <a:solidFill>
                  <a:schemeClr val="hlink"/>
                </a:solidFill>
              </a:rPr>
              <a:t>modulus</a:t>
            </a:r>
            <a:r>
              <a:rPr lang="en-US" altLang="zh-CN" dirty="0"/>
              <a:t> </a:t>
            </a:r>
          </a:p>
          <a:p>
            <a:pPr lvl="1">
              <a:lnSpc>
                <a:spcPts val="4500"/>
              </a:lnSpc>
            </a:pPr>
            <a:r>
              <a:rPr lang="en-US" altLang="zh-CN" i="1" dirty="0"/>
              <a:t>a</a:t>
            </a:r>
            <a:r>
              <a:rPr lang="en-US" altLang="zh-CN" dirty="0"/>
              <a:t> </a:t>
            </a:r>
            <a:r>
              <a:rPr lang="en-US" altLang="zh-CN" dirty="0">
                <a:latin typeface="Euclid" pitchFamily="18" charset="0"/>
                <a:sym typeface="Symbol" panose="05050102010706020507" pitchFamily="18" charset="2"/>
              </a:rPr>
              <a:t></a:t>
            </a:r>
            <a:r>
              <a:rPr lang="en-US" altLang="zh-CN" dirty="0"/>
              <a:t> </a:t>
            </a:r>
            <a:r>
              <a:rPr lang="en-US" altLang="zh-CN" i="1" dirty="0"/>
              <a:t>b</a:t>
            </a:r>
            <a:r>
              <a:rPr lang="en-US" altLang="zh-CN" dirty="0"/>
              <a:t> (mod 2)</a:t>
            </a:r>
          </a:p>
          <a:p>
            <a:pPr lvl="2">
              <a:lnSpc>
                <a:spcPts val="4500"/>
              </a:lnSpc>
            </a:pPr>
            <a:r>
              <a:rPr lang="en-US" altLang="zh-CN" dirty="0"/>
              <a:t>“</a:t>
            </a:r>
            <a:r>
              <a:rPr lang="en-US" altLang="zh-CN" i="1" dirty="0"/>
              <a:t>a</a:t>
            </a:r>
            <a:r>
              <a:rPr lang="en-US" altLang="zh-CN" dirty="0"/>
              <a:t> is congruent to </a:t>
            </a:r>
            <a:r>
              <a:rPr lang="en-US" altLang="zh-CN" i="1" dirty="0"/>
              <a:t>b</a:t>
            </a:r>
            <a:r>
              <a:rPr lang="en-US" altLang="zh-CN" dirty="0"/>
              <a:t> mod 2.“(</a:t>
            </a:r>
            <a:r>
              <a:rPr lang="zh-CN" altLang="en-US" dirty="0"/>
              <a:t>模</a:t>
            </a:r>
            <a:r>
              <a:rPr lang="en-US" altLang="zh-CN" dirty="0"/>
              <a:t>2</a:t>
            </a:r>
            <a:r>
              <a:rPr lang="zh-CN" altLang="en-US" dirty="0"/>
              <a:t>同余</a:t>
            </a:r>
            <a:r>
              <a:rPr lang="en-US" altLang="zh-CN" dirty="0"/>
              <a:t>)</a:t>
            </a:r>
            <a:endParaRPr lang="en-US" altLang="zh-CN" dirty="0">
              <a:sym typeface="Symbol" panose="05050102010706020507" pitchFamily="18" charset="2"/>
            </a:endParaRPr>
          </a:p>
        </p:txBody>
      </p:sp>
      <p:sp>
        <p:nvSpPr>
          <p:cNvPr id="5" name="文本框 4">
            <a:extLst>
              <a:ext uri="{FF2B5EF4-FFF2-40B4-BE49-F238E27FC236}">
                <a16:creationId xmlns:a16="http://schemas.microsoft.com/office/drawing/2014/main" id="{B34858B1-2232-4906-833B-6B34F3BF2C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9.5.3 Equivalence Classes</a:t>
            </a:r>
            <a:endParaRPr lang="zh-CN" altLang="en-US" sz="3200" dirty="0"/>
          </a:p>
        </p:txBody>
      </p:sp>
    </p:spTree>
    <p:extLst>
      <p:ext uri="{BB962C8B-B14F-4D97-AF65-F5344CB8AC3E}">
        <p14:creationId xmlns:p14="http://schemas.microsoft.com/office/powerpoint/2010/main" val="4637658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46E076-8636-4CBB-8DD9-FB709008B5F0}"/>
              </a:ext>
            </a:extLst>
          </p:cNvPr>
          <p:cNvSpPr txBox="1">
            <a:spLocks noChangeArrowheads="1"/>
          </p:cNvSpPr>
          <p:nvPr/>
        </p:nvSpPr>
        <p:spPr bwMode="auto">
          <a:xfrm>
            <a:off x="568234" y="845178"/>
            <a:ext cx="1105553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eaLnBrk="1" hangingPunct="1">
              <a:lnSpc>
                <a:spcPct val="150000"/>
              </a:lnSpc>
            </a:pPr>
            <a:r>
              <a:rPr lang="en-US" altLang="zh-CN" sz="3200" dirty="0"/>
              <a:t>First</a:t>
            </a:r>
          </a:p>
          <a:p>
            <a:pPr lvl="1">
              <a:lnSpc>
                <a:spcPct val="150000"/>
              </a:lnSpc>
            </a:pPr>
            <a:r>
              <a:rPr lang="en-US" altLang="zh-CN" sz="2800" dirty="0"/>
              <a:t>clearly </a:t>
            </a:r>
            <a:r>
              <a:rPr lang="en-US" altLang="zh-CN" sz="2800" i="1" dirty="0"/>
              <a:t>a</a:t>
            </a:r>
            <a:r>
              <a:rPr lang="en-US" altLang="zh-CN" sz="2800" dirty="0"/>
              <a:t> </a:t>
            </a:r>
            <a:r>
              <a:rPr lang="en-US" altLang="zh-CN" sz="2800" dirty="0">
                <a:latin typeface="Euclid" pitchFamily="18" charset="0"/>
                <a:sym typeface="Symbol" panose="05050102010706020507" pitchFamily="18" charset="2"/>
              </a:rPr>
              <a:t></a:t>
            </a:r>
            <a:r>
              <a:rPr lang="en-US" altLang="zh-CN" sz="2800" dirty="0"/>
              <a:t> </a:t>
            </a:r>
            <a:r>
              <a:rPr lang="en-US" altLang="zh-CN" sz="2800" i="1" dirty="0"/>
              <a:t>a</a:t>
            </a:r>
            <a:r>
              <a:rPr lang="en-US" altLang="zh-CN" sz="2800" dirty="0"/>
              <a:t> (mod 2). </a:t>
            </a:r>
          </a:p>
          <a:p>
            <a:pPr lvl="1" eaLnBrk="1" hangingPunct="1">
              <a:lnSpc>
                <a:spcPct val="150000"/>
              </a:lnSpc>
            </a:pPr>
            <a:r>
              <a:rPr lang="en-US" altLang="zh-CN" sz="2800" dirty="0"/>
              <a:t>Thus </a:t>
            </a:r>
            <a:r>
              <a:rPr lang="en-US" altLang="zh-CN" sz="2800" i="1" dirty="0"/>
              <a:t>R</a:t>
            </a:r>
            <a:r>
              <a:rPr lang="en-US" altLang="zh-CN" sz="2800" dirty="0"/>
              <a:t> is </a:t>
            </a:r>
            <a:r>
              <a:rPr lang="en-US" altLang="zh-CN" sz="2800" i="1" dirty="0">
                <a:solidFill>
                  <a:schemeClr val="hlink"/>
                </a:solidFill>
              </a:rPr>
              <a:t>reflexive</a:t>
            </a:r>
            <a:r>
              <a:rPr lang="en-US" altLang="zh-CN" sz="2800" dirty="0"/>
              <a:t>.</a:t>
            </a:r>
          </a:p>
          <a:p>
            <a:pPr eaLnBrk="1" hangingPunct="1">
              <a:lnSpc>
                <a:spcPct val="150000"/>
              </a:lnSpc>
            </a:pPr>
            <a:r>
              <a:rPr lang="en-US" altLang="zh-CN" sz="3200" dirty="0"/>
              <a:t>Second</a:t>
            </a:r>
          </a:p>
          <a:p>
            <a:pPr lvl="1">
              <a:lnSpc>
                <a:spcPct val="150000"/>
              </a:lnSpc>
            </a:pPr>
            <a:r>
              <a:rPr lang="en-US" altLang="zh-CN" sz="2800" dirty="0"/>
              <a:t>if </a:t>
            </a:r>
            <a:r>
              <a:rPr lang="en-US" altLang="zh-CN" sz="2800" i="1" dirty="0"/>
              <a:t>a</a:t>
            </a:r>
            <a:r>
              <a:rPr lang="en-US" altLang="zh-CN" sz="2800" dirty="0"/>
              <a:t> </a:t>
            </a:r>
            <a:r>
              <a:rPr lang="en-US" altLang="zh-CN" sz="2800" dirty="0">
                <a:latin typeface="Euclid" pitchFamily="18" charset="0"/>
                <a:sym typeface="Symbol" panose="05050102010706020507" pitchFamily="18" charset="2"/>
              </a:rPr>
              <a:t></a:t>
            </a:r>
            <a:r>
              <a:rPr lang="en-US" altLang="zh-CN" sz="2800" dirty="0"/>
              <a:t> </a:t>
            </a:r>
            <a:r>
              <a:rPr lang="en-US" altLang="zh-CN" sz="2800" i="1" dirty="0"/>
              <a:t>b</a:t>
            </a:r>
            <a:r>
              <a:rPr lang="en-US" altLang="zh-CN" sz="2800" dirty="0"/>
              <a:t> (mod 2), then </a:t>
            </a:r>
            <a:r>
              <a:rPr lang="en-US" altLang="zh-CN" sz="2800" i="1" dirty="0"/>
              <a:t>a</a:t>
            </a:r>
            <a:r>
              <a:rPr lang="en-US" altLang="zh-CN" sz="2800" dirty="0"/>
              <a:t> and </a:t>
            </a:r>
            <a:r>
              <a:rPr lang="en-US" altLang="zh-CN" sz="2800" i="1" dirty="0"/>
              <a:t>b</a:t>
            </a:r>
            <a:r>
              <a:rPr lang="en-US" altLang="zh-CN" sz="2800" dirty="0"/>
              <a:t> yield the same remainder when divided by 2, so </a:t>
            </a:r>
            <a:r>
              <a:rPr lang="en-US" altLang="zh-CN" sz="2800" i="1" dirty="0"/>
              <a:t>b</a:t>
            </a:r>
            <a:r>
              <a:rPr lang="en-US" altLang="zh-CN" sz="2800" dirty="0"/>
              <a:t> </a:t>
            </a:r>
            <a:r>
              <a:rPr lang="en-US" altLang="zh-CN" sz="2800" dirty="0">
                <a:latin typeface="Euclid" pitchFamily="18" charset="0"/>
                <a:sym typeface="Symbol" panose="05050102010706020507" pitchFamily="18" charset="2"/>
              </a:rPr>
              <a:t></a:t>
            </a:r>
            <a:r>
              <a:rPr lang="en-US" altLang="zh-CN" sz="2800" dirty="0"/>
              <a:t> </a:t>
            </a:r>
            <a:r>
              <a:rPr lang="en-US" altLang="zh-CN" sz="2800" i="1" dirty="0"/>
              <a:t>a</a:t>
            </a:r>
            <a:r>
              <a:rPr lang="en-US" altLang="zh-CN" sz="2800" dirty="0"/>
              <a:t> (mod 2)</a:t>
            </a:r>
            <a:r>
              <a:rPr lang="en-US" altLang="zh-CN" dirty="0"/>
              <a:t>.</a:t>
            </a:r>
          </a:p>
          <a:p>
            <a:pPr lvl="1">
              <a:lnSpc>
                <a:spcPct val="150000"/>
              </a:lnSpc>
            </a:pPr>
            <a:r>
              <a:rPr lang="en-US" altLang="zh-CN" sz="2800" i="1" dirty="0"/>
              <a:t>R</a:t>
            </a:r>
            <a:r>
              <a:rPr lang="en-US" altLang="zh-CN" sz="2800" dirty="0"/>
              <a:t> is </a:t>
            </a:r>
            <a:r>
              <a:rPr lang="en-US" altLang="zh-CN" sz="2800" i="1">
                <a:solidFill>
                  <a:schemeClr val="hlink"/>
                </a:solidFill>
              </a:rPr>
              <a:t>symmetric</a:t>
            </a:r>
            <a:r>
              <a:rPr lang="en-US" altLang="zh-CN" i="1">
                <a:solidFill>
                  <a:schemeClr val="hlink"/>
                </a:solidFill>
              </a:rPr>
              <a:t>.</a:t>
            </a:r>
          </a:p>
        </p:txBody>
      </p:sp>
      <p:sp>
        <p:nvSpPr>
          <p:cNvPr id="5" name="文本框 4">
            <a:extLst>
              <a:ext uri="{FF2B5EF4-FFF2-40B4-BE49-F238E27FC236}">
                <a16:creationId xmlns:a16="http://schemas.microsoft.com/office/drawing/2014/main" id="{78A00DDE-F862-4618-BFF6-29590290C1DE}"/>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9.5.3 Equivalence Classes</a:t>
            </a:r>
            <a:endParaRPr lang="zh-CN" altLang="en-US" sz="3200" dirty="0"/>
          </a:p>
        </p:txBody>
      </p:sp>
    </p:spTree>
    <p:extLst>
      <p:ext uri="{BB962C8B-B14F-4D97-AF65-F5344CB8AC3E}">
        <p14:creationId xmlns:p14="http://schemas.microsoft.com/office/powerpoint/2010/main" val="3191105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46E076-8636-4CBB-8DD9-FB709008B5F0}"/>
              </a:ext>
            </a:extLst>
          </p:cNvPr>
          <p:cNvSpPr txBox="1">
            <a:spLocks noChangeArrowheads="1"/>
          </p:cNvSpPr>
          <p:nvPr/>
        </p:nvSpPr>
        <p:spPr bwMode="auto">
          <a:xfrm>
            <a:off x="568234" y="845178"/>
            <a:ext cx="1105553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a:lnSpc>
                <a:spcPct val="150000"/>
              </a:lnSpc>
            </a:pPr>
            <a:r>
              <a:rPr lang="en-US" altLang="zh-CN" sz="3200"/>
              <a:t>Finally</a:t>
            </a:r>
            <a:endParaRPr lang="en-US" altLang="zh-CN" sz="3200">
              <a:latin typeface="Times New Roman" panose="02020603050405020304" pitchFamily="18" charset="0"/>
              <a:sym typeface="Symbol" panose="05050102010706020507" pitchFamily="18" charset="2"/>
            </a:endParaRPr>
          </a:p>
          <a:p>
            <a:pPr lvl="1" eaLnBrk="1" hangingPunct="1">
              <a:lnSpc>
                <a:spcPct val="150000"/>
              </a:lnSpc>
            </a:pPr>
            <a:r>
              <a:rPr lang="en-US" altLang="zh-CN" sz="2800"/>
              <a:t>suppose that </a:t>
            </a:r>
            <a:r>
              <a:rPr lang="en-US" altLang="zh-CN" sz="2800" i="1"/>
              <a:t>a</a:t>
            </a:r>
            <a:r>
              <a:rPr lang="en-US" altLang="zh-CN" sz="2800"/>
              <a:t> </a:t>
            </a:r>
            <a:r>
              <a:rPr lang="en-US" altLang="zh-CN" sz="2800">
                <a:latin typeface="Euclid" pitchFamily="18" charset="0"/>
                <a:sym typeface="Symbol" panose="05050102010706020507" pitchFamily="18" charset="2"/>
              </a:rPr>
              <a:t></a:t>
            </a:r>
            <a:r>
              <a:rPr lang="en-US" altLang="zh-CN" sz="2800"/>
              <a:t> </a:t>
            </a:r>
            <a:r>
              <a:rPr lang="en-US" altLang="zh-CN" sz="2800" i="1"/>
              <a:t>b</a:t>
            </a:r>
            <a:r>
              <a:rPr lang="en-US" altLang="zh-CN" sz="2800"/>
              <a:t> (mod 2) and </a:t>
            </a:r>
            <a:r>
              <a:rPr lang="en-US" altLang="zh-CN" sz="2800" i="1"/>
              <a:t>b</a:t>
            </a:r>
            <a:r>
              <a:rPr lang="en-US" altLang="zh-CN" sz="2800"/>
              <a:t> </a:t>
            </a:r>
            <a:r>
              <a:rPr lang="en-US" altLang="zh-CN" sz="2800">
                <a:latin typeface="Euclid" pitchFamily="18" charset="0"/>
                <a:sym typeface="Symbol" panose="05050102010706020507" pitchFamily="18" charset="2"/>
              </a:rPr>
              <a:t></a:t>
            </a:r>
            <a:r>
              <a:rPr lang="en-US" altLang="zh-CN" sz="2800"/>
              <a:t> </a:t>
            </a:r>
            <a:r>
              <a:rPr lang="en-US" altLang="zh-CN" sz="2800" i="1"/>
              <a:t>c</a:t>
            </a:r>
            <a:r>
              <a:rPr lang="en-US" altLang="zh-CN" sz="2800"/>
              <a:t> (mod 2). Then </a:t>
            </a:r>
            <a:r>
              <a:rPr lang="en-US" altLang="zh-CN" sz="2800" i="1"/>
              <a:t>a</a:t>
            </a:r>
            <a:r>
              <a:rPr lang="en-US" altLang="zh-CN" sz="2800"/>
              <a:t>, </a:t>
            </a:r>
            <a:r>
              <a:rPr lang="en-US" altLang="zh-CN" sz="2800" i="1"/>
              <a:t>b</a:t>
            </a:r>
            <a:r>
              <a:rPr lang="en-US" altLang="zh-CN" sz="2800"/>
              <a:t>, and </a:t>
            </a:r>
            <a:r>
              <a:rPr lang="en-US" altLang="zh-CN" sz="2800" i="1"/>
              <a:t>c</a:t>
            </a:r>
            <a:r>
              <a:rPr lang="en-US" altLang="zh-CN" sz="2800"/>
              <a:t> yield the same remainder when divided by 2. </a:t>
            </a:r>
          </a:p>
          <a:p>
            <a:pPr lvl="1" eaLnBrk="1" hangingPunct="1">
              <a:lnSpc>
                <a:spcPct val="150000"/>
              </a:lnSpc>
            </a:pPr>
            <a:r>
              <a:rPr lang="en-US" altLang="zh-CN" sz="2800"/>
              <a:t>Thus, </a:t>
            </a:r>
            <a:r>
              <a:rPr lang="en-US" altLang="zh-CN" sz="2800" i="1"/>
              <a:t>a</a:t>
            </a:r>
            <a:r>
              <a:rPr lang="en-US" altLang="zh-CN" sz="2800"/>
              <a:t> </a:t>
            </a:r>
            <a:r>
              <a:rPr lang="en-US" altLang="zh-CN" sz="2800">
                <a:latin typeface="Euclid" pitchFamily="18" charset="0"/>
                <a:sym typeface="Symbol" panose="05050102010706020507" pitchFamily="18" charset="2"/>
              </a:rPr>
              <a:t></a:t>
            </a:r>
            <a:r>
              <a:rPr lang="en-US" altLang="zh-CN" sz="2800"/>
              <a:t> </a:t>
            </a:r>
            <a:r>
              <a:rPr lang="en-US" altLang="zh-CN" sz="2800" i="1"/>
              <a:t>c</a:t>
            </a:r>
            <a:r>
              <a:rPr lang="en-US" altLang="zh-CN" sz="2800"/>
              <a:t> (mod 2).</a:t>
            </a:r>
          </a:p>
          <a:p>
            <a:pPr lvl="1">
              <a:lnSpc>
                <a:spcPct val="150000"/>
              </a:lnSpc>
            </a:pPr>
            <a:r>
              <a:rPr lang="en-US" altLang="zh-CN" sz="2800" i="1"/>
              <a:t>R</a:t>
            </a:r>
            <a:r>
              <a:rPr lang="en-US" altLang="zh-CN" sz="2800"/>
              <a:t> is </a:t>
            </a:r>
            <a:r>
              <a:rPr lang="en-US" altLang="zh-CN" sz="2800" i="1">
                <a:solidFill>
                  <a:schemeClr val="hlink"/>
                </a:solidFill>
              </a:rPr>
              <a:t>transitive</a:t>
            </a:r>
            <a:r>
              <a:rPr lang="en-US" altLang="zh-CN" sz="2800"/>
              <a:t>.</a:t>
            </a:r>
          </a:p>
          <a:p>
            <a:pPr>
              <a:lnSpc>
                <a:spcPct val="150000"/>
              </a:lnSpc>
            </a:pPr>
            <a:r>
              <a:rPr lang="en-US" altLang="zh-CN"/>
              <a:t> </a:t>
            </a:r>
            <a:r>
              <a:rPr lang="en-US" altLang="zh-CN" sz="3200"/>
              <a:t>Hence congruence mod 2 is an equivalence relation.</a:t>
            </a:r>
            <a:endParaRPr lang="en-US" altLang="zh-CN" dirty="0"/>
          </a:p>
        </p:txBody>
      </p:sp>
      <p:sp>
        <p:nvSpPr>
          <p:cNvPr id="5" name="文本框 4">
            <a:extLst>
              <a:ext uri="{FF2B5EF4-FFF2-40B4-BE49-F238E27FC236}">
                <a16:creationId xmlns:a16="http://schemas.microsoft.com/office/drawing/2014/main" id="{63DFD179-4141-4B78-9B26-A428D9B8583B}"/>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9.5.3 Equivalence Classes</a:t>
            </a:r>
            <a:endParaRPr lang="zh-CN" altLang="en-US" sz="3200" dirty="0"/>
          </a:p>
        </p:txBody>
      </p:sp>
    </p:spTree>
    <p:extLst>
      <p:ext uri="{BB962C8B-B14F-4D97-AF65-F5344CB8AC3E}">
        <p14:creationId xmlns:p14="http://schemas.microsoft.com/office/powerpoint/2010/main" val="41189656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a:extLst>
              <a:ext uri="{FF2B5EF4-FFF2-40B4-BE49-F238E27FC236}">
                <a16:creationId xmlns:a16="http://schemas.microsoft.com/office/drawing/2014/main" id="{A4946C98-C7C2-4803-9BBD-D59315ED074C}"/>
              </a:ext>
            </a:extLst>
          </p:cNvPr>
          <p:cNvSpPr txBox="1">
            <a:spLocks noChangeArrowheads="1"/>
          </p:cNvSpPr>
          <p:nvPr/>
        </p:nvSpPr>
        <p:spPr bwMode="auto">
          <a:xfrm>
            <a:off x="655320" y="990600"/>
            <a:ext cx="10881360" cy="1684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spcBef>
                <a:spcPct val="0"/>
              </a:spcBef>
              <a:buFontTx/>
              <a:buNone/>
            </a:pPr>
            <a:r>
              <a:rPr lang="zh-CN" altLang="en-US" sz="2400" b="1">
                <a:latin typeface="Times New Roman" panose="02020603050405020304" pitchFamily="18" charset="0"/>
              </a:rPr>
              <a:t>注：</a:t>
            </a:r>
          </a:p>
          <a:p>
            <a:pPr algn="just" eaLnBrk="1" hangingPunct="1">
              <a:lnSpc>
                <a:spcPct val="150000"/>
              </a:lnSpc>
              <a:spcBef>
                <a:spcPct val="0"/>
              </a:spcBef>
              <a:buFontTx/>
              <a:buNone/>
            </a:pPr>
            <a:r>
              <a:rPr lang="zh-CN" altLang="en-US" sz="2400" b="1">
                <a:latin typeface="Times New Roman" panose="02020603050405020304" pitchFamily="18" charset="0"/>
              </a:rPr>
              <a:t>     等价关系Ｒ把Ａ的元素分为若干类，各类之间没有公共元素。确定的Ｒ是对集合Ａ进行的一个划分。</a:t>
            </a:r>
          </a:p>
        </p:txBody>
      </p:sp>
      <p:sp>
        <p:nvSpPr>
          <p:cNvPr id="6" name="Text Box 3">
            <a:extLst>
              <a:ext uri="{FF2B5EF4-FFF2-40B4-BE49-F238E27FC236}">
                <a16:creationId xmlns:a16="http://schemas.microsoft.com/office/drawing/2014/main" id="{81DD7D06-CBE5-4E03-8B67-97FF243B56C7}"/>
              </a:ext>
            </a:extLst>
          </p:cNvPr>
          <p:cNvSpPr txBox="1">
            <a:spLocks noChangeArrowheads="1"/>
          </p:cNvSpPr>
          <p:nvPr/>
        </p:nvSpPr>
        <p:spPr bwMode="auto">
          <a:xfrm>
            <a:off x="728980" y="3056502"/>
            <a:ext cx="10734040" cy="2810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spcBef>
                <a:spcPct val="0"/>
              </a:spcBef>
              <a:buFontTx/>
              <a:buNone/>
            </a:pPr>
            <a:r>
              <a:rPr lang="en-US" altLang="zh-CN" sz="2400" b="1">
                <a:latin typeface="隶书" pitchFamily="49" charset="-122"/>
                <a:ea typeface="隶书" pitchFamily="49" charset="-122"/>
              </a:rPr>
              <a:t>[</a:t>
            </a:r>
            <a:r>
              <a:rPr lang="zh-CN" altLang="en-US" sz="2400" b="1">
                <a:latin typeface="隶书" pitchFamily="49" charset="-122"/>
                <a:ea typeface="隶书" pitchFamily="49" charset="-122"/>
              </a:rPr>
              <a:t>定义</a:t>
            </a:r>
            <a:r>
              <a:rPr lang="en-US" altLang="zh-CN" sz="2400" b="1">
                <a:latin typeface="隶书" pitchFamily="49" charset="-122"/>
                <a:ea typeface="隶书" pitchFamily="49" charset="-122"/>
              </a:rPr>
              <a:t>3]</a:t>
            </a:r>
            <a:r>
              <a:rPr lang="zh-CN" altLang="en-US" sz="2400" b="1">
                <a:latin typeface="宋体" panose="02010600030101010101" pitchFamily="2" charset="-122"/>
              </a:rPr>
              <a:t>集合的划分：把集合Ａ分为若干子集Ａ</a:t>
            </a:r>
            <a:r>
              <a:rPr lang="en-US" altLang="zh-CN" sz="2400" b="1" baseline="-25000">
                <a:latin typeface="宋体" panose="02010600030101010101" pitchFamily="2" charset="-122"/>
              </a:rPr>
              <a:t>1</a:t>
            </a:r>
            <a:r>
              <a:rPr lang="zh-CN" altLang="en-US" sz="2400" b="1">
                <a:latin typeface="宋体" panose="02010600030101010101" pitchFamily="2" charset="-122"/>
              </a:rPr>
              <a:t>，Ａ</a:t>
            </a:r>
            <a:r>
              <a:rPr lang="en-US" altLang="zh-CN" sz="2400" b="1" baseline="-25000">
                <a:latin typeface="宋体" panose="02010600030101010101" pitchFamily="2" charset="-122"/>
              </a:rPr>
              <a:t>2</a:t>
            </a:r>
            <a:r>
              <a:rPr lang="zh-CN" altLang="en-US" sz="2400" b="1">
                <a:latin typeface="宋体" panose="02010600030101010101" pitchFamily="2" charset="-122"/>
              </a:rPr>
              <a:t>，</a:t>
            </a:r>
            <a:r>
              <a:rPr lang="en-US" altLang="zh-CN" sz="2400" b="1">
                <a:latin typeface="Courier New" panose="02070309020205020404" pitchFamily="49" charset="0"/>
              </a:rPr>
              <a:t>…</a:t>
            </a:r>
            <a:r>
              <a:rPr lang="zh-CN" altLang="en-US" sz="2400" b="1">
                <a:latin typeface="宋体" panose="02010600030101010101" pitchFamily="2" charset="-122"/>
              </a:rPr>
              <a:t>，满足：</a:t>
            </a:r>
          </a:p>
          <a:p>
            <a:pPr algn="just" eaLnBrk="1" hangingPunct="1">
              <a:lnSpc>
                <a:spcPct val="150000"/>
              </a:lnSpc>
              <a:spcBef>
                <a:spcPct val="0"/>
              </a:spcBef>
              <a:buFontTx/>
              <a:buNone/>
            </a:pPr>
            <a:r>
              <a:rPr lang="zh-CN" altLang="en-US" sz="2400" b="1">
                <a:latin typeface="宋体" panose="02010600030101010101" pitchFamily="2" charset="-122"/>
              </a:rPr>
              <a:t>   （</a:t>
            </a:r>
            <a:r>
              <a:rPr lang="en-US" altLang="zh-CN" sz="2400" b="1">
                <a:latin typeface="宋体" panose="02010600030101010101" pitchFamily="2" charset="-122"/>
              </a:rPr>
              <a:t>1</a:t>
            </a:r>
            <a:r>
              <a:rPr lang="zh-CN" altLang="en-US" sz="2400" b="1">
                <a:latin typeface="宋体" panose="02010600030101010101" pitchFamily="2" charset="-122"/>
              </a:rPr>
              <a:t>）当ｉ≠ｊ时Ａ</a:t>
            </a:r>
            <a:r>
              <a:rPr lang="en-US" altLang="zh-CN" sz="2400" b="1" baseline="-25000">
                <a:latin typeface="宋体" panose="02010600030101010101" pitchFamily="2" charset="-122"/>
              </a:rPr>
              <a:t>i</a:t>
            </a:r>
            <a:r>
              <a:rPr lang="en-US" altLang="zh-CN" sz="2400" b="1">
                <a:latin typeface="宋体" panose="02010600030101010101" pitchFamily="2" charset="-122"/>
              </a:rPr>
              <a:t>∩</a:t>
            </a:r>
            <a:r>
              <a:rPr lang="zh-CN" altLang="en-US" sz="2400" b="1">
                <a:latin typeface="宋体" panose="02010600030101010101" pitchFamily="2" charset="-122"/>
              </a:rPr>
              <a:t>Ａ</a:t>
            </a:r>
            <a:r>
              <a:rPr lang="en-US" altLang="zh-CN" sz="2400" b="1" baseline="-25000">
                <a:latin typeface="宋体" panose="02010600030101010101" pitchFamily="2" charset="-122"/>
              </a:rPr>
              <a:t>j</a:t>
            </a:r>
            <a:r>
              <a:rPr lang="zh-CN" altLang="en-US" sz="2400" b="1">
                <a:latin typeface="宋体" panose="02010600030101010101" pitchFamily="2" charset="-122"/>
              </a:rPr>
              <a:t>＝</a:t>
            </a:r>
            <a:r>
              <a:rPr lang="zh-CN" altLang="en-US" sz="2400" b="1">
                <a:latin typeface="宋体" panose="02010600030101010101" pitchFamily="2" charset="-122"/>
                <a:sym typeface="Symbol" panose="05050102010706020507" pitchFamily="18" charset="2"/>
              </a:rPr>
              <a:t></a:t>
            </a:r>
            <a:endParaRPr lang="zh-CN" altLang="en-US" sz="2400" b="1">
              <a:latin typeface="宋体" panose="02010600030101010101" pitchFamily="2" charset="-122"/>
            </a:endParaRPr>
          </a:p>
          <a:p>
            <a:pPr algn="just" eaLnBrk="1" hangingPunct="1">
              <a:lnSpc>
                <a:spcPct val="150000"/>
              </a:lnSpc>
              <a:spcBef>
                <a:spcPct val="0"/>
              </a:spcBef>
              <a:buFontTx/>
              <a:buNone/>
            </a:pPr>
            <a:r>
              <a:rPr lang="zh-CN" altLang="en-US" sz="2400" b="1">
                <a:latin typeface="宋体" panose="02010600030101010101" pitchFamily="2" charset="-122"/>
              </a:rPr>
              <a:t>   （</a:t>
            </a:r>
            <a:r>
              <a:rPr lang="en-US" altLang="zh-CN" sz="2400" b="1">
                <a:latin typeface="宋体" panose="02010600030101010101" pitchFamily="2" charset="-122"/>
              </a:rPr>
              <a:t>2</a:t>
            </a:r>
            <a:r>
              <a:rPr lang="zh-CN" altLang="en-US" sz="2400" b="1">
                <a:latin typeface="宋体" panose="02010600030101010101" pitchFamily="2" charset="-122"/>
              </a:rPr>
              <a:t>） </a:t>
            </a:r>
            <a:r>
              <a:rPr lang="zh-CN" altLang="en-US" sz="2400" b="1">
                <a:latin typeface="宋体" panose="02010600030101010101" pitchFamily="2" charset="-122"/>
                <a:sym typeface="Symbol" panose="05050102010706020507" pitchFamily="18" charset="2"/>
              </a:rPr>
              <a:t></a:t>
            </a:r>
            <a:r>
              <a:rPr lang="zh-CN" altLang="en-US" sz="2400" b="1">
                <a:latin typeface="宋体" panose="02010600030101010101" pitchFamily="2" charset="-122"/>
              </a:rPr>
              <a:t>ａ∈Ａ， </a:t>
            </a:r>
            <a:r>
              <a:rPr lang="zh-CN" altLang="en-US" sz="2400" b="1">
                <a:latin typeface="宋体" panose="02010600030101010101" pitchFamily="2" charset="-122"/>
                <a:sym typeface="Symbol" panose="05050102010706020507" pitchFamily="18" charset="2"/>
              </a:rPr>
              <a:t></a:t>
            </a:r>
            <a:r>
              <a:rPr lang="zh-CN" altLang="en-US" sz="2400" b="1">
                <a:latin typeface="宋体" panose="02010600030101010101" pitchFamily="2" charset="-122"/>
              </a:rPr>
              <a:t>ｉ，</a:t>
            </a:r>
          </a:p>
          <a:p>
            <a:pPr algn="just" eaLnBrk="1" hangingPunct="1">
              <a:lnSpc>
                <a:spcPct val="150000"/>
              </a:lnSpc>
              <a:spcBef>
                <a:spcPct val="0"/>
              </a:spcBef>
              <a:buFontTx/>
              <a:buNone/>
            </a:pPr>
            <a:r>
              <a:rPr lang="zh-CN" altLang="en-US" sz="2400" b="1">
                <a:latin typeface="宋体" panose="02010600030101010101" pitchFamily="2" charset="-122"/>
              </a:rPr>
              <a:t>         使ａ∈Ａ</a:t>
            </a:r>
            <a:r>
              <a:rPr lang="en-US" altLang="zh-CN" sz="2400" b="1" baseline="-25000">
                <a:latin typeface="宋体" panose="02010600030101010101" pitchFamily="2" charset="-122"/>
              </a:rPr>
              <a:t>i</a:t>
            </a:r>
            <a:r>
              <a:rPr lang="zh-CN" altLang="en-US" sz="2400" b="1">
                <a:latin typeface="宋体" panose="02010600030101010101" pitchFamily="2" charset="-122"/>
              </a:rPr>
              <a:t>（ｉ＝１，２，</a:t>
            </a:r>
            <a:r>
              <a:rPr lang="en-US" altLang="zh-CN" sz="2400" b="1">
                <a:latin typeface="Courier New" panose="02070309020205020404" pitchFamily="49" charset="0"/>
              </a:rPr>
              <a:t>…</a:t>
            </a:r>
            <a:r>
              <a:rPr lang="zh-CN" altLang="en-US" sz="2400" b="1">
                <a:latin typeface="宋体" panose="02010600030101010101" pitchFamily="2" charset="-122"/>
              </a:rPr>
              <a:t>）</a:t>
            </a:r>
          </a:p>
          <a:p>
            <a:pPr algn="just" eaLnBrk="1" hangingPunct="1">
              <a:lnSpc>
                <a:spcPct val="150000"/>
              </a:lnSpc>
              <a:spcBef>
                <a:spcPct val="0"/>
              </a:spcBef>
              <a:buFontTx/>
              <a:buNone/>
            </a:pPr>
            <a:r>
              <a:rPr lang="zh-CN" altLang="en-US" sz="2400" b="1">
                <a:latin typeface="宋体" panose="02010600030101010101" pitchFamily="2" charset="-122"/>
              </a:rPr>
              <a:t>则集合</a:t>
            </a:r>
            <a:r>
              <a:rPr lang="en-US" altLang="zh-CN" sz="2400" b="1">
                <a:latin typeface="宋体" panose="02010600030101010101" pitchFamily="2" charset="-122"/>
              </a:rPr>
              <a:t>P</a:t>
            </a:r>
            <a:r>
              <a:rPr lang="en-US" altLang="zh-CN" sz="2400" b="1" baseline="-32000">
                <a:latin typeface="宋体" panose="02010600030101010101" pitchFamily="2" charset="-122"/>
              </a:rPr>
              <a:t>r</a:t>
            </a:r>
            <a:r>
              <a:rPr lang="zh-CN" altLang="en-US" sz="2400" b="1">
                <a:latin typeface="宋体" panose="02010600030101010101" pitchFamily="2" charset="-122"/>
              </a:rPr>
              <a:t>（Ａ）＝｛Ａ</a:t>
            </a:r>
            <a:r>
              <a:rPr lang="en-US" altLang="zh-CN" sz="2400" b="1" baseline="-25000">
                <a:latin typeface="宋体" panose="02010600030101010101" pitchFamily="2" charset="-122"/>
              </a:rPr>
              <a:t>1</a:t>
            </a:r>
            <a:r>
              <a:rPr lang="zh-CN" altLang="en-US" sz="2400" b="1">
                <a:latin typeface="宋体" panose="02010600030101010101" pitchFamily="2" charset="-122"/>
              </a:rPr>
              <a:t>，Ａ</a:t>
            </a:r>
            <a:r>
              <a:rPr lang="en-US" altLang="zh-CN" sz="2400" b="1" baseline="-25000">
                <a:latin typeface="宋体" panose="02010600030101010101" pitchFamily="2" charset="-122"/>
              </a:rPr>
              <a:t>2</a:t>
            </a:r>
            <a:r>
              <a:rPr lang="zh-CN" altLang="en-US" sz="2400" b="1">
                <a:latin typeface="宋体" panose="02010600030101010101" pitchFamily="2" charset="-122"/>
              </a:rPr>
              <a:t>，</a:t>
            </a:r>
            <a:r>
              <a:rPr lang="en-US" altLang="zh-CN" sz="2400" b="1">
                <a:latin typeface="Courier New" panose="02070309020205020404" pitchFamily="49" charset="0"/>
              </a:rPr>
              <a:t>…</a:t>
            </a:r>
            <a:r>
              <a:rPr lang="zh-CN" altLang="en-US" sz="2400" b="1">
                <a:latin typeface="宋体" panose="02010600030101010101" pitchFamily="2" charset="-122"/>
              </a:rPr>
              <a:t>，Ａ</a:t>
            </a:r>
            <a:r>
              <a:rPr lang="en-US" altLang="zh-CN" sz="2400" b="1" baseline="-25000">
                <a:latin typeface="宋体" panose="02010600030101010101" pitchFamily="2" charset="-122"/>
              </a:rPr>
              <a:t>n</a:t>
            </a:r>
            <a:r>
              <a:rPr lang="zh-CN" altLang="en-US" sz="2400" b="1">
                <a:latin typeface="宋体" panose="02010600030101010101" pitchFamily="2" charset="-122"/>
              </a:rPr>
              <a:t>，</a:t>
            </a:r>
            <a:r>
              <a:rPr lang="en-US" altLang="zh-CN" sz="2400" b="1">
                <a:latin typeface="Courier New" panose="02070309020205020404" pitchFamily="49" charset="0"/>
              </a:rPr>
              <a:t>…</a:t>
            </a:r>
            <a:r>
              <a:rPr lang="zh-CN" altLang="en-US" sz="2400" b="1">
                <a:latin typeface="宋体" panose="02010600030101010101" pitchFamily="2" charset="-122"/>
              </a:rPr>
              <a:t>｝称为Ａ的一个</a:t>
            </a:r>
            <a:r>
              <a:rPr lang="zh-CN" altLang="en-US" sz="2400" b="1">
                <a:solidFill>
                  <a:schemeClr val="tx2"/>
                </a:solidFill>
                <a:latin typeface="宋体" panose="02010600030101010101" pitchFamily="2" charset="-122"/>
              </a:rPr>
              <a:t>划分</a:t>
            </a:r>
            <a:r>
              <a:rPr lang="en-US" altLang="zh-CN" sz="2400" b="1">
                <a:solidFill>
                  <a:schemeClr val="tx2"/>
                </a:solidFill>
                <a:latin typeface="宋体" panose="02010600030101010101" pitchFamily="2" charset="-122"/>
              </a:rPr>
              <a:t>/partition</a:t>
            </a:r>
            <a:r>
              <a:rPr lang="zh-CN" altLang="en-US" sz="2400" b="1">
                <a:latin typeface="宋体" panose="02010600030101010101" pitchFamily="2" charset="-122"/>
              </a:rPr>
              <a:t>。  </a:t>
            </a:r>
            <a:endParaRPr lang="zh-CN" altLang="en-US" sz="2000" b="1">
              <a:latin typeface="宋体" panose="02010600030101010101" pitchFamily="2" charset="-122"/>
            </a:endParaRPr>
          </a:p>
        </p:txBody>
      </p:sp>
      <p:sp>
        <p:nvSpPr>
          <p:cNvPr id="7" name="文本框 6">
            <a:extLst>
              <a:ext uri="{FF2B5EF4-FFF2-40B4-BE49-F238E27FC236}">
                <a16:creationId xmlns:a16="http://schemas.microsoft.com/office/drawing/2014/main" id="{1FA65B95-4481-4FA1-ABDB-3F489468EEF1}"/>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9.5.3 Equivalence Classes</a:t>
            </a:r>
            <a:endParaRPr lang="zh-CN" altLang="en-US" sz="3200" dirty="0"/>
          </a:p>
        </p:txBody>
      </p:sp>
    </p:spTree>
    <p:extLst>
      <p:ext uri="{BB962C8B-B14F-4D97-AF65-F5344CB8AC3E}">
        <p14:creationId xmlns:p14="http://schemas.microsoft.com/office/powerpoint/2010/main" val="1807024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9.5.4 Equivalence Classes and Partitions</a:t>
            </a:r>
            <a:endParaRPr lang="en-US" altLang="zh-CN" sz="3200" dirty="0"/>
          </a:p>
        </p:txBody>
      </p:sp>
      <p:sp>
        <p:nvSpPr>
          <p:cNvPr id="4" name="Rectangle 3">
            <a:extLst>
              <a:ext uri="{FF2B5EF4-FFF2-40B4-BE49-F238E27FC236}">
                <a16:creationId xmlns:a16="http://schemas.microsoft.com/office/drawing/2014/main" id="{8B46E076-8636-4CBB-8DD9-FB709008B5F0}"/>
              </a:ext>
            </a:extLst>
          </p:cNvPr>
          <p:cNvSpPr txBox="1">
            <a:spLocks noChangeArrowheads="1"/>
          </p:cNvSpPr>
          <p:nvPr/>
        </p:nvSpPr>
        <p:spPr bwMode="auto">
          <a:xfrm>
            <a:off x="568234" y="1166018"/>
            <a:ext cx="1105553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eaLnBrk="1" hangingPunct="1">
              <a:lnSpc>
                <a:spcPct val="150000"/>
              </a:lnSpc>
            </a:pPr>
            <a:r>
              <a:rPr lang="en-US" altLang="zh-CN" dirty="0"/>
              <a:t>A </a:t>
            </a:r>
            <a:r>
              <a:rPr lang="en-US" altLang="zh-CN" i="1" dirty="0"/>
              <a:t>partition</a:t>
            </a:r>
            <a:r>
              <a:rPr lang="en-US" altLang="zh-CN" dirty="0"/>
              <a:t> of a set </a:t>
            </a:r>
            <a:r>
              <a:rPr lang="en-US" altLang="zh-CN" i="1" dirty="0"/>
              <a:t>A</a:t>
            </a:r>
            <a:r>
              <a:rPr lang="en-US" altLang="zh-CN" dirty="0"/>
              <a:t> is the set of all the equivalence classes {</a:t>
            </a:r>
            <a:r>
              <a:rPr lang="en-US" altLang="zh-CN" i="1" dirty="0"/>
              <a:t>A</a:t>
            </a:r>
            <a:r>
              <a:rPr lang="en-US" altLang="zh-CN" baseline="-25000" dirty="0"/>
              <a:t>1</a:t>
            </a:r>
            <a:r>
              <a:rPr lang="en-US" altLang="zh-CN" dirty="0"/>
              <a:t>, </a:t>
            </a:r>
            <a:r>
              <a:rPr lang="en-US" altLang="zh-CN" i="1" dirty="0"/>
              <a:t>A</a:t>
            </a:r>
            <a:r>
              <a:rPr lang="en-US" altLang="zh-CN" baseline="-25000" dirty="0"/>
              <a:t>2</a:t>
            </a:r>
            <a:r>
              <a:rPr lang="en-US" altLang="zh-CN" dirty="0"/>
              <a:t>, </a:t>
            </a:r>
            <a:r>
              <a:rPr lang="en-US" altLang="zh-CN" dirty="0">
                <a:latin typeface="Times New Roman" panose="02020603050405020304" pitchFamily="18" charset="0"/>
              </a:rPr>
              <a:t>…</a:t>
            </a:r>
            <a:r>
              <a:rPr lang="en-US" altLang="zh-CN" dirty="0"/>
              <a:t> } for some equivalence relation on </a:t>
            </a:r>
            <a:r>
              <a:rPr lang="en-US" altLang="zh-CN" i="1" dirty="0"/>
              <a:t>A</a:t>
            </a:r>
            <a:r>
              <a:rPr lang="en-US" altLang="zh-CN" dirty="0"/>
              <a:t>.</a:t>
            </a:r>
          </a:p>
          <a:p>
            <a:pPr lvl="1" eaLnBrk="1" hangingPunct="1">
              <a:lnSpc>
                <a:spcPct val="150000"/>
              </a:lnSpc>
            </a:pPr>
            <a:r>
              <a:rPr lang="en-US" altLang="zh-CN" dirty="0"/>
              <a:t>The </a:t>
            </a:r>
            <a:r>
              <a:rPr lang="en-US" altLang="zh-CN" i="1" dirty="0"/>
              <a:t>A</a:t>
            </a:r>
            <a:r>
              <a:rPr lang="en-US" altLang="zh-CN" i="1" baseline="-25000" dirty="0"/>
              <a:t>i</a:t>
            </a:r>
            <a:r>
              <a:rPr lang="en-US" altLang="zh-CN" dirty="0">
                <a:latin typeface="Times New Roman" panose="02020603050405020304" pitchFamily="18" charset="0"/>
              </a:rPr>
              <a:t>’</a:t>
            </a:r>
            <a:r>
              <a:rPr lang="en-US" altLang="zh-CN" dirty="0"/>
              <a:t>s are all disjoint and their union = </a:t>
            </a:r>
            <a:r>
              <a:rPr lang="en-US" altLang="zh-CN" i="1" dirty="0"/>
              <a:t>A</a:t>
            </a:r>
            <a:r>
              <a:rPr lang="en-US" altLang="zh-CN" dirty="0"/>
              <a:t>.</a:t>
            </a:r>
            <a:endParaRPr lang="en-US" altLang="zh-CN" sz="2800" dirty="0"/>
          </a:p>
          <a:p>
            <a:pPr>
              <a:lnSpc>
                <a:spcPct val="150000"/>
              </a:lnSpc>
            </a:pPr>
            <a:r>
              <a:rPr lang="en-US" altLang="zh-CN" dirty="0"/>
              <a:t>They </a:t>
            </a:r>
            <a:r>
              <a:rPr lang="en-US" altLang="zh-CN" dirty="0">
                <a:latin typeface="Times New Roman" panose="02020603050405020304" pitchFamily="18" charset="0"/>
              </a:rPr>
              <a:t>“</a:t>
            </a:r>
            <a:r>
              <a:rPr lang="en-US" altLang="zh-CN" dirty="0"/>
              <a:t>partition</a:t>
            </a:r>
            <a:r>
              <a:rPr lang="en-US" altLang="zh-CN" dirty="0">
                <a:latin typeface="Times New Roman" panose="02020603050405020304" pitchFamily="18" charset="0"/>
              </a:rPr>
              <a:t>”</a:t>
            </a:r>
            <a:r>
              <a:rPr lang="en-US" altLang="zh-CN" dirty="0"/>
              <a:t> the set into pieces.  Within each piece, all members of that set are equivalent to each other.</a:t>
            </a:r>
          </a:p>
        </p:txBody>
      </p:sp>
    </p:spTree>
    <p:extLst>
      <p:ext uri="{BB962C8B-B14F-4D97-AF65-F5344CB8AC3E}">
        <p14:creationId xmlns:p14="http://schemas.microsoft.com/office/powerpoint/2010/main" val="9471235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46E076-8636-4CBB-8DD9-FB709008B5F0}"/>
              </a:ext>
            </a:extLst>
          </p:cNvPr>
          <p:cNvSpPr txBox="1">
            <a:spLocks noChangeArrowheads="1"/>
          </p:cNvSpPr>
          <p:nvPr/>
        </p:nvSpPr>
        <p:spPr bwMode="auto">
          <a:xfrm>
            <a:off x="210985" y="1166018"/>
            <a:ext cx="1105553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a:lnSpc>
                <a:spcPct val="150000"/>
              </a:lnSpc>
            </a:pPr>
            <a:r>
              <a:rPr lang="en-US" altLang="zh-CN" dirty="0"/>
              <a:t>If</a:t>
            </a:r>
            <a:r>
              <a:rPr lang="en-US" altLang="zh-CN" b="1" i="1" dirty="0"/>
              <a:t> P </a:t>
            </a:r>
            <a:r>
              <a:rPr lang="en-US" altLang="zh-CN" dirty="0"/>
              <a:t>is a partition of a set </a:t>
            </a:r>
            <a:r>
              <a:rPr lang="en-US" altLang="zh-CN" i="1" dirty="0"/>
              <a:t>A</a:t>
            </a:r>
            <a:r>
              <a:rPr lang="en-US" altLang="zh-CN" dirty="0"/>
              <a:t>, then </a:t>
            </a:r>
            <a:r>
              <a:rPr lang="en-US" altLang="zh-CN" b="1" i="1" dirty="0"/>
              <a:t>P </a:t>
            </a:r>
            <a:r>
              <a:rPr lang="en-US" altLang="zh-CN" dirty="0"/>
              <a:t>can be used to construct an equivalence relation on </a:t>
            </a:r>
            <a:r>
              <a:rPr lang="en-US" altLang="zh-CN" i="1" dirty="0"/>
              <a:t>A</a:t>
            </a:r>
            <a:r>
              <a:rPr lang="en-US" altLang="zh-CN" dirty="0"/>
              <a:t>.</a:t>
            </a:r>
          </a:p>
        </p:txBody>
      </p:sp>
      <p:sp>
        <p:nvSpPr>
          <p:cNvPr id="5" name="文本框 4">
            <a:extLst>
              <a:ext uri="{FF2B5EF4-FFF2-40B4-BE49-F238E27FC236}">
                <a16:creationId xmlns:a16="http://schemas.microsoft.com/office/drawing/2014/main" id="{FE7825EE-C92D-4E00-B38F-4EB00CDEE5BD}"/>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9.5.4 Equivalence Classes and Partitions</a:t>
            </a:r>
            <a:endParaRPr lang="en-US" altLang="zh-CN" sz="3200" dirty="0"/>
          </a:p>
        </p:txBody>
      </p:sp>
    </p:spTree>
    <p:extLst>
      <p:ext uri="{BB962C8B-B14F-4D97-AF65-F5344CB8AC3E}">
        <p14:creationId xmlns:p14="http://schemas.microsoft.com/office/powerpoint/2010/main" val="14951770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46E076-8636-4CBB-8DD9-FB709008B5F0}"/>
              </a:ext>
            </a:extLst>
          </p:cNvPr>
          <p:cNvSpPr txBox="1">
            <a:spLocks noChangeArrowheads="1"/>
          </p:cNvSpPr>
          <p:nvPr/>
        </p:nvSpPr>
        <p:spPr bwMode="auto">
          <a:xfrm>
            <a:off x="568234" y="739754"/>
            <a:ext cx="1105553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a:lnSpc>
                <a:spcPct val="150000"/>
              </a:lnSpc>
            </a:pPr>
            <a:r>
              <a:rPr lang="en-US" altLang="zh-CN" dirty="0"/>
              <a:t>Let </a:t>
            </a:r>
            <a:r>
              <a:rPr lang="en-US" altLang="zh-CN" b="1" i="1" dirty="0"/>
              <a:t>P</a:t>
            </a:r>
            <a:r>
              <a:rPr lang="en-US" altLang="zh-CN" dirty="0"/>
              <a:t> be a partition of a set </a:t>
            </a:r>
            <a:r>
              <a:rPr lang="en-US" altLang="zh-CN" i="1" dirty="0"/>
              <a:t>A</a:t>
            </a:r>
            <a:r>
              <a:rPr lang="en-US" altLang="zh-CN" dirty="0"/>
              <a:t>. Define the relation </a:t>
            </a:r>
            <a:r>
              <a:rPr lang="en-US" altLang="zh-CN" i="1" dirty="0"/>
              <a:t>R</a:t>
            </a:r>
            <a:r>
              <a:rPr lang="en-US" altLang="zh-CN" dirty="0"/>
              <a:t> on </a:t>
            </a:r>
            <a:r>
              <a:rPr lang="en-US" altLang="zh-CN" i="1" dirty="0"/>
              <a:t>A</a:t>
            </a:r>
            <a:r>
              <a:rPr lang="en-US" altLang="zh-CN" dirty="0"/>
              <a:t> as follows:</a:t>
            </a:r>
          </a:p>
          <a:p>
            <a:pPr lvl="1">
              <a:lnSpc>
                <a:spcPct val="150000"/>
              </a:lnSpc>
            </a:pPr>
            <a:r>
              <a:rPr lang="en-US" altLang="zh-CN" i="1" dirty="0"/>
              <a:t>a R b</a:t>
            </a:r>
          </a:p>
          <a:p>
            <a:pPr lvl="2">
              <a:lnSpc>
                <a:spcPct val="150000"/>
              </a:lnSpc>
            </a:pPr>
            <a:r>
              <a:rPr lang="en-US" altLang="zh-CN" dirty="0"/>
              <a:t>If and only if</a:t>
            </a:r>
            <a:endParaRPr lang="en-US" altLang="zh-CN" i="1" dirty="0"/>
          </a:p>
          <a:p>
            <a:pPr lvl="1">
              <a:lnSpc>
                <a:spcPct val="150000"/>
              </a:lnSpc>
            </a:pPr>
            <a:r>
              <a:rPr lang="en-US" altLang="zh-CN" i="1" dirty="0"/>
              <a:t>a</a:t>
            </a:r>
            <a:r>
              <a:rPr lang="en-US" altLang="zh-CN" dirty="0"/>
              <a:t> and </a:t>
            </a:r>
            <a:r>
              <a:rPr lang="en-US" altLang="zh-CN" i="1" dirty="0"/>
              <a:t>b</a:t>
            </a:r>
            <a:r>
              <a:rPr lang="en-US" altLang="zh-CN" dirty="0"/>
              <a:t> are members of the same block</a:t>
            </a:r>
            <a:r>
              <a:rPr lang="en-US" altLang="zh-CN" i="1" dirty="0"/>
              <a:t>.</a:t>
            </a:r>
          </a:p>
          <a:p>
            <a:pPr>
              <a:lnSpc>
                <a:spcPct val="150000"/>
              </a:lnSpc>
            </a:pPr>
            <a:r>
              <a:rPr lang="en-US" altLang="zh-CN" dirty="0"/>
              <a:t>Then </a:t>
            </a:r>
            <a:r>
              <a:rPr lang="en-US" altLang="zh-CN" i="1" dirty="0"/>
              <a:t>R</a:t>
            </a:r>
            <a:r>
              <a:rPr lang="en-US" altLang="zh-CN" dirty="0"/>
              <a:t> is an equivalence relation on </a:t>
            </a:r>
            <a:r>
              <a:rPr lang="en-US" altLang="zh-CN" i="1" dirty="0"/>
              <a:t>A</a:t>
            </a:r>
            <a:r>
              <a:rPr lang="en-US" altLang="zh-CN" dirty="0"/>
              <a:t>.</a:t>
            </a:r>
          </a:p>
        </p:txBody>
      </p:sp>
      <p:sp>
        <p:nvSpPr>
          <p:cNvPr id="5" name="文本框 4">
            <a:extLst>
              <a:ext uri="{FF2B5EF4-FFF2-40B4-BE49-F238E27FC236}">
                <a16:creationId xmlns:a16="http://schemas.microsoft.com/office/drawing/2014/main" id="{EBFE0062-F4E0-48EE-A22A-81BB00DAF933}"/>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9.5.4 Equivalence Classes and Partitions</a:t>
            </a:r>
            <a:endParaRPr lang="en-US" altLang="zh-CN" sz="3200" dirty="0"/>
          </a:p>
        </p:txBody>
      </p:sp>
    </p:spTree>
    <p:extLst>
      <p:ext uri="{BB962C8B-B14F-4D97-AF65-F5344CB8AC3E}">
        <p14:creationId xmlns:p14="http://schemas.microsoft.com/office/powerpoint/2010/main" val="75870660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46E076-8636-4CBB-8DD9-FB709008B5F0}"/>
              </a:ext>
            </a:extLst>
          </p:cNvPr>
          <p:cNvSpPr txBox="1">
            <a:spLocks noChangeArrowheads="1"/>
          </p:cNvSpPr>
          <p:nvPr/>
        </p:nvSpPr>
        <p:spPr bwMode="auto">
          <a:xfrm>
            <a:off x="231305" y="917479"/>
            <a:ext cx="11960695" cy="551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lvl="1" eaLnBrk="1" hangingPunct="1">
              <a:lnSpc>
                <a:spcPct val="150000"/>
              </a:lnSpc>
              <a:defRPr/>
            </a:pPr>
            <a:r>
              <a:rPr lang="en-US" altLang="zh-CN" i="1" dirty="0"/>
              <a:t>If a </a:t>
            </a:r>
            <a:r>
              <a:rPr lang="en-US" altLang="zh-CN" i="1" dirty="0">
                <a:sym typeface="Symbol" pitchFamily="18" charset="2"/>
              </a:rPr>
              <a:t></a:t>
            </a:r>
            <a:r>
              <a:rPr lang="en-US" altLang="zh-CN" i="1" dirty="0"/>
              <a:t> A, then clearly a is in the same block as itself; so a R a.</a:t>
            </a:r>
          </a:p>
          <a:p>
            <a:pPr lvl="1" eaLnBrk="1" hangingPunct="1">
              <a:lnSpc>
                <a:spcPct val="150000"/>
              </a:lnSpc>
              <a:defRPr/>
            </a:pPr>
            <a:r>
              <a:rPr lang="en-US" altLang="zh-CN" sz="2800" dirty="0"/>
              <a:t>If </a:t>
            </a:r>
            <a:r>
              <a:rPr lang="en-US" altLang="zh-CN" sz="2800" i="1" dirty="0"/>
              <a:t>a R b</a:t>
            </a:r>
            <a:r>
              <a:rPr lang="en-US" altLang="zh-CN" sz="2800" dirty="0"/>
              <a:t>, then </a:t>
            </a:r>
            <a:r>
              <a:rPr lang="en-US" altLang="zh-CN" sz="2800" i="1" dirty="0"/>
              <a:t>a</a:t>
            </a:r>
            <a:r>
              <a:rPr lang="en-US" altLang="zh-CN" sz="2800" dirty="0"/>
              <a:t> and </a:t>
            </a:r>
            <a:r>
              <a:rPr lang="en-US" altLang="zh-CN" sz="2800" i="1" dirty="0"/>
              <a:t>b</a:t>
            </a:r>
            <a:r>
              <a:rPr lang="en-US" altLang="zh-CN" sz="2800" dirty="0"/>
              <a:t> are in the same block; so </a:t>
            </a:r>
            <a:r>
              <a:rPr lang="en-US" altLang="zh-CN" sz="2800" i="1" dirty="0"/>
              <a:t>b R a</a:t>
            </a:r>
            <a:r>
              <a:rPr lang="en-US" altLang="zh-CN" sz="2800" dirty="0"/>
              <a:t>.</a:t>
            </a:r>
          </a:p>
          <a:p>
            <a:pPr lvl="1" eaLnBrk="1" hangingPunct="1">
              <a:lnSpc>
                <a:spcPct val="150000"/>
              </a:lnSpc>
              <a:defRPr/>
            </a:pPr>
            <a:r>
              <a:rPr lang="en-US" altLang="zh-CN" i="1" dirty="0"/>
              <a:t>If a R b and b R c, then a, b, and c must all lie in the same block of </a:t>
            </a:r>
            <a:r>
              <a:rPr lang="en-US" altLang="zh-CN" sz="3200" i="1" dirty="0"/>
              <a:t>P</a:t>
            </a:r>
            <a:r>
              <a:rPr lang="en-US" altLang="zh-CN" i="1" dirty="0"/>
              <a:t>. Thus a R c.</a:t>
            </a:r>
          </a:p>
          <a:p>
            <a:pPr eaLnBrk="1" hangingPunct="1">
              <a:lnSpc>
                <a:spcPct val="150000"/>
              </a:lnSpc>
              <a:defRPr/>
            </a:pPr>
            <a:r>
              <a:rPr lang="en-US" altLang="zh-CN" dirty="0"/>
              <a:t>Since R is reflexive, symmetric, and transitive, R is an equivalence relation.</a:t>
            </a:r>
          </a:p>
          <a:p>
            <a:pPr eaLnBrk="1" hangingPunct="1">
              <a:lnSpc>
                <a:spcPct val="150000"/>
              </a:lnSpc>
              <a:defRPr/>
            </a:pPr>
            <a:r>
              <a:rPr lang="en-US" altLang="zh-CN" sz="3200" i="1" dirty="0"/>
              <a:t>R</a:t>
            </a:r>
            <a:r>
              <a:rPr lang="en-US" altLang="zh-CN" sz="3200" dirty="0"/>
              <a:t> will be called the </a:t>
            </a:r>
            <a:r>
              <a:rPr lang="en-US" altLang="zh-CN" sz="3200" i="1" dirty="0">
                <a:solidFill>
                  <a:schemeClr val="hlink"/>
                </a:solidFill>
              </a:rPr>
              <a:t>equivalence relation determined by</a:t>
            </a:r>
            <a:r>
              <a:rPr lang="en-US" altLang="zh-CN" sz="3200" dirty="0"/>
              <a:t> </a:t>
            </a:r>
            <a:r>
              <a:rPr lang="en-US" altLang="zh-CN" i="1" dirty="0"/>
              <a:t>P</a:t>
            </a:r>
            <a:r>
              <a:rPr lang="en-US" altLang="zh-CN" sz="3200" dirty="0"/>
              <a:t>.</a:t>
            </a:r>
          </a:p>
        </p:txBody>
      </p:sp>
      <p:sp>
        <p:nvSpPr>
          <p:cNvPr id="5" name="文本框 4">
            <a:extLst>
              <a:ext uri="{FF2B5EF4-FFF2-40B4-BE49-F238E27FC236}">
                <a16:creationId xmlns:a16="http://schemas.microsoft.com/office/drawing/2014/main" id="{AF846C83-C813-4BF7-A1A2-E5861F97F866}"/>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9.5.4 Equivalence Classes and Partitions</a:t>
            </a:r>
            <a:endParaRPr lang="en-US" altLang="zh-CN" sz="3200" dirty="0"/>
          </a:p>
        </p:txBody>
      </p:sp>
    </p:spTree>
    <p:extLst>
      <p:ext uri="{BB962C8B-B14F-4D97-AF65-F5344CB8AC3E}">
        <p14:creationId xmlns:p14="http://schemas.microsoft.com/office/powerpoint/2010/main" val="277208714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46E076-8636-4CBB-8DD9-FB709008B5F0}"/>
              </a:ext>
            </a:extLst>
          </p:cNvPr>
          <p:cNvSpPr txBox="1">
            <a:spLocks noChangeArrowheads="1"/>
          </p:cNvSpPr>
          <p:nvPr/>
        </p:nvSpPr>
        <p:spPr bwMode="auto">
          <a:xfrm>
            <a:off x="210046" y="989637"/>
            <a:ext cx="11771908" cy="4878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a:lnSpc>
                <a:spcPct val="150000"/>
              </a:lnSpc>
              <a:defRPr/>
            </a:pPr>
            <a:r>
              <a:rPr lang="en-US" altLang="zh-CN" sz="2800" dirty="0"/>
              <a:t>Let </a:t>
            </a:r>
            <a:r>
              <a:rPr lang="en-US" altLang="zh-CN" sz="2800" i="1" dirty="0"/>
              <a:t>A</a:t>
            </a:r>
            <a:r>
              <a:rPr lang="en-US" altLang="zh-CN" sz="2800" dirty="0"/>
              <a:t> = {1, 2, 3, 4} and consider the partition</a:t>
            </a:r>
            <a:r>
              <a:rPr lang="en-US" altLang="zh-CN" sz="2800" b="1" i="1" dirty="0"/>
              <a:t> P </a:t>
            </a:r>
            <a:r>
              <a:rPr lang="en-US" altLang="zh-CN" sz="2800" dirty="0"/>
              <a:t>= {{1, 2, 3}, {4}} of </a:t>
            </a:r>
            <a:r>
              <a:rPr lang="en-US" altLang="zh-CN" sz="2800" i="1" dirty="0"/>
              <a:t>A</a:t>
            </a:r>
            <a:r>
              <a:rPr lang="en-US" altLang="zh-CN" sz="2800" dirty="0"/>
              <a:t>. Find the equivalence relation </a:t>
            </a:r>
            <a:r>
              <a:rPr lang="en-US" altLang="zh-CN" sz="2800" i="1" dirty="0"/>
              <a:t>R</a:t>
            </a:r>
            <a:r>
              <a:rPr lang="en-US" altLang="zh-CN" sz="2800" dirty="0"/>
              <a:t> on </a:t>
            </a:r>
            <a:r>
              <a:rPr lang="en-US" altLang="zh-CN" sz="2800" i="1" dirty="0"/>
              <a:t>A</a:t>
            </a:r>
            <a:r>
              <a:rPr lang="en-US" altLang="zh-CN" sz="2800" dirty="0"/>
              <a:t> determined by </a:t>
            </a:r>
            <a:r>
              <a:rPr lang="en-US" altLang="zh-CN" sz="2800" b="1" i="1" dirty="0"/>
              <a:t>P</a:t>
            </a:r>
            <a:r>
              <a:rPr lang="en-US" altLang="zh-CN" sz="2800" dirty="0"/>
              <a:t>.</a:t>
            </a:r>
          </a:p>
          <a:p>
            <a:pPr>
              <a:lnSpc>
                <a:spcPct val="150000"/>
              </a:lnSpc>
              <a:defRPr/>
            </a:pPr>
            <a:r>
              <a:rPr lang="en-US" altLang="zh-CN" sz="2800" dirty="0"/>
              <a:t>Solution</a:t>
            </a:r>
          </a:p>
          <a:p>
            <a:pPr lvl="1">
              <a:lnSpc>
                <a:spcPct val="150000"/>
              </a:lnSpc>
              <a:defRPr/>
            </a:pPr>
            <a:r>
              <a:rPr lang="en-US" altLang="zh-CN" sz="2400" dirty="0"/>
              <a:t>The blocks of </a:t>
            </a:r>
            <a:r>
              <a:rPr lang="en-US" altLang="zh-CN" sz="3200" b="1" i="1" dirty="0">
                <a:cs typeface="+mn-cs"/>
              </a:rPr>
              <a:t>P</a:t>
            </a:r>
            <a:r>
              <a:rPr lang="en-US" altLang="zh-CN" sz="2400" dirty="0"/>
              <a:t> are {l, 2, 3} and {4}. </a:t>
            </a:r>
          </a:p>
          <a:p>
            <a:pPr lvl="1">
              <a:lnSpc>
                <a:spcPct val="150000"/>
              </a:lnSpc>
              <a:defRPr/>
            </a:pPr>
            <a:r>
              <a:rPr lang="en-US" altLang="zh-CN" sz="2400" dirty="0"/>
              <a:t>Each element in a block is related to every other element in the same block and only to those elements.</a:t>
            </a:r>
          </a:p>
          <a:p>
            <a:pPr lvl="1">
              <a:lnSpc>
                <a:spcPct val="150000"/>
              </a:lnSpc>
              <a:defRPr/>
            </a:pPr>
            <a:r>
              <a:rPr lang="en-US" altLang="zh-CN" sz="2400" dirty="0"/>
              <a:t>Thus </a:t>
            </a:r>
            <a:r>
              <a:rPr lang="en-US" altLang="zh-CN" sz="2400" i="1" dirty="0"/>
              <a:t>R</a:t>
            </a:r>
            <a:r>
              <a:rPr lang="en-US" altLang="zh-CN" sz="2400" dirty="0"/>
              <a:t> = {(1, 1), (1, 2), (1, 3), (2, 1), (2, 2), (2, 3), (3, l), (3, 2), (3, 3), (4, 4)}.</a:t>
            </a:r>
            <a:endParaRPr lang="en-US" altLang="zh-CN" sz="2400" i="1" dirty="0"/>
          </a:p>
        </p:txBody>
      </p:sp>
      <p:sp>
        <p:nvSpPr>
          <p:cNvPr id="5" name="文本框 4">
            <a:extLst>
              <a:ext uri="{FF2B5EF4-FFF2-40B4-BE49-F238E27FC236}">
                <a16:creationId xmlns:a16="http://schemas.microsoft.com/office/drawing/2014/main" id="{7B780C0D-69CC-4B26-BE10-FD8435644FD0}"/>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9.5.4 Equivalence Classes and Partitions</a:t>
            </a:r>
            <a:endParaRPr lang="en-US" altLang="zh-CN" sz="3200" dirty="0"/>
          </a:p>
        </p:txBody>
      </p:sp>
    </p:spTree>
    <p:extLst>
      <p:ext uri="{BB962C8B-B14F-4D97-AF65-F5344CB8AC3E}">
        <p14:creationId xmlns:p14="http://schemas.microsoft.com/office/powerpoint/2010/main" val="1868122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46E076-8636-4CBB-8DD9-FB709008B5F0}"/>
              </a:ext>
            </a:extLst>
          </p:cNvPr>
          <p:cNvSpPr txBox="1">
            <a:spLocks noChangeArrowheads="1"/>
          </p:cNvSpPr>
          <p:nvPr/>
        </p:nvSpPr>
        <p:spPr bwMode="auto">
          <a:xfrm>
            <a:off x="568234" y="1166018"/>
            <a:ext cx="1105553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a:lnSpc>
                <a:spcPct val="150000"/>
              </a:lnSpc>
              <a:defRPr/>
            </a:pPr>
            <a:r>
              <a:rPr lang="en-US" altLang="zh-CN" dirty="0"/>
              <a:t>Let </a:t>
            </a:r>
            <a:r>
              <a:rPr lang="en-US" altLang="zh-CN" i="1" dirty="0"/>
              <a:t>R</a:t>
            </a:r>
            <a:r>
              <a:rPr lang="en-US" altLang="zh-CN" dirty="0"/>
              <a:t> be an equivalence relation on a set </a:t>
            </a:r>
            <a:r>
              <a:rPr lang="en-US" altLang="zh-CN" i="1" dirty="0"/>
              <a:t>A</a:t>
            </a:r>
            <a:r>
              <a:rPr lang="en-US" altLang="zh-CN" dirty="0"/>
              <a:t>, and let </a:t>
            </a:r>
            <a:r>
              <a:rPr lang="en-US" altLang="zh-CN" i="1" dirty="0"/>
              <a:t>a</a:t>
            </a:r>
            <a:r>
              <a:rPr lang="en-US" altLang="zh-CN" dirty="0"/>
              <a:t> </a:t>
            </a:r>
            <a:r>
              <a:rPr lang="en-US" altLang="zh-CN" dirty="0">
                <a:sym typeface="Symbol" panose="05050102010706020507" pitchFamily="18" charset="2"/>
              </a:rPr>
              <a:t></a:t>
            </a:r>
            <a:r>
              <a:rPr lang="en-US" altLang="zh-CN" dirty="0"/>
              <a:t> </a:t>
            </a:r>
            <a:r>
              <a:rPr lang="en-US" altLang="zh-CN" i="1" dirty="0"/>
              <a:t>A</a:t>
            </a:r>
            <a:r>
              <a:rPr lang="en-US" altLang="zh-CN" dirty="0"/>
              <a:t> and </a:t>
            </a:r>
            <a:r>
              <a:rPr lang="en-US" altLang="zh-CN" i="1" dirty="0"/>
              <a:t>b</a:t>
            </a:r>
            <a:r>
              <a:rPr lang="en-US" altLang="zh-CN" dirty="0"/>
              <a:t> </a:t>
            </a:r>
            <a:r>
              <a:rPr lang="en-US" altLang="zh-CN" dirty="0">
                <a:sym typeface="Symbol" panose="05050102010706020507" pitchFamily="18" charset="2"/>
              </a:rPr>
              <a:t></a:t>
            </a:r>
            <a:r>
              <a:rPr lang="en-US" altLang="zh-CN" dirty="0"/>
              <a:t> </a:t>
            </a:r>
            <a:r>
              <a:rPr lang="en-US" altLang="zh-CN" i="1" dirty="0"/>
              <a:t>A</a:t>
            </a:r>
            <a:r>
              <a:rPr lang="en-US" altLang="zh-CN" dirty="0"/>
              <a:t>. </a:t>
            </a:r>
          </a:p>
          <a:p>
            <a:pPr>
              <a:lnSpc>
                <a:spcPct val="150000"/>
              </a:lnSpc>
              <a:defRPr/>
            </a:pPr>
            <a:r>
              <a:rPr lang="en-US" altLang="zh-CN" dirty="0"/>
              <a:t> Then</a:t>
            </a:r>
          </a:p>
          <a:p>
            <a:pPr lvl="1">
              <a:lnSpc>
                <a:spcPct val="150000"/>
              </a:lnSpc>
              <a:defRPr/>
            </a:pPr>
            <a:r>
              <a:rPr lang="en-US" altLang="zh-CN" i="1" dirty="0"/>
              <a:t>a R b</a:t>
            </a:r>
          </a:p>
          <a:p>
            <a:pPr lvl="2">
              <a:lnSpc>
                <a:spcPct val="150000"/>
              </a:lnSpc>
              <a:defRPr/>
            </a:pPr>
            <a:r>
              <a:rPr lang="en-US" altLang="zh-CN" dirty="0"/>
              <a:t>if and only  if</a:t>
            </a:r>
          </a:p>
          <a:p>
            <a:pPr lvl="1">
              <a:lnSpc>
                <a:spcPct val="150000"/>
              </a:lnSpc>
              <a:defRPr/>
            </a:pPr>
            <a:r>
              <a:rPr lang="en-US" altLang="zh-CN" i="1" dirty="0"/>
              <a:t>R</a:t>
            </a:r>
            <a:r>
              <a:rPr lang="en-US" altLang="zh-CN" dirty="0"/>
              <a:t>(</a:t>
            </a:r>
            <a:r>
              <a:rPr lang="en-US" altLang="zh-CN" i="1" dirty="0"/>
              <a:t>a</a:t>
            </a:r>
            <a:r>
              <a:rPr lang="en-US" altLang="zh-CN" dirty="0"/>
              <a:t>) = </a:t>
            </a:r>
            <a:r>
              <a:rPr lang="en-US" altLang="zh-CN" i="1" dirty="0"/>
              <a:t>R</a:t>
            </a:r>
            <a:r>
              <a:rPr lang="en-US" altLang="zh-CN" dirty="0"/>
              <a:t>(</a:t>
            </a:r>
            <a:r>
              <a:rPr lang="en-US" altLang="zh-CN" i="1" dirty="0"/>
              <a:t>b</a:t>
            </a:r>
            <a:r>
              <a:rPr lang="en-US" altLang="zh-CN" dirty="0"/>
              <a:t>)</a:t>
            </a:r>
          </a:p>
          <a:p>
            <a:pPr marL="457200" lvl="1" indent="0">
              <a:lnSpc>
                <a:spcPct val="150000"/>
              </a:lnSpc>
              <a:buNone/>
              <a:defRPr/>
            </a:pPr>
            <a:endParaRPr lang="en-US" altLang="zh-CN" dirty="0"/>
          </a:p>
        </p:txBody>
      </p:sp>
      <p:sp>
        <p:nvSpPr>
          <p:cNvPr id="5" name="文本框 4">
            <a:extLst>
              <a:ext uri="{FF2B5EF4-FFF2-40B4-BE49-F238E27FC236}">
                <a16:creationId xmlns:a16="http://schemas.microsoft.com/office/drawing/2014/main" id="{A40D6699-B994-4DD6-AF87-5E5D95A10B85}"/>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9.5.4 Equivalence Classes and Partitions</a:t>
            </a:r>
            <a:endParaRPr lang="en-US" altLang="zh-CN" sz="3200" dirty="0"/>
          </a:p>
        </p:txBody>
      </p:sp>
    </p:spTree>
    <p:extLst>
      <p:ext uri="{BB962C8B-B14F-4D97-AF65-F5344CB8AC3E}">
        <p14:creationId xmlns:p14="http://schemas.microsoft.com/office/powerpoint/2010/main" val="7278534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46E076-8636-4CBB-8DD9-FB709008B5F0}"/>
              </a:ext>
            </a:extLst>
          </p:cNvPr>
          <p:cNvSpPr txBox="1">
            <a:spLocks noChangeArrowheads="1"/>
          </p:cNvSpPr>
          <p:nvPr/>
        </p:nvSpPr>
        <p:spPr bwMode="auto">
          <a:xfrm>
            <a:off x="568234" y="739754"/>
            <a:ext cx="1105553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eaLnBrk="1" hangingPunct="1">
              <a:lnSpc>
                <a:spcPct val="150000"/>
              </a:lnSpc>
            </a:pPr>
            <a:r>
              <a:rPr lang="en-US" altLang="zh-CN" dirty="0"/>
              <a:t>First suppose that </a:t>
            </a:r>
            <a:r>
              <a:rPr lang="en-US" altLang="zh-CN" i="1" dirty="0"/>
              <a:t>R</a:t>
            </a:r>
            <a:r>
              <a:rPr lang="en-US" altLang="zh-CN" dirty="0"/>
              <a:t>(</a:t>
            </a:r>
            <a:r>
              <a:rPr lang="en-US" altLang="zh-CN" i="1" dirty="0"/>
              <a:t>a</a:t>
            </a:r>
            <a:r>
              <a:rPr lang="en-US" altLang="zh-CN" dirty="0"/>
              <a:t>) = </a:t>
            </a:r>
            <a:r>
              <a:rPr lang="en-US" altLang="zh-CN" i="1" dirty="0"/>
              <a:t>R</a:t>
            </a:r>
            <a:r>
              <a:rPr lang="en-US" altLang="zh-CN" dirty="0"/>
              <a:t>(</a:t>
            </a:r>
            <a:r>
              <a:rPr lang="en-US" altLang="zh-CN" i="1" dirty="0"/>
              <a:t>b</a:t>
            </a:r>
            <a:r>
              <a:rPr lang="en-US" altLang="zh-CN" dirty="0"/>
              <a:t>)</a:t>
            </a:r>
          </a:p>
          <a:p>
            <a:pPr lvl="1">
              <a:lnSpc>
                <a:spcPct val="150000"/>
              </a:lnSpc>
            </a:pPr>
            <a:r>
              <a:rPr lang="en-US" altLang="zh-CN" dirty="0"/>
              <a:t>Since R is reflexive, </a:t>
            </a:r>
            <a:r>
              <a:rPr lang="en-US" altLang="zh-CN" i="1" dirty="0"/>
              <a:t>b</a:t>
            </a:r>
            <a:r>
              <a:rPr lang="en-US" altLang="zh-CN" dirty="0"/>
              <a:t> </a:t>
            </a:r>
            <a:r>
              <a:rPr lang="en-US" altLang="zh-CN" dirty="0">
                <a:sym typeface="Symbol" panose="05050102010706020507" pitchFamily="18" charset="2"/>
              </a:rPr>
              <a:t></a:t>
            </a:r>
            <a:r>
              <a:rPr lang="en-US" altLang="zh-CN" dirty="0"/>
              <a:t> </a:t>
            </a:r>
            <a:r>
              <a:rPr lang="en-US" altLang="zh-CN" i="1" dirty="0"/>
              <a:t>R</a:t>
            </a:r>
            <a:r>
              <a:rPr lang="en-US" altLang="zh-CN" dirty="0"/>
              <a:t>(</a:t>
            </a:r>
            <a:r>
              <a:rPr lang="en-US" altLang="zh-CN" i="1" dirty="0"/>
              <a:t>b</a:t>
            </a:r>
            <a:r>
              <a:rPr lang="en-US" altLang="zh-CN" dirty="0"/>
              <a:t>) = </a:t>
            </a:r>
            <a:r>
              <a:rPr lang="en-US" altLang="zh-CN" i="1" dirty="0"/>
              <a:t>R</a:t>
            </a:r>
            <a:r>
              <a:rPr lang="en-US" altLang="zh-CN" dirty="0"/>
              <a:t>(</a:t>
            </a:r>
            <a:r>
              <a:rPr lang="en-US" altLang="zh-CN" i="1" dirty="0"/>
              <a:t>a</a:t>
            </a:r>
            <a:r>
              <a:rPr lang="en-US" altLang="zh-CN" dirty="0"/>
              <a:t>), so </a:t>
            </a:r>
            <a:r>
              <a:rPr lang="en-US" altLang="zh-CN" i="1" dirty="0"/>
              <a:t>a R </a:t>
            </a:r>
            <a:r>
              <a:rPr lang="en-US" altLang="zh-CN" i="1"/>
              <a:t>b</a:t>
            </a:r>
            <a:r>
              <a:rPr lang="en-US" altLang="zh-CN"/>
              <a:t>.</a:t>
            </a:r>
            <a:endParaRPr lang="en-US" altLang="zh-CN" dirty="0"/>
          </a:p>
          <a:p>
            <a:pPr marL="457200" lvl="1" indent="0">
              <a:lnSpc>
                <a:spcPct val="150000"/>
              </a:lnSpc>
              <a:buNone/>
              <a:defRPr/>
            </a:pPr>
            <a:endParaRPr lang="en-US" altLang="zh-CN" dirty="0"/>
          </a:p>
        </p:txBody>
      </p:sp>
      <p:sp>
        <p:nvSpPr>
          <p:cNvPr id="5" name="文本框 4">
            <a:extLst>
              <a:ext uri="{FF2B5EF4-FFF2-40B4-BE49-F238E27FC236}">
                <a16:creationId xmlns:a16="http://schemas.microsoft.com/office/drawing/2014/main" id="{5359A83B-0AA0-48D8-8C9E-F170A414530D}"/>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9.5.4 Equivalence Classes and Partitions</a:t>
            </a:r>
            <a:endParaRPr lang="en-US" altLang="zh-CN" sz="3200" dirty="0"/>
          </a:p>
        </p:txBody>
      </p:sp>
    </p:spTree>
    <p:extLst>
      <p:ext uri="{BB962C8B-B14F-4D97-AF65-F5344CB8AC3E}">
        <p14:creationId xmlns:p14="http://schemas.microsoft.com/office/powerpoint/2010/main" val="349075365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46E076-8636-4CBB-8DD9-FB709008B5F0}"/>
              </a:ext>
            </a:extLst>
          </p:cNvPr>
          <p:cNvSpPr txBox="1">
            <a:spLocks noChangeArrowheads="1"/>
          </p:cNvSpPr>
          <p:nvPr/>
        </p:nvSpPr>
        <p:spPr bwMode="auto">
          <a:xfrm>
            <a:off x="568234" y="820692"/>
            <a:ext cx="1105553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eaLnBrk="1" hangingPunct="1">
              <a:lnSpc>
                <a:spcPts val="4000"/>
              </a:lnSpc>
            </a:pPr>
            <a:r>
              <a:rPr lang="en-US" altLang="zh-CN"/>
              <a:t>Conversely</a:t>
            </a:r>
            <a:r>
              <a:rPr lang="en-US" altLang="zh-CN" dirty="0"/>
              <a:t>, suppose that </a:t>
            </a:r>
            <a:r>
              <a:rPr lang="en-US" altLang="zh-CN" i="1" dirty="0"/>
              <a:t>a R b</a:t>
            </a:r>
            <a:r>
              <a:rPr lang="en-US" altLang="zh-CN" dirty="0"/>
              <a:t>, show that </a:t>
            </a:r>
            <a:r>
              <a:rPr lang="en-US" altLang="zh-CN" i="1" dirty="0"/>
              <a:t>R</a:t>
            </a:r>
            <a:r>
              <a:rPr lang="en-US" altLang="zh-CN" dirty="0"/>
              <a:t>(</a:t>
            </a:r>
            <a:r>
              <a:rPr lang="en-US" altLang="zh-CN" i="1" dirty="0"/>
              <a:t>a</a:t>
            </a:r>
            <a:r>
              <a:rPr lang="en-US" altLang="zh-CN" dirty="0"/>
              <a:t>) = </a:t>
            </a:r>
            <a:r>
              <a:rPr lang="en-US" altLang="zh-CN" i="1" dirty="0"/>
              <a:t>R</a:t>
            </a:r>
            <a:r>
              <a:rPr lang="en-US" altLang="zh-CN" dirty="0"/>
              <a:t>(</a:t>
            </a:r>
            <a:r>
              <a:rPr lang="en-US" altLang="zh-CN" i="1" dirty="0"/>
              <a:t>b</a:t>
            </a:r>
            <a:r>
              <a:rPr lang="en-US" altLang="zh-CN" dirty="0"/>
              <a:t>)</a:t>
            </a:r>
          </a:p>
          <a:p>
            <a:pPr lvl="1" eaLnBrk="1" hangingPunct="1">
              <a:lnSpc>
                <a:spcPts val="4000"/>
              </a:lnSpc>
            </a:pPr>
            <a:r>
              <a:rPr lang="en-US" altLang="zh-CN" sz="2400" dirty="0"/>
              <a:t>choose </a:t>
            </a:r>
            <a:r>
              <a:rPr lang="en-US" altLang="zh-CN" sz="2400" i="1" dirty="0"/>
              <a:t>x</a:t>
            </a:r>
            <a:r>
              <a:rPr lang="en-US" altLang="zh-CN" sz="2400" dirty="0"/>
              <a:t> </a:t>
            </a:r>
            <a:r>
              <a:rPr lang="en-US" altLang="zh-CN" sz="2400" dirty="0">
                <a:sym typeface="Symbol" panose="05050102010706020507" pitchFamily="18" charset="2"/>
              </a:rPr>
              <a:t></a:t>
            </a:r>
            <a:r>
              <a:rPr lang="en-US" altLang="zh-CN" sz="2400" dirty="0"/>
              <a:t> </a:t>
            </a:r>
            <a:r>
              <a:rPr lang="en-US" altLang="zh-CN" sz="2400" i="1" dirty="0"/>
              <a:t>R</a:t>
            </a:r>
            <a:r>
              <a:rPr lang="en-US" altLang="zh-CN" sz="2400" dirty="0"/>
              <a:t>(</a:t>
            </a:r>
            <a:r>
              <a:rPr lang="en-US" altLang="zh-CN" sz="2400" i="1" dirty="0"/>
              <a:t>b</a:t>
            </a:r>
            <a:r>
              <a:rPr lang="en-US" altLang="zh-CN" sz="2400" dirty="0"/>
              <a:t>)</a:t>
            </a:r>
          </a:p>
          <a:p>
            <a:pPr lvl="1" eaLnBrk="1" hangingPunct="1">
              <a:lnSpc>
                <a:spcPts val="4000"/>
              </a:lnSpc>
            </a:pPr>
            <a:r>
              <a:rPr lang="en-US" altLang="zh-CN" sz="2400" i="1" dirty="0" err="1"/>
              <a:t>bRx</a:t>
            </a:r>
            <a:r>
              <a:rPr lang="en-US" altLang="zh-CN" sz="2400" i="1" dirty="0"/>
              <a:t> </a:t>
            </a:r>
          </a:p>
          <a:p>
            <a:pPr lvl="1" eaLnBrk="1" hangingPunct="1">
              <a:lnSpc>
                <a:spcPts val="4000"/>
              </a:lnSpc>
            </a:pPr>
            <a:r>
              <a:rPr lang="en-US" altLang="zh-CN" sz="2400" i="1" dirty="0"/>
              <a:t>a R b</a:t>
            </a:r>
            <a:endParaRPr lang="en-US" altLang="zh-CN" sz="2400" dirty="0"/>
          </a:p>
          <a:p>
            <a:pPr lvl="1" eaLnBrk="1" hangingPunct="1">
              <a:lnSpc>
                <a:spcPts val="4000"/>
              </a:lnSpc>
            </a:pPr>
            <a:r>
              <a:rPr lang="en-US" altLang="zh-CN" sz="2400" i="1" dirty="0"/>
              <a:t>a Rx </a:t>
            </a:r>
            <a:r>
              <a:rPr lang="en-US" altLang="zh-CN" sz="2400" dirty="0"/>
              <a:t>(transitive)</a:t>
            </a:r>
          </a:p>
          <a:p>
            <a:pPr lvl="1" eaLnBrk="1" hangingPunct="1">
              <a:lnSpc>
                <a:spcPts val="4000"/>
              </a:lnSpc>
            </a:pPr>
            <a:r>
              <a:rPr lang="en-US" altLang="zh-CN" sz="2400" i="1" dirty="0"/>
              <a:t>x</a:t>
            </a:r>
            <a:r>
              <a:rPr lang="en-US" altLang="zh-CN" sz="2400" dirty="0"/>
              <a:t> </a:t>
            </a:r>
            <a:r>
              <a:rPr lang="en-US" altLang="zh-CN" sz="2400" dirty="0">
                <a:sym typeface="Symbol" panose="05050102010706020507" pitchFamily="18" charset="2"/>
              </a:rPr>
              <a:t></a:t>
            </a:r>
            <a:r>
              <a:rPr lang="en-US" altLang="zh-CN" sz="2400" dirty="0"/>
              <a:t> </a:t>
            </a:r>
            <a:r>
              <a:rPr lang="en-US" altLang="zh-CN" sz="2400" i="1" dirty="0"/>
              <a:t>R</a:t>
            </a:r>
            <a:r>
              <a:rPr lang="en-US" altLang="zh-CN" sz="2400" dirty="0"/>
              <a:t>(</a:t>
            </a:r>
            <a:r>
              <a:rPr lang="en-US" altLang="zh-CN" sz="2400" i="1" dirty="0"/>
              <a:t>a</a:t>
            </a:r>
            <a:r>
              <a:rPr lang="en-US" altLang="zh-CN" sz="2400" dirty="0"/>
              <a:t>). </a:t>
            </a:r>
          </a:p>
          <a:p>
            <a:pPr lvl="1" eaLnBrk="1" hangingPunct="1">
              <a:lnSpc>
                <a:spcPts val="4000"/>
              </a:lnSpc>
            </a:pPr>
            <a:r>
              <a:rPr lang="en-US" altLang="zh-CN" sz="2400" dirty="0"/>
              <a:t>Thus </a:t>
            </a:r>
            <a:r>
              <a:rPr lang="en-US" altLang="zh-CN" sz="2400" i="1" dirty="0"/>
              <a:t>R</a:t>
            </a:r>
            <a:r>
              <a:rPr lang="en-US" altLang="zh-CN" sz="2400" dirty="0"/>
              <a:t>(</a:t>
            </a:r>
            <a:r>
              <a:rPr lang="en-US" altLang="zh-CN" sz="2400" i="1" dirty="0"/>
              <a:t>b</a:t>
            </a:r>
            <a:r>
              <a:rPr lang="en-US" altLang="zh-CN" sz="2400" dirty="0"/>
              <a:t>) </a:t>
            </a:r>
            <a:r>
              <a:rPr lang="en-US" altLang="zh-CN" sz="2400" dirty="0">
                <a:sym typeface="Symbol" panose="05050102010706020507" pitchFamily="18" charset="2"/>
              </a:rPr>
              <a:t></a:t>
            </a:r>
            <a:r>
              <a:rPr lang="en-US" altLang="zh-CN" sz="2400" dirty="0"/>
              <a:t> </a:t>
            </a:r>
            <a:r>
              <a:rPr lang="en-US" altLang="zh-CN" sz="2400" i="1" dirty="0"/>
              <a:t>R</a:t>
            </a:r>
            <a:r>
              <a:rPr lang="en-US" altLang="zh-CN" sz="2400" dirty="0"/>
              <a:t>(</a:t>
            </a:r>
            <a:r>
              <a:rPr lang="en-US" altLang="zh-CN" sz="2400" i="1" dirty="0"/>
              <a:t>a</a:t>
            </a:r>
            <a:r>
              <a:rPr lang="en-US" altLang="zh-CN" sz="2400" dirty="0"/>
              <a:t>)</a:t>
            </a:r>
          </a:p>
          <a:p>
            <a:pPr lvl="1" eaLnBrk="1" hangingPunct="1">
              <a:lnSpc>
                <a:spcPts val="4000"/>
              </a:lnSpc>
            </a:pPr>
            <a:r>
              <a:rPr lang="en-US" altLang="zh-CN" sz="2400" dirty="0"/>
              <a:t>A completely similar argument shows that, </a:t>
            </a:r>
            <a:r>
              <a:rPr lang="en-US" altLang="zh-CN" sz="2400" i="1" dirty="0"/>
              <a:t>R</a:t>
            </a:r>
            <a:r>
              <a:rPr lang="en-US" altLang="zh-CN" sz="2400" dirty="0"/>
              <a:t>(</a:t>
            </a:r>
            <a:r>
              <a:rPr lang="en-US" altLang="zh-CN" sz="2400" i="1" dirty="0"/>
              <a:t>a</a:t>
            </a:r>
            <a:r>
              <a:rPr lang="en-US" altLang="zh-CN" sz="2400" dirty="0"/>
              <a:t>) </a:t>
            </a:r>
            <a:r>
              <a:rPr lang="en-US" altLang="zh-CN" sz="2400" dirty="0">
                <a:sym typeface="Symbol" panose="05050102010706020507" pitchFamily="18" charset="2"/>
              </a:rPr>
              <a:t></a:t>
            </a:r>
            <a:r>
              <a:rPr lang="en-US" altLang="zh-CN" sz="2400" dirty="0"/>
              <a:t> </a:t>
            </a:r>
            <a:r>
              <a:rPr lang="en-US" altLang="zh-CN" sz="2400" i="1" dirty="0"/>
              <a:t>R</a:t>
            </a:r>
            <a:r>
              <a:rPr lang="en-US" altLang="zh-CN" sz="2400" dirty="0"/>
              <a:t>(</a:t>
            </a:r>
            <a:r>
              <a:rPr lang="en-US" altLang="zh-CN" sz="2400" i="1" dirty="0"/>
              <a:t>b</a:t>
            </a:r>
            <a:r>
              <a:rPr lang="en-US" altLang="zh-CN" sz="2400" dirty="0"/>
              <a:t>)</a:t>
            </a:r>
          </a:p>
          <a:p>
            <a:pPr>
              <a:lnSpc>
                <a:spcPts val="4000"/>
              </a:lnSpc>
            </a:pPr>
            <a:r>
              <a:rPr lang="en-US" altLang="zh-CN" dirty="0"/>
              <a:t>so </a:t>
            </a:r>
            <a:r>
              <a:rPr lang="en-US" altLang="zh-CN" i="1" dirty="0"/>
              <a:t>R</a:t>
            </a:r>
            <a:r>
              <a:rPr lang="en-US" altLang="zh-CN" dirty="0"/>
              <a:t>(</a:t>
            </a:r>
            <a:r>
              <a:rPr lang="en-US" altLang="zh-CN" i="1" dirty="0"/>
              <a:t>a</a:t>
            </a:r>
            <a:r>
              <a:rPr lang="en-US" altLang="zh-CN" dirty="0"/>
              <a:t>) = </a:t>
            </a:r>
            <a:r>
              <a:rPr lang="en-US" altLang="zh-CN" i="1" dirty="0"/>
              <a:t>R</a:t>
            </a:r>
            <a:r>
              <a:rPr lang="en-US" altLang="zh-CN" dirty="0"/>
              <a:t>(</a:t>
            </a:r>
            <a:r>
              <a:rPr lang="en-US" altLang="zh-CN" i="1" dirty="0"/>
              <a:t>b</a:t>
            </a:r>
            <a:r>
              <a:rPr lang="en-US" altLang="zh-CN" dirty="0"/>
              <a:t>)</a:t>
            </a:r>
          </a:p>
          <a:p>
            <a:pPr lvl="1" algn="r">
              <a:lnSpc>
                <a:spcPts val="4000"/>
              </a:lnSpc>
            </a:pPr>
            <a:r>
              <a:rPr lang="en-US" altLang="zh-CN" sz="2400" dirty="0"/>
              <a:t>QED</a:t>
            </a:r>
          </a:p>
          <a:p>
            <a:pPr marL="0" indent="0">
              <a:lnSpc>
                <a:spcPts val="4000"/>
              </a:lnSpc>
              <a:buNone/>
            </a:pPr>
            <a:endParaRPr lang="en-US" altLang="zh-CN" dirty="0"/>
          </a:p>
          <a:p>
            <a:pPr marL="457200" lvl="1" indent="0">
              <a:lnSpc>
                <a:spcPts val="4000"/>
              </a:lnSpc>
              <a:buNone/>
              <a:defRPr/>
            </a:pPr>
            <a:endParaRPr lang="en-US" altLang="zh-CN" dirty="0"/>
          </a:p>
        </p:txBody>
      </p:sp>
      <p:sp>
        <p:nvSpPr>
          <p:cNvPr id="6" name="文本框 5">
            <a:extLst>
              <a:ext uri="{FF2B5EF4-FFF2-40B4-BE49-F238E27FC236}">
                <a16:creationId xmlns:a16="http://schemas.microsoft.com/office/drawing/2014/main" id="{D11CAC14-03B6-4542-916D-7F0FA8C8824A}"/>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9.5.4 Equivalence Classes and Partitions</a:t>
            </a:r>
            <a:endParaRPr lang="en-US" altLang="zh-CN" sz="3200" dirty="0"/>
          </a:p>
        </p:txBody>
      </p:sp>
    </p:spTree>
    <p:extLst>
      <p:ext uri="{BB962C8B-B14F-4D97-AF65-F5344CB8AC3E}">
        <p14:creationId xmlns:p14="http://schemas.microsoft.com/office/powerpoint/2010/main" val="116649881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46E076-8636-4CBB-8DD9-FB709008B5F0}"/>
              </a:ext>
            </a:extLst>
          </p:cNvPr>
          <p:cNvSpPr txBox="1">
            <a:spLocks noChangeArrowheads="1"/>
          </p:cNvSpPr>
          <p:nvPr/>
        </p:nvSpPr>
        <p:spPr bwMode="auto">
          <a:xfrm>
            <a:off x="384423" y="841354"/>
            <a:ext cx="11423154"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eaLnBrk="1" hangingPunct="1">
              <a:lnSpc>
                <a:spcPct val="150000"/>
              </a:lnSpc>
            </a:pPr>
            <a:r>
              <a:rPr lang="en-US" altLang="zh-CN" sz="2800" dirty="0"/>
              <a:t>Let </a:t>
            </a:r>
            <a:r>
              <a:rPr lang="en-US" altLang="zh-CN" sz="2800" i="1" dirty="0"/>
              <a:t>R</a:t>
            </a:r>
            <a:r>
              <a:rPr lang="en-US" altLang="zh-CN" sz="2800" dirty="0"/>
              <a:t> be an equivalence relation on </a:t>
            </a:r>
            <a:r>
              <a:rPr lang="en-US" altLang="zh-CN" sz="2800" i="1" dirty="0"/>
              <a:t>A</a:t>
            </a:r>
            <a:r>
              <a:rPr lang="en-US" altLang="zh-CN" sz="2800" dirty="0"/>
              <a:t>, and let </a:t>
            </a:r>
            <a:r>
              <a:rPr lang="en-US" altLang="zh-CN" sz="2800" b="1" i="1" dirty="0"/>
              <a:t>P</a:t>
            </a:r>
            <a:r>
              <a:rPr lang="en-US" altLang="zh-CN" sz="2800" dirty="0"/>
              <a:t> be the collection of all distinct relative sets </a:t>
            </a:r>
            <a:r>
              <a:rPr lang="en-US" altLang="zh-CN" sz="2800" i="1" dirty="0"/>
              <a:t>R</a:t>
            </a:r>
            <a:r>
              <a:rPr lang="en-US" altLang="zh-CN" sz="2800" dirty="0"/>
              <a:t>(</a:t>
            </a:r>
            <a:r>
              <a:rPr lang="en-US" altLang="zh-CN" sz="2800" i="1" dirty="0"/>
              <a:t>a</a:t>
            </a:r>
            <a:r>
              <a:rPr lang="en-US" altLang="zh-CN" sz="2800" dirty="0"/>
              <a:t>) for </a:t>
            </a:r>
            <a:r>
              <a:rPr lang="en-US" altLang="zh-CN" sz="2800" i="1" dirty="0"/>
              <a:t>a</a:t>
            </a:r>
            <a:r>
              <a:rPr lang="en-US" altLang="zh-CN" sz="2800" dirty="0"/>
              <a:t> in </a:t>
            </a:r>
            <a:r>
              <a:rPr lang="en-US" altLang="zh-CN" sz="2800" i="1" dirty="0"/>
              <a:t>A</a:t>
            </a:r>
            <a:r>
              <a:rPr lang="en-US" altLang="zh-CN" sz="2800" dirty="0"/>
              <a:t>. </a:t>
            </a:r>
          </a:p>
          <a:p>
            <a:pPr eaLnBrk="1" hangingPunct="1">
              <a:lnSpc>
                <a:spcPct val="150000"/>
              </a:lnSpc>
            </a:pPr>
            <a:r>
              <a:rPr lang="en-US" altLang="zh-CN" sz="2800" dirty="0"/>
              <a:t>Then </a:t>
            </a:r>
            <a:r>
              <a:rPr lang="en-US" altLang="zh-CN" sz="2800" b="1" i="1" dirty="0"/>
              <a:t>P</a:t>
            </a:r>
            <a:r>
              <a:rPr lang="en-US" altLang="zh-CN" sz="2800" dirty="0"/>
              <a:t> is a partition of </a:t>
            </a:r>
            <a:r>
              <a:rPr lang="en-US" altLang="zh-CN" sz="2800" i="1" dirty="0"/>
              <a:t>A</a:t>
            </a:r>
            <a:r>
              <a:rPr lang="en-US" altLang="zh-CN" sz="2800" dirty="0"/>
              <a:t>, and </a:t>
            </a:r>
            <a:r>
              <a:rPr lang="en-US" altLang="zh-CN" sz="2800" i="1" dirty="0"/>
              <a:t>R</a:t>
            </a:r>
            <a:r>
              <a:rPr lang="en-US" altLang="zh-CN" sz="2800" dirty="0"/>
              <a:t> is the equivalence relation determined by </a:t>
            </a:r>
            <a:r>
              <a:rPr lang="en-US" altLang="zh-CN" sz="2800" b="1" i="1"/>
              <a:t>P</a:t>
            </a:r>
            <a:r>
              <a:rPr lang="en-US" altLang="zh-CN" sz="2800"/>
              <a:t>.</a:t>
            </a:r>
          </a:p>
          <a:p>
            <a:pPr marL="0" indent="0" eaLnBrk="1" hangingPunct="1">
              <a:lnSpc>
                <a:spcPct val="150000"/>
              </a:lnSpc>
              <a:buNone/>
            </a:pPr>
            <a:endParaRPr lang="en-US" altLang="zh-CN" sz="2800" dirty="0"/>
          </a:p>
          <a:p>
            <a:pPr eaLnBrk="1" hangingPunct="1">
              <a:lnSpc>
                <a:spcPct val="150000"/>
              </a:lnSpc>
            </a:pPr>
            <a:r>
              <a:rPr lang="en-US" altLang="zh-CN" sz="2800" i="1" dirty="0"/>
              <a:t>R</a:t>
            </a:r>
            <a:r>
              <a:rPr lang="en-US" altLang="zh-CN" sz="2800" dirty="0"/>
              <a:t> = {(1, 1), (1, 2), (1, 3), (2, 1), (2, 2), (2, 3), (3, l), (3, 2), (3, 3), (4, 4)}</a:t>
            </a:r>
          </a:p>
          <a:p>
            <a:pPr eaLnBrk="1" hangingPunct="1">
              <a:lnSpc>
                <a:spcPct val="150000"/>
              </a:lnSpc>
            </a:pPr>
            <a:r>
              <a:rPr lang="en-US" altLang="zh-CN" sz="2800" dirty="0"/>
              <a:t>R(1)=R(2)=R(3)=</a:t>
            </a:r>
            <a:r>
              <a:rPr lang="en-US" altLang="zh-CN" sz="2800" dirty="0">
                <a:solidFill>
                  <a:schemeClr val="hlink"/>
                </a:solidFill>
              </a:rPr>
              <a:t>{1,2,3}</a:t>
            </a:r>
            <a:r>
              <a:rPr lang="en-US" altLang="zh-CN" sz="2800" dirty="0"/>
              <a:t> ,R(4)=</a:t>
            </a:r>
            <a:r>
              <a:rPr lang="en-US" altLang="zh-CN" sz="2800" dirty="0">
                <a:solidFill>
                  <a:schemeClr val="hlink"/>
                </a:solidFill>
              </a:rPr>
              <a:t>{4}</a:t>
            </a:r>
          </a:p>
          <a:p>
            <a:pPr eaLnBrk="1" hangingPunct="1">
              <a:lnSpc>
                <a:spcPct val="150000"/>
              </a:lnSpc>
            </a:pPr>
            <a:r>
              <a:rPr lang="en-US" altLang="zh-CN" sz="2800" dirty="0">
                <a:solidFill>
                  <a:schemeClr val="hlink"/>
                </a:solidFill>
              </a:rPr>
              <a:t> </a:t>
            </a:r>
            <a:r>
              <a:rPr lang="en-US" altLang="zh-CN" sz="2800" b="1" i="1" dirty="0"/>
              <a:t>P</a:t>
            </a:r>
            <a:r>
              <a:rPr lang="en-US" altLang="zh-CN" sz="2800" dirty="0">
                <a:solidFill>
                  <a:schemeClr val="hlink"/>
                </a:solidFill>
              </a:rPr>
              <a:t> ={R(1),R(4)}</a:t>
            </a:r>
            <a:endParaRPr lang="en-US" altLang="zh-CN" sz="2800" dirty="0"/>
          </a:p>
        </p:txBody>
      </p:sp>
      <p:sp>
        <p:nvSpPr>
          <p:cNvPr id="5" name="文本框 4">
            <a:extLst>
              <a:ext uri="{FF2B5EF4-FFF2-40B4-BE49-F238E27FC236}">
                <a16:creationId xmlns:a16="http://schemas.microsoft.com/office/drawing/2014/main" id="{EE4B6623-B619-4914-96B7-F045546E41BB}"/>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9.5.4 Equivalence Classes and Partitions</a:t>
            </a:r>
            <a:endParaRPr lang="en-US" altLang="zh-CN" sz="3200" dirty="0"/>
          </a:p>
        </p:txBody>
      </p:sp>
    </p:spTree>
    <p:extLst>
      <p:ext uri="{BB962C8B-B14F-4D97-AF65-F5344CB8AC3E}">
        <p14:creationId xmlns:p14="http://schemas.microsoft.com/office/powerpoint/2010/main" val="20411857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46E076-8636-4CBB-8DD9-FB709008B5F0}"/>
              </a:ext>
            </a:extLst>
          </p:cNvPr>
          <p:cNvSpPr txBox="1">
            <a:spLocks noChangeArrowheads="1"/>
          </p:cNvSpPr>
          <p:nvPr/>
        </p:nvSpPr>
        <p:spPr bwMode="auto">
          <a:xfrm>
            <a:off x="568234" y="1166018"/>
            <a:ext cx="1105553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eaLnBrk="1" hangingPunct="1">
              <a:lnSpc>
                <a:spcPct val="150000"/>
              </a:lnSpc>
            </a:pPr>
            <a:r>
              <a:rPr lang="en-US" altLang="zh-CN" sz="2800" dirty="0">
                <a:solidFill>
                  <a:schemeClr val="hlink"/>
                </a:solidFill>
              </a:rPr>
              <a:t>P</a:t>
            </a:r>
            <a:r>
              <a:rPr lang="en-US" altLang="zh-CN" dirty="0"/>
              <a:t> = {</a:t>
            </a:r>
            <a:r>
              <a:rPr lang="en-US" altLang="zh-CN" i="1" dirty="0"/>
              <a:t>R</a:t>
            </a:r>
            <a:r>
              <a:rPr lang="en-US" altLang="zh-CN" dirty="0"/>
              <a:t>(</a:t>
            </a:r>
            <a:r>
              <a:rPr lang="en-US" altLang="zh-CN" i="1" dirty="0"/>
              <a:t>a</a:t>
            </a:r>
            <a:r>
              <a:rPr lang="en-US" altLang="zh-CN" dirty="0"/>
              <a:t>) | </a:t>
            </a:r>
            <a:r>
              <a:rPr lang="en-US" altLang="zh-CN" i="1" dirty="0"/>
              <a:t>a</a:t>
            </a:r>
            <a:r>
              <a:rPr lang="en-US" altLang="zh-CN" dirty="0"/>
              <a:t> </a:t>
            </a:r>
            <a:r>
              <a:rPr lang="en-US" altLang="zh-CN" dirty="0">
                <a:sym typeface="Symbol" panose="05050102010706020507" pitchFamily="18" charset="2"/>
              </a:rPr>
              <a:t></a:t>
            </a:r>
            <a:r>
              <a:rPr lang="en-US" altLang="zh-CN" dirty="0"/>
              <a:t> </a:t>
            </a:r>
            <a:r>
              <a:rPr lang="en-US" altLang="zh-CN" i="1" dirty="0"/>
              <a:t>A</a:t>
            </a:r>
            <a:r>
              <a:rPr lang="en-US" altLang="zh-CN" dirty="0"/>
              <a:t>}</a:t>
            </a:r>
          </a:p>
          <a:p>
            <a:pPr lvl="1" eaLnBrk="1" hangingPunct="1">
              <a:lnSpc>
                <a:spcPct val="150000"/>
              </a:lnSpc>
            </a:pPr>
            <a:r>
              <a:rPr lang="en-US" altLang="zh-CN" dirty="0"/>
              <a:t>Every element of </a:t>
            </a:r>
            <a:r>
              <a:rPr lang="en-US" altLang="zh-CN" i="1" dirty="0"/>
              <a:t>A</a:t>
            </a:r>
            <a:r>
              <a:rPr lang="en-US" altLang="zh-CN" dirty="0"/>
              <a:t> belongs to some relative set.</a:t>
            </a:r>
          </a:p>
          <a:p>
            <a:pPr lvl="2" eaLnBrk="1" hangingPunct="1">
              <a:lnSpc>
                <a:spcPct val="150000"/>
              </a:lnSpc>
            </a:pPr>
            <a:r>
              <a:rPr lang="en-US" altLang="zh-CN" dirty="0"/>
              <a:t>Since reflexivity</a:t>
            </a:r>
            <a:r>
              <a:rPr lang="zh-CN" altLang="en-US" dirty="0"/>
              <a:t>（自反）</a:t>
            </a:r>
            <a:r>
              <a:rPr lang="en-US" altLang="zh-CN" dirty="0"/>
              <a:t> of </a:t>
            </a:r>
            <a:r>
              <a:rPr lang="en-US" altLang="zh-CN" i="1" dirty="0"/>
              <a:t>R</a:t>
            </a:r>
            <a:r>
              <a:rPr lang="en-US" altLang="zh-CN" dirty="0"/>
              <a:t>, </a:t>
            </a:r>
            <a:r>
              <a:rPr lang="en-US" altLang="zh-CN" i="1" dirty="0"/>
              <a:t>a</a:t>
            </a:r>
            <a:r>
              <a:rPr lang="en-US" altLang="zh-CN" dirty="0"/>
              <a:t> </a:t>
            </a:r>
            <a:r>
              <a:rPr lang="en-US" altLang="zh-CN" dirty="0">
                <a:sym typeface="Symbol" panose="05050102010706020507" pitchFamily="18" charset="2"/>
              </a:rPr>
              <a:t></a:t>
            </a:r>
            <a:r>
              <a:rPr lang="en-US" altLang="zh-CN" dirty="0"/>
              <a:t> </a:t>
            </a:r>
            <a:r>
              <a:rPr lang="en-US" altLang="zh-CN" i="1" dirty="0"/>
              <a:t>R</a:t>
            </a:r>
            <a:r>
              <a:rPr lang="en-US" altLang="zh-CN" dirty="0"/>
              <a:t>(</a:t>
            </a:r>
            <a:r>
              <a:rPr lang="en-US" altLang="zh-CN" i="1" dirty="0"/>
              <a:t>a</a:t>
            </a:r>
            <a:r>
              <a:rPr lang="en-US" altLang="zh-CN" dirty="0"/>
              <a:t>)</a:t>
            </a:r>
          </a:p>
          <a:p>
            <a:pPr lvl="1" eaLnBrk="1" hangingPunct="1">
              <a:lnSpc>
                <a:spcPct val="150000"/>
              </a:lnSpc>
            </a:pPr>
            <a:r>
              <a:rPr lang="en-US" altLang="zh-CN" dirty="0"/>
              <a:t>If </a:t>
            </a:r>
            <a:r>
              <a:rPr lang="en-US" altLang="zh-CN" i="1" dirty="0"/>
              <a:t>R</a:t>
            </a:r>
            <a:r>
              <a:rPr lang="en-US" altLang="zh-CN" dirty="0"/>
              <a:t>(</a:t>
            </a:r>
            <a:r>
              <a:rPr lang="en-US" altLang="zh-CN" i="1" dirty="0"/>
              <a:t>a</a:t>
            </a:r>
            <a:r>
              <a:rPr lang="en-US" altLang="zh-CN" dirty="0"/>
              <a:t>) and </a:t>
            </a:r>
            <a:r>
              <a:rPr lang="en-US" altLang="zh-CN" i="1" dirty="0"/>
              <a:t>R</a:t>
            </a:r>
            <a:r>
              <a:rPr lang="en-US" altLang="zh-CN" dirty="0"/>
              <a:t>(</a:t>
            </a:r>
            <a:r>
              <a:rPr lang="en-US" altLang="zh-CN" i="1" dirty="0"/>
              <a:t>b</a:t>
            </a:r>
            <a:r>
              <a:rPr lang="en-US" altLang="zh-CN" dirty="0"/>
              <a:t>) are not identical, then </a:t>
            </a:r>
            <a:r>
              <a:rPr lang="en-US" altLang="zh-CN" i="1" dirty="0"/>
              <a:t>R</a:t>
            </a:r>
            <a:r>
              <a:rPr lang="en-US" altLang="zh-CN" dirty="0"/>
              <a:t>(</a:t>
            </a:r>
            <a:r>
              <a:rPr lang="en-US" altLang="zh-CN" i="1" dirty="0"/>
              <a:t>a</a:t>
            </a:r>
            <a:r>
              <a:rPr lang="en-US" altLang="zh-CN" dirty="0"/>
              <a:t>) </a:t>
            </a:r>
            <a:r>
              <a:rPr lang="en-US" altLang="zh-CN" dirty="0">
                <a:sym typeface="Symbol" panose="05050102010706020507" pitchFamily="18" charset="2"/>
              </a:rPr>
              <a:t></a:t>
            </a:r>
            <a:r>
              <a:rPr lang="en-US" altLang="zh-CN" dirty="0"/>
              <a:t> </a:t>
            </a:r>
            <a:r>
              <a:rPr lang="en-US" altLang="zh-CN" i="1" dirty="0"/>
              <a:t>R</a:t>
            </a:r>
            <a:r>
              <a:rPr lang="en-US" altLang="zh-CN" dirty="0"/>
              <a:t>(</a:t>
            </a:r>
            <a:r>
              <a:rPr lang="en-US" altLang="zh-CN" i="1" dirty="0"/>
              <a:t>b</a:t>
            </a:r>
            <a:r>
              <a:rPr lang="en-US" altLang="zh-CN" dirty="0"/>
              <a:t>) = </a:t>
            </a:r>
            <a:r>
              <a:rPr lang="en-US" altLang="zh-CN" dirty="0">
                <a:sym typeface="Symbol" panose="05050102010706020507" pitchFamily="18" charset="2"/>
              </a:rPr>
              <a:t></a:t>
            </a:r>
            <a:endParaRPr lang="en-US" altLang="zh-CN" dirty="0"/>
          </a:p>
          <a:p>
            <a:pPr lvl="2" eaLnBrk="1" hangingPunct="1">
              <a:lnSpc>
                <a:spcPct val="150000"/>
              </a:lnSpc>
            </a:pPr>
            <a:r>
              <a:rPr lang="en-US" altLang="zh-CN" dirty="0"/>
              <a:t>If </a:t>
            </a:r>
            <a:r>
              <a:rPr lang="en-US" altLang="zh-CN" i="1" dirty="0"/>
              <a:t>R</a:t>
            </a:r>
            <a:r>
              <a:rPr lang="en-US" altLang="zh-CN" dirty="0"/>
              <a:t>(</a:t>
            </a:r>
            <a:r>
              <a:rPr lang="en-US" altLang="zh-CN" i="1" dirty="0"/>
              <a:t>a</a:t>
            </a:r>
            <a:r>
              <a:rPr lang="en-US" altLang="zh-CN" dirty="0"/>
              <a:t>) </a:t>
            </a:r>
            <a:r>
              <a:rPr lang="en-US" altLang="zh-CN" dirty="0">
                <a:sym typeface="Symbol" panose="05050102010706020507" pitchFamily="18" charset="2"/>
              </a:rPr>
              <a:t></a:t>
            </a:r>
            <a:r>
              <a:rPr lang="en-US" altLang="zh-CN" dirty="0"/>
              <a:t> </a:t>
            </a:r>
            <a:r>
              <a:rPr lang="en-US" altLang="zh-CN" i="1" dirty="0"/>
              <a:t>R</a:t>
            </a:r>
            <a:r>
              <a:rPr lang="en-US" altLang="zh-CN" dirty="0"/>
              <a:t>(</a:t>
            </a:r>
            <a:r>
              <a:rPr lang="en-US" altLang="zh-CN" i="1" dirty="0"/>
              <a:t>b</a:t>
            </a:r>
            <a:r>
              <a:rPr lang="en-US" altLang="zh-CN" dirty="0"/>
              <a:t>) </a:t>
            </a:r>
            <a:r>
              <a:rPr lang="en-US" altLang="zh-CN" dirty="0">
                <a:sym typeface="Symbol" panose="05050102010706020507" pitchFamily="18" charset="2"/>
              </a:rPr>
              <a:t> </a:t>
            </a:r>
            <a:r>
              <a:rPr lang="en-US" altLang="zh-CN" dirty="0"/>
              <a:t> , then </a:t>
            </a:r>
            <a:r>
              <a:rPr lang="en-US" altLang="zh-CN" i="1" dirty="0"/>
              <a:t>R</a:t>
            </a:r>
            <a:r>
              <a:rPr lang="en-US" altLang="zh-CN" dirty="0"/>
              <a:t>(</a:t>
            </a:r>
            <a:r>
              <a:rPr lang="en-US" altLang="zh-CN" i="1" dirty="0"/>
              <a:t>a</a:t>
            </a:r>
            <a:r>
              <a:rPr lang="en-US" altLang="zh-CN" dirty="0"/>
              <a:t>) = </a:t>
            </a:r>
            <a:r>
              <a:rPr lang="en-US" altLang="zh-CN" i="1" dirty="0"/>
              <a:t>R</a:t>
            </a:r>
            <a:r>
              <a:rPr lang="en-US" altLang="zh-CN" dirty="0"/>
              <a:t>(</a:t>
            </a:r>
            <a:r>
              <a:rPr lang="en-US" altLang="zh-CN" i="1" dirty="0"/>
              <a:t>b</a:t>
            </a:r>
            <a:r>
              <a:rPr lang="en-US" altLang="zh-CN" dirty="0"/>
              <a:t>).</a:t>
            </a:r>
          </a:p>
          <a:p>
            <a:pPr lvl="2" eaLnBrk="1" hangingPunct="1">
              <a:lnSpc>
                <a:spcPct val="150000"/>
              </a:lnSpc>
            </a:pPr>
            <a:endParaRPr lang="en-US" altLang="zh-CN" dirty="0"/>
          </a:p>
          <a:p>
            <a:pPr lvl="2" eaLnBrk="1" hangingPunct="1">
              <a:lnSpc>
                <a:spcPct val="150000"/>
              </a:lnSpc>
            </a:pPr>
            <a:r>
              <a:rPr lang="en-US" altLang="zh-CN" dirty="0"/>
              <a:t>Contrapositive(</a:t>
            </a:r>
            <a:r>
              <a:rPr lang="zh-CN" altLang="en-US" dirty="0"/>
              <a:t>换质位命题、对换式、逆反式</a:t>
            </a:r>
            <a:r>
              <a:rPr lang="en-US" altLang="zh-CN" dirty="0"/>
              <a:t>)</a:t>
            </a:r>
          </a:p>
        </p:txBody>
      </p:sp>
      <p:sp>
        <p:nvSpPr>
          <p:cNvPr id="5" name="文本框 4">
            <a:extLst>
              <a:ext uri="{FF2B5EF4-FFF2-40B4-BE49-F238E27FC236}">
                <a16:creationId xmlns:a16="http://schemas.microsoft.com/office/drawing/2014/main" id="{F48B5685-895E-4803-ADB5-521FA2FFA794}"/>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9.5.4 Equivalence Classes and Partitions</a:t>
            </a:r>
            <a:endParaRPr lang="en-US" altLang="zh-CN" sz="3200" dirty="0"/>
          </a:p>
        </p:txBody>
      </p:sp>
    </p:spTree>
    <p:extLst>
      <p:ext uri="{BB962C8B-B14F-4D97-AF65-F5344CB8AC3E}">
        <p14:creationId xmlns:p14="http://schemas.microsoft.com/office/powerpoint/2010/main" val="167853645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46E076-8636-4CBB-8DD9-FB709008B5F0}"/>
              </a:ext>
            </a:extLst>
          </p:cNvPr>
          <p:cNvSpPr txBox="1">
            <a:spLocks noChangeArrowheads="1"/>
          </p:cNvSpPr>
          <p:nvPr/>
        </p:nvSpPr>
        <p:spPr bwMode="auto">
          <a:xfrm>
            <a:off x="684143" y="1166018"/>
            <a:ext cx="10823714"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eaLnBrk="1" hangingPunct="1">
              <a:lnSpc>
                <a:spcPts val="4000"/>
              </a:lnSpc>
            </a:pPr>
            <a:r>
              <a:rPr lang="en-US" altLang="zh-CN" sz="2800" dirty="0"/>
              <a:t>Let </a:t>
            </a:r>
            <a:r>
              <a:rPr lang="en-US" altLang="zh-CN" sz="2800" i="1" dirty="0"/>
              <a:t>c</a:t>
            </a:r>
            <a:r>
              <a:rPr lang="en-US" altLang="zh-CN" sz="2800" dirty="0"/>
              <a:t> </a:t>
            </a:r>
            <a:r>
              <a:rPr lang="en-US" altLang="zh-CN" sz="2800" dirty="0">
                <a:sym typeface="Symbol" panose="05050102010706020507" pitchFamily="18" charset="2"/>
              </a:rPr>
              <a:t></a:t>
            </a:r>
            <a:r>
              <a:rPr lang="en-US" altLang="zh-CN" sz="2800" dirty="0"/>
              <a:t> </a:t>
            </a:r>
            <a:r>
              <a:rPr lang="en-US" altLang="zh-CN" sz="2800" i="1" dirty="0"/>
              <a:t>R</a:t>
            </a:r>
            <a:r>
              <a:rPr lang="en-US" altLang="zh-CN" sz="2800" dirty="0"/>
              <a:t>(</a:t>
            </a:r>
            <a:r>
              <a:rPr lang="en-US" altLang="zh-CN" sz="2800" i="1" dirty="0"/>
              <a:t>a</a:t>
            </a:r>
            <a:r>
              <a:rPr lang="en-US" altLang="zh-CN" sz="2800" dirty="0"/>
              <a:t>) </a:t>
            </a:r>
            <a:r>
              <a:rPr lang="en-US" altLang="zh-CN" sz="2800" dirty="0">
                <a:sym typeface="Symbol" panose="05050102010706020507" pitchFamily="18" charset="2"/>
              </a:rPr>
              <a:t></a:t>
            </a:r>
            <a:r>
              <a:rPr lang="en-US" altLang="zh-CN" sz="2800" dirty="0"/>
              <a:t> </a:t>
            </a:r>
            <a:r>
              <a:rPr lang="en-US" altLang="zh-CN" sz="2800" i="1" dirty="0"/>
              <a:t>R</a:t>
            </a:r>
            <a:r>
              <a:rPr lang="en-US" altLang="zh-CN" sz="2800" dirty="0"/>
              <a:t>(</a:t>
            </a:r>
            <a:r>
              <a:rPr lang="en-US" altLang="zh-CN" sz="2800" i="1" dirty="0"/>
              <a:t>b</a:t>
            </a:r>
            <a:r>
              <a:rPr lang="en-US" altLang="zh-CN" sz="2800" dirty="0"/>
              <a:t>)</a:t>
            </a:r>
          </a:p>
          <a:p>
            <a:pPr lvl="1" eaLnBrk="1" hangingPunct="1">
              <a:lnSpc>
                <a:spcPts val="4000"/>
              </a:lnSpc>
            </a:pPr>
            <a:r>
              <a:rPr lang="en-US" altLang="zh-CN" sz="2400" i="1" dirty="0"/>
              <a:t>a R c</a:t>
            </a:r>
            <a:r>
              <a:rPr lang="en-US" altLang="zh-CN" sz="2400" dirty="0"/>
              <a:t>, </a:t>
            </a:r>
            <a:r>
              <a:rPr lang="en-US" altLang="zh-CN" sz="2400" i="1" dirty="0"/>
              <a:t>b R c</a:t>
            </a:r>
          </a:p>
          <a:p>
            <a:pPr lvl="1" eaLnBrk="1" hangingPunct="1">
              <a:lnSpc>
                <a:spcPts val="4000"/>
              </a:lnSpc>
            </a:pPr>
            <a:r>
              <a:rPr lang="en-US" altLang="zh-CN" sz="2400" i="1" dirty="0"/>
              <a:t>c R b</a:t>
            </a:r>
            <a:r>
              <a:rPr lang="en-US" altLang="zh-CN" sz="2400" dirty="0"/>
              <a:t>, since </a:t>
            </a:r>
            <a:r>
              <a:rPr lang="en-US" altLang="zh-CN" sz="2400" i="1" dirty="0"/>
              <a:t>R</a:t>
            </a:r>
            <a:r>
              <a:rPr lang="en-US" altLang="zh-CN" sz="2400" dirty="0"/>
              <a:t> is symmetric</a:t>
            </a:r>
          </a:p>
          <a:p>
            <a:pPr lvl="1" eaLnBrk="1" hangingPunct="1">
              <a:lnSpc>
                <a:spcPts val="4000"/>
              </a:lnSpc>
            </a:pPr>
            <a:r>
              <a:rPr lang="en-US" altLang="zh-CN" sz="2400" i="1" dirty="0"/>
              <a:t>a R b</a:t>
            </a:r>
            <a:r>
              <a:rPr lang="en-US" altLang="zh-CN" sz="2400" dirty="0"/>
              <a:t>, since </a:t>
            </a:r>
            <a:r>
              <a:rPr lang="en-US" altLang="zh-CN" sz="2400" i="1" dirty="0"/>
              <a:t>R</a:t>
            </a:r>
            <a:r>
              <a:rPr lang="en-US" altLang="zh-CN" sz="2400" dirty="0"/>
              <a:t> is transitive</a:t>
            </a:r>
          </a:p>
          <a:p>
            <a:pPr lvl="1" eaLnBrk="1" hangingPunct="1">
              <a:lnSpc>
                <a:spcPts val="4000"/>
              </a:lnSpc>
            </a:pPr>
            <a:r>
              <a:rPr lang="en-US" altLang="zh-CN" sz="2400" i="1" dirty="0"/>
              <a:t>R(a</a:t>
            </a:r>
            <a:r>
              <a:rPr lang="en-US" altLang="zh-CN" sz="2400" dirty="0"/>
              <a:t>) = </a:t>
            </a:r>
            <a:r>
              <a:rPr lang="en-US" altLang="zh-CN" sz="2400" i="1" dirty="0"/>
              <a:t>R</a:t>
            </a:r>
            <a:r>
              <a:rPr lang="en-US" altLang="zh-CN" sz="2400" dirty="0"/>
              <a:t>(</a:t>
            </a:r>
            <a:r>
              <a:rPr lang="en-US" altLang="zh-CN" sz="2400" i="1" dirty="0"/>
              <a:t>b</a:t>
            </a:r>
            <a:r>
              <a:rPr lang="en-US" altLang="zh-CN" sz="2400" dirty="0"/>
              <a:t>) by Lemma l</a:t>
            </a:r>
          </a:p>
          <a:p>
            <a:pPr eaLnBrk="1" hangingPunct="1">
              <a:lnSpc>
                <a:spcPts val="4000"/>
              </a:lnSpc>
            </a:pPr>
            <a:r>
              <a:rPr lang="en-US" altLang="zh-CN" sz="2800" dirty="0"/>
              <a:t>So, </a:t>
            </a:r>
            <a:r>
              <a:rPr lang="en-US" altLang="zh-CN" b="1" i="1" dirty="0"/>
              <a:t>P</a:t>
            </a:r>
            <a:r>
              <a:rPr lang="en-US" altLang="zh-CN" sz="2800" dirty="0"/>
              <a:t> is a partition</a:t>
            </a:r>
          </a:p>
          <a:p>
            <a:pPr eaLnBrk="1" hangingPunct="1">
              <a:lnSpc>
                <a:spcPts val="4000"/>
              </a:lnSpc>
            </a:pPr>
            <a:r>
              <a:rPr lang="en-US" altLang="zh-CN" sz="2800" i="1" dirty="0"/>
              <a:t>a R b</a:t>
            </a:r>
            <a:r>
              <a:rPr lang="en-US" altLang="zh-CN" sz="2800" dirty="0"/>
              <a:t> </a:t>
            </a:r>
            <a:r>
              <a:rPr lang="en-US" altLang="zh-CN" sz="2800" dirty="0" err="1"/>
              <a:t>iff</a:t>
            </a:r>
            <a:r>
              <a:rPr lang="en-US" altLang="zh-CN" sz="2800" dirty="0"/>
              <a:t> </a:t>
            </a:r>
            <a:r>
              <a:rPr lang="en-US" altLang="zh-CN" sz="2800" i="1" dirty="0"/>
              <a:t>a</a:t>
            </a:r>
            <a:r>
              <a:rPr lang="en-US" altLang="zh-CN" sz="2800" dirty="0"/>
              <a:t> and </a:t>
            </a:r>
            <a:r>
              <a:rPr lang="en-US" altLang="zh-CN" sz="2800" i="1" dirty="0"/>
              <a:t>b</a:t>
            </a:r>
            <a:r>
              <a:rPr lang="en-US" altLang="zh-CN" sz="2800" dirty="0"/>
              <a:t> belong to the same block of </a:t>
            </a:r>
            <a:r>
              <a:rPr lang="en-US" altLang="zh-CN" b="1" i="1" dirty="0"/>
              <a:t>P</a:t>
            </a:r>
            <a:r>
              <a:rPr lang="en-US" altLang="zh-CN" sz="2800" dirty="0"/>
              <a:t>, Thus </a:t>
            </a:r>
            <a:r>
              <a:rPr lang="en-US" altLang="zh-CN" b="1" i="1" dirty="0"/>
              <a:t>P </a:t>
            </a:r>
            <a:r>
              <a:rPr lang="en-US" altLang="zh-CN" sz="2800" dirty="0"/>
              <a:t>determines </a:t>
            </a:r>
            <a:r>
              <a:rPr lang="en-US" altLang="zh-CN" sz="2800" i="1" dirty="0"/>
              <a:t>R.</a:t>
            </a:r>
          </a:p>
          <a:p>
            <a:pPr lvl="1" algn="r" eaLnBrk="1" hangingPunct="1">
              <a:lnSpc>
                <a:spcPts val="4000"/>
              </a:lnSpc>
            </a:pPr>
            <a:r>
              <a:rPr lang="en-US" altLang="zh-CN" sz="2400" dirty="0"/>
              <a:t>QED</a:t>
            </a:r>
          </a:p>
          <a:p>
            <a:pPr marL="0" indent="0" eaLnBrk="1" hangingPunct="1">
              <a:lnSpc>
                <a:spcPts val="4000"/>
              </a:lnSpc>
              <a:buNone/>
            </a:pPr>
            <a:endParaRPr lang="en-US" altLang="zh-CN" sz="2800" dirty="0"/>
          </a:p>
        </p:txBody>
      </p:sp>
      <p:sp>
        <p:nvSpPr>
          <p:cNvPr id="5" name="文本框 4">
            <a:extLst>
              <a:ext uri="{FF2B5EF4-FFF2-40B4-BE49-F238E27FC236}">
                <a16:creationId xmlns:a16="http://schemas.microsoft.com/office/drawing/2014/main" id="{E7C86EEF-0CA0-4718-804A-F87F12223B9E}"/>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9.5.4 Equivalence Classes and Partitions</a:t>
            </a:r>
            <a:endParaRPr lang="en-US" altLang="zh-CN" sz="3200" dirty="0"/>
          </a:p>
        </p:txBody>
      </p:sp>
    </p:spTree>
    <p:extLst>
      <p:ext uri="{BB962C8B-B14F-4D97-AF65-F5344CB8AC3E}">
        <p14:creationId xmlns:p14="http://schemas.microsoft.com/office/powerpoint/2010/main" val="18129917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46E076-8636-4CBB-8DD9-FB709008B5F0}"/>
              </a:ext>
            </a:extLst>
          </p:cNvPr>
          <p:cNvSpPr txBox="1">
            <a:spLocks noChangeArrowheads="1"/>
          </p:cNvSpPr>
          <p:nvPr/>
        </p:nvSpPr>
        <p:spPr bwMode="auto">
          <a:xfrm>
            <a:off x="568234" y="1166018"/>
            <a:ext cx="1105553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eaLnBrk="1" hangingPunct="1">
              <a:lnSpc>
                <a:spcPct val="150000"/>
              </a:lnSpc>
            </a:pPr>
            <a:r>
              <a:rPr lang="en-US" altLang="zh-CN" sz="2800" dirty="0"/>
              <a:t>If </a:t>
            </a:r>
            <a:r>
              <a:rPr lang="en-US" altLang="zh-CN" sz="2800" i="1" dirty="0"/>
              <a:t>R</a:t>
            </a:r>
            <a:r>
              <a:rPr lang="en-US" altLang="zh-CN" sz="2800" dirty="0"/>
              <a:t> is an equivalence relation on </a:t>
            </a:r>
            <a:r>
              <a:rPr lang="en-US" altLang="zh-CN" sz="2800" i="1" dirty="0"/>
              <a:t>A</a:t>
            </a:r>
            <a:r>
              <a:rPr lang="en-US" altLang="zh-CN" sz="2800" dirty="0"/>
              <a:t>, then the sets </a:t>
            </a:r>
            <a:r>
              <a:rPr lang="en-US" altLang="zh-CN" sz="2800" i="1" dirty="0"/>
              <a:t>R</a:t>
            </a:r>
            <a:r>
              <a:rPr lang="en-US" altLang="zh-CN" sz="2800" dirty="0"/>
              <a:t>(</a:t>
            </a:r>
            <a:r>
              <a:rPr lang="en-US" altLang="zh-CN" sz="2800" i="1" dirty="0"/>
              <a:t>a</a:t>
            </a:r>
            <a:r>
              <a:rPr lang="en-US" altLang="zh-CN" sz="2800" dirty="0"/>
              <a:t>) are traditionally called </a:t>
            </a:r>
            <a:r>
              <a:rPr lang="en-US" altLang="zh-CN" sz="2800" i="1" dirty="0">
                <a:solidFill>
                  <a:schemeClr val="hlink"/>
                </a:solidFill>
              </a:rPr>
              <a:t>equivalence classes</a:t>
            </a:r>
            <a:r>
              <a:rPr lang="en-US" altLang="zh-CN" sz="2800" dirty="0"/>
              <a:t> of </a:t>
            </a:r>
            <a:r>
              <a:rPr lang="en-US" altLang="zh-CN" sz="2800" i="1" dirty="0"/>
              <a:t>R</a:t>
            </a:r>
            <a:r>
              <a:rPr lang="en-US" altLang="zh-CN" sz="2800" dirty="0"/>
              <a:t>, denoted by [</a:t>
            </a:r>
            <a:r>
              <a:rPr lang="en-US" altLang="zh-CN" sz="2800" i="1" dirty="0"/>
              <a:t>a</a:t>
            </a:r>
            <a:r>
              <a:rPr lang="en-US" altLang="zh-CN" sz="2800" dirty="0"/>
              <a:t>]</a:t>
            </a:r>
          </a:p>
          <a:p>
            <a:pPr eaLnBrk="1" hangingPunct="1">
              <a:lnSpc>
                <a:spcPct val="150000"/>
              </a:lnSpc>
            </a:pPr>
            <a:r>
              <a:rPr lang="en-US" altLang="zh-CN" sz="2800" dirty="0"/>
              <a:t>The partition </a:t>
            </a:r>
            <a:r>
              <a:rPr lang="en-US" altLang="zh-CN" b="1" i="1" dirty="0"/>
              <a:t>P</a:t>
            </a:r>
            <a:r>
              <a:rPr lang="en-US" altLang="zh-CN" sz="2800" dirty="0"/>
              <a:t> consists of all equivalence classes of </a:t>
            </a:r>
            <a:r>
              <a:rPr lang="en-US" altLang="zh-CN" sz="2800" i="1" dirty="0"/>
              <a:t>R</a:t>
            </a:r>
            <a:r>
              <a:rPr lang="en-US" altLang="zh-CN" sz="2800" dirty="0"/>
              <a:t> is denoted by </a:t>
            </a:r>
            <a:r>
              <a:rPr lang="en-US" altLang="zh-CN" sz="2800" i="1" dirty="0"/>
              <a:t>A</a:t>
            </a:r>
            <a:r>
              <a:rPr lang="en-US" altLang="zh-CN" sz="2800" dirty="0"/>
              <a:t>/</a:t>
            </a:r>
            <a:r>
              <a:rPr lang="en-US" altLang="zh-CN" sz="2800" i="1" dirty="0"/>
              <a:t>R </a:t>
            </a:r>
            <a:r>
              <a:rPr lang="en-US" altLang="zh-CN" sz="2800" dirty="0"/>
              <a:t>and called</a:t>
            </a:r>
          </a:p>
          <a:p>
            <a:pPr lvl="1" eaLnBrk="1" hangingPunct="1">
              <a:lnSpc>
                <a:spcPct val="150000"/>
              </a:lnSpc>
            </a:pPr>
            <a:r>
              <a:rPr lang="en-US" altLang="zh-CN" sz="2400" dirty="0"/>
              <a:t>the </a:t>
            </a:r>
            <a:r>
              <a:rPr lang="en-US" altLang="zh-CN" sz="2400" i="1" dirty="0">
                <a:solidFill>
                  <a:schemeClr val="hlink"/>
                </a:solidFill>
              </a:rPr>
              <a:t>quotient set</a:t>
            </a:r>
            <a:r>
              <a:rPr lang="en-US" altLang="zh-CN" sz="2400" dirty="0"/>
              <a:t>, or</a:t>
            </a:r>
          </a:p>
          <a:p>
            <a:pPr lvl="1" eaLnBrk="1" hangingPunct="1">
              <a:lnSpc>
                <a:spcPct val="150000"/>
              </a:lnSpc>
            </a:pPr>
            <a:r>
              <a:rPr lang="en-US" altLang="zh-CN" sz="2400" i="1" dirty="0">
                <a:solidFill>
                  <a:schemeClr val="hlink"/>
                </a:solidFill>
              </a:rPr>
              <a:t>the partition of A induced by R</a:t>
            </a:r>
            <a:r>
              <a:rPr lang="en-US" altLang="zh-CN" sz="2400" i="1" dirty="0"/>
              <a:t>, </a:t>
            </a:r>
            <a:r>
              <a:rPr lang="en-US" altLang="zh-CN" sz="2400" dirty="0"/>
              <a:t>or,</a:t>
            </a:r>
          </a:p>
          <a:p>
            <a:pPr lvl="1" eaLnBrk="1" hangingPunct="1">
              <a:lnSpc>
                <a:spcPct val="150000"/>
              </a:lnSpc>
            </a:pPr>
            <a:r>
              <a:rPr lang="en-US" altLang="zh-CN" sz="2400" i="1" dirty="0">
                <a:solidFill>
                  <a:schemeClr val="hlink"/>
                </a:solidFill>
              </a:rPr>
              <a:t>A modulo R</a:t>
            </a:r>
            <a:r>
              <a:rPr lang="en-US" altLang="zh-CN" sz="2400" dirty="0"/>
              <a:t>.</a:t>
            </a:r>
          </a:p>
          <a:p>
            <a:pPr marL="0" indent="0" eaLnBrk="1" hangingPunct="1">
              <a:lnSpc>
                <a:spcPct val="150000"/>
              </a:lnSpc>
              <a:buNone/>
            </a:pPr>
            <a:endParaRPr lang="en-US" altLang="zh-CN" sz="2800" dirty="0"/>
          </a:p>
        </p:txBody>
      </p:sp>
      <p:sp>
        <p:nvSpPr>
          <p:cNvPr id="5" name="文本框 4">
            <a:extLst>
              <a:ext uri="{FF2B5EF4-FFF2-40B4-BE49-F238E27FC236}">
                <a16:creationId xmlns:a16="http://schemas.microsoft.com/office/drawing/2014/main" id="{4FE2EE28-6384-46F2-BEB5-27328FAE54FD}"/>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9.5.4 Equivalence Classes and Partitions</a:t>
            </a:r>
            <a:endParaRPr lang="en-US" altLang="zh-CN" sz="3200" dirty="0"/>
          </a:p>
        </p:txBody>
      </p:sp>
    </p:spTree>
    <p:extLst>
      <p:ext uri="{BB962C8B-B14F-4D97-AF65-F5344CB8AC3E}">
        <p14:creationId xmlns:p14="http://schemas.microsoft.com/office/powerpoint/2010/main" val="40786486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46E076-8636-4CBB-8DD9-FB709008B5F0}"/>
              </a:ext>
            </a:extLst>
          </p:cNvPr>
          <p:cNvSpPr txBox="1">
            <a:spLocks noChangeArrowheads="1"/>
          </p:cNvSpPr>
          <p:nvPr/>
        </p:nvSpPr>
        <p:spPr bwMode="auto">
          <a:xfrm>
            <a:off x="568234" y="983138"/>
            <a:ext cx="1105553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eaLnBrk="1" hangingPunct="1">
              <a:lnSpc>
                <a:spcPct val="150000"/>
              </a:lnSpc>
            </a:pPr>
            <a:r>
              <a:rPr lang="da-DK" altLang="en-US" sz="2800" dirty="0"/>
              <a:t>Let </a:t>
            </a:r>
          </a:p>
          <a:p>
            <a:pPr lvl="1" eaLnBrk="1" hangingPunct="1">
              <a:lnSpc>
                <a:spcPct val="150000"/>
              </a:lnSpc>
            </a:pPr>
            <a:r>
              <a:rPr lang="da-DK" altLang="en-US" sz="2400" i="1" dirty="0"/>
              <a:t>A</a:t>
            </a:r>
            <a:r>
              <a:rPr lang="da-DK" altLang="en-US" sz="2400" dirty="0"/>
              <a:t> = {1, 2, 3, 4}</a:t>
            </a:r>
          </a:p>
          <a:p>
            <a:pPr lvl="1" eaLnBrk="1" hangingPunct="1">
              <a:lnSpc>
                <a:spcPct val="150000"/>
              </a:lnSpc>
            </a:pPr>
            <a:r>
              <a:rPr lang="da-DK" altLang="en-US" sz="2400" i="1" dirty="0"/>
              <a:t>R</a:t>
            </a:r>
            <a:r>
              <a:rPr lang="da-DK" altLang="en-US" sz="2400" dirty="0"/>
              <a:t> = {(1, 1), (1, 2), (2, 1), (2, 2), (3, 4), (4, 3), (3, 3), (4, 4)}.</a:t>
            </a:r>
          </a:p>
          <a:p>
            <a:pPr eaLnBrk="1" hangingPunct="1">
              <a:lnSpc>
                <a:spcPct val="150000"/>
              </a:lnSpc>
            </a:pPr>
            <a:r>
              <a:rPr lang="en-US" altLang="zh-CN" sz="2800" dirty="0"/>
              <a:t>Determine </a:t>
            </a:r>
            <a:r>
              <a:rPr lang="en-US" altLang="zh-CN" sz="2800" i="1" dirty="0"/>
              <a:t>A</a:t>
            </a:r>
            <a:r>
              <a:rPr lang="en-US" altLang="zh-CN" sz="2800" dirty="0"/>
              <a:t>/</a:t>
            </a:r>
            <a:r>
              <a:rPr lang="en-US" altLang="zh-CN" sz="2800" i="1" dirty="0"/>
              <a:t>R</a:t>
            </a:r>
            <a:r>
              <a:rPr lang="en-US" altLang="zh-CN" sz="2800" dirty="0"/>
              <a:t>.</a:t>
            </a:r>
          </a:p>
          <a:p>
            <a:pPr eaLnBrk="1" hangingPunct="1">
              <a:lnSpc>
                <a:spcPct val="150000"/>
              </a:lnSpc>
            </a:pPr>
            <a:r>
              <a:rPr lang="en-US" altLang="zh-CN" sz="2800" dirty="0"/>
              <a:t>Solution</a:t>
            </a:r>
          </a:p>
          <a:p>
            <a:pPr lvl="1" eaLnBrk="1" hangingPunct="1">
              <a:lnSpc>
                <a:spcPct val="150000"/>
              </a:lnSpc>
            </a:pPr>
            <a:r>
              <a:rPr lang="en-US" altLang="zh-CN" sz="2400" i="1" dirty="0"/>
              <a:t>R</a:t>
            </a:r>
            <a:r>
              <a:rPr lang="en-US" altLang="zh-CN" sz="2400" dirty="0"/>
              <a:t>(1) = {1, 2} = </a:t>
            </a:r>
            <a:r>
              <a:rPr lang="en-US" altLang="zh-CN" sz="2400" i="1" dirty="0"/>
              <a:t>R</a:t>
            </a:r>
            <a:r>
              <a:rPr lang="en-US" altLang="zh-CN" sz="2400" dirty="0"/>
              <a:t>(2)</a:t>
            </a:r>
          </a:p>
          <a:p>
            <a:pPr lvl="1" eaLnBrk="1" hangingPunct="1">
              <a:lnSpc>
                <a:spcPct val="150000"/>
              </a:lnSpc>
            </a:pPr>
            <a:r>
              <a:rPr lang="en-US" altLang="zh-CN" sz="2400" i="1" dirty="0"/>
              <a:t>R</a:t>
            </a:r>
            <a:r>
              <a:rPr lang="en-US" altLang="zh-CN" sz="2400" dirty="0"/>
              <a:t>(3) = {3, 4} = </a:t>
            </a:r>
            <a:r>
              <a:rPr lang="en-US" altLang="zh-CN" sz="2400" i="1" dirty="0"/>
              <a:t>R</a:t>
            </a:r>
            <a:r>
              <a:rPr lang="en-US" altLang="zh-CN" sz="2400" dirty="0"/>
              <a:t>(4).</a:t>
            </a:r>
          </a:p>
          <a:p>
            <a:pPr lvl="1" eaLnBrk="1" hangingPunct="1">
              <a:lnSpc>
                <a:spcPct val="150000"/>
              </a:lnSpc>
            </a:pPr>
            <a:r>
              <a:rPr lang="en-US" altLang="zh-CN" sz="2400" dirty="0"/>
              <a:t>Hence </a:t>
            </a:r>
            <a:r>
              <a:rPr lang="en-US" altLang="zh-CN" sz="2400" i="1" dirty="0"/>
              <a:t>A</a:t>
            </a:r>
            <a:r>
              <a:rPr lang="en-US" altLang="zh-CN" sz="2400" dirty="0"/>
              <a:t>/</a:t>
            </a:r>
            <a:r>
              <a:rPr lang="en-US" altLang="zh-CN" sz="2400" i="1" dirty="0"/>
              <a:t>R</a:t>
            </a:r>
            <a:r>
              <a:rPr lang="en-US" altLang="zh-CN" sz="2400" dirty="0"/>
              <a:t> = {{1, 2}, {3, 4}} </a:t>
            </a:r>
          </a:p>
        </p:txBody>
      </p:sp>
      <p:sp>
        <p:nvSpPr>
          <p:cNvPr id="5" name="文本框 4">
            <a:extLst>
              <a:ext uri="{FF2B5EF4-FFF2-40B4-BE49-F238E27FC236}">
                <a16:creationId xmlns:a16="http://schemas.microsoft.com/office/drawing/2014/main" id="{BCBE806A-3E9E-4574-8B8C-54D2E9BAD8BA}"/>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9.5.4 Equivalence Classes and Partitions</a:t>
            </a:r>
            <a:endParaRPr lang="en-US" altLang="zh-CN" sz="3200" dirty="0"/>
          </a:p>
        </p:txBody>
      </p:sp>
    </p:spTree>
    <p:extLst>
      <p:ext uri="{BB962C8B-B14F-4D97-AF65-F5344CB8AC3E}">
        <p14:creationId xmlns:p14="http://schemas.microsoft.com/office/powerpoint/2010/main" val="270329424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46E076-8636-4CBB-8DD9-FB709008B5F0}"/>
              </a:ext>
            </a:extLst>
          </p:cNvPr>
          <p:cNvSpPr txBox="1">
            <a:spLocks noChangeArrowheads="1"/>
          </p:cNvSpPr>
          <p:nvPr/>
        </p:nvSpPr>
        <p:spPr bwMode="auto">
          <a:xfrm>
            <a:off x="210046" y="1003442"/>
            <a:ext cx="11391735"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eaLnBrk="1" hangingPunct="1">
              <a:lnSpc>
                <a:spcPts val="4000"/>
              </a:lnSpc>
            </a:pPr>
            <a:r>
              <a:rPr lang="en-US" altLang="zh-CN" sz="2400" i="1" dirty="0">
                <a:solidFill>
                  <a:schemeClr val="hlink"/>
                </a:solidFill>
              </a:rPr>
              <a:t>STEP 1</a:t>
            </a:r>
            <a:r>
              <a:rPr lang="en-US" altLang="zh-CN" sz="2400" dirty="0"/>
              <a:t>: Choose any element of </a:t>
            </a:r>
            <a:r>
              <a:rPr lang="en-US" altLang="zh-CN" sz="2400" i="1" dirty="0"/>
              <a:t>A</a:t>
            </a:r>
            <a:r>
              <a:rPr lang="en-US" altLang="zh-CN" sz="2400" dirty="0"/>
              <a:t> and compute the equivalence class </a:t>
            </a:r>
            <a:r>
              <a:rPr lang="en-US" altLang="zh-CN" sz="2400" i="1" dirty="0"/>
              <a:t>R</a:t>
            </a:r>
            <a:r>
              <a:rPr lang="en-US" altLang="zh-CN" sz="2400" dirty="0"/>
              <a:t>(</a:t>
            </a:r>
            <a:r>
              <a:rPr lang="en-US" altLang="zh-CN" sz="2400" i="1" dirty="0"/>
              <a:t>a</a:t>
            </a:r>
            <a:r>
              <a:rPr lang="en-US" altLang="zh-CN" sz="2400" dirty="0"/>
              <a:t>).</a:t>
            </a:r>
          </a:p>
          <a:p>
            <a:pPr eaLnBrk="1" hangingPunct="1">
              <a:lnSpc>
                <a:spcPts val="4000"/>
              </a:lnSpc>
            </a:pPr>
            <a:r>
              <a:rPr lang="en-US" altLang="zh-CN" sz="2400" i="1" dirty="0">
                <a:solidFill>
                  <a:schemeClr val="hlink"/>
                </a:solidFill>
              </a:rPr>
              <a:t>STEP 2</a:t>
            </a:r>
            <a:r>
              <a:rPr lang="en-US" altLang="zh-CN" sz="2400" dirty="0"/>
              <a:t>: if </a:t>
            </a:r>
            <a:r>
              <a:rPr lang="en-US" altLang="zh-CN" sz="2400" i="1" dirty="0"/>
              <a:t>R</a:t>
            </a:r>
            <a:r>
              <a:rPr lang="en-US" altLang="zh-CN" sz="2400" dirty="0"/>
              <a:t>(</a:t>
            </a:r>
            <a:r>
              <a:rPr lang="en-US" altLang="zh-CN" sz="2400" i="1" dirty="0"/>
              <a:t>a</a:t>
            </a:r>
            <a:r>
              <a:rPr lang="en-US" altLang="zh-CN" sz="2400" dirty="0"/>
              <a:t>) </a:t>
            </a:r>
            <a:r>
              <a:rPr lang="en-US" altLang="zh-CN" sz="2400" dirty="0">
                <a:sym typeface="Symbol" panose="05050102010706020507" pitchFamily="18" charset="2"/>
              </a:rPr>
              <a:t></a:t>
            </a:r>
            <a:r>
              <a:rPr lang="en-US" altLang="zh-CN" sz="2400" dirty="0"/>
              <a:t> </a:t>
            </a:r>
            <a:r>
              <a:rPr lang="en-US" altLang="zh-CN" sz="2400" i="1" dirty="0"/>
              <a:t>A,</a:t>
            </a:r>
            <a:r>
              <a:rPr lang="en-US" altLang="zh-CN" sz="2400" dirty="0"/>
              <a:t> choose an element </a:t>
            </a:r>
            <a:r>
              <a:rPr lang="en-US" altLang="zh-CN" sz="2400" i="1" dirty="0"/>
              <a:t>b</a:t>
            </a:r>
            <a:r>
              <a:rPr lang="en-US" altLang="zh-CN" sz="2400" dirty="0"/>
              <a:t>, not included in </a:t>
            </a:r>
            <a:r>
              <a:rPr lang="en-US" altLang="zh-CN" sz="2400" i="1" dirty="0"/>
              <a:t>R</a:t>
            </a:r>
            <a:r>
              <a:rPr lang="en-US" altLang="zh-CN" sz="2400" dirty="0"/>
              <a:t>(</a:t>
            </a:r>
            <a:r>
              <a:rPr lang="en-US" altLang="zh-CN" sz="2400" i="1" dirty="0"/>
              <a:t>a</a:t>
            </a:r>
            <a:r>
              <a:rPr lang="en-US" altLang="zh-CN" sz="2400" dirty="0"/>
              <a:t>), and compute the equivalence class </a:t>
            </a:r>
            <a:r>
              <a:rPr lang="en-US" altLang="zh-CN" sz="2400" i="1" dirty="0"/>
              <a:t>R</a:t>
            </a:r>
            <a:r>
              <a:rPr lang="en-US" altLang="zh-CN" sz="2400" dirty="0"/>
              <a:t>(</a:t>
            </a:r>
            <a:r>
              <a:rPr lang="en-US" altLang="zh-CN" sz="2400" i="1" dirty="0"/>
              <a:t>b</a:t>
            </a:r>
            <a:r>
              <a:rPr lang="en-US" altLang="zh-CN" sz="2400" dirty="0"/>
              <a:t>).</a:t>
            </a:r>
          </a:p>
          <a:p>
            <a:pPr eaLnBrk="1" hangingPunct="1">
              <a:lnSpc>
                <a:spcPts val="4000"/>
              </a:lnSpc>
            </a:pPr>
            <a:r>
              <a:rPr lang="en-US" altLang="zh-CN" sz="2400" i="1" dirty="0">
                <a:solidFill>
                  <a:schemeClr val="hlink"/>
                </a:solidFill>
              </a:rPr>
              <a:t>STEP 3</a:t>
            </a:r>
            <a:r>
              <a:rPr lang="en-US" altLang="zh-CN" sz="2400" dirty="0"/>
              <a:t>: If </a:t>
            </a:r>
            <a:r>
              <a:rPr lang="en-US" altLang="zh-CN" sz="2400" i="1" dirty="0"/>
              <a:t>A</a:t>
            </a:r>
            <a:r>
              <a:rPr lang="en-US" altLang="zh-CN" sz="2400" dirty="0"/>
              <a:t> is not the union of previously computed equivalence classes, then choose an element </a:t>
            </a:r>
            <a:r>
              <a:rPr lang="en-US" altLang="zh-CN" sz="2400" i="1" dirty="0"/>
              <a:t>x</a:t>
            </a:r>
            <a:r>
              <a:rPr lang="en-US" altLang="zh-CN" sz="2400" dirty="0"/>
              <a:t> of </a:t>
            </a:r>
            <a:r>
              <a:rPr lang="en-US" altLang="zh-CN" sz="2400" i="1" dirty="0"/>
              <a:t>A</a:t>
            </a:r>
            <a:r>
              <a:rPr lang="en-US" altLang="zh-CN" sz="2400" dirty="0"/>
              <a:t> that is not in any of those equivalence classes and compute </a:t>
            </a:r>
            <a:r>
              <a:rPr lang="en-US" altLang="zh-CN" sz="2400" i="1" dirty="0"/>
              <a:t>R</a:t>
            </a:r>
            <a:r>
              <a:rPr lang="en-US" altLang="zh-CN" sz="2400" dirty="0"/>
              <a:t>(</a:t>
            </a:r>
            <a:r>
              <a:rPr lang="en-US" altLang="zh-CN" sz="2400" i="1" dirty="0"/>
              <a:t>x</a:t>
            </a:r>
            <a:r>
              <a:rPr lang="en-US" altLang="zh-CN" sz="2400" dirty="0"/>
              <a:t>).</a:t>
            </a:r>
          </a:p>
          <a:p>
            <a:pPr eaLnBrk="1" hangingPunct="1">
              <a:lnSpc>
                <a:spcPts val="4000"/>
              </a:lnSpc>
            </a:pPr>
            <a:r>
              <a:rPr lang="en-US" altLang="zh-CN" sz="2400" i="1" dirty="0">
                <a:solidFill>
                  <a:schemeClr val="hlink"/>
                </a:solidFill>
              </a:rPr>
              <a:t>STEP 4</a:t>
            </a:r>
            <a:r>
              <a:rPr lang="en-US" altLang="zh-CN" sz="2400" dirty="0"/>
              <a:t>: Repeat step 3 until all elements of </a:t>
            </a:r>
            <a:r>
              <a:rPr lang="en-US" altLang="zh-CN" sz="2400" i="1" dirty="0"/>
              <a:t>A</a:t>
            </a:r>
            <a:r>
              <a:rPr lang="en-US" altLang="zh-CN" sz="2400" dirty="0"/>
              <a:t> are included in the computed equivalence classes. If </a:t>
            </a:r>
            <a:r>
              <a:rPr lang="en-US" altLang="zh-CN" sz="2400" i="1" dirty="0"/>
              <a:t>A</a:t>
            </a:r>
            <a:r>
              <a:rPr lang="en-US" altLang="zh-CN" sz="2400" dirty="0"/>
              <a:t> is countable, this process could continue indefinitely. In that case, continue until a pattern emerges that allows you to describe or give a formula for all equivalence classes.</a:t>
            </a:r>
          </a:p>
          <a:p>
            <a:pPr eaLnBrk="1" hangingPunct="1">
              <a:lnSpc>
                <a:spcPts val="4000"/>
              </a:lnSpc>
            </a:pPr>
            <a:endParaRPr lang="en-US" altLang="zh-CN" sz="2400" dirty="0"/>
          </a:p>
        </p:txBody>
      </p:sp>
      <p:sp>
        <p:nvSpPr>
          <p:cNvPr id="5" name="文本框 4">
            <a:extLst>
              <a:ext uri="{FF2B5EF4-FFF2-40B4-BE49-F238E27FC236}">
                <a16:creationId xmlns:a16="http://schemas.microsoft.com/office/drawing/2014/main" id="{D2FB232E-DEA3-45EA-8D99-8E39D47CDE6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9.5.4 Equivalence Classes and Partitions</a:t>
            </a:r>
            <a:endParaRPr lang="en-US" altLang="zh-CN" sz="3200" dirty="0"/>
          </a:p>
        </p:txBody>
      </p:sp>
    </p:spTree>
    <p:extLst>
      <p:ext uri="{BB962C8B-B14F-4D97-AF65-F5344CB8AC3E}">
        <p14:creationId xmlns:p14="http://schemas.microsoft.com/office/powerpoint/2010/main" val="316263518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46E076-8636-4CBB-8DD9-FB709008B5F0}"/>
              </a:ext>
            </a:extLst>
          </p:cNvPr>
          <p:cNvSpPr txBox="1">
            <a:spLocks noChangeArrowheads="1"/>
          </p:cNvSpPr>
          <p:nvPr/>
        </p:nvSpPr>
        <p:spPr bwMode="auto">
          <a:xfrm>
            <a:off x="568234" y="739754"/>
            <a:ext cx="1105553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a:lnSpc>
                <a:spcPct val="150000"/>
              </a:lnSpc>
            </a:pPr>
            <a:r>
              <a:rPr lang="en-US" altLang="zh-CN" dirty="0"/>
              <a:t>What are the sets in the partition of the integers arising from congruence modulo 4?</a:t>
            </a:r>
          </a:p>
        </p:txBody>
      </p:sp>
      <p:sp>
        <p:nvSpPr>
          <p:cNvPr id="5" name="文本框 4">
            <a:extLst>
              <a:ext uri="{FF2B5EF4-FFF2-40B4-BE49-F238E27FC236}">
                <a16:creationId xmlns:a16="http://schemas.microsoft.com/office/drawing/2014/main" id="{E328E8F6-909C-47E4-8799-F4E9E84085BB}"/>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9.5.4 Equivalence Classes and Partitions</a:t>
            </a:r>
            <a:endParaRPr lang="en-US" altLang="zh-CN" sz="3200" dirty="0"/>
          </a:p>
        </p:txBody>
      </p:sp>
    </p:spTree>
    <p:extLst>
      <p:ext uri="{BB962C8B-B14F-4D97-AF65-F5344CB8AC3E}">
        <p14:creationId xmlns:p14="http://schemas.microsoft.com/office/powerpoint/2010/main" val="392355218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46E076-8636-4CBB-8DD9-FB709008B5F0}"/>
              </a:ext>
            </a:extLst>
          </p:cNvPr>
          <p:cNvSpPr txBox="1">
            <a:spLocks noChangeArrowheads="1"/>
          </p:cNvSpPr>
          <p:nvPr/>
        </p:nvSpPr>
        <p:spPr bwMode="auto">
          <a:xfrm>
            <a:off x="568234" y="1166018"/>
            <a:ext cx="1105553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eaLnBrk="1" hangingPunct="1">
              <a:lnSpc>
                <a:spcPct val="150000"/>
              </a:lnSpc>
            </a:pPr>
            <a:r>
              <a:rPr lang="en-US" altLang="zh-CN" dirty="0"/>
              <a:t>Let </a:t>
            </a:r>
            <a:r>
              <a:rPr lang="en-US" altLang="zh-CN" i="1" dirty="0"/>
              <a:t>R</a:t>
            </a:r>
            <a:r>
              <a:rPr lang="en-US" altLang="zh-CN" dirty="0"/>
              <a:t> be the equivalence relation defined in congruence modulo 2, determine </a:t>
            </a:r>
            <a:r>
              <a:rPr lang="en-US" altLang="zh-CN" i="1" dirty="0"/>
              <a:t>R/A</a:t>
            </a:r>
            <a:r>
              <a:rPr lang="en-US" altLang="zh-CN" dirty="0"/>
              <a:t>.</a:t>
            </a:r>
          </a:p>
          <a:p>
            <a:pPr eaLnBrk="1" hangingPunct="1">
              <a:lnSpc>
                <a:spcPct val="150000"/>
              </a:lnSpc>
            </a:pPr>
            <a:r>
              <a:rPr lang="en-US" altLang="zh-CN" dirty="0"/>
              <a:t>Solution</a:t>
            </a:r>
          </a:p>
          <a:p>
            <a:pPr lvl="1" eaLnBrk="1" hangingPunct="1">
              <a:lnSpc>
                <a:spcPct val="150000"/>
              </a:lnSpc>
            </a:pPr>
            <a:r>
              <a:rPr lang="en-US" altLang="zh-CN" i="1" dirty="0"/>
              <a:t>R</a:t>
            </a:r>
            <a:r>
              <a:rPr lang="en-US" altLang="zh-CN" dirty="0"/>
              <a:t>(0)={…, -6, -4, -2, 0, 2, 4, 6, …}</a:t>
            </a:r>
          </a:p>
          <a:p>
            <a:pPr lvl="1" eaLnBrk="1" hangingPunct="1">
              <a:lnSpc>
                <a:spcPct val="150000"/>
              </a:lnSpc>
            </a:pPr>
            <a:r>
              <a:rPr lang="en-US" altLang="zh-CN" i="1" dirty="0"/>
              <a:t>R</a:t>
            </a:r>
            <a:r>
              <a:rPr lang="en-US" altLang="zh-CN" dirty="0"/>
              <a:t>(1)={…, -5, -3, -1, 1, 3, 5, 7, …}</a:t>
            </a:r>
          </a:p>
          <a:p>
            <a:pPr lvl="1" eaLnBrk="1" hangingPunct="1">
              <a:lnSpc>
                <a:spcPct val="150000"/>
              </a:lnSpc>
            </a:pPr>
            <a:r>
              <a:rPr lang="en-US" altLang="zh-CN" dirty="0"/>
              <a:t>Hence </a:t>
            </a:r>
            <a:r>
              <a:rPr lang="en-US" altLang="zh-CN" i="1" dirty="0"/>
              <a:t>A</a:t>
            </a:r>
            <a:r>
              <a:rPr lang="en-US" altLang="zh-CN" dirty="0"/>
              <a:t>/</a:t>
            </a:r>
            <a:r>
              <a:rPr lang="en-US" altLang="zh-CN" i="1" dirty="0"/>
              <a:t>R</a:t>
            </a:r>
            <a:r>
              <a:rPr lang="en-US" altLang="zh-CN" dirty="0"/>
              <a:t> consists of the set of even integers and the set of odd integers</a:t>
            </a:r>
          </a:p>
        </p:txBody>
      </p:sp>
      <p:sp>
        <p:nvSpPr>
          <p:cNvPr id="5" name="文本框 4">
            <a:extLst>
              <a:ext uri="{FF2B5EF4-FFF2-40B4-BE49-F238E27FC236}">
                <a16:creationId xmlns:a16="http://schemas.microsoft.com/office/drawing/2014/main" id="{3E18040A-EA49-4AE8-ADE1-CE14C875554F}"/>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9.5.4 Equivalence Classes and Partitions</a:t>
            </a:r>
            <a:endParaRPr lang="en-US" altLang="zh-CN" sz="3200" dirty="0"/>
          </a:p>
        </p:txBody>
      </p:sp>
    </p:spTree>
    <p:extLst>
      <p:ext uri="{BB962C8B-B14F-4D97-AF65-F5344CB8AC3E}">
        <p14:creationId xmlns:p14="http://schemas.microsoft.com/office/powerpoint/2010/main" val="419481083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a:extLst>
              <a:ext uri="{FF2B5EF4-FFF2-40B4-BE49-F238E27FC236}">
                <a16:creationId xmlns:a16="http://schemas.microsoft.com/office/drawing/2014/main" id="{61839AE4-CDAF-4F92-9CD3-D9AD572D017A}"/>
              </a:ext>
            </a:extLst>
          </p:cNvPr>
          <p:cNvSpPr txBox="1">
            <a:spLocks noChangeArrowheads="1"/>
          </p:cNvSpPr>
          <p:nvPr/>
        </p:nvSpPr>
        <p:spPr bwMode="auto">
          <a:xfrm>
            <a:off x="386080" y="739754"/>
            <a:ext cx="9428480" cy="3346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spcBef>
                <a:spcPct val="0"/>
              </a:spcBef>
              <a:buFontTx/>
              <a:buNone/>
            </a:pPr>
            <a:r>
              <a:rPr lang="zh-CN" altLang="en-US" sz="2400" b="1" dirty="0">
                <a:latin typeface="黑体" panose="02010609060101010101" pitchFamily="49" charset="-122"/>
                <a:ea typeface="黑体" panose="02010609060101010101" pitchFamily="49" charset="-122"/>
              </a:rPr>
              <a:t>例１：</a:t>
            </a:r>
          </a:p>
          <a:p>
            <a:pPr algn="just" eaLnBrk="1" hangingPunct="1">
              <a:lnSpc>
                <a:spcPct val="150000"/>
              </a:lnSpc>
              <a:spcBef>
                <a:spcPct val="0"/>
              </a:spcBef>
              <a:buFontTx/>
              <a:buNone/>
            </a:pPr>
            <a:r>
              <a:rPr lang="zh-CN" altLang="en-US" sz="2400" b="1" dirty="0">
                <a:latin typeface="黑体" panose="02010609060101010101" pitchFamily="49" charset="-122"/>
                <a:ea typeface="黑体" panose="02010609060101010101" pitchFamily="49" charset="-122"/>
              </a:rPr>
              <a:t>  </a:t>
            </a:r>
            <a:r>
              <a:rPr lang="zh-CN" altLang="en-US" sz="2400" b="1" dirty="0">
                <a:latin typeface="宋体" panose="02010600030101010101" pitchFamily="2" charset="-122"/>
              </a:rPr>
              <a:t>Ａ＝｛５２张</a:t>
            </a:r>
            <a:r>
              <a:rPr lang="zh-CN" altLang="en-US" sz="2400" b="1">
                <a:latin typeface="宋体" panose="02010600030101010101" pitchFamily="2" charset="-122"/>
              </a:rPr>
              <a:t>扑克｝</a:t>
            </a:r>
            <a:endParaRPr lang="zh-CN" altLang="en-US" sz="2400" b="1" dirty="0">
              <a:latin typeface="宋体" panose="02010600030101010101" pitchFamily="2" charset="-122"/>
            </a:endParaRPr>
          </a:p>
          <a:p>
            <a:pPr algn="just" eaLnBrk="1" hangingPunct="1">
              <a:lnSpc>
                <a:spcPct val="150000"/>
              </a:lnSpc>
              <a:spcBef>
                <a:spcPct val="0"/>
              </a:spcBef>
              <a:buFontTx/>
              <a:buNone/>
            </a:pPr>
            <a:r>
              <a:rPr lang="zh-CN" altLang="en-US" sz="2400" b="1" dirty="0">
                <a:latin typeface="宋体" panose="02010600030101010101" pitchFamily="2" charset="-122"/>
              </a:rPr>
              <a:t>  Ｒ</a:t>
            </a:r>
            <a:r>
              <a:rPr lang="en-US" altLang="zh-CN" sz="2400" b="1" baseline="-25000" dirty="0">
                <a:latin typeface="宋体" panose="02010600030101010101" pitchFamily="2" charset="-122"/>
              </a:rPr>
              <a:t>1</a:t>
            </a:r>
            <a:r>
              <a:rPr lang="zh-CN" altLang="en-US" sz="2400" b="1" dirty="0">
                <a:latin typeface="宋体" panose="02010600030101010101" pitchFamily="2" charset="-122"/>
              </a:rPr>
              <a:t>＝｛（ａ，ｂ）｜ａ与ｂ同花，ａ，ｂ是扑克｝</a:t>
            </a:r>
          </a:p>
          <a:p>
            <a:pPr algn="just" eaLnBrk="1" hangingPunct="1">
              <a:lnSpc>
                <a:spcPct val="150000"/>
              </a:lnSpc>
              <a:spcBef>
                <a:spcPct val="0"/>
              </a:spcBef>
              <a:buFontTx/>
              <a:buNone/>
            </a:pPr>
            <a:r>
              <a:rPr lang="zh-CN" altLang="en-US" sz="2400" b="1" dirty="0">
                <a:latin typeface="宋体" panose="02010600030101010101" pitchFamily="2" charset="-122"/>
              </a:rPr>
              <a:t>  Ｒ</a:t>
            </a:r>
            <a:r>
              <a:rPr lang="en-US" altLang="zh-CN" sz="2400" b="1" baseline="-25000" dirty="0">
                <a:latin typeface="宋体" panose="02010600030101010101" pitchFamily="2" charset="-122"/>
              </a:rPr>
              <a:t>2</a:t>
            </a:r>
            <a:r>
              <a:rPr lang="zh-CN" altLang="en-US" sz="2400" b="1" dirty="0">
                <a:latin typeface="宋体" panose="02010600030101010101" pitchFamily="2" charset="-122"/>
              </a:rPr>
              <a:t>＝｛（ａ，ｂ）｜ａ与ｂ同点，ａ，ｂ是扑克｝</a:t>
            </a:r>
          </a:p>
          <a:p>
            <a:pPr algn="just" eaLnBrk="1" hangingPunct="1">
              <a:lnSpc>
                <a:spcPct val="150000"/>
              </a:lnSpc>
              <a:spcBef>
                <a:spcPct val="0"/>
              </a:spcBef>
              <a:buFontTx/>
              <a:buNone/>
            </a:pPr>
            <a:r>
              <a:rPr lang="zh-CN" altLang="en-US" sz="2400" b="1" dirty="0">
                <a:latin typeface="Times New Roman" panose="02020603050405020304" pitchFamily="18" charset="0"/>
              </a:rPr>
              <a:t> 则</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Ｒ</a:t>
            </a:r>
            <a:r>
              <a:rPr lang="en-US" altLang="zh-CN" sz="2400" b="1" baseline="-25000" dirty="0">
                <a:latin typeface="Times New Roman" panose="02020603050405020304" pitchFamily="18" charset="0"/>
              </a:rPr>
              <a:t>1</a:t>
            </a:r>
            <a:r>
              <a:rPr lang="zh-CN" altLang="en-US" sz="2400" b="1" dirty="0">
                <a:latin typeface="Times New Roman" panose="02020603050405020304" pitchFamily="18" charset="0"/>
              </a:rPr>
              <a:t>把Ａ分为四类同花类，</a:t>
            </a:r>
          </a:p>
          <a:p>
            <a:pPr algn="just" eaLnBrk="1" hangingPunct="1">
              <a:lnSpc>
                <a:spcPct val="150000"/>
              </a:lnSpc>
              <a:spcBef>
                <a:spcPct val="0"/>
              </a:spcBef>
              <a:buFontTx/>
              <a:buNone/>
            </a:pPr>
            <a:r>
              <a:rPr lang="zh-CN" altLang="en-US" sz="2400" b="1" dirty="0">
                <a:latin typeface="Times New Roman" panose="02020603050405020304" pitchFamily="18" charset="0"/>
              </a:rPr>
              <a:t>           Ｒ</a:t>
            </a:r>
            <a:r>
              <a:rPr lang="en-US" altLang="zh-CN" sz="2400" b="1" baseline="-25000" dirty="0">
                <a:latin typeface="Times New Roman" panose="02020603050405020304" pitchFamily="18" charset="0"/>
              </a:rPr>
              <a:t>2</a:t>
            </a:r>
            <a:r>
              <a:rPr lang="zh-CN" altLang="en-US" sz="2400" b="1" dirty="0">
                <a:latin typeface="Times New Roman" panose="02020603050405020304" pitchFamily="18" charset="0"/>
              </a:rPr>
              <a:t>把Ａ分为１３类同点</a:t>
            </a:r>
            <a:r>
              <a:rPr lang="zh-CN" altLang="en-US" sz="2400" b="1">
                <a:latin typeface="Times New Roman" panose="02020603050405020304" pitchFamily="18" charset="0"/>
              </a:rPr>
              <a:t>类。</a:t>
            </a:r>
            <a:endParaRPr lang="zh-CN" altLang="en-US" sz="2400" b="1" dirty="0">
              <a:latin typeface="Times New Roman" panose="02020603050405020304" pitchFamily="18" charset="0"/>
            </a:endParaRPr>
          </a:p>
        </p:txBody>
      </p:sp>
      <p:sp>
        <p:nvSpPr>
          <p:cNvPr id="6" name="Text Box 3">
            <a:extLst>
              <a:ext uri="{FF2B5EF4-FFF2-40B4-BE49-F238E27FC236}">
                <a16:creationId xmlns:a16="http://schemas.microsoft.com/office/drawing/2014/main" id="{C0003DE0-63BF-4E67-B537-6B243553C558}"/>
              </a:ext>
            </a:extLst>
          </p:cNvPr>
          <p:cNvSpPr txBox="1">
            <a:spLocks noChangeArrowheads="1"/>
          </p:cNvSpPr>
          <p:nvPr/>
        </p:nvSpPr>
        <p:spPr bwMode="auto">
          <a:xfrm>
            <a:off x="386080" y="4187591"/>
            <a:ext cx="11056470" cy="24229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2400" b="1" dirty="0">
                <a:latin typeface="黑体" panose="02010609060101010101" pitchFamily="49" charset="-122"/>
                <a:ea typeface="黑体" panose="02010609060101010101" pitchFamily="49" charset="-122"/>
              </a:rPr>
              <a:t>例２：</a:t>
            </a:r>
            <a:endParaRPr lang="zh-CN" altLang="en-US" sz="2400" dirty="0">
              <a:latin typeface="宋体" panose="02010600030101010101" pitchFamily="2" charset="-122"/>
            </a:endParaRPr>
          </a:p>
          <a:p>
            <a:pPr algn="just" eaLnBrk="1" hangingPunct="1">
              <a:spcBef>
                <a:spcPct val="0"/>
              </a:spcBef>
              <a:buFontTx/>
              <a:buNone/>
            </a:pPr>
            <a:r>
              <a:rPr lang="zh-CN" altLang="en-US" sz="2400" dirty="0">
                <a:latin typeface="宋体" panose="02010600030101010101" pitchFamily="2" charset="-122"/>
              </a:rPr>
              <a:t>   </a:t>
            </a:r>
            <a:r>
              <a:rPr lang="zh-CN" altLang="en-US" sz="2400" b="1" dirty="0">
                <a:latin typeface="宋体" panose="02010600030101010101" pitchFamily="2" charset="-122"/>
              </a:rPr>
              <a:t>Ａ＝｛０，１，２，３，４，５｝</a:t>
            </a:r>
          </a:p>
          <a:p>
            <a:pPr algn="just" eaLnBrk="1" hangingPunct="1">
              <a:lnSpc>
                <a:spcPct val="150000"/>
              </a:lnSpc>
              <a:spcBef>
                <a:spcPct val="0"/>
              </a:spcBef>
              <a:buFontTx/>
              <a:buNone/>
            </a:pPr>
            <a:r>
              <a:rPr lang="zh-CN" altLang="en-US" sz="2400" b="1" dirty="0">
                <a:latin typeface="宋体" panose="02010600030101010101" pitchFamily="2" charset="-122"/>
              </a:rPr>
              <a:t>   Ｒ＝｛（０，０），（１，１），（２，２），（３，３），（１，２），（１，３），（２，１），</a:t>
            </a:r>
            <a:r>
              <a:rPr lang="zh-CN" altLang="en-US" sz="2400" b="1" dirty="0">
                <a:latin typeface="Times New Roman" panose="02020603050405020304" pitchFamily="18" charset="0"/>
              </a:rPr>
              <a:t>（２，３），（３，１），（３，２），（４，４），（４，５），（５，４），（５，</a:t>
            </a:r>
            <a:r>
              <a:rPr lang="zh-CN" altLang="en-US" sz="2400" b="1">
                <a:latin typeface="Times New Roman" panose="02020603050405020304" pitchFamily="18" charset="0"/>
              </a:rPr>
              <a:t>５）｝</a:t>
            </a:r>
            <a:endParaRPr lang="zh-CN" altLang="en-US" sz="2400" b="1" dirty="0">
              <a:latin typeface="Times New Roman" panose="02020603050405020304" pitchFamily="18" charset="0"/>
            </a:endParaRPr>
          </a:p>
        </p:txBody>
      </p:sp>
      <p:sp>
        <p:nvSpPr>
          <p:cNvPr id="7" name="文本框 6">
            <a:extLst>
              <a:ext uri="{FF2B5EF4-FFF2-40B4-BE49-F238E27FC236}">
                <a16:creationId xmlns:a16="http://schemas.microsoft.com/office/drawing/2014/main" id="{DB46A2B9-1CBC-4D6F-8DD1-64D763781A77}"/>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9.5.4 Equivalence Classes and Partitions</a:t>
            </a:r>
            <a:endParaRPr lang="en-US" altLang="zh-CN" sz="3200" dirty="0"/>
          </a:p>
        </p:txBody>
      </p:sp>
    </p:spTree>
    <p:extLst>
      <p:ext uri="{BB962C8B-B14F-4D97-AF65-F5344CB8AC3E}">
        <p14:creationId xmlns:p14="http://schemas.microsoft.com/office/powerpoint/2010/main" val="2162807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3">
            <a:extLst>
              <a:ext uri="{FF2B5EF4-FFF2-40B4-BE49-F238E27FC236}">
                <a16:creationId xmlns:a16="http://schemas.microsoft.com/office/drawing/2014/main" id="{9899938B-712E-4C4A-A6C0-13BB19755D9C}"/>
              </a:ext>
            </a:extLst>
          </p:cNvPr>
          <p:cNvPicPr>
            <a:picLocks noChangeAspect="1" noChangeArrowheads="1"/>
          </p:cNvPicPr>
          <p:nvPr/>
        </p:nvPicPr>
        <p:blipFill>
          <a:blip r:embed="rId2">
            <a:lum bright="36000" contrast="100000"/>
            <a:grayscl/>
            <a:extLst>
              <a:ext uri="{28A0092B-C50C-407E-A947-70E740481C1C}">
                <a14:useLocalDpi xmlns:a14="http://schemas.microsoft.com/office/drawing/2010/main" val="0"/>
              </a:ext>
            </a:extLst>
          </a:blip>
          <a:srcRect t="11024" b="37013"/>
          <a:stretch>
            <a:fillRect/>
          </a:stretch>
        </p:blipFill>
        <p:spPr bwMode="auto">
          <a:xfrm>
            <a:off x="914400" y="1524000"/>
            <a:ext cx="7391400" cy="4267200"/>
          </a:xfrm>
          <a:prstGeom prst="rect">
            <a:avLst/>
          </a:prstGeom>
          <a:solidFill>
            <a:schemeClr val="hlink">
              <a:alpha val="50195"/>
            </a:schemeClr>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8" name="Text Box 3">
            <a:extLst>
              <a:ext uri="{FF2B5EF4-FFF2-40B4-BE49-F238E27FC236}">
                <a16:creationId xmlns:a16="http://schemas.microsoft.com/office/drawing/2014/main" id="{609234E2-D3D8-403E-B231-435B633FC46B}"/>
              </a:ext>
            </a:extLst>
          </p:cNvPr>
          <p:cNvSpPr txBox="1">
            <a:spLocks noChangeArrowheads="1"/>
          </p:cNvSpPr>
          <p:nvPr/>
        </p:nvSpPr>
        <p:spPr bwMode="auto">
          <a:xfrm>
            <a:off x="1219200" y="838200"/>
            <a:ext cx="6019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lang="zh-CN" altLang="en-US" sz="2400" b="1" dirty="0">
                <a:latin typeface="宋体" panose="02010600030101010101" pitchFamily="2" charset="-122"/>
              </a:rPr>
              <a:t>Ｒ</a:t>
            </a:r>
            <a:r>
              <a:rPr lang="zh-CN" altLang="en-US" sz="2400" b="1" dirty="0">
                <a:latin typeface="Times New Roman" panose="02020603050405020304" pitchFamily="18" charset="0"/>
              </a:rPr>
              <a:t>是等价关系，但不直观，用关系图表示。</a:t>
            </a:r>
          </a:p>
        </p:txBody>
      </p:sp>
      <p:sp>
        <p:nvSpPr>
          <p:cNvPr id="9" name="Text Box 4">
            <a:extLst>
              <a:ext uri="{FF2B5EF4-FFF2-40B4-BE49-F238E27FC236}">
                <a16:creationId xmlns:a16="http://schemas.microsoft.com/office/drawing/2014/main" id="{F618BDF4-BA3F-49EE-BB6A-915B17A3EFBE}"/>
              </a:ext>
            </a:extLst>
          </p:cNvPr>
          <p:cNvSpPr txBox="1">
            <a:spLocks noChangeArrowheads="1"/>
          </p:cNvSpPr>
          <p:nvPr/>
        </p:nvSpPr>
        <p:spPr bwMode="auto">
          <a:xfrm>
            <a:off x="1295400" y="5715000"/>
            <a:ext cx="685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lang="zh-CN" altLang="en-US" sz="2400" b="1">
                <a:latin typeface="Times New Roman" panose="02020603050405020304" pitchFamily="18" charset="0"/>
              </a:rPr>
              <a:t>三个不连通的图</a:t>
            </a:r>
            <a:endParaRPr lang="zh-CN" altLang="en-US" sz="2400">
              <a:latin typeface="Times New Roman" panose="02020603050405020304" pitchFamily="18" charset="0"/>
            </a:endParaRPr>
          </a:p>
        </p:txBody>
      </p:sp>
      <p:sp>
        <p:nvSpPr>
          <p:cNvPr id="10" name="文本框 9">
            <a:extLst>
              <a:ext uri="{FF2B5EF4-FFF2-40B4-BE49-F238E27FC236}">
                <a16:creationId xmlns:a16="http://schemas.microsoft.com/office/drawing/2014/main" id="{C93DA930-1DE8-425E-9BCC-470EB6A991BF}"/>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9.5.4 Equivalence Classes and Partitions</a:t>
            </a:r>
            <a:endParaRPr lang="en-US" altLang="zh-CN" sz="3200" dirty="0"/>
          </a:p>
        </p:txBody>
      </p:sp>
    </p:spTree>
    <p:extLst>
      <p:ext uri="{BB962C8B-B14F-4D97-AF65-F5344CB8AC3E}">
        <p14:creationId xmlns:p14="http://schemas.microsoft.com/office/powerpoint/2010/main" val="2515827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slide(fromLeft)">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a:extLst>
              <a:ext uri="{FF2B5EF4-FFF2-40B4-BE49-F238E27FC236}">
                <a16:creationId xmlns:a16="http://schemas.microsoft.com/office/drawing/2014/main" id="{7A886761-AF9E-4D16-9824-1650C6441C27}"/>
              </a:ext>
            </a:extLst>
          </p:cNvPr>
          <p:cNvSpPr txBox="1">
            <a:spLocks noChangeArrowheads="1"/>
          </p:cNvSpPr>
          <p:nvPr/>
        </p:nvSpPr>
        <p:spPr bwMode="auto">
          <a:xfrm>
            <a:off x="567763" y="1170326"/>
            <a:ext cx="10384717" cy="1130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spcBef>
                <a:spcPct val="50000"/>
              </a:spcBef>
              <a:buFontTx/>
              <a:buNone/>
            </a:pPr>
            <a:r>
              <a:rPr lang="en-US" altLang="zh-CN" sz="2400">
                <a:latin typeface="Times New Roman" panose="02020603050405020304" pitchFamily="18" charset="0"/>
              </a:rPr>
              <a:t>        </a:t>
            </a:r>
            <a:r>
              <a:rPr lang="zh-CN" altLang="en-US" sz="2400" b="1">
                <a:latin typeface="Times New Roman" panose="02020603050405020304" pitchFamily="18" charset="0"/>
              </a:rPr>
              <a:t>二元关系</a:t>
            </a:r>
            <a:r>
              <a:rPr lang="en-US" altLang="zh-CN" sz="2400" b="1">
                <a:latin typeface="Times New Roman" panose="02020603050405020304" pitchFamily="18" charset="0"/>
              </a:rPr>
              <a:t>R</a:t>
            </a:r>
            <a:r>
              <a:rPr lang="zh-CN" altLang="en-US" sz="2400" b="1">
                <a:latin typeface="Times New Roman" panose="02020603050405020304" pitchFamily="18" charset="0"/>
              </a:rPr>
              <a:t>是自反的，对称的，传递的，且把Ａ分成了三个等价类，（Ａ）＝｛｛０｝，｛１，２，３｝，｛４，５｝｝</a:t>
            </a:r>
          </a:p>
        </p:txBody>
      </p:sp>
      <p:sp>
        <p:nvSpPr>
          <p:cNvPr id="10" name="Text Box 3">
            <a:extLst>
              <a:ext uri="{FF2B5EF4-FFF2-40B4-BE49-F238E27FC236}">
                <a16:creationId xmlns:a16="http://schemas.microsoft.com/office/drawing/2014/main" id="{E50D5F79-5DA9-4F85-B6DF-DACB9DBA1B95}"/>
              </a:ext>
            </a:extLst>
          </p:cNvPr>
          <p:cNvSpPr txBox="1">
            <a:spLocks noChangeArrowheads="1"/>
          </p:cNvSpPr>
          <p:nvPr/>
        </p:nvSpPr>
        <p:spPr bwMode="auto">
          <a:xfrm>
            <a:off x="528453" y="5456187"/>
            <a:ext cx="1113509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lang="en-US" altLang="zh-CN" sz="2400" b="1">
                <a:latin typeface="Times New Roman" panose="02020603050405020304" pitchFamily="18" charset="0"/>
              </a:rPr>
              <a:t>[</a:t>
            </a:r>
            <a:r>
              <a:rPr lang="zh-CN" altLang="en-US" sz="2400" b="1">
                <a:latin typeface="Times New Roman" panose="02020603050405020304" pitchFamily="18" charset="0"/>
              </a:rPr>
              <a:t>定义</a:t>
            </a:r>
            <a:r>
              <a:rPr lang="en-US" altLang="zh-CN" sz="2400" b="1">
                <a:latin typeface="Times New Roman" panose="02020603050405020304" pitchFamily="18" charset="0"/>
              </a:rPr>
              <a:t>]</a:t>
            </a:r>
            <a:r>
              <a:rPr lang="zh-CN" altLang="en-US" sz="2400" b="1">
                <a:latin typeface="Times New Roman" panose="02020603050405020304" pitchFamily="18" charset="0"/>
              </a:rPr>
              <a:t>：商集的元素个数（即Ａ在Ｒ下的等价类个数）称为Ｒ的秩。</a:t>
            </a:r>
          </a:p>
        </p:txBody>
      </p:sp>
      <p:sp>
        <p:nvSpPr>
          <p:cNvPr id="11" name="Text Box 4">
            <a:extLst>
              <a:ext uri="{FF2B5EF4-FFF2-40B4-BE49-F238E27FC236}">
                <a16:creationId xmlns:a16="http://schemas.microsoft.com/office/drawing/2014/main" id="{0B5105E0-83C3-4068-A8DB-637DD4CD5DAA}"/>
              </a:ext>
            </a:extLst>
          </p:cNvPr>
          <p:cNvSpPr txBox="1">
            <a:spLocks noChangeArrowheads="1"/>
          </p:cNvSpPr>
          <p:nvPr/>
        </p:nvSpPr>
        <p:spPr bwMode="auto">
          <a:xfrm>
            <a:off x="528453" y="2731144"/>
            <a:ext cx="11135093" cy="2221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spcBef>
                <a:spcPct val="0"/>
              </a:spcBef>
              <a:buFontTx/>
              <a:buNone/>
            </a:pPr>
            <a:r>
              <a:rPr lang="en-US" altLang="zh-CN" sz="2400" b="1">
                <a:latin typeface="宋体" panose="02010600030101010101" pitchFamily="2" charset="-122"/>
              </a:rPr>
              <a:t>[</a:t>
            </a:r>
            <a:r>
              <a:rPr lang="zh-CN" altLang="en-US" sz="2400" b="1">
                <a:latin typeface="宋体" panose="02010600030101010101" pitchFamily="2" charset="-122"/>
              </a:rPr>
              <a:t>定义</a:t>
            </a:r>
            <a:r>
              <a:rPr lang="en-US" altLang="zh-CN" sz="2400" b="1">
                <a:latin typeface="宋体" panose="02010600030101010101" pitchFamily="2" charset="-122"/>
              </a:rPr>
              <a:t>] </a:t>
            </a:r>
            <a:r>
              <a:rPr lang="zh-CN" altLang="en-US" sz="2400" b="1">
                <a:latin typeface="宋体" panose="02010600030101010101" pitchFamily="2" charset="-122"/>
              </a:rPr>
              <a:t>商集：等价关系</a:t>
            </a:r>
            <a:r>
              <a:rPr lang="en-US" altLang="zh-CN" sz="2400" b="1">
                <a:latin typeface="宋体" panose="02010600030101010101" pitchFamily="2" charset="-122"/>
              </a:rPr>
              <a:t>R</a:t>
            </a:r>
            <a:r>
              <a:rPr lang="zh-CN" altLang="en-US" sz="2400" b="1">
                <a:latin typeface="宋体" panose="02010600030101010101" pitchFamily="2" charset="-122"/>
              </a:rPr>
              <a:t>将</a:t>
            </a:r>
            <a:r>
              <a:rPr lang="en-US" altLang="zh-CN" sz="2400" b="1">
                <a:latin typeface="宋体" panose="02010600030101010101" pitchFamily="2" charset="-122"/>
              </a:rPr>
              <a:t>A</a:t>
            </a:r>
            <a:r>
              <a:rPr lang="zh-CN" altLang="en-US" sz="2400" b="1">
                <a:latin typeface="宋体" panose="02010600030101010101" pitchFamily="2" charset="-122"/>
              </a:rPr>
              <a:t>分成若干等价类，每个类选个代表组成新的集合称为</a:t>
            </a:r>
            <a:r>
              <a:rPr lang="en-US" altLang="zh-CN" sz="2400" b="1">
                <a:latin typeface="宋体" panose="02010600030101010101" pitchFamily="2" charset="-122"/>
              </a:rPr>
              <a:t>A</a:t>
            </a:r>
            <a:r>
              <a:rPr lang="zh-CN" altLang="en-US" sz="2400" b="1">
                <a:latin typeface="宋体" panose="02010600030101010101" pitchFamily="2" charset="-122"/>
              </a:rPr>
              <a:t>关于</a:t>
            </a:r>
            <a:r>
              <a:rPr lang="en-US" altLang="zh-CN" sz="2400" b="1">
                <a:latin typeface="宋体" panose="02010600030101010101" pitchFamily="2" charset="-122"/>
              </a:rPr>
              <a:t>R</a:t>
            </a:r>
            <a:r>
              <a:rPr lang="zh-CN" altLang="en-US" sz="2400" b="1">
                <a:latin typeface="宋体" panose="02010600030101010101" pitchFamily="2" charset="-122"/>
              </a:rPr>
              <a:t>的商集，表示为</a:t>
            </a:r>
            <a:r>
              <a:rPr lang="en-US" altLang="zh-CN" sz="2400" b="1">
                <a:latin typeface="宋体" panose="02010600030101010101" pitchFamily="2" charset="-122"/>
              </a:rPr>
              <a:t>A/R</a:t>
            </a:r>
            <a:r>
              <a:rPr lang="zh-CN" altLang="en-US" sz="2400" b="1">
                <a:latin typeface="宋体" panose="02010600030101010101" pitchFamily="2" charset="-122"/>
              </a:rPr>
              <a:t>。</a:t>
            </a:r>
          </a:p>
          <a:p>
            <a:pPr algn="just" eaLnBrk="1" hangingPunct="1">
              <a:lnSpc>
                <a:spcPct val="150000"/>
              </a:lnSpc>
              <a:spcBef>
                <a:spcPct val="0"/>
              </a:spcBef>
              <a:buFontTx/>
              <a:buNone/>
            </a:pPr>
            <a:r>
              <a:rPr lang="zh-CN" altLang="en-US" sz="2400" b="1">
                <a:latin typeface="宋体" panose="02010600030101010101" pitchFamily="2" charset="-122"/>
              </a:rPr>
              <a:t>例：在上例中</a:t>
            </a:r>
          </a:p>
          <a:p>
            <a:pPr algn="just" eaLnBrk="1" hangingPunct="1">
              <a:lnSpc>
                <a:spcPct val="150000"/>
              </a:lnSpc>
              <a:spcBef>
                <a:spcPct val="0"/>
              </a:spcBef>
              <a:buFontTx/>
              <a:buNone/>
            </a:pPr>
            <a:r>
              <a:rPr lang="zh-CN" altLang="en-US" sz="2400" b="1">
                <a:latin typeface="宋体" panose="02010600030101010101" pitchFamily="2" charset="-122"/>
              </a:rPr>
              <a:t>    </a:t>
            </a:r>
            <a:r>
              <a:rPr lang="en-US" altLang="zh-CN" sz="2400" b="1">
                <a:latin typeface="宋体" panose="02010600030101010101" pitchFamily="2" charset="-122"/>
              </a:rPr>
              <a:t>A/R</a:t>
            </a:r>
            <a:r>
              <a:rPr lang="zh-CN" altLang="en-US" sz="2400" b="1">
                <a:latin typeface="宋体" panose="02010600030101010101" pitchFamily="2" charset="-122"/>
              </a:rPr>
              <a:t>＝｛［０］，［１］，［４］｝</a:t>
            </a:r>
            <a:endParaRPr lang="zh-CN" altLang="en-US" sz="2000" b="1">
              <a:latin typeface="宋体" panose="02010600030101010101" pitchFamily="2" charset="-122"/>
            </a:endParaRPr>
          </a:p>
        </p:txBody>
      </p:sp>
      <p:sp>
        <p:nvSpPr>
          <p:cNvPr id="7" name="文本框 6">
            <a:extLst>
              <a:ext uri="{FF2B5EF4-FFF2-40B4-BE49-F238E27FC236}">
                <a16:creationId xmlns:a16="http://schemas.microsoft.com/office/drawing/2014/main" id="{63482B7F-AC05-46C7-98BF-E2803E31CF37}"/>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9.5.4 Equivalence Classes and Partitions</a:t>
            </a:r>
            <a:endParaRPr lang="en-US" altLang="zh-CN" sz="3200" dirty="0"/>
          </a:p>
        </p:txBody>
      </p:sp>
    </p:spTree>
    <p:extLst>
      <p:ext uri="{BB962C8B-B14F-4D97-AF65-F5344CB8AC3E}">
        <p14:creationId xmlns:p14="http://schemas.microsoft.com/office/powerpoint/2010/main" val="3809304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up)">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up)">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10" grpId="0" autoUpdateAnimBg="0"/>
      <p:bldP spid="11" grpId="0"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2">
            <a:extLst>
              <a:ext uri="{FF2B5EF4-FFF2-40B4-BE49-F238E27FC236}">
                <a16:creationId xmlns:a16="http://schemas.microsoft.com/office/drawing/2014/main" id="{CFA4F858-59B4-4C3B-A8AA-2B7CF04F5551}"/>
              </a:ext>
            </a:extLst>
          </p:cNvPr>
          <p:cNvSpPr txBox="1">
            <a:spLocks noChangeArrowheads="1"/>
          </p:cNvSpPr>
          <p:nvPr/>
        </p:nvSpPr>
        <p:spPr bwMode="auto">
          <a:xfrm>
            <a:off x="741680" y="863600"/>
            <a:ext cx="11056470" cy="5738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ts val="3400"/>
              </a:lnSpc>
              <a:spcBef>
                <a:spcPct val="0"/>
              </a:spcBef>
              <a:buFontTx/>
              <a:buNone/>
            </a:pPr>
            <a:r>
              <a:rPr lang="zh-CN" altLang="en-US" sz="2400" b="1" dirty="0">
                <a:latin typeface="宋体" panose="02010600030101010101" pitchFamily="2" charset="-122"/>
              </a:rPr>
              <a:t>例３：</a:t>
            </a:r>
          </a:p>
          <a:p>
            <a:pPr algn="just" eaLnBrk="1" hangingPunct="1">
              <a:lnSpc>
                <a:spcPts val="3400"/>
              </a:lnSpc>
              <a:spcBef>
                <a:spcPct val="0"/>
              </a:spcBef>
              <a:buFontTx/>
              <a:buNone/>
            </a:pPr>
            <a:r>
              <a:rPr lang="zh-CN" altLang="en-US" sz="2400" b="1" dirty="0">
                <a:latin typeface="宋体" panose="02010600030101010101" pitchFamily="2" charset="-122"/>
              </a:rPr>
              <a:t>    Ｒ＝｛（ａ，ｂ）｜</a:t>
            </a:r>
            <a:r>
              <a:rPr lang="zh-CN" altLang="en-US" sz="2400" b="1">
                <a:latin typeface="宋体" panose="02010600030101010101" pitchFamily="2" charset="-122"/>
              </a:rPr>
              <a:t>ａ≡ｂ （</a:t>
            </a:r>
            <a:r>
              <a:rPr lang="zh-CN" altLang="en-US" sz="2400" b="1" dirty="0">
                <a:latin typeface="宋体" panose="02010600030101010101" pitchFamily="2" charset="-122"/>
              </a:rPr>
              <a:t>ｍｏｄ</a:t>
            </a:r>
            <a:r>
              <a:rPr lang="zh-CN" altLang="en-US" sz="2400" b="1">
                <a:latin typeface="宋体" panose="02010600030101010101" pitchFamily="2" charset="-122"/>
              </a:rPr>
              <a:t>３），ａ</a:t>
            </a:r>
            <a:r>
              <a:rPr lang="zh-CN" altLang="en-US" sz="2400" b="1" dirty="0">
                <a:latin typeface="宋体" panose="02010600030101010101" pitchFamily="2" charset="-122"/>
              </a:rPr>
              <a:t>，ｂ∈Ｉ｝是整数集合Ｉ上模３同余的二元</a:t>
            </a:r>
            <a:r>
              <a:rPr lang="zh-CN" altLang="en-US" sz="2400" b="1">
                <a:latin typeface="宋体" panose="02010600030101010101" pitchFamily="2" charset="-122"/>
              </a:rPr>
              <a:t>关系</a:t>
            </a:r>
            <a:r>
              <a:rPr lang="en-US" altLang="zh-CN" sz="2400" b="1">
                <a:latin typeface="宋体" panose="02010600030101010101" pitchFamily="2" charset="-122"/>
              </a:rPr>
              <a:t>.</a:t>
            </a:r>
            <a:r>
              <a:rPr lang="zh-CN" altLang="en-US" sz="2400" b="1">
                <a:latin typeface="宋体" panose="02010600030101010101" pitchFamily="2" charset="-122"/>
              </a:rPr>
              <a:t>证明</a:t>
            </a:r>
            <a:r>
              <a:rPr lang="en-US" altLang="zh-CN" sz="2400" b="1" dirty="0">
                <a:latin typeface="宋体" panose="02010600030101010101" pitchFamily="2" charset="-122"/>
              </a:rPr>
              <a:t>R</a:t>
            </a:r>
            <a:r>
              <a:rPr lang="zh-CN" altLang="en-US" sz="2400" b="1" dirty="0">
                <a:latin typeface="宋体" panose="02010600030101010101" pitchFamily="2" charset="-122"/>
              </a:rPr>
              <a:t>是等价关系。</a:t>
            </a:r>
          </a:p>
          <a:p>
            <a:pPr algn="just" eaLnBrk="1" hangingPunct="1">
              <a:lnSpc>
                <a:spcPts val="3400"/>
              </a:lnSpc>
              <a:spcBef>
                <a:spcPct val="0"/>
              </a:spcBef>
              <a:buFontTx/>
              <a:buNone/>
            </a:pPr>
            <a:r>
              <a:rPr lang="zh-CN" altLang="en-US" sz="2400" b="1" dirty="0">
                <a:latin typeface="宋体" panose="02010600030101010101" pitchFamily="2" charset="-122"/>
              </a:rPr>
              <a:t>证明：由于３｜（ａ－ｂ）ａ≡ｂ（ｍｏｄ３）</a:t>
            </a:r>
          </a:p>
          <a:p>
            <a:pPr algn="just" eaLnBrk="1" hangingPunct="1">
              <a:lnSpc>
                <a:spcPts val="3400"/>
              </a:lnSpc>
              <a:spcBef>
                <a:spcPct val="0"/>
              </a:spcBef>
              <a:buFontTx/>
              <a:buNone/>
            </a:pPr>
            <a:r>
              <a:rPr lang="en-US" altLang="zh-CN" sz="2400" b="1">
                <a:latin typeface="宋体" panose="02010600030101010101" pitchFamily="2" charset="-122"/>
              </a:rPr>
              <a:t>(1)</a:t>
            </a:r>
            <a:r>
              <a:rPr lang="zh-CN" altLang="en-US" sz="2400" b="1">
                <a:latin typeface="宋体" panose="02010600030101010101" pitchFamily="2" charset="-122"/>
              </a:rPr>
              <a:t>３</a:t>
            </a:r>
            <a:r>
              <a:rPr lang="zh-CN" altLang="en-US" sz="2400" b="1" dirty="0">
                <a:latin typeface="宋体" panose="02010600030101010101" pitchFamily="2" charset="-122"/>
              </a:rPr>
              <a:t>｜（ａ－ａ），  自反性</a:t>
            </a:r>
          </a:p>
          <a:p>
            <a:pPr algn="just" eaLnBrk="1" hangingPunct="1">
              <a:lnSpc>
                <a:spcPts val="3400"/>
              </a:lnSpc>
              <a:spcBef>
                <a:spcPct val="0"/>
              </a:spcBef>
              <a:buFontTx/>
              <a:buNone/>
            </a:pPr>
            <a:r>
              <a:rPr lang="en-US" altLang="zh-CN" sz="2400" b="1" dirty="0">
                <a:latin typeface="宋体" panose="02010600030101010101" pitchFamily="2" charset="-122"/>
              </a:rPr>
              <a:t>(2)</a:t>
            </a:r>
            <a:r>
              <a:rPr lang="zh-CN" altLang="en-US" sz="2400" b="1" dirty="0">
                <a:latin typeface="宋体" panose="02010600030101010101" pitchFamily="2" charset="-122"/>
              </a:rPr>
              <a:t>若３｜（ａ－ｂ），则３｜（ｂ－ａ）对称性</a:t>
            </a:r>
          </a:p>
          <a:p>
            <a:pPr algn="just" eaLnBrk="1" hangingPunct="1">
              <a:lnSpc>
                <a:spcPts val="3400"/>
              </a:lnSpc>
              <a:spcBef>
                <a:spcPct val="0"/>
              </a:spcBef>
              <a:buFontTx/>
              <a:buNone/>
            </a:pPr>
            <a:r>
              <a:rPr lang="en-US" altLang="zh-CN" sz="2400" b="1" dirty="0">
                <a:latin typeface="宋体" panose="02010600030101010101" pitchFamily="2" charset="-122"/>
              </a:rPr>
              <a:t>(3)</a:t>
            </a:r>
            <a:r>
              <a:rPr lang="zh-CN" altLang="en-US" sz="2400" b="1" dirty="0">
                <a:latin typeface="宋体" panose="02010600030101010101" pitchFamily="2" charset="-122"/>
              </a:rPr>
              <a:t>若３｜（ａ－ｂ），３｜（ｂ－ｃ），则</a:t>
            </a:r>
          </a:p>
          <a:p>
            <a:pPr algn="just" eaLnBrk="1" hangingPunct="1">
              <a:lnSpc>
                <a:spcPts val="3400"/>
              </a:lnSpc>
              <a:spcBef>
                <a:spcPct val="0"/>
              </a:spcBef>
              <a:buFontTx/>
              <a:buNone/>
            </a:pPr>
            <a:r>
              <a:rPr lang="zh-CN" altLang="en-US" sz="2400" b="1" dirty="0">
                <a:latin typeface="宋体" panose="02010600030101010101" pitchFamily="2" charset="-122"/>
              </a:rPr>
              <a:t>     ａ－ｃ＝（ａ－ｂ）＋（ｂ－</a:t>
            </a:r>
            <a:r>
              <a:rPr lang="zh-CN" altLang="en-US" sz="2400" b="1">
                <a:latin typeface="宋体" panose="02010600030101010101" pitchFamily="2" charset="-122"/>
              </a:rPr>
              <a:t>ｃ）</a:t>
            </a:r>
            <a:r>
              <a:rPr lang="zh-CN" altLang="en-US" sz="2400" b="1">
                <a:latin typeface="宋体" panose="02010600030101010101" pitchFamily="2" charset="-122"/>
                <a:sym typeface="Symbol" panose="05050102010706020507" pitchFamily="18" charset="2"/>
              </a:rPr>
              <a:t></a:t>
            </a:r>
            <a:r>
              <a:rPr lang="zh-CN" altLang="en-US" sz="2400" b="1" dirty="0">
                <a:latin typeface="宋体" panose="02010600030101010101" pitchFamily="2" charset="-122"/>
              </a:rPr>
              <a:t>３｜（ａ－ｃ）</a:t>
            </a:r>
          </a:p>
          <a:p>
            <a:pPr algn="just" eaLnBrk="1" hangingPunct="1">
              <a:lnSpc>
                <a:spcPts val="3400"/>
              </a:lnSpc>
              <a:spcBef>
                <a:spcPct val="0"/>
              </a:spcBef>
              <a:buFontTx/>
              <a:buNone/>
            </a:pPr>
            <a:r>
              <a:rPr lang="zh-CN" altLang="en-US" sz="2400" b="1" dirty="0">
                <a:latin typeface="宋体" panose="02010600030101010101" pitchFamily="2" charset="-122"/>
              </a:rPr>
              <a:t>   满足传递性</a:t>
            </a:r>
            <a:r>
              <a:rPr lang="en-US" altLang="zh-CN" sz="2400" b="1" dirty="0">
                <a:latin typeface="宋体" panose="02010600030101010101" pitchFamily="2" charset="-122"/>
              </a:rPr>
              <a:t>,</a:t>
            </a:r>
            <a:r>
              <a:rPr lang="zh-CN" altLang="en-US" sz="2400" b="1" dirty="0">
                <a:latin typeface="宋体" panose="02010600030101010101" pitchFamily="2" charset="-122"/>
              </a:rPr>
              <a:t>故Ｒ是等价关系</a:t>
            </a:r>
          </a:p>
          <a:p>
            <a:pPr algn="just" eaLnBrk="1" hangingPunct="1">
              <a:lnSpc>
                <a:spcPts val="3400"/>
              </a:lnSpc>
              <a:spcBef>
                <a:spcPct val="0"/>
              </a:spcBef>
              <a:buFontTx/>
              <a:buNone/>
            </a:pPr>
            <a:r>
              <a:rPr lang="zh-CN" altLang="en-US" sz="2400" b="1" dirty="0">
                <a:latin typeface="宋体" panose="02010600030101010101" pitchFamily="2" charset="-122"/>
              </a:rPr>
              <a:t>商集：Ｉ／Ｒ＝｛［０］，［１］，［２］｝</a:t>
            </a:r>
          </a:p>
          <a:p>
            <a:pPr algn="just" eaLnBrk="1" hangingPunct="1">
              <a:lnSpc>
                <a:spcPts val="3400"/>
              </a:lnSpc>
              <a:spcBef>
                <a:spcPct val="0"/>
              </a:spcBef>
              <a:buFontTx/>
              <a:buNone/>
            </a:pPr>
            <a:r>
              <a:rPr lang="zh-CN" altLang="en-US" sz="2400" b="1" dirty="0">
                <a:latin typeface="宋体" panose="02010600030101010101" pitchFamily="2" charset="-122"/>
              </a:rPr>
              <a:t>其中  ［０］＝｛</a:t>
            </a:r>
            <a:r>
              <a:rPr lang="en-US" altLang="zh-CN" sz="2400" b="1" dirty="0">
                <a:latin typeface="Courier New" panose="02070309020205020404" pitchFamily="49" charset="0"/>
              </a:rPr>
              <a:t>…</a:t>
            </a:r>
            <a:r>
              <a:rPr lang="zh-CN" altLang="en-US" sz="2400" b="1" dirty="0">
                <a:latin typeface="宋体" panose="02010600030101010101" pitchFamily="2" charset="-122"/>
              </a:rPr>
              <a:t>，－６，－３，０，３，６，</a:t>
            </a:r>
            <a:r>
              <a:rPr lang="en-US" altLang="zh-CN" sz="2400" b="1" dirty="0">
                <a:latin typeface="Courier New" panose="02070309020205020404" pitchFamily="49" charset="0"/>
              </a:rPr>
              <a:t>…</a:t>
            </a:r>
            <a:r>
              <a:rPr lang="zh-CN" altLang="en-US" sz="2400" b="1" dirty="0">
                <a:latin typeface="宋体" panose="02010600030101010101" pitchFamily="2" charset="-122"/>
              </a:rPr>
              <a:t>｝</a:t>
            </a:r>
          </a:p>
          <a:p>
            <a:pPr algn="just" eaLnBrk="1" hangingPunct="1">
              <a:lnSpc>
                <a:spcPts val="3400"/>
              </a:lnSpc>
              <a:spcBef>
                <a:spcPct val="0"/>
              </a:spcBef>
              <a:buFontTx/>
              <a:buNone/>
            </a:pPr>
            <a:r>
              <a:rPr lang="zh-CN" altLang="en-US" sz="2400" b="1" dirty="0">
                <a:latin typeface="宋体" panose="02010600030101010101" pitchFamily="2" charset="-122"/>
              </a:rPr>
              <a:t>      ［１］＝｛</a:t>
            </a:r>
            <a:r>
              <a:rPr lang="en-US" altLang="zh-CN" sz="2400" b="1" dirty="0">
                <a:latin typeface="Courier New" panose="02070309020205020404" pitchFamily="49" charset="0"/>
              </a:rPr>
              <a:t>…</a:t>
            </a:r>
            <a:r>
              <a:rPr lang="zh-CN" altLang="en-US" sz="2400" b="1" dirty="0">
                <a:latin typeface="宋体" panose="02010600030101010101" pitchFamily="2" charset="-122"/>
              </a:rPr>
              <a:t>，－５，－２，１，４，７，</a:t>
            </a:r>
            <a:r>
              <a:rPr lang="en-US" altLang="zh-CN" sz="2400" b="1" dirty="0">
                <a:latin typeface="Courier New" panose="02070309020205020404" pitchFamily="49" charset="0"/>
              </a:rPr>
              <a:t>…</a:t>
            </a:r>
            <a:r>
              <a:rPr lang="zh-CN" altLang="en-US" sz="2400" b="1" dirty="0">
                <a:latin typeface="宋体" panose="02010600030101010101" pitchFamily="2" charset="-122"/>
              </a:rPr>
              <a:t>｝</a:t>
            </a:r>
          </a:p>
          <a:p>
            <a:pPr algn="just" eaLnBrk="1" hangingPunct="1">
              <a:lnSpc>
                <a:spcPts val="3400"/>
              </a:lnSpc>
              <a:spcBef>
                <a:spcPct val="0"/>
              </a:spcBef>
              <a:buFontTx/>
              <a:buNone/>
            </a:pPr>
            <a:r>
              <a:rPr lang="zh-CN" altLang="en-US" sz="2400" b="1" dirty="0">
                <a:latin typeface="宋体" panose="02010600030101010101" pitchFamily="2" charset="-122"/>
              </a:rPr>
              <a:t>      </a:t>
            </a:r>
            <a:r>
              <a:rPr lang="zh-CN" altLang="en-US" sz="2400" b="1" dirty="0">
                <a:latin typeface="Times New Roman" panose="02020603050405020304" pitchFamily="18" charset="0"/>
              </a:rPr>
              <a:t>［２］＝｛</a:t>
            </a:r>
            <a:r>
              <a:rPr lang="en-US" altLang="zh-CN" sz="2400" b="1" dirty="0">
                <a:latin typeface="Courier New" panose="02070309020205020404" pitchFamily="49" charset="0"/>
              </a:rPr>
              <a:t>…</a:t>
            </a:r>
            <a:r>
              <a:rPr lang="zh-CN" altLang="en-US" sz="2400" b="1" dirty="0">
                <a:latin typeface="Times New Roman" panose="02020603050405020304" pitchFamily="18" charset="0"/>
              </a:rPr>
              <a:t>，－４，－１，２，５，８，</a:t>
            </a:r>
            <a:r>
              <a:rPr lang="en-US" altLang="zh-CN" sz="2400" b="1" dirty="0">
                <a:latin typeface="Courier New" panose="02070309020205020404" pitchFamily="49" charset="0"/>
              </a:rPr>
              <a:t>…</a:t>
            </a:r>
            <a:r>
              <a:rPr lang="zh-CN" altLang="en-US" sz="2400" b="1" dirty="0">
                <a:latin typeface="Times New Roman" panose="02020603050405020304" pitchFamily="18" charset="0"/>
              </a:rPr>
              <a:t>｝</a:t>
            </a:r>
          </a:p>
        </p:txBody>
      </p:sp>
      <p:sp>
        <p:nvSpPr>
          <p:cNvPr id="4" name="文本框 3">
            <a:extLst>
              <a:ext uri="{FF2B5EF4-FFF2-40B4-BE49-F238E27FC236}">
                <a16:creationId xmlns:a16="http://schemas.microsoft.com/office/drawing/2014/main" id="{DBDB62D1-DB52-40C7-83DA-30F451075571}"/>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9.5.4 Equivalence Classes and Partitions</a:t>
            </a:r>
            <a:endParaRPr lang="en-US" altLang="zh-CN" sz="3200" dirty="0"/>
          </a:p>
        </p:txBody>
      </p:sp>
    </p:spTree>
    <p:extLst>
      <p:ext uri="{BB962C8B-B14F-4D97-AF65-F5344CB8AC3E}">
        <p14:creationId xmlns:p14="http://schemas.microsoft.com/office/powerpoint/2010/main" val="1442254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44B2F36B-1AEF-423F-9CA5-A4C40C842823}"/>
              </a:ext>
            </a:extLst>
          </p:cNvPr>
          <p:cNvSpPr txBox="1">
            <a:spLocks noChangeArrowheads="1"/>
          </p:cNvSpPr>
          <p:nvPr/>
        </p:nvSpPr>
        <p:spPr bwMode="auto">
          <a:xfrm>
            <a:off x="1028700" y="924560"/>
            <a:ext cx="10134600" cy="2238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spcBef>
                <a:spcPct val="0"/>
              </a:spcBef>
              <a:buFontTx/>
              <a:buNone/>
            </a:pPr>
            <a:r>
              <a:rPr lang="zh-CN" altLang="en-US" sz="2400" b="1" dirty="0">
                <a:latin typeface="宋体" panose="02010600030101010101" pitchFamily="2" charset="-122"/>
              </a:rPr>
              <a:t>例４：</a:t>
            </a:r>
          </a:p>
          <a:p>
            <a:pPr algn="just" eaLnBrk="1" hangingPunct="1">
              <a:lnSpc>
                <a:spcPct val="150000"/>
              </a:lnSpc>
              <a:spcBef>
                <a:spcPct val="0"/>
              </a:spcBef>
              <a:buFontTx/>
              <a:buNone/>
            </a:pPr>
            <a:r>
              <a:rPr lang="zh-CN" altLang="en-US" sz="2400" b="1" dirty="0">
                <a:latin typeface="宋体" panose="02010600030101010101" pitchFamily="2" charset="-122"/>
              </a:rPr>
              <a:t>   Ｎ的一个分划为：若１０</a:t>
            </a:r>
            <a:r>
              <a:rPr lang="en-US" altLang="zh-CN" sz="2400" b="1" baseline="30000" dirty="0">
                <a:latin typeface="宋体" panose="02010600030101010101" pitchFamily="2" charset="-122"/>
              </a:rPr>
              <a:t>i-1</a:t>
            </a:r>
            <a:r>
              <a:rPr lang="en-US" altLang="zh-CN" sz="2400" b="1" dirty="0">
                <a:latin typeface="宋体" panose="02010600030101010101" pitchFamily="2" charset="-122"/>
              </a:rPr>
              <a:t>≤</a:t>
            </a:r>
            <a:r>
              <a:rPr lang="zh-CN" altLang="en-US" sz="2400" b="1" dirty="0">
                <a:latin typeface="宋体" panose="02010600030101010101" pitchFamily="2" charset="-122"/>
              </a:rPr>
              <a:t>ａ＜１０</a:t>
            </a:r>
            <a:r>
              <a:rPr lang="en-US" altLang="zh-CN" sz="2400" b="1" baseline="30000" dirty="0" err="1">
                <a:latin typeface="宋体" panose="02010600030101010101" pitchFamily="2" charset="-122"/>
              </a:rPr>
              <a:t>i</a:t>
            </a:r>
            <a:r>
              <a:rPr lang="zh-CN" altLang="en-US" sz="2400" b="1" dirty="0">
                <a:latin typeface="宋体" panose="02010600030101010101" pitchFamily="2" charset="-122"/>
              </a:rPr>
              <a:t>，则ａ∈Ａ</a:t>
            </a:r>
            <a:r>
              <a:rPr lang="en-US" altLang="zh-CN" sz="2400" b="1" baseline="30000" dirty="0" err="1">
                <a:latin typeface="宋体" panose="02010600030101010101" pitchFamily="2" charset="-122"/>
              </a:rPr>
              <a:t>i</a:t>
            </a:r>
            <a:r>
              <a:rPr lang="zh-CN" altLang="en-US" sz="2400" b="1" dirty="0">
                <a:latin typeface="宋体" panose="02010600030101010101" pitchFamily="2" charset="-122"/>
              </a:rPr>
              <a:t>，对应</a:t>
            </a:r>
            <a:r>
              <a:rPr lang="zh-CN" altLang="en-US" sz="2400" b="1">
                <a:latin typeface="宋体" panose="02010600030101010101" pitchFamily="2" charset="-122"/>
              </a:rPr>
              <a:t>的等价关系</a:t>
            </a:r>
            <a:endParaRPr lang="en-US" altLang="zh-CN" sz="2400" b="1">
              <a:latin typeface="宋体" panose="02010600030101010101" pitchFamily="2" charset="-122"/>
            </a:endParaRPr>
          </a:p>
          <a:p>
            <a:pPr algn="just" eaLnBrk="1" hangingPunct="1">
              <a:lnSpc>
                <a:spcPct val="150000"/>
              </a:lnSpc>
              <a:spcBef>
                <a:spcPct val="0"/>
              </a:spcBef>
              <a:buFontTx/>
              <a:buNone/>
            </a:pPr>
            <a:r>
              <a:rPr lang="zh-CN" altLang="en-US" sz="2400" b="1">
                <a:latin typeface="宋体" panose="02010600030101010101" pitchFamily="2" charset="-122"/>
              </a:rPr>
              <a:t>Ｒ＝｛（ａ，ｂ）｜ａ与ｂ有相同位数，ａ，ｂ∈Ｎ｝</a:t>
            </a:r>
            <a:r>
              <a:rPr lang="zh-CN" altLang="en-US" sz="2400" b="1">
                <a:latin typeface="Times New Roman" panose="02020603050405020304" pitchFamily="18" charset="0"/>
              </a:rPr>
              <a:t>相同位的数归为一类，此Ｒ把Ｎ分划为可列个等价类。</a:t>
            </a:r>
            <a:endParaRPr lang="zh-CN" altLang="en-US" sz="2400" b="1" dirty="0">
              <a:latin typeface="Times New Roman" panose="02020603050405020304" pitchFamily="18" charset="0"/>
            </a:endParaRPr>
          </a:p>
        </p:txBody>
      </p:sp>
      <p:sp>
        <p:nvSpPr>
          <p:cNvPr id="5" name="文本框 4">
            <a:extLst>
              <a:ext uri="{FF2B5EF4-FFF2-40B4-BE49-F238E27FC236}">
                <a16:creationId xmlns:a16="http://schemas.microsoft.com/office/drawing/2014/main" id="{71F2CB9F-0837-46A5-937F-E0E16B22AA59}"/>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9.5.4 Equivalence Classes and Partitions</a:t>
            </a:r>
            <a:endParaRPr lang="en-US" altLang="zh-CN" sz="3200" dirty="0"/>
          </a:p>
        </p:txBody>
      </p:sp>
    </p:spTree>
    <p:extLst>
      <p:ext uri="{BB962C8B-B14F-4D97-AF65-F5344CB8AC3E}">
        <p14:creationId xmlns:p14="http://schemas.microsoft.com/office/powerpoint/2010/main" val="3394350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a:extLst>
              <a:ext uri="{FF2B5EF4-FFF2-40B4-BE49-F238E27FC236}">
                <a16:creationId xmlns:a16="http://schemas.microsoft.com/office/drawing/2014/main" id="{9EA36A8B-6898-4C5D-BEA6-131618D3E48F}"/>
              </a:ext>
            </a:extLst>
          </p:cNvPr>
          <p:cNvSpPr txBox="1">
            <a:spLocks noChangeArrowheads="1"/>
          </p:cNvSpPr>
          <p:nvPr/>
        </p:nvSpPr>
        <p:spPr bwMode="auto">
          <a:xfrm>
            <a:off x="891868" y="1381760"/>
            <a:ext cx="10408263" cy="1667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spcBef>
                <a:spcPct val="0"/>
              </a:spcBef>
              <a:buFontTx/>
              <a:buNone/>
            </a:pPr>
            <a:r>
              <a:rPr lang="en-US" altLang="zh-CN" sz="2400">
                <a:latin typeface="宋体" panose="02010600030101010101" pitchFamily="2" charset="-122"/>
              </a:rPr>
              <a:t>[</a:t>
            </a:r>
            <a:r>
              <a:rPr lang="zh-CN" altLang="en-US" sz="2400">
                <a:latin typeface="宋体" panose="02010600030101010101" pitchFamily="2" charset="-122"/>
              </a:rPr>
              <a:t>定理</a:t>
            </a:r>
            <a:r>
              <a:rPr lang="en-US" altLang="zh-CN" sz="2400">
                <a:latin typeface="宋体" panose="02010600030101010101" pitchFamily="2" charset="-122"/>
              </a:rPr>
              <a:t>2]</a:t>
            </a:r>
            <a:r>
              <a:rPr lang="zh-CN" altLang="en-US" sz="2400">
                <a:latin typeface="宋体" panose="02010600030101010101" pitchFamily="2" charset="-122"/>
              </a:rPr>
              <a:t>：</a:t>
            </a:r>
          </a:p>
          <a:p>
            <a:pPr algn="just" eaLnBrk="1" hangingPunct="1">
              <a:lnSpc>
                <a:spcPct val="150000"/>
              </a:lnSpc>
              <a:spcBef>
                <a:spcPct val="0"/>
              </a:spcBef>
              <a:buFontTx/>
              <a:buNone/>
            </a:pPr>
            <a:r>
              <a:rPr lang="en-US" altLang="zh-CN" sz="2400">
                <a:latin typeface="宋体" panose="02010600030101010101" pitchFamily="2" charset="-122"/>
              </a:rPr>
              <a:t>	</a:t>
            </a:r>
            <a:r>
              <a:rPr lang="zh-CN" altLang="en-US" sz="2400">
                <a:latin typeface="宋体" panose="02010600030101010101" pitchFamily="2" charset="-122"/>
              </a:rPr>
              <a:t>若Ｒ</a:t>
            </a:r>
            <a:r>
              <a:rPr lang="en-US" altLang="zh-CN" sz="2400" baseline="-25000">
                <a:latin typeface="宋体" panose="02010600030101010101" pitchFamily="2" charset="-122"/>
              </a:rPr>
              <a:t>1</a:t>
            </a:r>
            <a:r>
              <a:rPr lang="zh-CN" altLang="en-US" sz="2400">
                <a:latin typeface="宋体" panose="02010600030101010101" pitchFamily="2" charset="-122"/>
              </a:rPr>
              <a:t>，Ｒ</a:t>
            </a:r>
            <a:r>
              <a:rPr lang="en-US" altLang="zh-CN" sz="2400" baseline="-25000">
                <a:latin typeface="宋体" panose="02010600030101010101" pitchFamily="2" charset="-122"/>
              </a:rPr>
              <a:t>2</a:t>
            </a:r>
            <a:r>
              <a:rPr lang="zh-CN" altLang="en-US" sz="2400">
                <a:latin typeface="宋体" panose="02010600030101010101" pitchFamily="2" charset="-122"/>
              </a:rPr>
              <a:t>是Ａ上的等价关系，则Ｒ</a:t>
            </a:r>
            <a:r>
              <a:rPr lang="en-US" altLang="zh-CN" sz="2400" baseline="-25000">
                <a:latin typeface="宋体" panose="02010600030101010101" pitchFamily="2" charset="-122"/>
              </a:rPr>
              <a:t>1</a:t>
            </a:r>
            <a:r>
              <a:rPr lang="en-US" altLang="zh-CN" sz="2400">
                <a:latin typeface="宋体" panose="02010600030101010101" pitchFamily="2" charset="-122"/>
              </a:rPr>
              <a:t>∩</a:t>
            </a:r>
            <a:r>
              <a:rPr lang="zh-CN" altLang="en-US" sz="2400">
                <a:latin typeface="宋体" panose="02010600030101010101" pitchFamily="2" charset="-122"/>
              </a:rPr>
              <a:t>Ｒ</a:t>
            </a:r>
            <a:r>
              <a:rPr lang="en-US" altLang="zh-CN" sz="2400" baseline="-25000">
                <a:latin typeface="宋体" panose="02010600030101010101" pitchFamily="2" charset="-122"/>
              </a:rPr>
              <a:t>2</a:t>
            </a:r>
            <a:r>
              <a:rPr lang="zh-CN" altLang="en-US" sz="2400">
                <a:latin typeface="宋体" panose="02010600030101010101" pitchFamily="2" charset="-122"/>
              </a:rPr>
              <a:t>也是等价关系。</a:t>
            </a:r>
          </a:p>
          <a:p>
            <a:pPr algn="just" eaLnBrk="1" hangingPunct="1">
              <a:lnSpc>
                <a:spcPct val="150000"/>
              </a:lnSpc>
              <a:spcBef>
                <a:spcPct val="0"/>
              </a:spcBef>
              <a:buFontTx/>
              <a:buNone/>
            </a:pPr>
            <a:r>
              <a:rPr lang="zh-CN" altLang="en-US" sz="2400">
                <a:latin typeface="宋体" panose="02010600030101010101" pitchFamily="2" charset="-122"/>
              </a:rPr>
              <a:t>证明：Ｒ</a:t>
            </a:r>
            <a:r>
              <a:rPr lang="en-US" altLang="zh-CN" sz="2400" baseline="-25000">
                <a:latin typeface="宋体" panose="02010600030101010101" pitchFamily="2" charset="-122"/>
              </a:rPr>
              <a:t>1</a:t>
            </a:r>
            <a:r>
              <a:rPr lang="en-US" altLang="zh-CN" sz="2400">
                <a:latin typeface="宋体" panose="02010600030101010101" pitchFamily="2" charset="-122"/>
              </a:rPr>
              <a:t>∩</a:t>
            </a:r>
            <a:r>
              <a:rPr lang="zh-CN" altLang="en-US" sz="2400">
                <a:latin typeface="宋体" panose="02010600030101010101" pitchFamily="2" charset="-122"/>
              </a:rPr>
              <a:t>Ｒ</a:t>
            </a:r>
            <a:r>
              <a:rPr lang="en-US" altLang="zh-CN" sz="2400" baseline="-25000">
                <a:latin typeface="宋体" panose="02010600030101010101" pitchFamily="2" charset="-122"/>
              </a:rPr>
              <a:t>2</a:t>
            </a:r>
            <a:r>
              <a:rPr lang="zh-CN" altLang="en-US" sz="2400">
                <a:latin typeface="宋体" panose="02010600030101010101" pitchFamily="2" charset="-122"/>
              </a:rPr>
              <a:t>＝Ｒ</a:t>
            </a:r>
            <a:r>
              <a:rPr lang="en-US" altLang="zh-CN" sz="2400" baseline="-25000">
                <a:latin typeface="宋体" panose="02010600030101010101" pitchFamily="2" charset="-122"/>
              </a:rPr>
              <a:t>3</a:t>
            </a:r>
            <a:r>
              <a:rPr lang="zh-CN" altLang="en-US" sz="2400">
                <a:latin typeface="宋体" panose="02010600030101010101" pitchFamily="2" charset="-122"/>
              </a:rPr>
              <a:t>，Ｒ</a:t>
            </a:r>
            <a:r>
              <a:rPr lang="en-US" altLang="zh-CN" sz="2400" baseline="-25000">
                <a:latin typeface="宋体" panose="02010600030101010101" pitchFamily="2" charset="-122"/>
              </a:rPr>
              <a:t>3</a:t>
            </a:r>
            <a:r>
              <a:rPr lang="zh-CN" altLang="en-US" sz="2400">
                <a:latin typeface="宋体" panose="02010600030101010101" pitchFamily="2" charset="-122"/>
              </a:rPr>
              <a:t>传递。</a:t>
            </a:r>
          </a:p>
        </p:txBody>
      </p:sp>
      <p:sp>
        <p:nvSpPr>
          <p:cNvPr id="6" name="Text Box 3">
            <a:extLst>
              <a:ext uri="{FF2B5EF4-FFF2-40B4-BE49-F238E27FC236}">
                <a16:creationId xmlns:a16="http://schemas.microsoft.com/office/drawing/2014/main" id="{D6237F97-77CE-4B5C-BE5C-212B5717379E}"/>
              </a:ext>
            </a:extLst>
          </p:cNvPr>
          <p:cNvSpPr txBox="1">
            <a:spLocks noChangeArrowheads="1"/>
          </p:cNvSpPr>
          <p:nvPr/>
        </p:nvSpPr>
        <p:spPr bwMode="auto">
          <a:xfrm>
            <a:off x="1249413" y="3049524"/>
            <a:ext cx="10408262" cy="3623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ts val="4000"/>
              </a:lnSpc>
              <a:spcBef>
                <a:spcPct val="0"/>
              </a:spcBef>
              <a:buFontTx/>
              <a:buNone/>
            </a:pPr>
            <a:r>
              <a:rPr lang="en-US" altLang="zh-CN" sz="2400">
                <a:latin typeface="宋体" panose="02010600030101010101" pitchFamily="2" charset="-122"/>
              </a:rPr>
              <a:t>   (1) </a:t>
            </a:r>
            <a:r>
              <a:rPr lang="zh-CN" altLang="en-US" sz="2400">
                <a:latin typeface="宋体" panose="02010600030101010101" pitchFamily="2" charset="-122"/>
                <a:sym typeface="Symbol" panose="05050102010706020507" pitchFamily="18" charset="2"/>
              </a:rPr>
              <a:t></a:t>
            </a:r>
            <a:r>
              <a:rPr lang="zh-CN" altLang="en-US" sz="2400">
                <a:latin typeface="宋体" panose="02010600030101010101" pitchFamily="2" charset="-122"/>
              </a:rPr>
              <a:t>ａ∈Ａ，由Ｒ</a:t>
            </a:r>
            <a:r>
              <a:rPr lang="en-US" altLang="zh-CN" sz="2400" baseline="-25000">
                <a:latin typeface="宋体" panose="02010600030101010101" pitchFamily="2" charset="-122"/>
              </a:rPr>
              <a:t>1</a:t>
            </a:r>
            <a:r>
              <a:rPr lang="zh-CN" altLang="en-US" sz="2400">
                <a:latin typeface="宋体" panose="02010600030101010101" pitchFamily="2" charset="-122"/>
              </a:rPr>
              <a:t>，Ｒ</a:t>
            </a:r>
            <a:r>
              <a:rPr lang="en-US" altLang="zh-CN" sz="2400" baseline="-25000">
                <a:latin typeface="宋体" panose="02010600030101010101" pitchFamily="2" charset="-122"/>
              </a:rPr>
              <a:t>2</a:t>
            </a:r>
            <a:r>
              <a:rPr lang="zh-CN" altLang="en-US" sz="2400">
                <a:latin typeface="宋体" panose="02010600030101010101" pitchFamily="2" charset="-122"/>
              </a:rPr>
              <a:t>自反</a:t>
            </a:r>
          </a:p>
          <a:p>
            <a:pPr algn="just" eaLnBrk="1" hangingPunct="1">
              <a:lnSpc>
                <a:spcPts val="4000"/>
              </a:lnSpc>
              <a:spcBef>
                <a:spcPct val="0"/>
              </a:spcBef>
              <a:buFontTx/>
              <a:buNone/>
            </a:pPr>
            <a:r>
              <a:rPr lang="zh-CN" altLang="en-US" sz="2400">
                <a:latin typeface="宋体" panose="02010600030101010101" pitchFamily="2" charset="-122"/>
              </a:rPr>
              <a:t>      （ａ，ａ）∈Ｒ</a:t>
            </a:r>
            <a:r>
              <a:rPr lang="en-US" altLang="zh-CN" sz="2400" baseline="-25000">
                <a:latin typeface="宋体" panose="02010600030101010101" pitchFamily="2" charset="-122"/>
              </a:rPr>
              <a:t>1</a:t>
            </a:r>
            <a:r>
              <a:rPr lang="zh-CN" altLang="en-US" sz="2400">
                <a:latin typeface="宋体" panose="02010600030101010101" pitchFamily="2" charset="-122"/>
              </a:rPr>
              <a:t>，（ａ，ａ）∈Ｒ</a:t>
            </a:r>
            <a:r>
              <a:rPr lang="en-US" altLang="zh-CN" sz="2400" baseline="-25000">
                <a:latin typeface="宋体" panose="02010600030101010101" pitchFamily="2" charset="-122"/>
              </a:rPr>
              <a:t>2</a:t>
            </a:r>
            <a:r>
              <a:rPr lang="zh-CN" altLang="en-US" sz="2400">
                <a:latin typeface="宋体" panose="02010600030101010101" pitchFamily="2" charset="-122"/>
              </a:rPr>
              <a:t>，于是</a:t>
            </a:r>
          </a:p>
          <a:p>
            <a:pPr algn="just" eaLnBrk="1" hangingPunct="1">
              <a:lnSpc>
                <a:spcPts val="4000"/>
              </a:lnSpc>
              <a:spcBef>
                <a:spcPct val="0"/>
              </a:spcBef>
              <a:buFontTx/>
              <a:buNone/>
            </a:pPr>
            <a:r>
              <a:rPr lang="zh-CN" altLang="en-US" sz="2400">
                <a:latin typeface="宋体" panose="02010600030101010101" pitchFamily="2" charset="-122"/>
              </a:rPr>
              <a:t>      （ａ，ａ）∈Ｒ</a:t>
            </a:r>
            <a:r>
              <a:rPr lang="en-US" altLang="zh-CN" sz="2400" baseline="-25000">
                <a:latin typeface="宋体" panose="02010600030101010101" pitchFamily="2" charset="-122"/>
              </a:rPr>
              <a:t>1</a:t>
            </a:r>
            <a:r>
              <a:rPr lang="en-US" altLang="zh-CN" sz="2400">
                <a:latin typeface="宋体" panose="02010600030101010101" pitchFamily="2" charset="-122"/>
              </a:rPr>
              <a:t>∩</a:t>
            </a:r>
            <a:r>
              <a:rPr lang="zh-CN" altLang="en-US" sz="2400">
                <a:latin typeface="宋体" panose="02010600030101010101" pitchFamily="2" charset="-122"/>
              </a:rPr>
              <a:t>Ｒ</a:t>
            </a:r>
            <a:r>
              <a:rPr lang="en-US" altLang="zh-CN" sz="2400" baseline="-25000">
                <a:latin typeface="宋体" panose="02010600030101010101" pitchFamily="2" charset="-122"/>
              </a:rPr>
              <a:t>2</a:t>
            </a:r>
            <a:r>
              <a:rPr lang="zh-CN" altLang="en-US" sz="2400">
                <a:latin typeface="宋体" panose="02010600030101010101" pitchFamily="2" charset="-122"/>
              </a:rPr>
              <a:t>＝Ｒ</a:t>
            </a:r>
            <a:r>
              <a:rPr lang="en-US" altLang="zh-CN" sz="2400" baseline="-25000">
                <a:latin typeface="宋体" panose="02010600030101010101" pitchFamily="2" charset="-122"/>
              </a:rPr>
              <a:t>3</a:t>
            </a:r>
            <a:r>
              <a:rPr lang="zh-CN" altLang="en-US" sz="2400">
                <a:latin typeface="宋体" panose="02010600030101010101" pitchFamily="2" charset="-122"/>
              </a:rPr>
              <a:t>，Ｒ</a:t>
            </a:r>
            <a:r>
              <a:rPr lang="en-US" altLang="zh-CN" sz="2400" baseline="-25000">
                <a:latin typeface="宋体" panose="02010600030101010101" pitchFamily="2" charset="-122"/>
              </a:rPr>
              <a:t>3</a:t>
            </a:r>
            <a:r>
              <a:rPr lang="zh-CN" altLang="en-US" sz="2400">
                <a:latin typeface="宋体" panose="02010600030101010101" pitchFamily="2" charset="-122"/>
              </a:rPr>
              <a:t>自反</a:t>
            </a:r>
          </a:p>
          <a:p>
            <a:pPr algn="just" eaLnBrk="1" hangingPunct="1">
              <a:lnSpc>
                <a:spcPts val="4000"/>
              </a:lnSpc>
              <a:spcBef>
                <a:spcPct val="0"/>
              </a:spcBef>
              <a:buFontTx/>
              <a:buNone/>
            </a:pPr>
            <a:r>
              <a:rPr lang="zh-CN" altLang="en-US" sz="2400">
                <a:latin typeface="宋体" panose="02010600030101010101" pitchFamily="2" charset="-122"/>
              </a:rPr>
              <a:t>   </a:t>
            </a:r>
            <a:r>
              <a:rPr lang="en-US" altLang="zh-CN" sz="2400">
                <a:latin typeface="宋体" panose="02010600030101010101" pitchFamily="2" charset="-122"/>
              </a:rPr>
              <a:t>(2) </a:t>
            </a:r>
            <a:r>
              <a:rPr lang="zh-CN" altLang="en-US" sz="2400">
                <a:latin typeface="宋体" panose="02010600030101010101" pitchFamily="2" charset="-122"/>
              </a:rPr>
              <a:t>若（ａ，ｂ）∈Ｒ</a:t>
            </a:r>
            <a:r>
              <a:rPr lang="en-US" altLang="zh-CN" sz="2400" baseline="-25000">
                <a:latin typeface="宋体" panose="02010600030101010101" pitchFamily="2" charset="-122"/>
              </a:rPr>
              <a:t>3</a:t>
            </a:r>
            <a:r>
              <a:rPr lang="zh-CN" altLang="en-US" sz="2400">
                <a:latin typeface="宋体" panose="02010600030101010101" pitchFamily="2" charset="-122"/>
              </a:rPr>
              <a:t>，则（ａ，ｂ）∈Ｒ</a:t>
            </a:r>
            <a:r>
              <a:rPr lang="en-US" altLang="zh-CN" sz="2400" baseline="-25000">
                <a:latin typeface="宋体" panose="02010600030101010101" pitchFamily="2" charset="-122"/>
              </a:rPr>
              <a:t>1</a:t>
            </a:r>
          </a:p>
          <a:p>
            <a:pPr algn="just" eaLnBrk="1" hangingPunct="1">
              <a:lnSpc>
                <a:spcPts val="4000"/>
              </a:lnSpc>
              <a:spcBef>
                <a:spcPct val="0"/>
              </a:spcBef>
              <a:buFontTx/>
              <a:buNone/>
            </a:pPr>
            <a:r>
              <a:rPr lang="en-US" altLang="zh-CN" sz="2400" baseline="-25000">
                <a:latin typeface="宋体" panose="02010600030101010101" pitchFamily="2" charset="-122"/>
              </a:rPr>
              <a:t>          </a:t>
            </a:r>
            <a:r>
              <a:rPr lang="zh-CN" altLang="en-US" sz="2400">
                <a:latin typeface="宋体" panose="02010600030101010101" pitchFamily="2" charset="-122"/>
              </a:rPr>
              <a:t>且（ａ，ｂ）∈Ｒ</a:t>
            </a:r>
            <a:r>
              <a:rPr lang="en-US" altLang="zh-CN" sz="2400" baseline="-25000">
                <a:latin typeface="宋体" panose="02010600030101010101" pitchFamily="2" charset="-122"/>
              </a:rPr>
              <a:t>2</a:t>
            </a:r>
            <a:r>
              <a:rPr lang="zh-CN" altLang="en-US" sz="2400">
                <a:latin typeface="宋体" panose="02010600030101010101" pitchFamily="2" charset="-122"/>
              </a:rPr>
              <a:t>，由Ｒ</a:t>
            </a:r>
            <a:r>
              <a:rPr lang="en-US" altLang="zh-CN" sz="2400" baseline="-25000">
                <a:latin typeface="宋体" panose="02010600030101010101" pitchFamily="2" charset="-122"/>
              </a:rPr>
              <a:t>1</a:t>
            </a:r>
            <a:r>
              <a:rPr lang="zh-CN" altLang="en-US" sz="2400">
                <a:latin typeface="宋体" panose="02010600030101010101" pitchFamily="2" charset="-122"/>
              </a:rPr>
              <a:t>，Ｒ</a:t>
            </a:r>
            <a:r>
              <a:rPr lang="en-US" altLang="zh-CN" sz="2400" baseline="-25000">
                <a:latin typeface="宋体" panose="02010600030101010101" pitchFamily="2" charset="-122"/>
              </a:rPr>
              <a:t>2</a:t>
            </a:r>
            <a:r>
              <a:rPr lang="zh-CN" altLang="en-US" sz="2400">
                <a:latin typeface="宋体" panose="02010600030101010101" pitchFamily="2" charset="-122"/>
              </a:rPr>
              <a:t>对称</a:t>
            </a:r>
          </a:p>
          <a:p>
            <a:pPr algn="just" eaLnBrk="1" hangingPunct="1">
              <a:lnSpc>
                <a:spcPts val="4000"/>
              </a:lnSpc>
              <a:spcBef>
                <a:spcPct val="0"/>
              </a:spcBef>
              <a:buFontTx/>
              <a:buNone/>
            </a:pPr>
            <a:r>
              <a:rPr lang="zh-CN" altLang="en-US" sz="2400">
                <a:latin typeface="宋体" panose="02010600030101010101" pitchFamily="2" charset="-122"/>
              </a:rPr>
              <a:t>      （ｂ，ａ）∈Ｒ</a:t>
            </a:r>
            <a:r>
              <a:rPr lang="en-US" altLang="zh-CN" sz="2400" baseline="-25000">
                <a:latin typeface="宋体" panose="02010600030101010101" pitchFamily="2" charset="-122"/>
              </a:rPr>
              <a:t>1</a:t>
            </a:r>
            <a:r>
              <a:rPr lang="zh-CN" altLang="en-US" sz="2400">
                <a:latin typeface="宋体" panose="02010600030101010101" pitchFamily="2" charset="-122"/>
              </a:rPr>
              <a:t>，（ｂ，ａ）∈Ｒ</a:t>
            </a:r>
            <a:r>
              <a:rPr lang="en-US" altLang="zh-CN" sz="2400" baseline="-25000">
                <a:latin typeface="宋体" panose="02010600030101010101" pitchFamily="2" charset="-122"/>
              </a:rPr>
              <a:t>2</a:t>
            </a:r>
            <a:endParaRPr lang="en-US" altLang="zh-CN" sz="2400">
              <a:latin typeface="宋体" panose="02010600030101010101" pitchFamily="2" charset="-122"/>
            </a:endParaRPr>
          </a:p>
          <a:p>
            <a:pPr algn="just" eaLnBrk="1" hangingPunct="1">
              <a:lnSpc>
                <a:spcPts val="4000"/>
              </a:lnSpc>
              <a:spcBef>
                <a:spcPct val="0"/>
              </a:spcBef>
              <a:buFontTx/>
              <a:buNone/>
            </a:pPr>
            <a:r>
              <a:rPr lang="en-US" altLang="zh-CN" sz="2400">
                <a:latin typeface="宋体" panose="02010600030101010101" pitchFamily="2" charset="-122"/>
              </a:rPr>
              <a:t>       </a:t>
            </a:r>
            <a:r>
              <a:rPr lang="zh-CN" altLang="en-US" sz="2400">
                <a:latin typeface="宋体" panose="02010600030101010101" pitchFamily="2" charset="-122"/>
              </a:rPr>
              <a:t>于是（ｂ，ａ）∈Ｒ</a:t>
            </a:r>
            <a:r>
              <a:rPr lang="en-US" altLang="zh-CN" sz="2400" baseline="-25000">
                <a:latin typeface="宋体" panose="02010600030101010101" pitchFamily="2" charset="-122"/>
              </a:rPr>
              <a:t>1</a:t>
            </a:r>
            <a:r>
              <a:rPr lang="en-US" altLang="zh-CN" sz="2400">
                <a:latin typeface="宋体" panose="02010600030101010101" pitchFamily="2" charset="-122"/>
              </a:rPr>
              <a:t>∩</a:t>
            </a:r>
            <a:r>
              <a:rPr lang="zh-CN" altLang="en-US" sz="2400">
                <a:latin typeface="宋体" panose="02010600030101010101" pitchFamily="2" charset="-122"/>
              </a:rPr>
              <a:t>Ｒ</a:t>
            </a:r>
            <a:r>
              <a:rPr lang="en-US" altLang="zh-CN" sz="2400" baseline="-25000">
                <a:latin typeface="宋体" panose="02010600030101010101" pitchFamily="2" charset="-122"/>
              </a:rPr>
              <a:t>2</a:t>
            </a:r>
            <a:r>
              <a:rPr lang="zh-CN" altLang="en-US" sz="2400">
                <a:latin typeface="宋体" panose="02010600030101010101" pitchFamily="2" charset="-122"/>
              </a:rPr>
              <a:t>＝Ｒ</a:t>
            </a:r>
            <a:r>
              <a:rPr lang="en-US" altLang="zh-CN" sz="2400" baseline="-25000">
                <a:latin typeface="宋体" panose="02010600030101010101" pitchFamily="2" charset="-122"/>
              </a:rPr>
              <a:t>3</a:t>
            </a:r>
            <a:r>
              <a:rPr lang="zh-CN" altLang="en-US" sz="2400">
                <a:latin typeface="宋体" panose="02010600030101010101" pitchFamily="2" charset="-122"/>
              </a:rPr>
              <a:t>，Ｒ</a:t>
            </a:r>
            <a:r>
              <a:rPr lang="en-US" altLang="zh-CN" sz="2400" baseline="-25000">
                <a:latin typeface="宋体" panose="02010600030101010101" pitchFamily="2" charset="-122"/>
              </a:rPr>
              <a:t>3</a:t>
            </a:r>
            <a:r>
              <a:rPr lang="zh-CN" altLang="en-US" sz="2400">
                <a:latin typeface="宋体" panose="02010600030101010101" pitchFamily="2" charset="-122"/>
              </a:rPr>
              <a:t>对称</a:t>
            </a:r>
            <a:endParaRPr lang="zh-CN" altLang="en-US" sz="2400">
              <a:latin typeface="Times New Roman" panose="02020603050405020304" pitchFamily="18" charset="0"/>
            </a:endParaRPr>
          </a:p>
        </p:txBody>
      </p:sp>
      <p:sp>
        <p:nvSpPr>
          <p:cNvPr id="7" name="Text Box 4">
            <a:extLst>
              <a:ext uri="{FF2B5EF4-FFF2-40B4-BE49-F238E27FC236}">
                <a16:creationId xmlns:a16="http://schemas.microsoft.com/office/drawing/2014/main" id="{F041A122-3417-4C2F-A7CE-4ABDF7EE5CF0}"/>
              </a:ext>
            </a:extLst>
          </p:cNvPr>
          <p:cNvSpPr txBox="1">
            <a:spLocks noChangeArrowheads="1"/>
          </p:cNvSpPr>
          <p:nvPr/>
        </p:nvSpPr>
        <p:spPr bwMode="auto">
          <a:xfrm>
            <a:off x="891868" y="890630"/>
            <a:ext cx="5257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lang="zh-CN" altLang="en-US" sz="2400">
                <a:latin typeface="黑体" panose="02010609060101010101" pitchFamily="49" charset="-122"/>
                <a:ea typeface="黑体" panose="02010609060101010101" pitchFamily="49" charset="-122"/>
              </a:rPr>
              <a:t>等价关系的运算</a:t>
            </a:r>
            <a:endParaRPr lang="zh-CN" altLang="en-US" sz="2400">
              <a:latin typeface="宋体" panose="02010600030101010101" pitchFamily="2" charset="-122"/>
            </a:endParaRPr>
          </a:p>
        </p:txBody>
      </p:sp>
      <p:sp>
        <p:nvSpPr>
          <p:cNvPr id="8" name="文本框 7">
            <a:extLst>
              <a:ext uri="{FF2B5EF4-FFF2-40B4-BE49-F238E27FC236}">
                <a16:creationId xmlns:a16="http://schemas.microsoft.com/office/drawing/2014/main" id="{19D0A8E7-16F3-4AAE-8681-0E863AC3A2E8}"/>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9.5.5 Operation of Equivalence Relation*</a:t>
            </a:r>
            <a:endParaRPr lang="en-US" altLang="zh-CN" sz="3200" dirty="0"/>
          </a:p>
        </p:txBody>
      </p:sp>
    </p:spTree>
    <p:extLst>
      <p:ext uri="{BB962C8B-B14F-4D97-AF65-F5344CB8AC3E}">
        <p14:creationId xmlns:p14="http://schemas.microsoft.com/office/powerpoint/2010/main" val="1481735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up)">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up)">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autoUpdateAnimBg="0"/>
      <p:bldP spid="7" grpId="0"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ct 2">
            <a:extLst>
              <a:ext uri="{FF2B5EF4-FFF2-40B4-BE49-F238E27FC236}">
                <a16:creationId xmlns:a16="http://schemas.microsoft.com/office/drawing/2014/main" id="{9354AAF9-CF50-4C73-8147-1756E559D68C}"/>
              </a:ext>
            </a:extLst>
          </p:cNvPr>
          <p:cNvGraphicFramePr>
            <a:graphicFrameLocks noChangeAspect="1"/>
          </p:cNvGraphicFramePr>
          <p:nvPr>
            <p:extLst>
              <p:ext uri="{D42A27DB-BD31-4B8C-83A1-F6EECF244321}">
                <p14:modId xmlns:p14="http://schemas.microsoft.com/office/powerpoint/2010/main" val="3006291092"/>
              </p:ext>
            </p:extLst>
          </p:nvPr>
        </p:nvGraphicFramePr>
        <p:xfrm>
          <a:off x="1028700" y="1698646"/>
          <a:ext cx="7086600" cy="7772400"/>
        </p:xfrm>
        <a:graphic>
          <a:graphicData uri="http://schemas.openxmlformats.org/presentationml/2006/ole">
            <mc:AlternateContent xmlns:mc="http://schemas.openxmlformats.org/markup-compatibility/2006">
              <mc:Choice xmlns:v="urn:schemas-microsoft-com:vml" Requires="v">
                <p:oleObj name="Picture" r:id="rId2" imgW="2467356" imgH="4064508" progId="Word.Picture.8">
                  <p:embed/>
                </p:oleObj>
              </mc:Choice>
              <mc:Fallback>
                <p:oleObj name="Picture" r:id="rId2" imgW="2467356" imgH="4064508" progId="Word.Picture.8">
                  <p:embed/>
                  <p:pic>
                    <p:nvPicPr>
                      <p:cNvPr id="11" name="Object 2">
                        <a:extLst>
                          <a:ext uri="{FF2B5EF4-FFF2-40B4-BE49-F238E27FC236}">
                            <a16:creationId xmlns:a16="http://schemas.microsoft.com/office/drawing/2014/main" id="{9354AAF9-CF50-4C73-8147-1756E559D6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8700" y="1698646"/>
                        <a:ext cx="7086600" cy="7772400"/>
                      </a:xfrm>
                      <a:prstGeom prst="rect">
                        <a:avLst/>
                      </a:prstGeom>
                      <a:noFill/>
                      <a:ln>
                        <a:noFill/>
                      </a:ln>
                      <a:effectLst/>
                    </p:spPr>
                  </p:pic>
                </p:oleObj>
              </mc:Fallback>
            </mc:AlternateContent>
          </a:graphicData>
        </a:graphic>
      </p:graphicFrame>
      <p:sp>
        <p:nvSpPr>
          <p:cNvPr id="12" name="Text Box 3">
            <a:extLst>
              <a:ext uri="{FF2B5EF4-FFF2-40B4-BE49-F238E27FC236}">
                <a16:creationId xmlns:a16="http://schemas.microsoft.com/office/drawing/2014/main" id="{45637C4F-B2B5-4DEE-90FC-1681AEDA22DE}"/>
              </a:ext>
            </a:extLst>
          </p:cNvPr>
          <p:cNvSpPr txBox="1">
            <a:spLocks noChangeArrowheads="1"/>
          </p:cNvSpPr>
          <p:nvPr/>
        </p:nvSpPr>
        <p:spPr bwMode="auto">
          <a:xfrm>
            <a:off x="1371600" y="990600"/>
            <a:ext cx="647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lang="en-US" altLang="zh-CN" sz="2400">
                <a:latin typeface="宋体" panose="02010600030101010101" pitchFamily="2" charset="-122"/>
              </a:rPr>
              <a:t>(3)</a:t>
            </a:r>
            <a:r>
              <a:rPr lang="zh-CN" altLang="en-US" sz="2400">
                <a:latin typeface="宋体" panose="02010600030101010101" pitchFamily="2" charset="-122"/>
              </a:rPr>
              <a:t>若（ａ，ｂ）∈Ｒ</a:t>
            </a:r>
            <a:r>
              <a:rPr lang="en-US" altLang="zh-CN" sz="2400" baseline="-25000">
                <a:latin typeface="宋体" panose="02010600030101010101" pitchFamily="2" charset="-122"/>
              </a:rPr>
              <a:t>3</a:t>
            </a:r>
            <a:r>
              <a:rPr lang="zh-CN" altLang="en-US" sz="2400">
                <a:latin typeface="宋体" panose="02010600030101010101" pitchFamily="2" charset="-122"/>
              </a:rPr>
              <a:t>，（ｂ，ｃ）∈Ｒ</a:t>
            </a:r>
            <a:r>
              <a:rPr lang="en-US" altLang="zh-CN" sz="2400" baseline="-25000">
                <a:latin typeface="宋体" panose="02010600030101010101" pitchFamily="2" charset="-122"/>
              </a:rPr>
              <a:t>3</a:t>
            </a:r>
          </a:p>
        </p:txBody>
      </p:sp>
      <p:sp>
        <p:nvSpPr>
          <p:cNvPr id="13" name="Text Box 4">
            <a:extLst>
              <a:ext uri="{FF2B5EF4-FFF2-40B4-BE49-F238E27FC236}">
                <a16:creationId xmlns:a16="http://schemas.microsoft.com/office/drawing/2014/main" id="{6DC47BDE-84A3-4E0D-9A61-CACC7EB0394D}"/>
              </a:ext>
            </a:extLst>
          </p:cNvPr>
          <p:cNvSpPr txBox="1">
            <a:spLocks noChangeArrowheads="1"/>
          </p:cNvSpPr>
          <p:nvPr/>
        </p:nvSpPr>
        <p:spPr bwMode="auto">
          <a:xfrm>
            <a:off x="965621" y="2600277"/>
            <a:ext cx="9545320" cy="1130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spcBef>
                <a:spcPct val="0"/>
              </a:spcBef>
              <a:buFontTx/>
              <a:buNone/>
            </a:pPr>
            <a:r>
              <a:rPr lang="en-US" altLang="zh-CN" sz="2400">
                <a:latin typeface="宋体" panose="02010600030101010101" pitchFamily="2" charset="-122"/>
              </a:rPr>
              <a:t>   </a:t>
            </a:r>
            <a:r>
              <a:rPr lang="zh-CN" altLang="en-US" sz="2400">
                <a:latin typeface="宋体" panose="02010600030101010101" pitchFamily="2" charset="-122"/>
              </a:rPr>
              <a:t>于是（ａ，ｃ）∈Ｒ</a:t>
            </a:r>
            <a:r>
              <a:rPr lang="en-US" altLang="zh-CN" sz="2400" baseline="-25000">
                <a:latin typeface="宋体" panose="02010600030101010101" pitchFamily="2" charset="-122"/>
              </a:rPr>
              <a:t>1</a:t>
            </a:r>
            <a:r>
              <a:rPr lang="en-US" altLang="zh-CN" sz="2400">
                <a:latin typeface="宋体" panose="02010600030101010101" pitchFamily="2" charset="-122"/>
              </a:rPr>
              <a:t>∩</a:t>
            </a:r>
            <a:r>
              <a:rPr lang="zh-CN" altLang="en-US" sz="2400">
                <a:latin typeface="宋体" panose="02010600030101010101" pitchFamily="2" charset="-122"/>
              </a:rPr>
              <a:t>Ｒ</a:t>
            </a:r>
            <a:r>
              <a:rPr lang="en-US" altLang="zh-CN" sz="2400" baseline="-25000">
                <a:latin typeface="宋体" panose="02010600030101010101" pitchFamily="2" charset="-122"/>
              </a:rPr>
              <a:t>2</a:t>
            </a:r>
            <a:r>
              <a:rPr lang="zh-CN" altLang="en-US" sz="2400">
                <a:latin typeface="宋体" panose="02010600030101010101" pitchFamily="2" charset="-122"/>
              </a:rPr>
              <a:t>＝Ｒ</a:t>
            </a:r>
            <a:r>
              <a:rPr lang="en-US" altLang="zh-CN" sz="2400" baseline="-25000">
                <a:latin typeface="宋体" panose="02010600030101010101" pitchFamily="2" charset="-122"/>
              </a:rPr>
              <a:t>3</a:t>
            </a:r>
            <a:r>
              <a:rPr lang="zh-CN" altLang="en-US" sz="2400">
                <a:latin typeface="宋体" panose="02010600030101010101" pitchFamily="2" charset="-122"/>
              </a:rPr>
              <a:t>，Ｒ</a:t>
            </a:r>
            <a:r>
              <a:rPr lang="en-US" altLang="zh-CN" sz="2400" baseline="-25000">
                <a:latin typeface="宋体" panose="02010600030101010101" pitchFamily="2" charset="-122"/>
              </a:rPr>
              <a:t>3</a:t>
            </a:r>
            <a:r>
              <a:rPr lang="zh-CN" altLang="en-US" sz="2400">
                <a:latin typeface="宋体" panose="02010600030101010101" pitchFamily="2" charset="-122"/>
              </a:rPr>
              <a:t>传递。</a:t>
            </a:r>
          </a:p>
          <a:p>
            <a:pPr algn="just" eaLnBrk="1" hangingPunct="1">
              <a:lnSpc>
                <a:spcPct val="150000"/>
              </a:lnSpc>
              <a:spcBef>
                <a:spcPct val="0"/>
              </a:spcBef>
              <a:buFontTx/>
              <a:buNone/>
            </a:pPr>
            <a:r>
              <a:rPr lang="zh-CN" altLang="en-US" sz="2400">
                <a:latin typeface="Times New Roman" panose="02020603050405020304" pitchFamily="18" charset="0"/>
              </a:rPr>
              <a:t>归纳以上三点，Ｒ</a:t>
            </a:r>
            <a:r>
              <a:rPr lang="en-US" altLang="zh-CN" sz="2400" baseline="-25000">
                <a:latin typeface="Times New Roman" panose="02020603050405020304" pitchFamily="18" charset="0"/>
              </a:rPr>
              <a:t>3</a:t>
            </a:r>
            <a:r>
              <a:rPr lang="zh-CN" altLang="en-US" sz="2400">
                <a:latin typeface="Times New Roman" panose="02020603050405020304" pitchFamily="18" charset="0"/>
              </a:rPr>
              <a:t>＝Ｒ</a:t>
            </a:r>
            <a:r>
              <a:rPr lang="en-US" altLang="zh-CN" sz="2400" baseline="-25000">
                <a:latin typeface="Times New Roman" panose="02020603050405020304" pitchFamily="18" charset="0"/>
              </a:rPr>
              <a:t>1</a:t>
            </a:r>
            <a:r>
              <a:rPr lang="en-US" altLang="zh-CN" sz="2400">
                <a:latin typeface="Times New Roman" panose="02020603050405020304" pitchFamily="18" charset="0"/>
              </a:rPr>
              <a:t>∩</a:t>
            </a:r>
            <a:r>
              <a:rPr lang="zh-CN" altLang="en-US" sz="2400">
                <a:latin typeface="Times New Roman" panose="02020603050405020304" pitchFamily="18" charset="0"/>
              </a:rPr>
              <a:t>Ｒ</a:t>
            </a:r>
            <a:r>
              <a:rPr lang="en-US" altLang="zh-CN" sz="2400" baseline="-25000">
                <a:latin typeface="Times New Roman" panose="02020603050405020304" pitchFamily="18" charset="0"/>
              </a:rPr>
              <a:t>2</a:t>
            </a:r>
            <a:r>
              <a:rPr lang="zh-CN" altLang="en-US" sz="2400">
                <a:latin typeface="Times New Roman" panose="02020603050405020304" pitchFamily="18" charset="0"/>
              </a:rPr>
              <a:t>也是等价的二元关系。</a:t>
            </a:r>
          </a:p>
        </p:txBody>
      </p:sp>
      <p:sp>
        <p:nvSpPr>
          <p:cNvPr id="14" name="Text Box 5">
            <a:extLst>
              <a:ext uri="{FF2B5EF4-FFF2-40B4-BE49-F238E27FC236}">
                <a16:creationId xmlns:a16="http://schemas.microsoft.com/office/drawing/2014/main" id="{C15EA0D4-A80B-4A55-BAB9-6F7EF18337E3}"/>
              </a:ext>
            </a:extLst>
          </p:cNvPr>
          <p:cNvSpPr txBox="1">
            <a:spLocks noChangeArrowheads="1"/>
          </p:cNvSpPr>
          <p:nvPr/>
        </p:nvSpPr>
        <p:spPr bwMode="auto">
          <a:xfrm>
            <a:off x="788670" y="4124292"/>
            <a:ext cx="10614660" cy="14072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50000"/>
              </a:lnSpc>
              <a:spcBef>
                <a:spcPct val="50000"/>
              </a:spcBef>
              <a:buNone/>
            </a:pPr>
            <a:r>
              <a:rPr lang="en-US" altLang="zh-CN" sz="2800">
                <a:latin typeface="Times New Roman" panose="02020603050405020304" pitchFamily="18" charset="0"/>
                <a:ea typeface="黑体" panose="02010609060101010101" pitchFamily="49" charset="-122"/>
              </a:rPr>
              <a:t>[</a:t>
            </a:r>
            <a:r>
              <a:rPr lang="zh-CN" altLang="en-US" sz="2800">
                <a:latin typeface="Times New Roman" panose="02020603050405020304" pitchFamily="18" charset="0"/>
                <a:ea typeface="黑体" panose="02010609060101010101" pitchFamily="49" charset="-122"/>
              </a:rPr>
              <a:t>定理</a:t>
            </a:r>
            <a:r>
              <a:rPr lang="en-US" altLang="zh-CN" sz="2800">
                <a:latin typeface="Times New Roman" panose="02020603050405020304" pitchFamily="18" charset="0"/>
                <a:ea typeface="黑体" panose="02010609060101010101" pitchFamily="49" charset="-122"/>
              </a:rPr>
              <a:t>3]</a:t>
            </a:r>
            <a:r>
              <a:rPr lang="zh-CN" altLang="en-US" sz="2800">
                <a:latin typeface="Times New Roman" panose="02020603050405020304" pitchFamily="18" charset="0"/>
                <a:ea typeface="黑体" panose="02010609060101010101" pitchFamily="49" charset="-122"/>
              </a:rPr>
              <a:t>：</a:t>
            </a:r>
            <a:r>
              <a:rPr lang="zh-CN" altLang="en-US" sz="2400">
                <a:latin typeface="Times New Roman" panose="02020603050405020304" pitchFamily="18" charset="0"/>
              </a:rPr>
              <a:t>若Ｒ</a:t>
            </a:r>
            <a:r>
              <a:rPr lang="en-US" altLang="zh-CN" sz="2400" baseline="-25000">
                <a:latin typeface="Times New Roman" panose="02020603050405020304" pitchFamily="18" charset="0"/>
              </a:rPr>
              <a:t>1</a:t>
            </a:r>
            <a:r>
              <a:rPr lang="zh-CN" altLang="en-US" sz="2400">
                <a:latin typeface="Times New Roman" panose="02020603050405020304" pitchFamily="18" charset="0"/>
              </a:rPr>
              <a:t>，Ｒ</a:t>
            </a:r>
            <a:r>
              <a:rPr lang="en-US" altLang="zh-CN" sz="2400" baseline="-25000">
                <a:latin typeface="Times New Roman" panose="02020603050405020304" pitchFamily="18" charset="0"/>
              </a:rPr>
              <a:t>2</a:t>
            </a:r>
            <a:r>
              <a:rPr lang="zh-CN" altLang="en-US" sz="2400">
                <a:latin typeface="Times New Roman" panose="02020603050405020304" pitchFamily="18" charset="0"/>
              </a:rPr>
              <a:t>是Ａ上等价关系，则Ｒ</a:t>
            </a:r>
            <a:r>
              <a:rPr lang="en-US" altLang="zh-CN" sz="2400" baseline="-25000">
                <a:latin typeface="Times New Roman" panose="02020603050405020304" pitchFamily="18" charset="0"/>
              </a:rPr>
              <a:t>1</a:t>
            </a:r>
            <a:r>
              <a:rPr lang="en-US" altLang="zh-CN" sz="2400">
                <a:latin typeface="Times New Roman" panose="02020603050405020304" pitchFamily="18" charset="0"/>
              </a:rPr>
              <a:t>∪</a:t>
            </a:r>
            <a:r>
              <a:rPr lang="zh-CN" altLang="en-US" sz="2400">
                <a:latin typeface="Times New Roman" panose="02020603050405020304" pitchFamily="18" charset="0"/>
              </a:rPr>
              <a:t>Ｒ</a:t>
            </a:r>
            <a:r>
              <a:rPr lang="en-US" altLang="zh-CN" sz="2400" baseline="-25000">
                <a:latin typeface="Times New Roman" panose="02020603050405020304" pitchFamily="18" charset="0"/>
              </a:rPr>
              <a:t>2</a:t>
            </a:r>
            <a:r>
              <a:rPr lang="zh-CN" altLang="en-US" sz="2400">
                <a:latin typeface="Times New Roman" panose="02020603050405020304" pitchFamily="18" charset="0"/>
              </a:rPr>
              <a:t>是相容关系。</a:t>
            </a:r>
          </a:p>
          <a:p>
            <a:pPr algn="just" eaLnBrk="1" hangingPunct="1">
              <a:lnSpc>
                <a:spcPct val="150000"/>
              </a:lnSpc>
              <a:spcBef>
                <a:spcPct val="50000"/>
              </a:spcBef>
              <a:buFontTx/>
              <a:buNone/>
            </a:pPr>
            <a:r>
              <a:rPr lang="zh-CN" altLang="en-US" sz="2400">
                <a:latin typeface="Times New Roman" panose="02020603050405020304" pitchFamily="18" charset="0"/>
              </a:rPr>
              <a:t>          注：Ｒ</a:t>
            </a:r>
            <a:r>
              <a:rPr lang="en-US" altLang="zh-CN" sz="2400" baseline="-25000">
                <a:latin typeface="Times New Roman" panose="02020603050405020304" pitchFamily="18" charset="0"/>
              </a:rPr>
              <a:t>1</a:t>
            </a:r>
            <a:r>
              <a:rPr lang="en-US" altLang="zh-CN" sz="2400">
                <a:latin typeface="Times New Roman" panose="02020603050405020304" pitchFamily="18" charset="0"/>
              </a:rPr>
              <a:t>∪</a:t>
            </a:r>
            <a:r>
              <a:rPr lang="zh-CN" altLang="en-US" sz="2400">
                <a:latin typeface="Times New Roman" panose="02020603050405020304" pitchFamily="18" charset="0"/>
              </a:rPr>
              <a:t>Ｒ</a:t>
            </a:r>
            <a:r>
              <a:rPr lang="en-US" altLang="zh-CN" sz="2400" baseline="-25000">
                <a:latin typeface="Times New Roman" panose="02020603050405020304" pitchFamily="18" charset="0"/>
              </a:rPr>
              <a:t>2 </a:t>
            </a:r>
            <a:r>
              <a:rPr lang="zh-CN" altLang="en-US" sz="2400">
                <a:latin typeface="Times New Roman" panose="02020603050405020304" pitchFamily="18" charset="0"/>
              </a:rPr>
              <a:t>不一定</a:t>
            </a:r>
            <a:r>
              <a:rPr lang="zh-CN" altLang="en-US" sz="2400" baseline="-25000">
                <a:latin typeface="Times New Roman" panose="02020603050405020304" pitchFamily="18" charset="0"/>
              </a:rPr>
              <a:t> </a:t>
            </a:r>
            <a:r>
              <a:rPr lang="zh-CN" altLang="en-US" sz="2400">
                <a:latin typeface="Times New Roman" panose="02020603050405020304" pitchFamily="18" charset="0"/>
              </a:rPr>
              <a:t>是等价关系。</a:t>
            </a:r>
          </a:p>
        </p:txBody>
      </p:sp>
      <p:sp>
        <p:nvSpPr>
          <p:cNvPr id="8" name="文本框 7">
            <a:extLst>
              <a:ext uri="{FF2B5EF4-FFF2-40B4-BE49-F238E27FC236}">
                <a16:creationId xmlns:a16="http://schemas.microsoft.com/office/drawing/2014/main" id="{DA8EC5F1-65D5-4450-91A9-DDE9A0995739}"/>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9.5.5 Operation of Equivalence Relation*</a:t>
            </a:r>
            <a:endParaRPr lang="en-US" altLang="zh-CN" sz="3200" dirty="0"/>
          </a:p>
        </p:txBody>
      </p:sp>
    </p:spTree>
    <p:extLst>
      <p:ext uri="{BB962C8B-B14F-4D97-AF65-F5344CB8AC3E}">
        <p14:creationId xmlns:p14="http://schemas.microsoft.com/office/powerpoint/2010/main" val="3058341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up)">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up)">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utoUpdateAnimBg="0"/>
      <p:bldP spid="13" grpId="0" autoUpdateAnimBg="0"/>
      <p:bldP spid="14" grpId="0"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2">
            <a:extLst>
              <a:ext uri="{FF2B5EF4-FFF2-40B4-BE49-F238E27FC236}">
                <a16:creationId xmlns:a16="http://schemas.microsoft.com/office/drawing/2014/main" id="{8D4174A3-918D-48CA-AC4F-E963916BE194}"/>
              </a:ext>
            </a:extLst>
          </p:cNvPr>
          <p:cNvSpPr txBox="1">
            <a:spLocks noChangeArrowheads="1"/>
          </p:cNvSpPr>
          <p:nvPr/>
        </p:nvSpPr>
        <p:spPr bwMode="auto">
          <a:xfrm>
            <a:off x="659885" y="721780"/>
            <a:ext cx="10156792" cy="3883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spcBef>
                <a:spcPct val="0"/>
              </a:spcBef>
              <a:buFontTx/>
              <a:buNone/>
            </a:pPr>
            <a:r>
              <a:rPr lang="zh-CN" altLang="en-US" sz="2400">
                <a:latin typeface="宋体" panose="02010600030101010101" pitchFamily="2" charset="-122"/>
              </a:rPr>
              <a:t>证明：</a:t>
            </a:r>
          </a:p>
          <a:p>
            <a:pPr algn="just" eaLnBrk="1" hangingPunct="1">
              <a:lnSpc>
                <a:spcPct val="150000"/>
              </a:lnSpc>
              <a:spcBef>
                <a:spcPct val="0"/>
              </a:spcBef>
              <a:buFontTx/>
              <a:buNone/>
            </a:pPr>
            <a:r>
              <a:rPr lang="zh-CN" altLang="en-US" sz="2400">
                <a:latin typeface="宋体" panose="02010600030101010101" pitchFamily="2" charset="-122"/>
              </a:rPr>
              <a:t>     设Ｒ</a:t>
            </a:r>
            <a:r>
              <a:rPr lang="en-US" altLang="zh-CN" sz="2400" baseline="-25000">
                <a:latin typeface="宋体" panose="02010600030101010101" pitchFamily="2" charset="-122"/>
              </a:rPr>
              <a:t>4</a:t>
            </a:r>
            <a:r>
              <a:rPr lang="zh-CN" altLang="en-US" sz="2400">
                <a:latin typeface="宋体" panose="02010600030101010101" pitchFamily="2" charset="-122"/>
              </a:rPr>
              <a:t>＝Ｒ</a:t>
            </a:r>
            <a:r>
              <a:rPr lang="en-US" altLang="zh-CN" sz="2400" baseline="-25000">
                <a:latin typeface="宋体" panose="02010600030101010101" pitchFamily="2" charset="-122"/>
              </a:rPr>
              <a:t>1</a:t>
            </a:r>
            <a:r>
              <a:rPr lang="en-US" altLang="zh-CN" sz="2400">
                <a:latin typeface="宋体" panose="02010600030101010101" pitchFamily="2" charset="-122"/>
              </a:rPr>
              <a:t>∪</a:t>
            </a:r>
            <a:r>
              <a:rPr lang="zh-CN" altLang="en-US" sz="2400">
                <a:latin typeface="宋体" panose="02010600030101010101" pitchFamily="2" charset="-122"/>
              </a:rPr>
              <a:t>Ｒ</a:t>
            </a:r>
            <a:r>
              <a:rPr lang="en-US" altLang="zh-CN" sz="2400" baseline="-25000">
                <a:latin typeface="宋体" panose="02010600030101010101" pitchFamily="2" charset="-122"/>
              </a:rPr>
              <a:t>2</a:t>
            </a:r>
            <a:r>
              <a:rPr lang="en-US" altLang="zh-CN" sz="2400">
                <a:latin typeface="宋体" panose="02010600030101010101" pitchFamily="2" charset="-122"/>
              </a:rPr>
              <a:t></a:t>
            </a:r>
          </a:p>
          <a:p>
            <a:pPr algn="just" eaLnBrk="1" hangingPunct="1">
              <a:lnSpc>
                <a:spcPct val="150000"/>
              </a:lnSpc>
              <a:spcBef>
                <a:spcPct val="0"/>
              </a:spcBef>
              <a:buFontTx/>
              <a:buNone/>
            </a:pPr>
            <a:r>
              <a:rPr lang="en-US" altLang="zh-CN" sz="2400">
                <a:latin typeface="宋体" panose="02010600030101010101" pitchFamily="2" charset="-122"/>
              </a:rPr>
              <a:t>      (1)</a:t>
            </a:r>
            <a:r>
              <a:rPr lang="en-US" altLang="zh-CN" sz="2400">
                <a:latin typeface="宋体" panose="02010600030101010101" pitchFamily="2" charset="-122"/>
                <a:sym typeface="Symbol" panose="05050102010706020507" pitchFamily="18" charset="2"/>
              </a:rPr>
              <a:t></a:t>
            </a:r>
            <a:r>
              <a:rPr lang="zh-CN" altLang="en-US" sz="2400">
                <a:latin typeface="宋体" panose="02010600030101010101" pitchFamily="2" charset="-122"/>
              </a:rPr>
              <a:t>ａ∈Ａ，（ａ，ａ）∈Ｒ</a:t>
            </a:r>
            <a:r>
              <a:rPr lang="en-US" altLang="zh-CN" sz="2400" baseline="-25000">
                <a:latin typeface="宋体" panose="02010600030101010101" pitchFamily="2" charset="-122"/>
              </a:rPr>
              <a:t>1</a:t>
            </a:r>
            <a:r>
              <a:rPr lang="zh-CN" altLang="en-US" sz="2400">
                <a:latin typeface="宋体" panose="02010600030101010101" pitchFamily="2" charset="-122"/>
              </a:rPr>
              <a:t>，（ａ，ａ）∈Ｒ</a:t>
            </a:r>
            <a:r>
              <a:rPr lang="en-US" altLang="zh-CN" sz="2400" baseline="-25000">
                <a:latin typeface="宋体" panose="02010600030101010101" pitchFamily="2" charset="-122"/>
              </a:rPr>
              <a:t>2</a:t>
            </a:r>
            <a:r>
              <a:rPr lang="zh-CN" altLang="en-US" sz="2400">
                <a:latin typeface="宋体" panose="02010600030101010101" pitchFamily="2" charset="-122"/>
              </a:rPr>
              <a:t>，</a:t>
            </a:r>
            <a:endParaRPr lang="en-US" altLang="zh-CN" sz="2400">
              <a:latin typeface="宋体" panose="02010600030101010101" pitchFamily="2" charset="-122"/>
            </a:endParaRPr>
          </a:p>
          <a:p>
            <a:pPr algn="just" eaLnBrk="1" hangingPunct="1">
              <a:lnSpc>
                <a:spcPct val="150000"/>
              </a:lnSpc>
              <a:spcBef>
                <a:spcPct val="0"/>
              </a:spcBef>
              <a:buFontTx/>
              <a:buNone/>
            </a:pPr>
            <a:r>
              <a:rPr lang="en-US" altLang="zh-CN" sz="2400">
                <a:latin typeface="宋体" panose="02010600030101010101" pitchFamily="2" charset="-122"/>
              </a:rPr>
              <a:t>	   </a:t>
            </a:r>
            <a:r>
              <a:rPr lang="zh-CN" altLang="en-US" sz="2400">
                <a:latin typeface="宋体" panose="02010600030101010101" pitchFamily="2" charset="-122"/>
              </a:rPr>
              <a:t>于是（ａ，ａ）∈Ｒ</a:t>
            </a:r>
            <a:r>
              <a:rPr lang="en-US" altLang="zh-CN" sz="2400" baseline="-25000">
                <a:latin typeface="宋体" panose="02010600030101010101" pitchFamily="2" charset="-122"/>
              </a:rPr>
              <a:t>1</a:t>
            </a:r>
            <a:r>
              <a:rPr lang="en-US" altLang="zh-CN" sz="2400">
                <a:latin typeface="宋体" panose="02010600030101010101" pitchFamily="2" charset="-122"/>
              </a:rPr>
              <a:t>∪</a:t>
            </a:r>
            <a:r>
              <a:rPr lang="zh-CN" altLang="en-US" sz="2400">
                <a:latin typeface="宋体" panose="02010600030101010101" pitchFamily="2" charset="-122"/>
              </a:rPr>
              <a:t>Ｒ</a:t>
            </a:r>
            <a:r>
              <a:rPr lang="en-US" altLang="zh-CN" sz="2400" baseline="-25000">
                <a:latin typeface="宋体" panose="02010600030101010101" pitchFamily="2" charset="-122"/>
              </a:rPr>
              <a:t>2</a:t>
            </a:r>
            <a:r>
              <a:rPr lang="zh-CN" altLang="en-US" sz="2400">
                <a:latin typeface="宋体" panose="02010600030101010101" pitchFamily="2" charset="-122"/>
              </a:rPr>
              <a:t>＝Ｒ</a:t>
            </a:r>
            <a:r>
              <a:rPr lang="en-US" altLang="zh-CN" sz="2400" baseline="-25000">
                <a:latin typeface="宋体" panose="02010600030101010101" pitchFamily="2" charset="-122"/>
              </a:rPr>
              <a:t>4</a:t>
            </a:r>
            <a:r>
              <a:rPr lang="zh-CN" altLang="en-US" sz="2400">
                <a:latin typeface="宋体" panose="02010600030101010101" pitchFamily="2" charset="-122"/>
              </a:rPr>
              <a:t>。</a:t>
            </a:r>
          </a:p>
          <a:p>
            <a:pPr algn="just" eaLnBrk="1" hangingPunct="1">
              <a:lnSpc>
                <a:spcPct val="150000"/>
              </a:lnSpc>
              <a:spcBef>
                <a:spcPct val="0"/>
              </a:spcBef>
              <a:buFontTx/>
              <a:buNone/>
            </a:pPr>
            <a:r>
              <a:rPr lang="zh-CN" altLang="en-US" sz="2400">
                <a:latin typeface="宋体" panose="02010600030101010101" pitchFamily="2" charset="-122"/>
              </a:rPr>
              <a:t>      </a:t>
            </a:r>
            <a:r>
              <a:rPr lang="en-US" altLang="zh-CN" sz="2400">
                <a:latin typeface="宋体" panose="02010600030101010101" pitchFamily="2" charset="-122"/>
              </a:rPr>
              <a:t>(2</a:t>
            </a:r>
            <a:r>
              <a:rPr lang="zh-CN" altLang="en-US" sz="2400">
                <a:latin typeface="宋体" panose="02010600030101010101" pitchFamily="2" charset="-122"/>
              </a:rPr>
              <a:t>）若（ａ，ｂ）∈Ｒ</a:t>
            </a:r>
            <a:r>
              <a:rPr lang="en-US" altLang="zh-CN" sz="2400" baseline="-25000">
                <a:latin typeface="宋体" panose="02010600030101010101" pitchFamily="2" charset="-122"/>
              </a:rPr>
              <a:t>4</a:t>
            </a:r>
            <a:r>
              <a:rPr lang="zh-CN" altLang="en-US" sz="2400">
                <a:latin typeface="宋体" panose="02010600030101010101" pitchFamily="2" charset="-122"/>
              </a:rPr>
              <a:t>，（ａ，ｂ）∈Ｒ</a:t>
            </a:r>
            <a:r>
              <a:rPr lang="en-US" altLang="zh-CN" sz="2400" baseline="-25000">
                <a:latin typeface="宋体" panose="02010600030101010101" pitchFamily="2" charset="-122"/>
              </a:rPr>
              <a:t>1</a:t>
            </a:r>
            <a:r>
              <a:rPr lang="zh-CN" altLang="en-US" sz="2400">
                <a:latin typeface="宋体" panose="02010600030101010101" pitchFamily="2" charset="-122"/>
              </a:rPr>
              <a:t>或（ａ，ｂ）∈Ｒ</a:t>
            </a:r>
            <a:r>
              <a:rPr lang="en-US" altLang="zh-CN" sz="2400" baseline="-25000">
                <a:latin typeface="宋体" panose="02010600030101010101" pitchFamily="2" charset="-122"/>
              </a:rPr>
              <a:t>2</a:t>
            </a:r>
          </a:p>
          <a:p>
            <a:pPr algn="just" eaLnBrk="1" hangingPunct="1">
              <a:lnSpc>
                <a:spcPct val="150000"/>
              </a:lnSpc>
              <a:spcBef>
                <a:spcPct val="0"/>
              </a:spcBef>
              <a:buFontTx/>
              <a:buNone/>
            </a:pPr>
            <a:r>
              <a:rPr lang="en-US" altLang="zh-CN" sz="2400" baseline="-25000">
                <a:latin typeface="宋体" panose="02010600030101010101" pitchFamily="2" charset="-122"/>
              </a:rPr>
              <a:t>             </a:t>
            </a:r>
            <a:r>
              <a:rPr lang="zh-CN" altLang="en-US" sz="2400">
                <a:latin typeface="宋体" panose="02010600030101010101" pitchFamily="2" charset="-122"/>
              </a:rPr>
              <a:t>由Ｒ</a:t>
            </a:r>
            <a:r>
              <a:rPr lang="en-US" altLang="zh-CN" sz="2400" baseline="-25000">
                <a:latin typeface="宋体" panose="02010600030101010101" pitchFamily="2" charset="-122"/>
              </a:rPr>
              <a:t>1</a:t>
            </a:r>
            <a:r>
              <a:rPr lang="zh-CN" altLang="en-US" sz="2400">
                <a:latin typeface="宋体" panose="02010600030101010101" pitchFamily="2" charset="-122"/>
              </a:rPr>
              <a:t>，Ｒ</a:t>
            </a:r>
            <a:r>
              <a:rPr lang="en-US" altLang="zh-CN" sz="2400" baseline="-25000">
                <a:latin typeface="宋体" panose="02010600030101010101" pitchFamily="2" charset="-122"/>
              </a:rPr>
              <a:t>2</a:t>
            </a:r>
            <a:r>
              <a:rPr lang="zh-CN" altLang="en-US" sz="2400">
                <a:latin typeface="宋体" panose="02010600030101010101" pitchFamily="2" charset="-122"/>
              </a:rPr>
              <a:t>对称性，（ｂ，ａ）∈Ｒ</a:t>
            </a:r>
            <a:r>
              <a:rPr lang="en-US" altLang="zh-CN" sz="2400" baseline="-25000">
                <a:latin typeface="宋体" panose="02010600030101010101" pitchFamily="2" charset="-122"/>
              </a:rPr>
              <a:t>1</a:t>
            </a:r>
            <a:r>
              <a:rPr lang="zh-CN" altLang="en-US" sz="2400">
                <a:latin typeface="宋体" panose="02010600030101010101" pitchFamily="2" charset="-122"/>
              </a:rPr>
              <a:t>或（ｂ，ａ）∈Ｒ</a:t>
            </a:r>
            <a:r>
              <a:rPr lang="en-US" altLang="zh-CN" sz="2400" baseline="-25000">
                <a:latin typeface="宋体" panose="02010600030101010101" pitchFamily="2" charset="-122"/>
              </a:rPr>
              <a:t>2</a:t>
            </a:r>
            <a:r>
              <a:rPr lang="zh-CN" altLang="en-US" sz="2400">
                <a:latin typeface="宋体" panose="02010600030101010101" pitchFamily="2" charset="-122"/>
              </a:rPr>
              <a:t>，</a:t>
            </a:r>
          </a:p>
          <a:p>
            <a:pPr algn="just" eaLnBrk="1" hangingPunct="1">
              <a:lnSpc>
                <a:spcPct val="150000"/>
              </a:lnSpc>
              <a:spcBef>
                <a:spcPct val="0"/>
              </a:spcBef>
              <a:buFontTx/>
              <a:buNone/>
            </a:pPr>
            <a:r>
              <a:rPr lang="zh-CN" altLang="en-US" sz="2400">
                <a:latin typeface="宋体" panose="02010600030101010101" pitchFamily="2" charset="-122"/>
              </a:rPr>
              <a:t>         于是（ｂ，ａ）∈Ｒ</a:t>
            </a:r>
            <a:r>
              <a:rPr lang="en-US" altLang="zh-CN" sz="2400" baseline="-25000">
                <a:latin typeface="宋体" panose="02010600030101010101" pitchFamily="2" charset="-122"/>
              </a:rPr>
              <a:t>1</a:t>
            </a:r>
            <a:r>
              <a:rPr lang="en-US" altLang="zh-CN" sz="2400">
                <a:latin typeface="宋体" panose="02010600030101010101" pitchFamily="2" charset="-122"/>
              </a:rPr>
              <a:t>∪</a:t>
            </a:r>
            <a:r>
              <a:rPr lang="zh-CN" altLang="en-US" sz="2400">
                <a:latin typeface="宋体" panose="02010600030101010101" pitchFamily="2" charset="-122"/>
              </a:rPr>
              <a:t>Ｒ</a:t>
            </a:r>
            <a:r>
              <a:rPr lang="en-US" altLang="zh-CN" sz="2400" baseline="-25000">
                <a:latin typeface="宋体" panose="02010600030101010101" pitchFamily="2" charset="-122"/>
              </a:rPr>
              <a:t>2</a:t>
            </a:r>
            <a:r>
              <a:rPr lang="zh-CN" altLang="en-US" sz="2400">
                <a:latin typeface="宋体" panose="02010600030101010101" pitchFamily="2" charset="-122"/>
              </a:rPr>
              <a:t>＝Ｒ</a:t>
            </a:r>
            <a:r>
              <a:rPr lang="en-US" altLang="zh-CN" sz="2400" baseline="-25000">
                <a:latin typeface="宋体" panose="02010600030101010101" pitchFamily="2" charset="-122"/>
              </a:rPr>
              <a:t>4</a:t>
            </a:r>
            <a:endParaRPr lang="en-US" altLang="zh-CN" sz="2000">
              <a:latin typeface="宋体" panose="02010600030101010101" pitchFamily="2" charset="-122"/>
            </a:endParaRPr>
          </a:p>
        </p:txBody>
      </p:sp>
      <p:sp>
        <p:nvSpPr>
          <p:cNvPr id="10" name="Text Box 3">
            <a:extLst>
              <a:ext uri="{FF2B5EF4-FFF2-40B4-BE49-F238E27FC236}">
                <a16:creationId xmlns:a16="http://schemas.microsoft.com/office/drawing/2014/main" id="{6681DF2A-54B3-443C-BF27-B53EF633E641}"/>
              </a:ext>
            </a:extLst>
          </p:cNvPr>
          <p:cNvSpPr txBox="1">
            <a:spLocks noChangeArrowheads="1"/>
          </p:cNvSpPr>
          <p:nvPr/>
        </p:nvSpPr>
        <p:spPr bwMode="auto">
          <a:xfrm>
            <a:off x="659885" y="4768095"/>
            <a:ext cx="11056470" cy="1684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spcBef>
                <a:spcPct val="0"/>
              </a:spcBef>
              <a:buFontTx/>
              <a:buNone/>
            </a:pPr>
            <a:r>
              <a:rPr lang="zh-CN" altLang="en-US" sz="2400">
                <a:latin typeface="宋体" panose="02010600030101010101" pitchFamily="2" charset="-122"/>
              </a:rPr>
              <a:t>注：Ｒ</a:t>
            </a:r>
            <a:r>
              <a:rPr lang="en-US" altLang="zh-CN" sz="2400" baseline="-25000">
                <a:latin typeface="宋体" panose="02010600030101010101" pitchFamily="2" charset="-122"/>
              </a:rPr>
              <a:t>4</a:t>
            </a:r>
            <a:r>
              <a:rPr lang="zh-CN" altLang="en-US" sz="2400">
                <a:latin typeface="宋体" panose="02010600030101010101" pitchFamily="2" charset="-122"/>
              </a:rPr>
              <a:t>＝Ｒ</a:t>
            </a:r>
            <a:r>
              <a:rPr lang="en-US" altLang="zh-CN" sz="2400" baseline="-25000">
                <a:latin typeface="宋体" panose="02010600030101010101" pitchFamily="2" charset="-122"/>
              </a:rPr>
              <a:t>1</a:t>
            </a:r>
            <a:r>
              <a:rPr lang="en-US" altLang="zh-CN" sz="2400">
                <a:latin typeface="宋体" panose="02010600030101010101" pitchFamily="2" charset="-122"/>
              </a:rPr>
              <a:t>∪</a:t>
            </a:r>
            <a:r>
              <a:rPr lang="zh-CN" altLang="en-US" sz="2400">
                <a:latin typeface="宋体" panose="02010600030101010101" pitchFamily="2" charset="-122"/>
              </a:rPr>
              <a:t>Ｒ</a:t>
            </a:r>
            <a:r>
              <a:rPr lang="en-US" altLang="zh-CN" sz="2400" baseline="-25000">
                <a:latin typeface="宋体" panose="02010600030101010101" pitchFamily="2" charset="-122"/>
              </a:rPr>
              <a:t>2</a:t>
            </a:r>
            <a:r>
              <a:rPr lang="zh-CN" altLang="en-US" sz="2400">
                <a:latin typeface="宋体" panose="02010600030101010101" pitchFamily="2" charset="-122"/>
              </a:rPr>
              <a:t>是相容的，即</a:t>
            </a:r>
            <a:r>
              <a:rPr lang="zh-CN" altLang="en-US" sz="2400">
                <a:latin typeface="Times New Roman" panose="02020603050405020304" pitchFamily="18" charset="0"/>
              </a:rPr>
              <a:t>Ｒ</a:t>
            </a:r>
            <a:r>
              <a:rPr lang="en-US" altLang="zh-CN" sz="2400" baseline="-25000">
                <a:latin typeface="Times New Roman" panose="02020603050405020304" pitchFamily="18" charset="0"/>
              </a:rPr>
              <a:t>1</a:t>
            </a:r>
            <a:r>
              <a:rPr lang="en-US" altLang="zh-CN" sz="2400">
                <a:latin typeface="Times New Roman" panose="02020603050405020304" pitchFamily="18" charset="0"/>
              </a:rPr>
              <a:t>∪</a:t>
            </a:r>
            <a:r>
              <a:rPr lang="zh-CN" altLang="en-US" sz="2400">
                <a:latin typeface="Times New Roman" panose="02020603050405020304" pitchFamily="18" charset="0"/>
              </a:rPr>
              <a:t>Ｒ</a:t>
            </a:r>
            <a:r>
              <a:rPr lang="en-US" altLang="zh-CN" sz="2400" baseline="-25000">
                <a:latin typeface="Times New Roman" panose="02020603050405020304" pitchFamily="18" charset="0"/>
              </a:rPr>
              <a:t>2</a:t>
            </a:r>
            <a:r>
              <a:rPr lang="zh-CN" altLang="en-US" sz="2400">
                <a:latin typeface="Times New Roman" panose="02020603050405020304" pitchFamily="18" charset="0"/>
              </a:rPr>
              <a:t>不一定是等价关系</a:t>
            </a:r>
          </a:p>
          <a:p>
            <a:pPr algn="just" eaLnBrk="1" hangingPunct="1">
              <a:lnSpc>
                <a:spcPct val="150000"/>
              </a:lnSpc>
              <a:spcBef>
                <a:spcPct val="0"/>
              </a:spcBef>
              <a:buFontTx/>
              <a:buNone/>
            </a:pPr>
            <a:r>
              <a:rPr lang="zh-CN" altLang="en-US" sz="2400">
                <a:latin typeface="Times New Roman" panose="02020603050405020304" pitchFamily="18" charset="0"/>
              </a:rPr>
              <a:t>  若（ａ，ｂ）∈Ｒ</a:t>
            </a:r>
            <a:r>
              <a:rPr lang="en-US" altLang="zh-CN" sz="2400" baseline="-25000">
                <a:latin typeface="Times New Roman" panose="02020603050405020304" pitchFamily="18" charset="0"/>
              </a:rPr>
              <a:t>4</a:t>
            </a:r>
            <a:r>
              <a:rPr lang="zh-CN" altLang="en-US" sz="2400">
                <a:latin typeface="Times New Roman" panose="02020603050405020304" pitchFamily="18" charset="0"/>
              </a:rPr>
              <a:t>，（ｂ，ｃ）∈Ｒ</a:t>
            </a:r>
            <a:r>
              <a:rPr lang="en-US" altLang="zh-CN" sz="2400" baseline="-25000">
                <a:latin typeface="Times New Roman" panose="02020603050405020304" pitchFamily="18" charset="0"/>
              </a:rPr>
              <a:t>4</a:t>
            </a:r>
          </a:p>
          <a:p>
            <a:pPr algn="just" eaLnBrk="1" hangingPunct="1">
              <a:lnSpc>
                <a:spcPct val="150000"/>
              </a:lnSpc>
              <a:spcBef>
                <a:spcPct val="0"/>
              </a:spcBef>
              <a:buFontTx/>
              <a:buNone/>
            </a:pPr>
            <a:r>
              <a:rPr lang="en-US" altLang="zh-CN" sz="2400" baseline="-25000">
                <a:latin typeface="Times New Roman" panose="02020603050405020304" pitchFamily="18" charset="0"/>
              </a:rPr>
              <a:t>       </a:t>
            </a:r>
            <a:r>
              <a:rPr lang="zh-CN" altLang="en-US" sz="2400">
                <a:latin typeface="Times New Roman" panose="02020603050405020304" pitchFamily="18" charset="0"/>
              </a:rPr>
              <a:t>（ａ，ｂ）与（ｂ，ｃ）可能分别属于Ｒ</a:t>
            </a:r>
            <a:r>
              <a:rPr lang="en-US" altLang="zh-CN" sz="2400" baseline="-25000">
                <a:latin typeface="Times New Roman" panose="02020603050405020304" pitchFamily="18" charset="0"/>
              </a:rPr>
              <a:t>1</a:t>
            </a:r>
            <a:r>
              <a:rPr lang="zh-CN" altLang="en-US" sz="2400">
                <a:latin typeface="Times New Roman" panose="02020603050405020304" pitchFamily="18" charset="0"/>
              </a:rPr>
              <a:t>与Ｒ</a:t>
            </a:r>
            <a:r>
              <a:rPr lang="en-US" altLang="zh-CN" sz="2400" baseline="-25000">
                <a:latin typeface="Times New Roman" panose="02020603050405020304" pitchFamily="18" charset="0"/>
              </a:rPr>
              <a:t>2</a:t>
            </a:r>
            <a:r>
              <a:rPr lang="zh-CN" altLang="en-US" sz="2400">
                <a:latin typeface="Times New Roman" panose="02020603050405020304" pitchFamily="18" charset="0"/>
              </a:rPr>
              <a:t>，无法保证Ｒ</a:t>
            </a:r>
            <a:r>
              <a:rPr lang="en-US" altLang="zh-CN" sz="2400" baseline="-25000">
                <a:latin typeface="Times New Roman" panose="02020603050405020304" pitchFamily="18" charset="0"/>
              </a:rPr>
              <a:t>1</a:t>
            </a:r>
            <a:r>
              <a:rPr lang="en-US" altLang="zh-CN" sz="2400">
                <a:latin typeface="Times New Roman" panose="02020603050405020304" pitchFamily="18" charset="0"/>
              </a:rPr>
              <a:t>∪</a:t>
            </a:r>
            <a:r>
              <a:rPr lang="zh-CN" altLang="en-US" sz="2400">
                <a:latin typeface="Times New Roman" panose="02020603050405020304" pitchFamily="18" charset="0"/>
              </a:rPr>
              <a:t>Ｒ</a:t>
            </a:r>
            <a:r>
              <a:rPr lang="en-US" altLang="zh-CN" sz="2400" baseline="-25000">
                <a:latin typeface="Times New Roman" panose="02020603050405020304" pitchFamily="18" charset="0"/>
              </a:rPr>
              <a:t>2</a:t>
            </a:r>
            <a:r>
              <a:rPr lang="zh-CN" altLang="en-US" sz="2400">
                <a:latin typeface="Times New Roman" panose="02020603050405020304" pitchFamily="18" charset="0"/>
              </a:rPr>
              <a:t>的传递性。</a:t>
            </a:r>
          </a:p>
        </p:txBody>
      </p:sp>
      <p:sp>
        <p:nvSpPr>
          <p:cNvPr id="5" name="文本框 4">
            <a:extLst>
              <a:ext uri="{FF2B5EF4-FFF2-40B4-BE49-F238E27FC236}">
                <a16:creationId xmlns:a16="http://schemas.microsoft.com/office/drawing/2014/main" id="{CFB1AE93-DA02-41C5-B1B5-394D28BE0670}"/>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9.5.5 Operation of Equivalence Relation*</a:t>
            </a:r>
            <a:endParaRPr lang="en-US" altLang="zh-CN" sz="3200" dirty="0"/>
          </a:p>
        </p:txBody>
      </p:sp>
    </p:spTree>
    <p:extLst>
      <p:ext uri="{BB962C8B-B14F-4D97-AF65-F5344CB8AC3E}">
        <p14:creationId xmlns:p14="http://schemas.microsoft.com/office/powerpoint/2010/main" val="2920193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up)">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P spid="10" grpId="0"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a:extLst>
              <a:ext uri="{FF2B5EF4-FFF2-40B4-BE49-F238E27FC236}">
                <a16:creationId xmlns:a16="http://schemas.microsoft.com/office/drawing/2014/main" id="{B1909142-A1DF-4CA8-881E-9BE273BB9694}"/>
              </a:ext>
            </a:extLst>
          </p:cNvPr>
          <p:cNvSpPr txBox="1">
            <a:spLocks noChangeArrowheads="1"/>
          </p:cNvSpPr>
          <p:nvPr/>
        </p:nvSpPr>
        <p:spPr bwMode="auto">
          <a:xfrm>
            <a:off x="470836" y="924885"/>
            <a:ext cx="11250328" cy="5008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spcBef>
                <a:spcPct val="0"/>
              </a:spcBef>
              <a:buFontTx/>
              <a:buNone/>
            </a:pPr>
            <a:r>
              <a:rPr lang="zh-CN" altLang="en-US" sz="2400" dirty="0">
                <a:latin typeface="宋体" panose="02010600030101010101" pitchFamily="2" charset="-122"/>
              </a:rPr>
              <a:t>例５：</a:t>
            </a:r>
          </a:p>
          <a:p>
            <a:pPr algn="just" eaLnBrk="1" hangingPunct="1">
              <a:lnSpc>
                <a:spcPct val="150000"/>
              </a:lnSpc>
              <a:spcBef>
                <a:spcPct val="0"/>
              </a:spcBef>
              <a:buFontTx/>
              <a:buNone/>
            </a:pPr>
            <a:r>
              <a:rPr lang="zh-CN" altLang="en-US" sz="2400" dirty="0">
                <a:latin typeface="宋体" panose="02010600030101010101" pitchFamily="2" charset="-122"/>
              </a:rPr>
              <a:t>      Ａ＝｛ａ，ｂ，ｃ｝</a:t>
            </a:r>
          </a:p>
          <a:p>
            <a:pPr algn="just" eaLnBrk="1" hangingPunct="1">
              <a:lnSpc>
                <a:spcPct val="150000"/>
              </a:lnSpc>
              <a:spcBef>
                <a:spcPct val="0"/>
              </a:spcBef>
              <a:buFontTx/>
              <a:buNone/>
            </a:pPr>
            <a:r>
              <a:rPr lang="zh-CN" altLang="en-US" sz="2400" dirty="0">
                <a:latin typeface="宋体" panose="02010600030101010101" pitchFamily="2" charset="-122"/>
              </a:rPr>
              <a:t>      Ｒ</a:t>
            </a:r>
            <a:r>
              <a:rPr lang="en-US" altLang="zh-CN" sz="2400" baseline="-25000" dirty="0">
                <a:latin typeface="宋体" panose="02010600030101010101" pitchFamily="2" charset="-122"/>
              </a:rPr>
              <a:t>1</a:t>
            </a:r>
            <a:r>
              <a:rPr lang="zh-CN" altLang="en-US" sz="2400" dirty="0">
                <a:latin typeface="宋体" panose="02010600030101010101" pitchFamily="2" charset="-122"/>
              </a:rPr>
              <a:t>＝｛（ａ，ａ），（ｂ，</a:t>
            </a:r>
            <a:r>
              <a:rPr lang="zh-CN" altLang="en-US" sz="2400">
                <a:latin typeface="宋体" panose="02010600030101010101" pitchFamily="2" charset="-122"/>
              </a:rPr>
              <a:t>ｂ），（</a:t>
            </a:r>
            <a:r>
              <a:rPr lang="zh-CN" altLang="en-US" sz="2400" dirty="0">
                <a:latin typeface="宋体" panose="02010600030101010101" pitchFamily="2" charset="-122"/>
              </a:rPr>
              <a:t>ｃ，ｃ），（ａ，ｂ），（ｂ，ａ）｝</a:t>
            </a:r>
          </a:p>
          <a:p>
            <a:pPr algn="just" eaLnBrk="1" hangingPunct="1">
              <a:lnSpc>
                <a:spcPct val="150000"/>
              </a:lnSpc>
              <a:spcBef>
                <a:spcPct val="0"/>
              </a:spcBef>
              <a:buFontTx/>
              <a:buNone/>
            </a:pPr>
            <a:r>
              <a:rPr lang="zh-CN" altLang="en-US" sz="2400">
                <a:latin typeface="宋体" panose="02010600030101010101" pitchFamily="2" charset="-122"/>
              </a:rPr>
              <a:t>      Ｒ</a:t>
            </a:r>
            <a:r>
              <a:rPr lang="en-US" altLang="zh-CN" sz="2400" baseline="-25000" dirty="0">
                <a:latin typeface="宋体" panose="02010600030101010101" pitchFamily="2" charset="-122"/>
              </a:rPr>
              <a:t>2</a:t>
            </a:r>
            <a:r>
              <a:rPr lang="zh-CN" altLang="en-US" sz="2400" dirty="0">
                <a:latin typeface="宋体" panose="02010600030101010101" pitchFamily="2" charset="-122"/>
              </a:rPr>
              <a:t>＝｛（ａ，ａ），（ｂ，</a:t>
            </a:r>
            <a:r>
              <a:rPr lang="zh-CN" altLang="en-US" sz="2400">
                <a:latin typeface="宋体" panose="02010600030101010101" pitchFamily="2" charset="-122"/>
              </a:rPr>
              <a:t>ｂ），（</a:t>
            </a:r>
            <a:r>
              <a:rPr lang="zh-CN" altLang="en-US" sz="2400" dirty="0">
                <a:latin typeface="宋体" panose="02010600030101010101" pitchFamily="2" charset="-122"/>
              </a:rPr>
              <a:t>ｃ，ｃ），（ｂ，ｃ），（ｃ，ｂ）｝</a:t>
            </a:r>
          </a:p>
          <a:p>
            <a:pPr algn="just" eaLnBrk="1" hangingPunct="1">
              <a:lnSpc>
                <a:spcPct val="150000"/>
              </a:lnSpc>
              <a:spcBef>
                <a:spcPct val="0"/>
              </a:spcBef>
              <a:buFontTx/>
              <a:buNone/>
            </a:pPr>
            <a:r>
              <a:rPr lang="zh-CN" altLang="en-US" sz="2400">
                <a:latin typeface="宋体" panose="02010600030101010101" pitchFamily="2" charset="-122"/>
              </a:rPr>
              <a:t>      </a:t>
            </a:r>
            <a:r>
              <a:rPr lang="zh-CN" altLang="en-US" sz="2400" dirty="0">
                <a:latin typeface="宋体" panose="02010600030101010101" pitchFamily="2" charset="-122"/>
              </a:rPr>
              <a:t>Ｒ</a:t>
            </a:r>
            <a:r>
              <a:rPr lang="en-US" altLang="zh-CN" sz="2400" baseline="-25000" dirty="0">
                <a:latin typeface="宋体" panose="02010600030101010101" pitchFamily="2" charset="-122"/>
              </a:rPr>
              <a:t>4</a:t>
            </a:r>
            <a:r>
              <a:rPr lang="zh-CN" altLang="en-US" sz="2400" dirty="0">
                <a:latin typeface="宋体" panose="02010600030101010101" pitchFamily="2" charset="-122"/>
              </a:rPr>
              <a:t>＝Ｒ</a:t>
            </a:r>
            <a:r>
              <a:rPr lang="en-US" altLang="zh-CN" sz="2400" baseline="-25000" dirty="0">
                <a:latin typeface="宋体" panose="02010600030101010101" pitchFamily="2" charset="-122"/>
              </a:rPr>
              <a:t>1</a:t>
            </a:r>
            <a:r>
              <a:rPr lang="en-US" altLang="zh-CN" sz="2400" dirty="0">
                <a:latin typeface="宋体" panose="02010600030101010101" pitchFamily="2" charset="-122"/>
              </a:rPr>
              <a:t>∪</a:t>
            </a:r>
            <a:r>
              <a:rPr lang="zh-CN" altLang="en-US" sz="2400" dirty="0">
                <a:latin typeface="宋体" panose="02010600030101010101" pitchFamily="2" charset="-122"/>
              </a:rPr>
              <a:t>Ｒ</a:t>
            </a:r>
            <a:r>
              <a:rPr lang="en-US" altLang="zh-CN" sz="2400" baseline="-25000" dirty="0">
                <a:latin typeface="宋体" panose="02010600030101010101" pitchFamily="2" charset="-122"/>
              </a:rPr>
              <a:t>2</a:t>
            </a:r>
            <a:r>
              <a:rPr lang="zh-CN" altLang="en-US" sz="2400" dirty="0">
                <a:latin typeface="宋体" panose="02010600030101010101" pitchFamily="2" charset="-122"/>
              </a:rPr>
              <a:t>＝｛（ａ，ａ），（ｂ，</a:t>
            </a:r>
            <a:r>
              <a:rPr lang="zh-CN" altLang="en-US" sz="2400">
                <a:latin typeface="宋体" panose="02010600030101010101" pitchFamily="2" charset="-122"/>
              </a:rPr>
              <a:t>ｂ），（</a:t>
            </a:r>
            <a:r>
              <a:rPr lang="zh-CN" altLang="en-US" sz="2400" dirty="0">
                <a:latin typeface="宋体" panose="02010600030101010101" pitchFamily="2" charset="-122"/>
              </a:rPr>
              <a:t>ｃ，ｃ），（ａ，</a:t>
            </a:r>
            <a:r>
              <a:rPr lang="zh-CN" altLang="en-US" sz="2400">
                <a:latin typeface="宋体" panose="02010600030101010101" pitchFamily="2" charset="-122"/>
              </a:rPr>
              <a:t>ｂ），                  </a:t>
            </a:r>
            <a:endParaRPr lang="en-US" altLang="zh-CN" sz="2400">
              <a:latin typeface="宋体" panose="02010600030101010101" pitchFamily="2" charset="-122"/>
            </a:endParaRPr>
          </a:p>
          <a:p>
            <a:pPr algn="just" eaLnBrk="1" hangingPunct="1">
              <a:lnSpc>
                <a:spcPct val="150000"/>
              </a:lnSpc>
              <a:spcBef>
                <a:spcPct val="0"/>
              </a:spcBef>
              <a:buFontTx/>
              <a:buNone/>
            </a:pPr>
            <a:r>
              <a:rPr lang="en-US" altLang="zh-CN" sz="2400">
                <a:latin typeface="宋体" panose="02010600030101010101" pitchFamily="2" charset="-122"/>
              </a:rPr>
              <a:t>                      </a:t>
            </a:r>
            <a:r>
              <a:rPr lang="zh-CN" altLang="en-US" sz="2400">
                <a:latin typeface="宋体" panose="02010600030101010101" pitchFamily="2" charset="-122"/>
              </a:rPr>
              <a:t>（</a:t>
            </a:r>
            <a:r>
              <a:rPr lang="zh-CN" altLang="en-US" sz="2400" dirty="0">
                <a:latin typeface="宋体" panose="02010600030101010101" pitchFamily="2" charset="-122"/>
              </a:rPr>
              <a:t>ｂ，</a:t>
            </a:r>
            <a:r>
              <a:rPr lang="zh-CN" altLang="en-US" sz="2400">
                <a:latin typeface="宋体" panose="02010600030101010101" pitchFamily="2" charset="-122"/>
              </a:rPr>
              <a:t>ａ），（</a:t>
            </a:r>
            <a:r>
              <a:rPr lang="zh-CN" altLang="en-US" sz="2400" dirty="0">
                <a:latin typeface="宋体" panose="02010600030101010101" pitchFamily="2" charset="-122"/>
              </a:rPr>
              <a:t>ｂ，ｃ），（ｃ，</a:t>
            </a:r>
            <a:r>
              <a:rPr lang="zh-CN" altLang="en-US" sz="2400">
                <a:latin typeface="宋体" panose="02010600030101010101" pitchFamily="2" charset="-122"/>
              </a:rPr>
              <a:t>ｂ）｝</a:t>
            </a:r>
            <a:endParaRPr lang="zh-CN" altLang="en-US" sz="2400" dirty="0">
              <a:latin typeface="宋体" panose="02010600030101010101" pitchFamily="2" charset="-122"/>
            </a:endParaRPr>
          </a:p>
          <a:p>
            <a:pPr algn="just" eaLnBrk="1" hangingPunct="1">
              <a:lnSpc>
                <a:spcPct val="150000"/>
              </a:lnSpc>
              <a:spcBef>
                <a:spcPct val="0"/>
              </a:spcBef>
              <a:buFontTx/>
              <a:buNone/>
            </a:pPr>
            <a:r>
              <a:rPr lang="zh-CN" altLang="en-US" sz="2400">
                <a:latin typeface="Times New Roman" panose="02020603050405020304" pitchFamily="18" charset="0"/>
              </a:rPr>
              <a:t>            显然</a:t>
            </a:r>
            <a:r>
              <a:rPr lang="zh-CN" altLang="en-US" sz="2400" dirty="0">
                <a:latin typeface="Times New Roman" panose="02020603050405020304" pitchFamily="18" charset="0"/>
              </a:rPr>
              <a:t>，（</a:t>
            </a:r>
            <a:r>
              <a:rPr lang="zh-CN" altLang="en-US" sz="2400" dirty="0">
                <a:latin typeface="宋体" panose="02010600030101010101" pitchFamily="2" charset="-122"/>
              </a:rPr>
              <a:t>ａ，ｂ），（ｂ，</a:t>
            </a:r>
            <a:r>
              <a:rPr lang="en-US" altLang="zh-CN" sz="2400" dirty="0">
                <a:latin typeface="宋体" panose="02010600030101010101" pitchFamily="2" charset="-122"/>
              </a:rPr>
              <a:t>c</a:t>
            </a:r>
            <a:r>
              <a:rPr lang="zh-CN" altLang="en-US" sz="2400" dirty="0">
                <a:latin typeface="宋体" panose="02010600030101010101" pitchFamily="2" charset="-122"/>
              </a:rPr>
              <a:t>）∈</a:t>
            </a:r>
            <a:r>
              <a:rPr lang="zh-CN" altLang="en-US" sz="2400" dirty="0">
                <a:latin typeface="Times New Roman" panose="02020603050405020304" pitchFamily="18" charset="0"/>
              </a:rPr>
              <a:t>Ｒ</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a:t>
            </a:r>
            <a:r>
              <a:rPr lang="zh-CN" altLang="en-US" sz="2400" dirty="0">
                <a:latin typeface="Times New Roman" panose="02020603050405020304" pitchFamily="18" charset="0"/>
              </a:rPr>
              <a:t>Ｒ</a:t>
            </a:r>
            <a:r>
              <a:rPr lang="en-US" altLang="zh-CN" sz="2400" baseline="-25000" dirty="0">
                <a:latin typeface="Times New Roman" panose="02020603050405020304" pitchFamily="18" charset="0"/>
              </a:rPr>
              <a:t>2</a:t>
            </a:r>
          </a:p>
          <a:p>
            <a:pPr algn="just" eaLnBrk="1" hangingPunct="1">
              <a:lnSpc>
                <a:spcPct val="150000"/>
              </a:lnSpc>
              <a:spcBef>
                <a:spcPct val="0"/>
              </a:spcBef>
              <a:buFontTx/>
              <a:buNone/>
            </a:pPr>
            <a:r>
              <a:rPr lang="zh-CN" altLang="en-US" sz="2400">
                <a:latin typeface="Times New Roman" panose="02020603050405020304" pitchFamily="18" charset="0"/>
              </a:rPr>
              <a:t>            但</a:t>
            </a:r>
            <a:r>
              <a:rPr lang="zh-CN" altLang="en-US" sz="2400" dirty="0">
                <a:latin typeface="Times New Roman" panose="02020603050405020304" pitchFamily="18" charset="0"/>
              </a:rPr>
              <a:t>（</a:t>
            </a:r>
            <a:r>
              <a:rPr lang="zh-CN" altLang="en-US" sz="2400" dirty="0">
                <a:latin typeface="宋体" panose="02010600030101010101" pitchFamily="2" charset="-122"/>
              </a:rPr>
              <a:t>ａ，</a:t>
            </a:r>
            <a:r>
              <a:rPr lang="en-US" altLang="zh-CN" sz="2400" dirty="0">
                <a:latin typeface="宋体" panose="02010600030101010101" pitchFamily="2" charset="-122"/>
              </a:rPr>
              <a:t>c</a:t>
            </a:r>
            <a:r>
              <a:rPr lang="zh-CN" altLang="en-US" sz="2400" dirty="0">
                <a:latin typeface="宋体" panose="02010600030101010101" pitchFamily="2" charset="-122"/>
              </a:rPr>
              <a:t>）</a:t>
            </a:r>
            <a:r>
              <a:rPr lang="zh-CN" altLang="en-US" sz="2400" dirty="0">
                <a:latin typeface="宋体" panose="02010600030101010101" pitchFamily="2" charset="-122"/>
                <a:sym typeface="Symbol" panose="05050102010706020507" pitchFamily="18" charset="2"/>
              </a:rPr>
              <a:t></a:t>
            </a:r>
            <a:r>
              <a:rPr lang="zh-CN" altLang="en-US" sz="2400" dirty="0">
                <a:latin typeface="Times New Roman" panose="02020603050405020304" pitchFamily="18" charset="0"/>
              </a:rPr>
              <a:t>Ｒ</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a:t>
            </a:r>
            <a:r>
              <a:rPr lang="zh-CN" altLang="en-US" sz="2400" dirty="0">
                <a:latin typeface="Times New Roman" panose="02020603050405020304" pitchFamily="18" charset="0"/>
              </a:rPr>
              <a:t>Ｒ</a:t>
            </a:r>
            <a:r>
              <a:rPr lang="en-US" altLang="zh-CN" sz="2400" baseline="-25000" dirty="0">
                <a:latin typeface="Times New Roman" panose="02020603050405020304" pitchFamily="18" charset="0"/>
              </a:rPr>
              <a:t>2</a:t>
            </a:r>
            <a:r>
              <a:rPr lang="zh-CN" altLang="en-US" sz="2400" dirty="0">
                <a:latin typeface="Times New Roman" panose="02020603050405020304" pitchFamily="18" charset="0"/>
              </a:rPr>
              <a:t>（不具有传递性），</a:t>
            </a:r>
          </a:p>
          <a:p>
            <a:pPr algn="just" eaLnBrk="1" hangingPunct="1">
              <a:lnSpc>
                <a:spcPct val="150000"/>
              </a:lnSpc>
              <a:spcBef>
                <a:spcPct val="0"/>
              </a:spcBef>
              <a:buFontTx/>
              <a:buNone/>
            </a:pPr>
            <a:r>
              <a:rPr lang="zh-CN" altLang="en-US" sz="2400">
                <a:latin typeface="Times New Roman" panose="02020603050405020304" pitchFamily="18" charset="0"/>
              </a:rPr>
              <a:t>            但</a:t>
            </a:r>
            <a:r>
              <a:rPr lang="zh-CN" altLang="en-US" sz="2400" dirty="0">
                <a:latin typeface="Times New Roman" panose="02020603050405020304" pitchFamily="18" charset="0"/>
              </a:rPr>
              <a:t>（Ｒ</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a:t>
            </a:r>
            <a:r>
              <a:rPr lang="zh-CN" altLang="en-US" sz="2400" dirty="0">
                <a:latin typeface="Times New Roman" panose="02020603050405020304" pitchFamily="18" charset="0"/>
              </a:rPr>
              <a:t>Ｒ</a:t>
            </a:r>
            <a:r>
              <a:rPr lang="en-US" altLang="zh-CN" sz="2400" baseline="-25000" dirty="0">
                <a:latin typeface="Times New Roman" panose="02020603050405020304" pitchFamily="18" charset="0"/>
              </a:rPr>
              <a:t>2</a:t>
            </a:r>
            <a:r>
              <a:rPr lang="zh-CN" altLang="en-US" sz="2400" dirty="0">
                <a:latin typeface="Times New Roman" panose="02020603050405020304" pitchFamily="18" charset="0"/>
              </a:rPr>
              <a:t>）</a:t>
            </a:r>
            <a:r>
              <a:rPr lang="zh-CN" altLang="en-US" sz="2400" baseline="30000" dirty="0">
                <a:latin typeface="Times New Roman" panose="02020603050405020304" pitchFamily="18" charset="0"/>
              </a:rPr>
              <a:t>*</a:t>
            </a:r>
            <a:r>
              <a:rPr lang="zh-CN" altLang="en-US" sz="2400" dirty="0">
                <a:latin typeface="Times New Roman" panose="02020603050405020304" pitchFamily="18" charset="0"/>
              </a:rPr>
              <a:t>一定是传递的。</a:t>
            </a:r>
          </a:p>
        </p:txBody>
      </p:sp>
      <p:sp>
        <p:nvSpPr>
          <p:cNvPr id="4" name="文本框 3">
            <a:extLst>
              <a:ext uri="{FF2B5EF4-FFF2-40B4-BE49-F238E27FC236}">
                <a16:creationId xmlns:a16="http://schemas.microsoft.com/office/drawing/2014/main" id="{B921D602-6940-4B02-BEB2-226F5FF39778}"/>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9.5.5 Operation of Equivalence Relation*</a:t>
            </a:r>
            <a:endParaRPr lang="en-US" altLang="zh-CN" sz="3200" dirty="0"/>
          </a:p>
        </p:txBody>
      </p:sp>
    </p:spTree>
    <p:extLst>
      <p:ext uri="{BB962C8B-B14F-4D97-AF65-F5344CB8AC3E}">
        <p14:creationId xmlns:p14="http://schemas.microsoft.com/office/powerpoint/2010/main" val="1404706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out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5E390266-BF91-43BA-85D1-F9F82F342790}"/>
              </a:ext>
            </a:extLst>
          </p:cNvPr>
          <p:cNvSpPr txBox="1">
            <a:spLocks noChangeArrowheads="1"/>
          </p:cNvSpPr>
          <p:nvPr/>
        </p:nvSpPr>
        <p:spPr bwMode="auto">
          <a:xfrm>
            <a:off x="620829" y="1230297"/>
            <a:ext cx="1064568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spcBef>
                <a:spcPct val="50000"/>
              </a:spcBef>
              <a:buNone/>
            </a:pPr>
            <a:r>
              <a:rPr lang="en-US" altLang="zh-CN" sz="2800">
                <a:latin typeface="Times New Roman" panose="02020603050405020304" pitchFamily="18" charset="0"/>
                <a:ea typeface="黑体" panose="02010609060101010101" pitchFamily="49" charset="-122"/>
              </a:rPr>
              <a:t>[</a:t>
            </a:r>
            <a:r>
              <a:rPr lang="zh-CN" altLang="en-US" sz="2800">
                <a:latin typeface="Times New Roman" panose="02020603050405020304" pitchFamily="18" charset="0"/>
                <a:ea typeface="黑体" panose="02010609060101010101" pitchFamily="49" charset="-122"/>
              </a:rPr>
              <a:t>定理</a:t>
            </a:r>
            <a:r>
              <a:rPr lang="en-US" altLang="zh-CN" sz="2800">
                <a:latin typeface="Times New Roman" panose="02020603050405020304" pitchFamily="18" charset="0"/>
                <a:ea typeface="黑体" panose="02010609060101010101" pitchFamily="49" charset="-122"/>
              </a:rPr>
              <a:t>4]</a:t>
            </a:r>
            <a:r>
              <a:rPr lang="zh-CN" altLang="en-US" sz="2800">
                <a:latin typeface="Times New Roman" panose="02020603050405020304" pitchFamily="18" charset="0"/>
                <a:ea typeface="黑体" panose="02010609060101010101" pitchFamily="49" charset="-122"/>
              </a:rPr>
              <a:t>：</a:t>
            </a:r>
            <a:r>
              <a:rPr lang="zh-CN" altLang="en-US" sz="2400">
                <a:latin typeface="Times New Roman" panose="02020603050405020304" pitchFamily="18" charset="0"/>
              </a:rPr>
              <a:t>若Ｒ</a:t>
            </a:r>
            <a:r>
              <a:rPr lang="en-US" altLang="zh-CN" sz="2400" baseline="-25000">
                <a:latin typeface="Times New Roman" panose="02020603050405020304" pitchFamily="18" charset="0"/>
              </a:rPr>
              <a:t>1</a:t>
            </a:r>
            <a:r>
              <a:rPr lang="zh-CN" altLang="en-US" sz="2400">
                <a:latin typeface="Times New Roman" panose="02020603050405020304" pitchFamily="18" charset="0"/>
              </a:rPr>
              <a:t>，Ｒ</a:t>
            </a:r>
            <a:r>
              <a:rPr lang="en-US" altLang="zh-CN" sz="2400" baseline="-25000">
                <a:latin typeface="Times New Roman" panose="02020603050405020304" pitchFamily="18" charset="0"/>
              </a:rPr>
              <a:t>2</a:t>
            </a:r>
            <a:r>
              <a:rPr lang="zh-CN" altLang="en-US" sz="2400">
                <a:latin typeface="Times New Roman" panose="02020603050405020304" pitchFamily="18" charset="0"/>
              </a:rPr>
              <a:t>是Ａ上等价关系，则（Ｒ</a:t>
            </a:r>
            <a:r>
              <a:rPr lang="en-US" altLang="zh-CN" sz="2400" baseline="-25000">
                <a:latin typeface="Times New Roman" panose="02020603050405020304" pitchFamily="18" charset="0"/>
              </a:rPr>
              <a:t>1</a:t>
            </a:r>
            <a:r>
              <a:rPr lang="en-US" altLang="zh-CN" sz="2400">
                <a:latin typeface="Times New Roman" panose="02020603050405020304" pitchFamily="18" charset="0"/>
              </a:rPr>
              <a:t>∪   </a:t>
            </a:r>
            <a:r>
              <a:rPr lang="zh-CN" altLang="en-US" sz="2400">
                <a:latin typeface="Times New Roman" panose="02020603050405020304" pitchFamily="18" charset="0"/>
              </a:rPr>
              <a:t>Ｒ</a:t>
            </a:r>
            <a:r>
              <a:rPr lang="en-US" altLang="zh-CN" sz="2400" baseline="-25000">
                <a:latin typeface="Times New Roman" panose="02020603050405020304" pitchFamily="18" charset="0"/>
              </a:rPr>
              <a:t>2</a:t>
            </a:r>
            <a:r>
              <a:rPr lang="zh-CN" altLang="en-US" sz="2400">
                <a:latin typeface="Times New Roman" panose="02020603050405020304" pitchFamily="18" charset="0"/>
              </a:rPr>
              <a:t>）</a:t>
            </a:r>
            <a:r>
              <a:rPr lang="zh-CN" altLang="en-US" sz="2400" baseline="30000">
                <a:latin typeface="Times New Roman" panose="02020603050405020304" pitchFamily="18" charset="0"/>
              </a:rPr>
              <a:t>*</a:t>
            </a:r>
            <a:r>
              <a:rPr lang="zh-CN" altLang="en-US" sz="2400">
                <a:latin typeface="Times New Roman" panose="02020603050405020304" pitchFamily="18" charset="0"/>
              </a:rPr>
              <a:t>也是Ａ上等价关系。</a:t>
            </a:r>
          </a:p>
        </p:txBody>
      </p:sp>
      <p:sp>
        <p:nvSpPr>
          <p:cNvPr id="6" name="Text Box 3">
            <a:extLst>
              <a:ext uri="{FF2B5EF4-FFF2-40B4-BE49-F238E27FC236}">
                <a16:creationId xmlns:a16="http://schemas.microsoft.com/office/drawing/2014/main" id="{9832C9B6-8519-410C-BB16-8CFB03D6BAC4}"/>
              </a:ext>
            </a:extLst>
          </p:cNvPr>
          <p:cNvSpPr txBox="1">
            <a:spLocks noChangeArrowheads="1"/>
          </p:cNvSpPr>
          <p:nvPr/>
        </p:nvSpPr>
        <p:spPr bwMode="auto">
          <a:xfrm>
            <a:off x="620829" y="1753517"/>
            <a:ext cx="11286764" cy="3422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spcBef>
                <a:spcPct val="0"/>
              </a:spcBef>
              <a:buFontTx/>
              <a:buNone/>
            </a:pPr>
            <a:r>
              <a:rPr lang="zh-CN" altLang="en-US" sz="2800">
                <a:latin typeface="隶书" pitchFamily="49" charset="-122"/>
                <a:ea typeface="隶书" pitchFamily="49" charset="-122"/>
              </a:rPr>
              <a:t>证明：</a:t>
            </a:r>
            <a:endParaRPr lang="zh-CN" altLang="en-US" sz="2400">
              <a:latin typeface="宋体" panose="02010600030101010101" pitchFamily="2" charset="-122"/>
            </a:endParaRPr>
          </a:p>
          <a:p>
            <a:pPr algn="just" eaLnBrk="1" hangingPunct="1">
              <a:lnSpc>
                <a:spcPct val="150000"/>
              </a:lnSpc>
              <a:spcBef>
                <a:spcPct val="0"/>
              </a:spcBef>
              <a:buFontTx/>
              <a:buNone/>
            </a:pPr>
            <a:r>
              <a:rPr lang="zh-CN" altLang="en-US" sz="2400">
                <a:latin typeface="宋体" panose="02010600030101010101" pitchFamily="2" charset="-122"/>
              </a:rPr>
              <a:t>      </a:t>
            </a:r>
            <a:r>
              <a:rPr lang="en-US" altLang="zh-CN" sz="2400">
                <a:latin typeface="宋体" panose="02010600030101010101" pitchFamily="2" charset="-122"/>
              </a:rPr>
              <a:t>(1)</a:t>
            </a:r>
            <a:r>
              <a:rPr lang="en-US" altLang="zh-CN" sz="2400">
                <a:latin typeface="宋体" panose="02010600030101010101" pitchFamily="2" charset="-122"/>
                <a:sym typeface="Symbol" panose="05050102010706020507" pitchFamily="18" charset="2"/>
              </a:rPr>
              <a:t></a:t>
            </a:r>
            <a:r>
              <a:rPr lang="zh-CN" altLang="en-US" sz="2400">
                <a:latin typeface="宋体" panose="02010600030101010101" pitchFamily="2" charset="-122"/>
              </a:rPr>
              <a:t>ａ∈Ａ，（ａ，ａ）∈（Ｒ</a:t>
            </a:r>
            <a:r>
              <a:rPr lang="en-US" altLang="zh-CN" sz="2400" baseline="-25000">
                <a:latin typeface="宋体" panose="02010600030101010101" pitchFamily="2" charset="-122"/>
              </a:rPr>
              <a:t>1</a:t>
            </a:r>
            <a:r>
              <a:rPr lang="en-US" altLang="zh-CN" sz="2400">
                <a:latin typeface="宋体" panose="02010600030101010101" pitchFamily="2" charset="-122"/>
              </a:rPr>
              <a:t>∪</a:t>
            </a:r>
            <a:r>
              <a:rPr lang="zh-CN" altLang="en-US" sz="2400">
                <a:latin typeface="宋体" panose="02010600030101010101" pitchFamily="2" charset="-122"/>
              </a:rPr>
              <a:t>Ｒ</a:t>
            </a:r>
            <a:r>
              <a:rPr lang="en-US" altLang="zh-CN" sz="2400" baseline="-25000">
                <a:latin typeface="宋体" panose="02010600030101010101" pitchFamily="2" charset="-122"/>
              </a:rPr>
              <a:t>2</a:t>
            </a:r>
            <a:r>
              <a:rPr lang="zh-CN" altLang="en-US" sz="2400">
                <a:latin typeface="宋体" panose="02010600030101010101" pitchFamily="2" charset="-122"/>
              </a:rPr>
              <a:t>）</a:t>
            </a:r>
            <a:r>
              <a:rPr lang="zh-CN" altLang="en-US" sz="2400">
                <a:latin typeface="宋体" panose="02010600030101010101" pitchFamily="2" charset="-122"/>
                <a:sym typeface="Symbol" panose="05050102010706020507" pitchFamily="18" charset="2"/>
              </a:rPr>
              <a:t></a:t>
            </a:r>
            <a:r>
              <a:rPr lang="zh-CN" altLang="en-US" sz="2400">
                <a:latin typeface="宋体" panose="02010600030101010101" pitchFamily="2" charset="-122"/>
              </a:rPr>
              <a:t>（Ｒ</a:t>
            </a:r>
            <a:r>
              <a:rPr lang="en-US" altLang="zh-CN" sz="2400" baseline="-25000">
                <a:latin typeface="宋体" panose="02010600030101010101" pitchFamily="2" charset="-122"/>
              </a:rPr>
              <a:t>1</a:t>
            </a:r>
            <a:r>
              <a:rPr lang="en-US" altLang="zh-CN" sz="2400">
                <a:latin typeface="宋体" panose="02010600030101010101" pitchFamily="2" charset="-122"/>
              </a:rPr>
              <a:t>∪</a:t>
            </a:r>
            <a:r>
              <a:rPr lang="zh-CN" altLang="en-US" sz="2400">
                <a:latin typeface="宋体" panose="02010600030101010101" pitchFamily="2" charset="-122"/>
              </a:rPr>
              <a:t>Ｒ</a:t>
            </a:r>
            <a:r>
              <a:rPr lang="en-US" altLang="zh-CN" sz="2400" baseline="-25000">
                <a:latin typeface="宋体" panose="02010600030101010101" pitchFamily="2" charset="-122"/>
              </a:rPr>
              <a:t>2</a:t>
            </a:r>
            <a:r>
              <a:rPr lang="zh-CN" altLang="en-US" sz="2400">
                <a:latin typeface="宋体" panose="02010600030101010101" pitchFamily="2" charset="-122"/>
              </a:rPr>
              <a:t>）</a:t>
            </a:r>
            <a:r>
              <a:rPr lang="zh-CN" altLang="en-US" sz="2400" baseline="42000">
                <a:latin typeface="宋体" panose="02010600030101010101" pitchFamily="2" charset="-122"/>
              </a:rPr>
              <a:t>*</a:t>
            </a:r>
            <a:endParaRPr lang="zh-CN" altLang="en-US" sz="2400">
              <a:latin typeface="宋体" panose="02010600030101010101" pitchFamily="2" charset="-122"/>
            </a:endParaRPr>
          </a:p>
          <a:p>
            <a:pPr algn="just" eaLnBrk="1" hangingPunct="1">
              <a:lnSpc>
                <a:spcPct val="150000"/>
              </a:lnSpc>
              <a:spcBef>
                <a:spcPct val="0"/>
              </a:spcBef>
              <a:buFontTx/>
              <a:buNone/>
            </a:pPr>
            <a:r>
              <a:rPr lang="zh-CN" altLang="en-US" sz="2400">
                <a:latin typeface="宋体" panose="02010600030101010101" pitchFamily="2" charset="-122"/>
              </a:rPr>
              <a:t>      </a:t>
            </a:r>
            <a:r>
              <a:rPr lang="en-US" altLang="zh-CN" sz="2400">
                <a:latin typeface="宋体" panose="02010600030101010101" pitchFamily="2" charset="-122"/>
              </a:rPr>
              <a:t>(2)</a:t>
            </a:r>
            <a:r>
              <a:rPr lang="zh-CN" altLang="en-US" sz="2400">
                <a:latin typeface="宋体" panose="02010600030101010101" pitchFamily="2" charset="-122"/>
              </a:rPr>
              <a:t>（Ｒ</a:t>
            </a:r>
            <a:r>
              <a:rPr lang="en-US" altLang="zh-CN" sz="2400" baseline="-25000">
                <a:latin typeface="宋体" panose="02010600030101010101" pitchFamily="2" charset="-122"/>
              </a:rPr>
              <a:t>1</a:t>
            </a:r>
            <a:r>
              <a:rPr lang="en-US" altLang="zh-CN" sz="2400">
                <a:latin typeface="宋体" panose="02010600030101010101" pitchFamily="2" charset="-122"/>
              </a:rPr>
              <a:t>∪</a:t>
            </a:r>
            <a:r>
              <a:rPr lang="zh-CN" altLang="en-US" sz="2400">
                <a:latin typeface="宋体" panose="02010600030101010101" pitchFamily="2" charset="-122"/>
              </a:rPr>
              <a:t>Ｒ</a:t>
            </a:r>
            <a:r>
              <a:rPr lang="en-US" altLang="zh-CN" sz="2400" baseline="-25000">
                <a:latin typeface="宋体" panose="02010600030101010101" pitchFamily="2" charset="-122"/>
              </a:rPr>
              <a:t>2</a:t>
            </a:r>
            <a:r>
              <a:rPr lang="zh-CN" altLang="en-US" sz="2400">
                <a:latin typeface="宋体" panose="02010600030101010101" pitchFamily="2" charset="-122"/>
              </a:rPr>
              <a:t>）是对称的，只需证明对称的二元关系的传递扩张还是对称的。</a:t>
            </a:r>
          </a:p>
          <a:p>
            <a:pPr algn="just" eaLnBrk="1" hangingPunct="1">
              <a:lnSpc>
                <a:spcPct val="150000"/>
              </a:lnSpc>
              <a:spcBef>
                <a:spcPct val="0"/>
              </a:spcBef>
              <a:buFontTx/>
              <a:buNone/>
            </a:pPr>
            <a:r>
              <a:rPr lang="zh-CN" altLang="en-US" sz="2400">
                <a:latin typeface="宋体" panose="02010600030101010101" pitchFamily="2" charset="-122"/>
              </a:rPr>
              <a:t>      设Ｒ是Ａ上对称的二元关系，Ｒ</a:t>
            </a:r>
            <a:r>
              <a:rPr lang="en-US" altLang="zh-CN" sz="2400" baseline="-25000">
                <a:latin typeface="宋体" panose="02010600030101010101" pitchFamily="2" charset="-122"/>
              </a:rPr>
              <a:t>1</a:t>
            </a:r>
            <a:r>
              <a:rPr lang="zh-CN" altLang="en-US" sz="2400">
                <a:latin typeface="宋体" panose="02010600030101010101" pitchFamily="2" charset="-122"/>
              </a:rPr>
              <a:t>是Ｒ的传递扩张，若（ａ，ｂ）∈Ｒ</a:t>
            </a:r>
            <a:r>
              <a:rPr lang="en-US" altLang="zh-CN" sz="2400" baseline="-25000">
                <a:latin typeface="宋体" panose="02010600030101010101" pitchFamily="2" charset="-122"/>
              </a:rPr>
              <a:t>1</a:t>
            </a:r>
            <a:r>
              <a:rPr lang="zh-CN" altLang="en-US" sz="2400">
                <a:latin typeface="宋体" panose="02010600030101010101" pitchFamily="2" charset="-122"/>
              </a:rPr>
              <a:t>，则（ａ，ｂ）∈Ｒ或（ａ，ｂ）∈Ｒ</a:t>
            </a:r>
            <a:r>
              <a:rPr lang="en-US" altLang="zh-CN" sz="2400">
                <a:latin typeface="Courier New" panose="02070309020205020404" pitchFamily="49" charset="0"/>
              </a:rPr>
              <a:t>·</a:t>
            </a:r>
            <a:r>
              <a:rPr lang="zh-CN" altLang="en-US" sz="2400">
                <a:latin typeface="宋体" panose="02010600030101010101" pitchFamily="2" charset="-122"/>
              </a:rPr>
              <a:t>Ｒ，</a:t>
            </a:r>
          </a:p>
          <a:p>
            <a:pPr algn="just" eaLnBrk="1" hangingPunct="1">
              <a:lnSpc>
                <a:spcPct val="150000"/>
              </a:lnSpc>
              <a:spcBef>
                <a:spcPct val="0"/>
              </a:spcBef>
              <a:buFontTx/>
              <a:buNone/>
            </a:pPr>
            <a:r>
              <a:rPr lang="zh-CN" altLang="en-US" sz="2400">
                <a:latin typeface="宋体" panose="02010600030101010101" pitchFamily="2" charset="-122"/>
              </a:rPr>
              <a:t>      </a:t>
            </a:r>
            <a:r>
              <a:rPr lang="en-US" altLang="zh-CN" sz="2400">
                <a:latin typeface="宋体" panose="02010600030101010101" pitchFamily="2" charset="-122"/>
              </a:rPr>
              <a:t>a. </a:t>
            </a:r>
            <a:r>
              <a:rPr lang="zh-CN" altLang="en-US" sz="2400">
                <a:latin typeface="宋体" panose="02010600030101010101" pitchFamily="2" charset="-122"/>
              </a:rPr>
              <a:t>若（ａ，ｂ）∈Ｒ，（ｂ，ａ）∈Ｒ，故</a:t>
            </a:r>
            <a:r>
              <a:rPr lang="en-US" altLang="zh-CN" sz="2400">
                <a:latin typeface="宋体" panose="02010600030101010101" pitchFamily="2" charset="-122"/>
              </a:rPr>
              <a:t>(</a:t>
            </a:r>
            <a:r>
              <a:rPr lang="zh-CN" altLang="en-US" sz="2400">
                <a:latin typeface="宋体" panose="02010600030101010101" pitchFamily="2" charset="-122"/>
              </a:rPr>
              <a:t>ｂ，ａ</a:t>
            </a:r>
            <a:r>
              <a:rPr lang="en-US" altLang="zh-CN" sz="2400">
                <a:latin typeface="宋体" panose="02010600030101010101" pitchFamily="2" charset="-122"/>
              </a:rPr>
              <a:t>)∈</a:t>
            </a:r>
            <a:r>
              <a:rPr lang="zh-CN" altLang="en-US" sz="2400">
                <a:latin typeface="宋体" panose="02010600030101010101" pitchFamily="2" charset="-122"/>
              </a:rPr>
              <a:t>Ｒ</a:t>
            </a:r>
            <a:r>
              <a:rPr lang="en-US" altLang="zh-CN" sz="2400" baseline="-25000">
                <a:latin typeface="宋体" panose="02010600030101010101" pitchFamily="2" charset="-122"/>
              </a:rPr>
              <a:t>1</a:t>
            </a:r>
            <a:r>
              <a:rPr lang="en-US" altLang="zh-CN" sz="2400" b="1" baseline="-25000">
                <a:latin typeface="宋体" panose="02010600030101010101" pitchFamily="2" charset="-122"/>
              </a:rPr>
              <a:t>;</a:t>
            </a:r>
            <a:endParaRPr lang="en-US" altLang="zh-CN" sz="2400">
              <a:latin typeface="宋体" panose="02010600030101010101" pitchFamily="2" charset="-122"/>
            </a:endParaRPr>
          </a:p>
        </p:txBody>
      </p:sp>
      <p:sp>
        <p:nvSpPr>
          <p:cNvPr id="5" name="文本框 4">
            <a:extLst>
              <a:ext uri="{FF2B5EF4-FFF2-40B4-BE49-F238E27FC236}">
                <a16:creationId xmlns:a16="http://schemas.microsoft.com/office/drawing/2014/main" id="{1A0444E6-64AC-4BB4-A0E2-B0D34C72AF19}"/>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9.5.5 Operation of Equivalence Relation*</a:t>
            </a:r>
            <a:endParaRPr lang="en-US" altLang="zh-CN" sz="3200" dirty="0"/>
          </a:p>
        </p:txBody>
      </p:sp>
    </p:spTree>
    <p:extLst>
      <p:ext uri="{BB962C8B-B14F-4D97-AF65-F5344CB8AC3E}">
        <p14:creationId xmlns:p14="http://schemas.microsoft.com/office/powerpoint/2010/main" val="715630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6" grpId="0"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2">
            <a:extLst>
              <a:ext uri="{FF2B5EF4-FFF2-40B4-BE49-F238E27FC236}">
                <a16:creationId xmlns:a16="http://schemas.microsoft.com/office/drawing/2014/main" id="{51572A6D-40F1-4569-98C8-04197C298F76}"/>
              </a:ext>
            </a:extLst>
          </p:cNvPr>
          <p:cNvSpPr txBox="1">
            <a:spLocks noChangeArrowheads="1"/>
          </p:cNvSpPr>
          <p:nvPr/>
        </p:nvSpPr>
        <p:spPr bwMode="auto">
          <a:xfrm>
            <a:off x="210046" y="2818467"/>
            <a:ext cx="11412994" cy="2792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spcBef>
                <a:spcPct val="0"/>
              </a:spcBef>
              <a:buFontTx/>
              <a:buNone/>
            </a:pPr>
            <a:r>
              <a:rPr lang="en-US" altLang="zh-CN" sz="2400">
                <a:latin typeface="宋体" panose="02010600030101010101" pitchFamily="2" charset="-122"/>
              </a:rPr>
              <a:t>  </a:t>
            </a:r>
            <a:r>
              <a:rPr lang="zh-CN" altLang="en-US" sz="2400">
                <a:latin typeface="宋体" panose="02010600030101010101" pitchFamily="2" charset="-122"/>
              </a:rPr>
              <a:t>由</a:t>
            </a:r>
            <a:r>
              <a:rPr lang="zh-CN" altLang="en-US" sz="2400" dirty="0">
                <a:latin typeface="宋体" panose="02010600030101010101" pitchFamily="2" charset="-122"/>
              </a:rPr>
              <a:t>（Ｒ</a:t>
            </a:r>
            <a:r>
              <a:rPr lang="en-US" altLang="zh-CN" sz="2400" baseline="-25000" dirty="0">
                <a:latin typeface="宋体" panose="02010600030101010101" pitchFamily="2" charset="-122"/>
              </a:rPr>
              <a:t>1</a:t>
            </a:r>
            <a:r>
              <a:rPr lang="en-US" altLang="zh-CN" sz="2400" dirty="0">
                <a:latin typeface="宋体" panose="02010600030101010101" pitchFamily="2" charset="-122"/>
              </a:rPr>
              <a:t>∪</a:t>
            </a:r>
            <a:r>
              <a:rPr lang="zh-CN" altLang="en-US" sz="2400" dirty="0">
                <a:latin typeface="宋体" panose="02010600030101010101" pitchFamily="2" charset="-122"/>
              </a:rPr>
              <a:t>Ｒ</a:t>
            </a:r>
            <a:r>
              <a:rPr lang="en-US" altLang="zh-CN" sz="2400" baseline="-25000" dirty="0">
                <a:latin typeface="宋体" panose="02010600030101010101" pitchFamily="2" charset="-122"/>
              </a:rPr>
              <a:t>2</a:t>
            </a:r>
            <a:r>
              <a:rPr lang="zh-CN" altLang="en-US" sz="2400" dirty="0">
                <a:latin typeface="宋体" panose="02010600030101010101" pitchFamily="2" charset="-122"/>
              </a:rPr>
              <a:t>）对称</a:t>
            </a:r>
            <a:r>
              <a:rPr lang="zh-CN" altLang="en-US" sz="2400" dirty="0">
                <a:latin typeface="宋体" panose="02010600030101010101" pitchFamily="2" charset="-122"/>
                <a:sym typeface="Symbol" panose="05050102010706020507" pitchFamily="18" charset="2"/>
              </a:rPr>
              <a:t></a:t>
            </a:r>
            <a:r>
              <a:rPr lang="zh-CN" altLang="en-US" sz="2400" dirty="0">
                <a:latin typeface="宋体" panose="02010600030101010101" pitchFamily="2" charset="-122"/>
              </a:rPr>
              <a:t>（Ｒ</a:t>
            </a:r>
            <a:r>
              <a:rPr lang="en-US" altLang="zh-CN" sz="2400" baseline="-25000" dirty="0">
                <a:latin typeface="宋体" panose="02010600030101010101" pitchFamily="2" charset="-122"/>
              </a:rPr>
              <a:t>1</a:t>
            </a:r>
            <a:r>
              <a:rPr lang="en-US" altLang="zh-CN" sz="2400" dirty="0">
                <a:latin typeface="宋体" panose="02010600030101010101" pitchFamily="2" charset="-122"/>
              </a:rPr>
              <a:t>∪</a:t>
            </a:r>
            <a:r>
              <a:rPr lang="zh-CN" altLang="en-US" sz="2400" dirty="0">
                <a:latin typeface="宋体" panose="02010600030101010101" pitchFamily="2" charset="-122"/>
              </a:rPr>
              <a:t>Ｒ</a:t>
            </a:r>
            <a:r>
              <a:rPr lang="en-US" altLang="zh-CN" sz="2400" baseline="-25000" dirty="0">
                <a:latin typeface="宋体" panose="02010600030101010101" pitchFamily="2" charset="-122"/>
              </a:rPr>
              <a:t>2</a:t>
            </a:r>
            <a:r>
              <a:rPr lang="zh-CN" altLang="en-US" sz="2400" dirty="0">
                <a:latin typeface="宋体" panose="02010600030101010101" pitchFamily="2" charset="-122"/>
              </a:rPr>
              <a:t>）</a:t>
            </a:r>
            <a:r>
              <a:rPr lang="en-US" altLang="zh-CN" sz="2400" baseline="-25000" dirty="0">
                <a:latin typeface="宋体" panose="02010600030101010101" pitchFamily="2" charset="-122"/>
              </a:rPr>
              <a:t>1</a:t>
            </a:r>
            <a:r>
              <a:rPr lang="zh-CN" altLang="en-US" sz="2400" dirty="0">
                <a:latin typeface="宋体" panose="02010600030101010101" pitchFamily="2" charset="-122"/>
              </a:rPr>
              <a:t>也对称</a:t>
            </a:r>
            <a:r>
              <a:rPr lang="zh-CN" altLang="en-US" sz="2400">
                <a:latin typeface="宋体" panose="02010600030101010101" pitchFamily="2" charset="-122"/>
              </a:rPr>
              <a:t>，</a:t>
            </a:r>
            <a:r>
              <a:rPr lang="en-US" altLang="zh-CN" sz="2400">
                <a:latin typeface="Courier New" panose="02070309020205020404" pitchFamily="49" charset="0"/>
              </a:rPr>
              <a:t>…</a:t>
            </a:r>
            <a:r>
              <a:rPr lang="zh-CN" altLang="en-US" sz="2400">
                <a:latin typeface="宋体" panose="02010600030101010101" pitchFamily="2" charset="-122"/>
              </a:rPr>
              <a:t>，对任一ｋ，（Ｒ</a:t>
            </a:r>
            <a:r>
              <a:rPr lang="en-US" altLang="zh-CN" sz="2400" baseline="-25000">
                <a:latin typeface="宋体" panose="02010600030101010101" pitchFamily="2" charset="-122"/>
              </a:rPr>
              <a:t>1</a:t>
            </a:r>
            <a:r>
              <a:rPr lang="en-US" altLang="zh-CN" sz="2400">
                <a:latin typeface="宋体" panose="02010600030101010101" pitchFamily="2" charset="-122"/>
              </a:rPr>
              <a:t>∪</a:t>
            </a:r>
            <a:r>
              <a:rPr lang="zh-CN" altLang="en-US" sz="2400">
                <a:latin typeface="宋体" panose="02010600030101010101" pitchFamily="2" charset="-122"/>
              </a:rPr>
              <a:t>Ｒ</a:t>
            </a:r>
            <a:r>
              <a:rPr lang="en-US" altLang="zh-CN" sz="2400" baseline="-25000">
                <a:latin typeface="宋体" panose="02010600030101010101" pitchFamily="2" charset="-122"/>
              </a:rPr>
              <a:t>2</a:t>
            </a:r>
            <a:r>
              <a:rPr lang="zh-CN" altLang="en-US" sz="2400">
                <a:latin typeface="宋体" panose="02010600030101010101" pitchFamily="2" charset="-122"/>
              </a:rPr>
              <a:t>）</a:t>
            </a:r>
            <a:r>
              <a:rPr lang="en-US" altLang="zh-CN" sz="2400" baseline="-25000">
                <a:latin typeface="宋体" panose="02010600030101010101" pitchFamily="2" charset="-122"/>
              </a:rPr>
              <a:t>k</a:t>
            </a:r>
            <a:r>
              <a:rPr lang="zh-CN" altLang="en-US" sz="2400">
                <a:latin typeface="宋体" panose="02010600030101010101" pitchFamily="2" charset="-122"/>
              </a:rPr>
              <a:t>也对称。</a:t>
            </a:r>
          </a:p>
          <a:p>
            <a:pPr algn="just" eaLnBrk="1" hangingPunct="1">
              <a:lnSpc>
                <a:spcPct val="150000"/>
              </a:lnSpc>
              <a:spcBef>
                <a:spcPct val="0"/>
              </a:spcBef>
              <a:buFontTx/>
              <a:buNone/>
            </a:pPr>
            <a:r>
              <a:rPr lang="zh-CN" altLang="en-US" sz="2400">
                <a:latin typeface="宋体" panose="02010600030101010101" pitchFamily="2" charset="-122"/>
              </a:rPr>
              <a:t>  </a:t>
            </a:r>
            <a:r>
              <a:rPr lang="zh-CN" altLang="en-US" sz="2400" dirty="0">
                <a:latin typeface="宋体" panose="02010600030101010101" pitchFamily="2" charset="-122"/>
              </a:rPr>
              <a:t>若（ａ，ｂ）∈（Ｒ</a:t>
            </a:r>
            <a:r>
              <a:rPr lang="en-US" altLang="zh-CN" sz="2400" baseline="-25000" dirty="0">
                <a:latin typeface="宋体" panose="02010600030101010101" pitchFamily="2" charset="-122"/>
              </a:rPr>
              <a:t>1</a:t>
            </a:r>
            <a:r>
              <a:rPr lang="en-US" altLang="zh-CN" sz="2400" dirty="0">
                <a:latin typeface="宋体" panose="02010600030101010101" pitchFamily="2" charset="-122"/>
              </a:rPr>
              <a:t>∪</a:t>
            </a:r>
            <a:r>
              <a:rPr lang="zh-CN" altLang="en-US" sz="2400" dirty="0">
                <a:latin typeface="宋体" panose="02010600030101010101" pitchFamily="2" charset="-122"/>
              </a:rPr>
              <a:t>Ｒ</a:t>
            </a:r>
            <a:r>
              <a:rPr lang="en-US" altLang="zh-CN" sz="2400" baseline="-25000" dirty="0">
                <a:latin typeface="宋体" panose="02010600030101010101" pitchFamily="2" charset="-122"/>
              </a:rPr>
              <a:t>2</a:t>
            </a:r>
            <a:r>
              <a:rPr lang="zh-CN" altLang="en-US" sz="2400" dirty="0">
                <a:latin typeface="宋体" panose="02010600030101010101" pitchFamily="2" charset="-122"/>
              </a:rPr>
              <a:t>）</a:t>
            </a:r>
            <a:r>
              <a:rPr lang="zh-CN" altLang="en-US" sz="2400" baseline="30000" dirty="0">
                <a:latin typeface="宋体" panose="02010600030101010101" pitchFamily="2" charset="-122"/>
              </a:rPr>
              <a:t>*</a:t>
            </a:r>
            <a:r>
              <a:rPr lang="zh-CN" altLang="en-US" sz="2400" dirty="0">
                <a:latin typeface="宋体" panose="02010600030101010101" pitchFamily="2" charset="-122"/>
              </a:rPr>
              <a:t>，则</a:t>
            </a:r>
            <a:r>
              <a:rPr lang="zh-CN" altLang="en-US" sz="2400">
                <a:latin typeface="宋体" panose="02010600030101010101" pitchFamily="2" charset="-122"/>
                <a:sym typeface="Symbol" panose="05050102010706020507" pitchFamily="18" charset="2"/>
              </a:rPr>
              <a:t></a:t>
            </a:r>
            <a:r>
              <a:rPr lang="zh-CN" altLang="en-US" sz="2400">
                <a:latin typeface="宋体" panose="02010600030101010101" pitchFamily="2" charset="-122"/>
              </a:rPr>
              <a:t>ｋ，使</a:t>
            </a:r>
            <a:r>
              <a:rPr lang="zh-CN" altLang="en-US" sz="2400" dirty="0">
                <a:latin typeface="宋体" panose="02010600030101010101" pitchFamily="2" charset="-122"/>
              </a:rPr>
              <a:t>（ａ，ｂ）∈（Ｒ</a:t>
            </a:r>
            <a:r>
              <a:rPr lang="en-US" altLang="zh-CN" sz="2400" baseline="-25000" dirty="0">
                <a:latin typeface="宋体" panose="02010600030101010101" pitchFamily="2" charset="-122"/>
              </a:rPr>
              <a:t>1</a:t>
            </a:r>
            <a:r>
              <a:rPr lang="en-US" altLang="zh-CN" sz="2400" dirty="0">
                <a:latin typeface="宋体" panose="02010600030101010101" pitchFamily="2" charset="-122"/>
              </a:rPr>
              <a:t>∪</a:t>
            </a:r>
            <a:r>
              <a:rPr lang="zh-CN" altLang="en-US" sz="2400" dirty="0">
                <a:latin typeface="宋体" panose="02010600030101010101" pitchFamily="2" charset="-122"/>
              </a:rPr>
              <a:t>Ｒ</a:t>
            </a:r>
            <a:r>
              <a:rPr lang="en-US" altLang="zh-CN" sz="2400" baseline="-25000" dirty="0">
                <a:latin typeface="宋体" panose="02010600030101010101" pitchFamily="2" charset="-122"/>
              </a:rPr>
              <a:t>2</a:t>
            </a:r>
            <a:r>
              <a:rPr lang="zh-CN" altLang="en-US" sz="2400" dirty="0">
                <a:latin typeface="宋体" panose="02010600030101010101" pitchFamily="2" charset="-122"/>
              </a:rPr>
              <a:t>）</a:t>
            </a:r>
            <a:r>
              <a:rPr lang="en-US" altLang="zh-CN" sz="2400" baseline="-25000" dirty="0">
                <a:latin typeface="宋体" panose="02010600030101010101" pitchFamily="2" charset="-122"/>
              </a:rPr>
              <a:t>k</a:t>
            </a:r>
            <a:r>
              <a:rPr lang="zh-CN" altLang="en-US" sz="2400" dirty="0">
                <a:latin typeface="宋体" panose="02010600030101010101" pitchFamily="2" charset="-122"/>
              </a:rPr>
              <a:t>，</a:t>
            </a:r>
          </a:p>
          <a:p>
            <a:pPr algn="just" eaLnBrk="1" hangingPunct="1">
              <a:lnSpc>
                <a:spcPct val="150000"/>
              </a:lnSpc>
              <a:spcBef>
                <a:spcPct val="0"/>
              </a:spcBef>
              <a:buFontTx/>
              <a:buNone/>
            </a:pPr>
            <a:r>
              <a:rPr lang="zh-CN" altLang="en-US" sz="2400" dirty="0">
                <a:latin typeface="宋体" panose="02010600030101010101" pitchFamily="2" charset="-122"/>
              </a:rPr>
              <a:t>  故（ｂ，ａ）∈（Ｒ</a:t>
            </a:r>
            <a:r>
              <a:rPr lang="en-US" altLang="zh-CN" sz="2400" baseline="-25000" dirty="0">
                <a:latin typeface="宋体" panose="02010600030101010101" pitchFamily="2" charset="-122"/>
              </a:rPr>
              <a:t>1</a:t>
            </a:r>
            <a:r>
              <a:rPr lang="en-US" altLang="zh-CN" sz="2400" dirty="0">
                <a:latin typeface="宋体" panose="02010600030101010101" pitchFamily="2" charset="-122"/>
              </a:rPr>
              <a:t>∪</a:t>
            </a:r>
            <a:r>
              <a:rPr lang="zh-CN" altLang="en-US" sz="2400" dirty="0">
                <a:latin typeface="宋体" panose="02010600030101010101" pitchFamily="2" charset="-122"/>
              </a:rPr>
              <a:t>Ｒ</a:t>
            </a:r>
            <a:r>
              <a:rPr lang="en-US" altLang="zh-CN" sz="2400" baseline="-25000" dirty="0">
                <a:latin typeface="宋体" panose="02010600030101010101" pitchFamily="2" charset="-122"/>
              </a:rPr>
              <a:t>2</a:t>
            </a:r>
            <a:r>
              <a:rPr lang="zh-CN" altLang="en-US" sz="2400" dirty="0">
                <a:latin typeface="宋体" panose="02010600030101010101" pitchFamily="2" charset="-122"/>
              </a:rPr>
              <a:t>）</a:t>
            </a:r>
            <a:r>
              <a:rPr lang="en-US" altLang="zh-CN" sz="2400" baseline="-25000" dirty="0">
                <a:latin typeface="宋体" panose="02010600030101010101" pitchFamily="2" charset="-122"/>
              </a:rPr>
              <a:t>k </a:t>
            </a:r>
            <a:r>
              <a:rPr lang="en-US" altLang="zh-CN" sz="2400" dirty="0">
                <a:latin typeface="宋体" panose="02010600030101010101" pitchFamily="2" charset="-122"/>
                <a:sym typeface="Symbol" panose="05050102010706020507" pitchFamily="18" charset="2"/>
              </a:rPr>
              <a:t></a:t>
            </a:r>
            <a:r>
              <a:rPr lang="en-US" altLang="zh-CN" sz="2400" baseline="-25000" dirty="0">
                <a:latin typeface="宋体" panose="02010600030101010101" pitchFamily="2" charset="-122"/>
              </a:rPr>
              <a:t> </a:t>
            </a:r>
            <a:r>
              <a:rPr lang="zh-CN" altLang="en-US" sz="2400" dirty="0">
                <a:latin typeface="宋体" panose="02010600030101010101" pitchFamily="2" charset="-122"/>
              </a:rPr>
              <a:t>（Ｒ</a:t>
            </a:r>
            <a:r>
              <a:rPr lang="en-US" altLang="zh-CN" sz="2400" baseline="-25000" dirty="0">
                <a:latin typeface="宋体" panose="02010600030101010101" pitchFamily="2" charset="-122"/>
              </a:rPr>
              <a:t>1</a:t>
            </a:r>
            <a:r>
              <a:rPr lang="en-US" altLang="zh-CN" sz="2400" dirty="0">
                <a:latin typeface="宋体" panose="02010600030101010101" pitchFamily="2" charset="-122"/>
              </a:rPr>
              <a:t>∪</a:t>
            </a:r>
            <a:r>
              <a:rPr lang="zh-CN" altLang="en-US" sz="2400" dirty="0">
                <a:latin typeface="宋体" panose="02010600030101010101" pitchFamily="2" charset="-122"/>
              </a:rPr>
              <a:t>Ｒ</a:t>
            </a:r>
            <a:r>
              <a:rPr lang="en-US" altLang="zh-CN" sz="2400" baseline="-25000" dirty="0">
                <a:latin typeface="宋体" panose="02010600030101010101" pitchFamily="2" charset="-122"/>
              </a:rPr>
              <a:t>2</a:t>
            </a:r>
            <a:r>
              <a:rPr lang="zh-CN" altLang="en-US" sz="2400" dirty="0">
                <a:latin typeface="宋体" panose="02010600030101010101" pitchFamily="2" charset="-122"/>
              </a:rPr>
              <a:t>）</a:t>
            </a:r>
            <a:r>
              <a:rPr lang="zh-CN" altLang="en-US" sz="2400" baseline="30000">
                <a:latin typeface="宋体" panose="02010600030101010101" pitchFamily="2" charset="-122"/>
              </a:rPr>
              <a:t>*</a:t>
            </a:r>
            <a:r>
              <a:rPr lang="zh-CN" altLang="en-US" sz="2400">
                <a:latin typeface="宋体" panose="02010600030101010101" pitchFamily="2" charset="-122"/>
              </a:rPr>
              <a:t>，于是</a:t>
            </a:r>
            <a:r>
              <a:rPr lang="zh-CN" altLang="en-US" sz="2400" dirty="0">
                <a:latin typeface="宋体" panose="02010600030101010101" pitchFamily="2" charset="-122"/>
              </a:rPr>
              <a:t>（Ｒ</a:t>
            </a:r>
            <a:r>
              <a:rPr lang="en-US" altLang="zh-CN" sz="2400" baseline="-25000" dirty="0">
                <a:latin typeface="宋体" panose="02010600030101010101" pitchFamily="2" charset="-122"/>
              </a:rPr>
              <a:t>1</a:t>
            </a:r>
            <a:r>
              <a:rPr lang="en-US" altLang="zh-CN" sz="2400" dirty="0">
                <a:latin typeface="宋体" panose="02010600030101010101" pitchFamily="2" charset="-122"/>
              </a:rPr>
              <a:t>∪</a:t>
            </a:r>
            <a:r>
              <a:rPr lang="zh-CN" altLang="en-US" sz="2400" dirty="0">
                <a:latin typeface="宋体" panose="02010600030101010101" pitchFamily="2" charset="-122"/>
              </a:rPr>
              <a:t>Ｒ</a:t>
            </a:r>
            <a:r>
              <a:rPr lang="en-US" altLang="zh-CN" sz="2400" baseline="-25000" dirty="0">
                <a:latin typeface="宋体" panose="02010600030101010101" pitchFamily="2" charset="-122"/>
              </a:rPr>
              <a:t>2</a:t>
            </a:r>
            <a:r>
              <a:rPr lang="zh-CN" altLang="en-US" sz="2400" dirty="0">
                <a:latin typeface="宋体" panose="02010600030101010101" pitchFamily="2" charset="-122"/>
              </a:rPr>
              <a:t>）</a:t>
            </a:r>
            <a:r>
              <a:rPr lang="zh-CN" altLang="en-US" sz="2400" baseline="30000" dirty="0">
                <a:latin typeface="宋体" panose="02010600030101010101" pitchFamily="2" charset="-122"/>
              </a:rPr>
              <a:t>*</a:t>
            </a:r>
            <a:r>
              <a:rPr lang="zh-CN" altLang="en-US" sz="2400" dirty="0">
                <a:latin typeface="宋体" panose="02010600030101010101" pitchFamily="2" charset="-122"/>
              </a:rPr>
              <a:t>是对称</a:t>
            </a:r>
            <a:r>
              <a:rPr lang="zh-CN" altLang="en-US" sz="2400">
                <a:latin typeface="宋体" panose="02010600030101010101" pitchFamily="2" charset="-122"/>
              </a:rPr>
              <a:t>的。</a:t>
            </a:r>
            <a:endParaRPr lang="en-US" altLang="zh-CN" sz="2400">
              <a:latin typeface="宋体" panose="02010600030101010101" pitchFamily="2" charset="-122"/>
            </a:endParaRPr>
          </a:p>
          <a:p>
            <a:pPr algn="just" eaLnBrk="1" hangingPunct="1">
              <a:lnSpc>
                <a:spcPct val="150000"/>
              </a:lnSpc>
              <a:spcBef>
                <a:spcPct val="0"/>
              </a:spcBef>
              <a:buFontTx/>
              <a:buNone/>
            </a:pPr>
            <a:endParaRPr lang="zh-CN" altLang="en-US" sz="2400" dirty="0">
              <a:latin typeface="宋体" panose="02010600030101010101" pitchFamily="2" charset="-122"/>
            </a:endParaRPr>
          </a:p>
          <a:p>
            <a:pPr algn="just">
              <a:lnSpc>
                <a:spcPct val="150000"/>
              </a:lnSpc>
              <a:spcBef>
                <a:spcPct val="0"/>
              </a:spcBef>
              <a:buNone/>
            </a:pPr>
            <a:r>
              <a:rPr lang="en-US" altLang="zh-CN" sz="2400">
                <a:latin typeface="宋体" panose="02010600030101010101" pitchFamily="2" charset="-122"/>
              </a:rPr>
              <a:t>  (3)</a:t>
            </a:r>
            <a:r>
              <a:rPr lang="zh-CN" altLang="en-US" sz="2400">
                <a:latin typeface="宋体" panose="02010600030101010101" pitchFamily="2" charset="-122"/>
              </a:rPr>
              <a:t>任</a:t>
            </a:r>
            <a:r>
              <a:rPr lang="zh-CN" altLang="en-US" sz="2400" dirty="0">
                <a:latin typeface="宋体" panose="02010600030101010101" pitchFamily="2" charset="-122"/>
              </a:rPr>
              <a:t>一传递闭包都</a:t>
            </a:r>
            <a:r>
              <a:rPr lang="zh-CN" altLang="en-US" sz="2400">
                <a:latin typeface="宋体" panose="02010600030101010101" pitchFamily="2" charset="-122"/>
              </a:rPr>
              <a:t>具有传递性</a:t>
            </a:r>
            <a:r>
              <a:rPr lang="en-US" altLang="zh-CN" sz="2400">
                <a:latin typeface="宋体" panose="02010600030101010101" pitchFamily="2" charset="-122"/>
              </a:rPr>
              <a:t>,</a:t>
            </a:r>
            <a:r>
              <a:rPr lang="zh-CN" altLang="en-US" sz="2400">
                <a:latin typeface="宋体" panose="02010600030101010101" pitchFamily="2" charset="-122"/>
              </a:rPr>
              <a:t>即证。</a:t>
            </a:r>
            <a:endParaRPr lang="zh-CN" altLang="en-US" sz="2400" dirty="0">
              <a:latin typeface="Times New Roman" panose="02020603050405020304" pitchFamily="18" charset="0"/>
            </a:endParaRPr>
          </a:p>
        </p:txBody>
      </p:sp>
      <p:sp>
        <p:nvSpPr>
          <p:cNvPr id="9" name="Text Box 3">
            <a:extLst>
              <a:ext uri="{FF2B5EF4-FFF2-40B4-BE49-F238E27FC236}">
                <a16:creationId xmlns:a16="http://schemas.microsoft.com/office/drawing/2014/main" id="{2179C66A-38AF-40C2-A44D-0E91C21E3287}"/>
              </a:ext>
            </a:extLst>
          </p:cNvPr>
          <p:cNvSpPr txBox="1">
            <a:spLocks noChangeArrowheads="1"/>
          </p:cNvSpPr>
          <p:nvPr/>
        </p:nvSpPr>
        <p:spPr bwMode="auto">
          <a:xfrm>
            <a:off x="743446" y="879475"/>
            <a:ext cx="1052307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a:latin typeface="宋体" panose="02010600030101010101" pitchFamily="2" charset="-122"/>
              </a:rPr>
              <a:t>b. </a:t>
            </a:r>
            <a:r>
              <a:rPr lang="zh-CN" altLang="en-US" sz="2400">
                <a:latin typeface="宋体" panose="02010600030101010101" pitchFamily="2" charset="-122"/>
              </a:rPr>
              <a:t>若（ａ，ｂ）∈Ｒ</a:t>
            </a:r>
            <a:r>
              <a:rPr lang="en-US" altLang="zh-CN" sz="2400">
                <a:latin typeface="Courier New" panose="02070309020205020404" pitchFamily="49" charset="0"/>
              </a:rPr>
              <a:t>·</a:t>
            </a:r>
            <a:r>
              <a:rPr lang="zh-CN" altLang="en-US" sz="2400">
                <a:latin typeface="宋体" panose="02010600030101010101" pitchFamily="2" charset="-122"/>
              </a:rPr>
              <a:t>Ｒ，则</a:t>
            </a:r>
            <a:r>
              <a:rPr lang="zh-CN" altLang="en-US" sz="2400">
                <a:latin typeface="宋体" panose="02010600030101010101" pitchFamily="2" charset="-122"/>
                <a:sym typeface="Symbol" panose="05050102010706020507" pitchFamily="18" charset="2"/>
              </a:rPr>
              <a:t></a:t>
            </a:r>
            <a:r>
              <a:rPr lang="zh-CN" altLang="en-US" sz="2400">
                <a:latin typeface="宋体" panose="02010600030101010101" pitchFamily="2" charset="-122"/>
              </a:rPr>
              <a:t>ｃ，使</a:t>
            </a:r>
          </a:p>
          <a:p>
            <a:pPr eaLnBrk="1" hangingPunct="1">
              <a:spcBef>
                <a:spcPct val="0"/>
              </a:spcBef>
              <a:buFontTx/>
              <a:buNone/>
            </a:pPr>
            <a:r>
              <a:rPr lang="zh-CN" altLang="en-US" sz="2400">
                <a:latin typeface="宋体" panose="02010600030101010101" pitchFamily="2" charset="-122"/>
              </a:rPr>
              <a:t>    （ａ，ｃ），（ｃ，ｂ）∈Ｒ </a:t>
            </a:r>
          </a:p>
          <a:p>
            <a:pPr eaLnBrk="1" hangingPunct="1">
              <a:spcBef>
                <a:spcPct val="0"/>
              </a:spcBef>
              <a:buFontTx/>
              <a:buNone/>
            </a:pPr>
            <a:r>
              <a:rPr lang="zh-CN" altLang="en-US" sz="2400">
                <a:latin typeface="宋体" panose="02010600030101010101" pitchFamily="2" charset="-122"/>
                <a:sym typeface="Symbol" panose="05050102010706020507" pitchFamily="18" charset="2"/>
              </a:rPr>
              <a:t></a:t>
            </a:r>
            <a:r>
              <a:rPr lang="zh-CN" altLang="en-US" sz="2400">
                <a:latin typeface="宋体" panose="02010600030101010101" pitchFamily="2" charset="-122"/>
              </a:rPr>
              <a:t>  （ｂ，ｃ），（ｃ，ａ）∈Ｒ</a:t>
            </a:r>
          </a:p>
          <a:p>
            <a:pPr eaLnBrk="1" hangingPunct="1">
              <a:spcBef>
                <a:spcPct val="0"/>
              </a:spcBef>
              <a:buFontTx/>
              <a:buNone/>
            </a:pPr>
            <a:r>
              <a:rPr lang="zh-CN" altLang="en-US" sz="2400">
                <a:latin typeface="宋体" panose="02010600030101010101" pitchFamily="2" charset="-122"/>
                <a:sym typeface="Symbol" panose="05050102010706020507" pitchFamily="18" charset="2"/>
              </a:rPr>
              <a:t></a:t>
            </a:r>
            <a:r>
              <a:rPr lang="zh-CN" altLang="en-US" sz="2400">
                <a:latin typeface="宋体" panose="02010600030101010101" pitchFamily="2" charset="-122"/>
              </a:rPr>
              <a:t>  （ｂ，ａ）∈Ｒ</a:t>
            </a:r>
            <a:r>
              <a:rPr lang="en-US" altLang="zh-CN" sz="2400">
                <a:latin typeface="Courier New" panose="02070309020205020404" pitchFamily="49" charset="0"/>
              </a:rPr>
              <a:t>·</a:t>
            </a:r>
            <a:r>
              <a:rPr lang="zh-CN" altLang="en-US" sz="2400">
                <a:latin typeface="宋体" panose="02010600030101010101" pitchFamily="2" charset="-122"/>
              </a:rPr>
              <a:t>Ｒ</a:t>
            </a:r>
          </a:p>
          <a:p>
            <a:pPr eaLnBrk="1" hangingPunct="1">
              <a:spcBef>
                <a:spcPct val="0"/>
              </a:spcBef>
              <a:buFontTx/>
              <a:buNone/>
            </a:pPr>
            <a:r>
              <a:rPr lang="zh-CN" altLang="en-US" sz="2400">
                <a:latin typeface="宋体" panose="02010600030101010101" pitchFamily="2" charset="-122"/>
                <a:sym typeface="Symbol" panose="05050102010706020507" pitchFamily="18" charset="2"/>
              </a:rPr>
              <a:t></a:t>
            </a:r>
            <a:r>
              <a:rPr lang="zh-CN" altLang="en-US" sz="2400">
                <a:latin typeface="宋体" panose="02010600030101010101" pitchFamily="2" charset="-122"/>
              </a:rPr>
              <a:t>  （ｂ，ａ）∈Ｒ</a:t>
            </a:r>
            <a:r>
              <a:rPr lang="en-US" altLang="zh-CN" sz="2400" baseline="-25000">
                <a:latin typeface="宋体" panose="02010600030101010101" pitchFamily="2" charset="-122"/>
              </a:rPr>
              <a:t>1</a:t>
            </a:r>
            <a:endParaRPr lang="en-US" altLang="zh-CN" sz="2400">
              <a:latin typeface="宋体" panose="02010600030101010101" pitchFamily="2" charset="-122"/>
            </a:endParaRPr>
          </a:p>
        </p:txBody>
      </p:sp>
      <p:sp>
        <p:nvSpPr>
          <p:cNvPr id="5" name="文本框 4">
            <a:extLst>
              <a:ext uri="{FF2B5EF4-FFF2-40B4-BE49-F238E27FC236}">
                <a16:creationId xmlns:a16="http://schemas.microsoft.com/office/drawing/2014/main" id="{287C2E99-331D-4EC5-AFDE-CD4E2178038A}"/>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9.5.5 Operation of Equivalence Relation*</a:t>
            </a:r>
            <a:endParaRPr lang="en-US" altLang="zh-CN" sz="3200" dirty="0"/>
          </a:p>
        </p:txBody>
      </p:sp>
    </p:spTree>
    <p:extLst>
      <p:ext uri="{BB962C8B-B14F-4D97-AF65-F5344CB8AC3E}">
        <p14:creationId xmlns:p14="http://schemas.microsoft.com/office/powerpoint/2010/main" val="2450381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P spid="9" grpId="0"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a:extLst>
              <a:ext uri="{FF2B5EF4-FFF2-40B4-BE49-F238E27FC236}">
                <a16:creationId xmlns:a16="http://schemas.microsoft.com/office/drawing/2014/main" id="{DB694E37-310B-47F0-8EF1-65EE9486CF9F}"/>
              </a:ext>
            </a:extLst>
          </p:cNvPr>
          <p:cNvSpPr txBox="1">
            <a:spLocks noChangeArrowheads="1"/>
          </p:cNvSpPr>
          <p:nvPr/>
        </p:nvSpPr>
        <p:spPr bwMode="auto">
          <a:xfrm>
            <a:off x="491557" y="1041182"/>
            <a:ext cx="11208886" cy="2792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spcBef>
                <a:spcPct val="50000"/>
              </a:spcBef>
              <a:buFontTx/>
              <a:buNone/>
            </a:pPr>
            <a:r>
              <a:rPr lang="zh-CN" altLang="en-US" sz="2400">
                <a:latin typeface="Times New Roman" panose="02020603050405020304" pitchFamily="18" charset="0"/>
              </a:rPr>
              <a:t>等价关系对应于集合的一种分划。</a:t>
            </a:r>
          </a:p>
          <a:p>
            <a:pPr algn="just" eaLnBrk="1" hangingPunct="1">
              <a:lnSpc>
                <a:spcPct val="150000"/>
              </a:lnSpc>
              <a:spcBef>
                <a:spcPct val="50000"/>
              </a:spcBef>
              <a:buFontTx/>
              <a:buNone/>
            </a:pPr>
            <a:r>
              <a:rPr lang="zh-CN" altLang="en-US" sz="2400">
                <a:latin typeface="Times New Roman" panose="02020603050405020304" pitchFamily="18" charset="0"/>
              </a:rPr>
              <a:t>设Ｒ</a:t>
            </a:r>
            <a:r>
              <a:rPr lang="en-US" altLang="zh-CN" sz="2400" baseline="-25000">
                <a:latin typeface="Times New Roman" panose="02020603050405020304" pitchFamily="18" charset="0"/>
              </a:rPr>
              <a:t>1</a:t>
            </a:r>
            <a:r>
              <a:rPr lang="zh-CN" altLang="en-US" sz="2400">
                <a:latin typeface="Times New Roman" panose="02020603050405020304" pitchFamily="18" charset="0"/>
              </a:rPr>
              <a:t>，Ｒ</a:t>
            </a:r>
            <a:r>
              <a:rPr lang="en-US" altLang="zh-CN" sz="2400" baseline="-25000">
                <a:latin typeface="Times New Roman" panose="02020603050405020304" pitchFamily="18" charset="0"/>
              </a:rPr>
              <a:t>2</a:t>
            </a:r>
            <a:r>
              <a:rPr lang="zh-CN" altLang="en-US" sz="2400">
                <a:latin typeface="Times New Roman" panose="02020603050405020304" pitchFamily="18" charset="0"/>
              </a:rPr>
              <a:t>是Ａ上等价关系，对应的分划为</a:t>
            </a:r>
            <a:r>
              <a:rPr lang="en-US" altLang="zh-CN" sz="2400">
                <a:latin typeface="Times New Roman" panose="02020603050405020304" pitchFamily="18" charset="0"/>
              </a:rPr>
              <a:t>π</a:t>
            </a:r>
            <a:r>
              <a:rPr lang="en-US" altLang="zh-CN" sz="2400" baseline="-25000">
                <a:latin typeface="Times New Roman" panose="02020603050405020304" pitchFamily="18" charset="0"/>
              </a:rPr>
              <a:t>1</a:t>
            </a:r>
            <a:r>
              <a:rPr lang="zh-CN" altLang="en-US" sz="2400">
                <a:latin typeface="Times New Roman" panose="02020603050405020304" pitchFamily="18" charset="0"/>
              </a:rPr>
              <a:t>，</a:t>
            </a:r>
            <a:r>
              <a:rPr lang="en-US" altLang="zh-CN" sz="2400">
                <a:latin typeface="Times New Roman" panose="02020603050405020304" pitchFamily="18" charset="0"/>
              </a:rPr>
              <a:t>π</a:t>
            </a:r>
            <a:r>
              <a:rPr lang="en-US" altLang="zh-CN" sz="2400" baseline="-25000">
                <a:latin typeface="Times New Roman" panose="02020603050405020304" pitchFamily="18" charset="0"/>
              </a:rPr>
              <a:t>2</a:t>
            </a:r>
            <a:r>
              <a:rPr lang="zh-CN" altLang="en-US" sz="2400">
                <a:latin typeface="Times New Roman" panose="02020603050405020304" pitchFamily="18" charset="0"/>
              </a:rPr>
              <a:t>，</a:t>
            </a:r>
          </a:p>
          <a:p>
            <a:pPr algn="just" eaLnBrk="1" hangingPunct="1">
              <a:lnSpc>
                <a:spcPct val="150000"/>
              </a:lnSpc>
              <a:spcBef>
                <a:spcPct val="50000"/>
              </a:spcBef>
              <a:buFontTx/>
              <a:buNone/>
            </a:pPr>
            <a:r>
              <a:rPr lang="en-US" altLang="zh-CN" sz="2400">
                <a:latin typeface="Times New Roman" panose="02020603050405020304" pitchFamily="18" charset="0"/>
              </a:rPr>
              <a:t>π</a:t>
            </a:r>
            <a:r>
              <a:rPr lang="en-US" altLang="zh-CN" sz="2400" baseline="-25000">
                <a:latin typeface="Times New Roman" panose="02020603050405020304" pitchFamily="18" charset="0"/>
              </a:rPr>
              <a:t>1</a:t>
            </a:r>
            <a:r>
              <a:rPr lang="en-US" altLang="zh-CN" sz="2400">
                <a:latin typeface="Times New Roman" panose="02020603050405020304" pitchFamily="18" charset="0"/>
              </a:rPr>
              <a:t>·π</a:t>
            </a:r>
            <a:r>
              <a:rPr lang="en-US" altLang="zh-CN" sz="2400" baseline="-25000">
                <a:latin typeface="Times New Roman" panose="02020603050405020304" pitchFamily="18" charset="0"/>
              </a:rPr>
              <a:t>2</a:t>
            </a:r>
            <a:r>
              <a:rPr lang="zh-CN" altLang="en-US" sz="2400">
                <a:latin typeface="Times New Roman" panose="02020603050405020304" pitchFamily="18" charset="0"/>
              </a:rPr>
              <a:t>对应于Ｒ</a:t>
            </a:r>
            <a:r>
              <a:rPr lang="en-US" altLang="zh-CN" sz="2400" baseline="-25000">
                <a:latin typeface="Times New Roman" panose="02020603050405020304" pitchFamily="18" charset="0"/>
              </a:rPr>
              <a:t>1</a:t>
            </a:r>
            <a:r>
              <a:rPr lang="en-US" altLang="zh-CN" sz="2400">
                <a:latin typeface="Times New Roman" panose="02020603050405020304" pitchFamily="18" charset="0"/>
              </a:rPr>
              <a:t>∩</a:t>
            </a:r>
            <a:r>
              <a:rPr lang="zh-CN" altLang="en-US" sz="2400">
                <a:latin typeface="Times New Roman" panose="02020603050405020304" pitchFamily="18" charset="0"/>
              </a:rPr>
              <a:t>Ｒ</a:t>
            </a:r>
            <a:r>
              <a:rPr lang="en-US" altLang="zh-CN" sz="2400" baseline="-25000">
                <a:latin typeface="Times New Roman" panose="02020603050405020304" pitchFamily="18" charset="0"/>
              </a:rPr>
              <a:t>2</a:t>
            </a:r>
            <a:r>
              <a:rPr lang="zh-CN" altLang="en-US" sz="2400">
                <a:latin typeface="Times New Roman" panose="02020603050405020304" pitchFamily="18" charset="0"/>
              </a:rPr>
              <a:t>，称为</a:t>
            </a:r>
            <a:r>
              <a:rPr lang="zh-CN" altLang="en-US" sz="2400" b="1">
                <a:latin typeface="Times New Roman" panose="02020603050405020304" pitchFamily="18" charset="0"/>
              </a:rPr>
              <a:t>二个分划的积，</a:t>
            </a:r>
            <a:r>
              <a:rPr lang="zh-CN" altLang="en-US" sz="2400">
                <a:latin typeface="Times New Roman" panose="02020603050405020304" pitchFamily="18" charset="0"/>
              </a:rPr>
              <a:t>使分划分更细；</a:t>
            </a:r>
          </a:p>
          <a:p>
            <a:pPr algn="just" eaLnBrk="1" hangingPunct="1">
              <a:lnSpc>
                <a:spcPct val="150000"/>
              </a:lnSpc>
              <a:spcBef>
                <a:spcPct val="50000"/>
              </a:spcBef>
              <a:buFontTx/>
              <a:buNone/>
            </a:pPr>
            <a:r>
              <a:rPr lang="en-US" altLang="zh-CN" sz="2400">
                <a:latin typeface="Times New Roman" panose="02020603050405020304" pitchFamily="18" charset="0"/>
              </a:rPr>
              <a:t>π</a:t>
            </a:r>
            <a:r>
              <a:rPr lang="en-US" altLang="zh-CN" sz="2400" baseline="-25000">
                <a:latin typeface="Times New Roman" panose="02020603050405020304" pitchFamily="18" charset="0"/>
              </a:rPr>
              <a:t>1</a:t>
            </a:r>
            <a:r>
              <a:rPr lang="zh-CN" altLang="en-US" sz="2400">
                <a:latin typeface="Times New Roman" panose="02020603050405020304" pitchFamily="18" charset="0"/>
              </a:rPr>
              <a:t>＋</a:t>
            </a:r>
            <a:r>
              <a:rPr lang="en-US" altLang="zh-CN" sz="2400">
                <a:latin typeface="Times New Roman" panose="02020603050405020304" pitchFamily="18" charset="0"/>
              </a:rPr>
              <a:t>π</a:t>
            </a:r>
            <a:r>
              <a:rPr lang="en-US" altLang="zh-CN" sz="2400" baseline="-25000">
                <a:latin typeface="Times New Roman" panose="02020603050405020304" pitchFamily="18" charset="0"/>
              </a:rPr>
              <a:t>2</a:t>
            </a:r>
            <a:r>
              <a:rPr lang="zh-CN" altLang="en-US" sz="2400">
                <a:latin typeface="Times New Roman" panose="02020603050405020304" pitchFamily="18" charset="0"/>
              </a:rPr>
              <a:t>对应于（Ｒ</a:t>
            </a:r>
            <a:r>
              <a:rPr lang="en-US" altLang="zh-CN" sz="2400" baseline="-25000">
                <a:latin typeface="Times New Roman" panose="02020603050405020304" pitchFamily="18" charset="0"/>
              </a:rPr>
              <a:t>1</a:t>
            </a:r>
            <a:r>
              <a:rPr lang="en-US" altLang="zh-CN" sz="2400">
                <a:latin typeface="Times New Roman" panose="02020603050405020304" pitchFamily="18" charset="0"/>
              </a:rPr>
              <a:t>∪</a:t>
            </a:r>
            <a:r>
              <a:rPr lang="zh-CN" altLang="en-US" sz="2400">
                <a:latin typeface="Times New Roman" panose="02020603050405020304" pitchFamily="18" charset="0"/>
              </a:rPr>
              <a:t>Ｒ</a:t>
            </a:r>
            <a:r>
              <a:rPr lang="en-US" altLang="zh-CN" sz="2400" baseline="-25000">
                <a:latin typeface="Times New Roman" panose="02020603050405020304" pitchFamily="18" charset="0"/>
              </a:rPr>
              <a:t>2</a:t>
            </a:r>
            <a:r>
              <a:rPr lang="zh-CN" altLang="en-US" sz="2400">
                <a:latin typeface="Times New Roman" panose="02020603050405020304" pitchFamily="18" charset="0"/>
              </a:rPr>
              <a:t>）</a:t>
            </a:r>
            <a:r>
              <a:rPr lang="zh-CN" altLang="en-US" sz="2400" baseline="30000">
                <a:latin typeface="Times New Roman" panose="02020603050405020304" pitchFamily="18" charset="0"/>
              </a:rPr>
              <a:t>*</a:t>
            </a:r>
            <a:r>
              <a:rPr lang="zh-CN" altLang="en-US" sz="2400">
                <a:latin typeface="Times New Roman" panose="02020603050405020304" pitchFamily="18" charset="0"/>
              </a:rPr>
              <a:t>，称为两个</a:t>
            </a:r>
            <a:r>
              <a:rPr lang="zh-CN" altLang="en-US" sz="2400" b="1">
                <a:latin typeface="Times New Roman" panose="02020603050405020304" pitchFamily="18" charset="0"/>
              </a:rPr>
              <a:t>分划的和</a:t>
            </a:r>
            <a:r>
              <a:rPr lang="zh-CN" altLang="en-US" sz="2400">
                <a:latin typeface="Times New Roman" panose="02020603050405020304" pitchFamily="18" charset="0"/>
              </a:rPr>
              <a:t>，使分划比</a:t>
            </a:r>
            <a:r>
              <a:rPr lang="en-US" altLang="zh-CN" sz="2400">
                <a:latin typeface="Times New Roman" panose="02020603050405020304" pitchFamily="18" charset="0"/>
              </a:rPr>
              <a:t>π</a:t>
            </a:r>
            <a:r>
              <a:rPr lang="en-US" altLang="zh-CN" sz="2400" baseline="-25000">
                <a:latin typeface="Times New Roman" panose="02020603050405020304" pitchFamily="18" charset="0"/>
              </a:rPr>
              <a:t>1</a:t>
            </a:r>
            <a:r>
              <a:rPr lang="zh-CN" altLang="en-US" sz="2400">
                <a:latin typeface="Times New Roman" panose="02020603050405020304" pitchFamily="18" charset="0"/>
              </a:rPr>
              <a:t>，</a:t>
            </a:r>
            <a:r>
              <a:rPr lang="en-US" altLang="zh-CN" sz="2400">
                <a:latin typeface="Times New Roman" panose="02020603050405020304" pitchFamily="18" charset="0"/>
              </a:rPr>
              <a:t>π</a:t>
            </a:r>
            <a:r>
              <a:rPr lang="en-US" altLang="zh-CN" sz="2400" baseline="-25000">
                <a:latin typeface="Times New Roman" panose="02020603050405020304" pitchFamily="18" charset="0"/>
              </a:rPr>
              <a:t>2</a:t>
            </a:r>
            <a:r>
              <a:rPr lang="zh-CN" altLang="en-US" sz="2400">
                <a:latin typeface="Times New Roman" panose="02020603050405020304" pitchFamily="18" charset="0"/>
              </a:rPr>
              <a:t>要粗。</a:t>
            </a:r>
          </a:p>
        </p:txBody>
      </p:sp>
      <p:sp>
        <p:nvSpPr>
          <p:cNvPr id="6" name="Text Box 3">
            <a:extLst>
              <a:ext uri="{FF2B5EF4-FFF2-40B4-BE49-F238E27FC236}">
                <a16:creationId xmlns:a16="http://schemas.microsoft.com/office/drawing/2014/main" id="{BABC90DD-F88D-4DC7-804A-C0EAE2C9A228}"/>
              </a:ext>
            </a:extLst>
          </p:cNvPr>
          <p:cNvSpPr txBox="1">
            <a:spLocks noChangeArrowheads="1"/>
          </p:cNvSpPr>
          <p:nvPr/>
        </p:nvSpPr>
        <p:spPr bwMode="auto">
          <a:xfrm>
            <a:off x="491557" y="4488781"/>
            <a:ext cx="10167486" cy="111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spcBef>
                <a:spcPct val="0"/>
              </a:spcBef>
              <a:buFontTx/>
              <a:buNone/>
            </a:pPr>
            <a:r>
              <a:rPr lang="zh-CN" altLang="en-US" sz="2400">
                <a:latin typeface="宋体" panose="02010600030101010101" pitchFamily="2" charset="-122"/>
              </a:rPr>
              <a:t>例６：</a:t>
            </a:r>
          </a:p>
          <a:p>
            <a:pPr algn="just" eaLnBrk="1" hangingPunct="1">
              <a:lnSpc>
                <a:spcPct val="150000"/>
              </a:lnSpc>
              <a:spcBef>
                <a:spcPct val="0"/>
              </a:spcBef>
              <a:buFontTx/>
              <a:buNone/>
            </a:pPr>
            <a:r>
              <a:rPr lang="zh-CN" altLang="en-US" sz="2400">
                <a:latin typeface="宋体" panose="02010600030101010101" pitchFamily="2" charset="-122"/>
              </a:rPr>
              <a:t>     Ａ＝｛ａ，ｂ，ｃ，ｄ，ｅ，ｆ，ｇ，ｈ，ｉ，ｊ，ｋ｝</a:t>
            </a:r>
            <a:endParaRPr lang="zh-CN" altLang="en-US" sz="2000">
              <a:latin typeface="宋体" panose="02010600030101010101" pitchFamily="2" charset="-122"/>
            </a:endParaRPr>
          </a:p>
        </p:txBody>
      </p:sp>
      <p:sp>
        <p:nvSpPr>
          <p:cNvPr id="7" name="文本框 6">
            <a:extLst>
              <a:ext uri="{FF2B5EF4-FFF2-40B4-BE49-F238E27FC236}">
                <a16:creationId xmlns:a16="http://schemas.microsoft.com/office/drawing/2014/main" id="{DB82D693-3492-4F80-8BF0-4FE3EBA3ADAC}"/>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9.5.5 Operation of Equivalence Relation*</a:t>
            </a:r>
            <a:endParaRPr lang="en-US" altLang="zh-CN" sz="3200" dirty="0"/>
          </a:p>
        </p:txBody>
      </p:sp>
    </p:spTree>
    <p:extLst>
      <p:ext uri="{BB962C8B-B14F-4D97-AF65-F5344CB8AC3E}">
        <p14:creationId xmlns:p14="http://schemas.microsoft.com/office/powerpoint/2010/main" val="3368929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2">
            <a:extLst>
              <a:ext uri="{FF2B5EF4-FFF2-40B4-BE49-F238E27FC236}">
                <a16:creationId xmlns:a16="http://schemas.microsoft.com/office/drawing/2014/main" id="{59BBBAE6-31E6-454B-9E06-689FB962A1E0}"/>
              </a:ext>
            </a:extLst>
          </p:cNvPr>
          <p:cNvGraphicFramePr>
            <a:graphicFrameLocks noChangeAspect="1"/>
          </p:cNvGraphicFramePr>
          <p:nvPr>
            <p:extLst>
              <p:ext uri="{D42A27DB-BD31-4B8C-83A1-F6EECF244321}">
                <p14:modId xmlns:p14="http://schemas.microsoft.com/office/powerpoint/2010/main" val="1122490875"/>
              </p:ext>
            </p:extLst>
          </p:nvPr>
        </p:nvGraphicFramePr>
        <p:xfrm>
          <a:off x="572987" y="694864"/>
          <a:ext cx="7010400" cy="2209800"/>
        </p:xfrm>
        <a:graphic>
          <a:graphicData uri="http://schemas.openxmlformats.org/presentationml/2006/ole">
            <mc:AlternateContent xmlns:mc="http://schemas.openxmlformats.org/markup-compatibility/2006">
              <mc:Choice xmlns:v="urn:schemas-microsoft-com:vml" Requires="v">
                <p:oleObj r:id="rId2" imgW="2054352" imgH="789432" progId="Word.Picture.8">
                  <p:embed/>
                </p:oleObj>
              </mc:Choice>
              <mc:Fallback>
                <p:oleObj r:id="rId2" imgW="2054352" imgH="789432" progId="Word.Picture.8">
                  <p:embed/>
                  <p:pic>
                    <p:nvPicPr>
                      <p:cNvPr id="5" name="Object 2">
                        <a:extLst>
                          <a:ext uri="{FF2B5EF4-FFF2-40B4-BE49-F238E27FC236}">
                            <a16:creationId xmlns:a16="http://schemas.microsoft.com/office/drawing/2014/main" id="{59BBBAE6-31E6-454B-9E06-689FB962A1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2987" y="694864"/>
                        <a:ext cx="7010400" cy="220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Text Box 3">
            <a:extLst>
              <a:ext uri="{FF2B5EF4-FFF2-40B4-BE49-F238E27FC236}">
                <a16:creationId xmlns:a16="http://schemas.microsoft.com/office/drawing/2014/main" id="{3A835580-4B5A-4C10-A03F-F2DE0C232661}"/>
              </a:ext>
            </a:extLst>
          </p:cNvPr>
          <p:cNvSpPr txBox="1">
            <a:spLocks noChangeArrowheads="1"/>
          </p:cNvSpPr>
          <p:nvPr/>
        </p:nvSpPr>
        <p:spPr bwMode="auto">
          <a:xfrm>
            <a:off x="491423" y="2859773"/>
            <a:ext cx="11056470" cy="3883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spcBef>
                <a:spcPct val="0"/>
              </a:spcBef>
              <a:buFontTx/>
              <a:buNone/>
            </a:pPr>
            <a:r>
              <a:rPr lang="zh-CN" altLang="en-US" sz="2400">
                <a:latin typeface="宋体" panose="02010600030101010101" pitchFamily="2" charset="-122"/>
              </a:rPr>
              <a:t>Ｒ</a:t>
            </a:r>
            <a:r>
              <a:rPr lang="en-US" altLang="zh-CN" sz="2400" baseline="-25000">
                <a:latin typeface="宋体" panose="02010600030101010101" pitchFamily="2" charset="-122"/>
              </a:rPr>
              <a:t>1</a:t>
            </a:r>
            <a:r>
              <a:rPr lang="zh-CN" altLang="en-US" sz="2400">
                <a:latin typeface="宋体" panose="02010600030101010101" pitchFamily="2" charset="-122"/>
              </a:rPr>
              <a:t>＝｛（ａ，ａ），（ｂ，ｂ），（ｃ，ｃ），（ｄ，ｄ），（ｅ，ｅ），</a:t>
            </a:r>
            <a:endParaRPr lang="en-US" altLang="zh-CN" sz="2400">
              <a:latin typeface="宋体" panose="02010600030101010101" pitchFamily="2" charset="-122"/>
            </a:endParaRPr>
          </a:p>
          <a:p>
            <a:pPr algn="just" eaLnBrk="1" hangingPunct="1">
              <a:lnSpc>
                <a:spcPct val="150000"/>
              </a:lnSpc>
              <a:spcBef>
                <a:spcPct val="0"/>
              </a:spcBef>
              <a:buFontTx/>
              <a:buNone/>
            </a:pPr>
            <a:r>
              <a:rPr lang="en-US" altLang="zh-CN" sz="2400">
                <a:latin typeface="宋体" panose="02010600030101010101" pitchFamily="2" charset="-122"/>
              </a:rPr>
              <a:t>	 </a:t>
            </a:r>
            <a:r>
              <a:rPr lang="zh-CN" altLang="en-US" sz="2400">
                <a:latin typeface="宋体" panose="02010600030101010101" pitchFamily="2" charset="-122"/>
              </a:rPr>
              <a:t>（ｆ，ｆ），（ｇ，ｇ），（ｈ，ｈ），（ｉ，ｉ），（ｊ，ｊ），</a:t>
            </a:r>
            <a:endParaRPr lang="en-US" altLang="zh-CN" sz="2400">
              <a:latin typeface="宋体" panose="02010600030101010101" pitchFamily="2" charset="-122"/>
            </a:endParaRPr>
          </a:p>
          <a:p>
            <a:pPr algn="just" eaLnBrk="1" hangingPunct="1">
              <a:lnSpc>
                <a:spcPct val="150000"/>
              </a:lnSpc>
              <a:spcBef>
                <a:spcPct val="0"/>
              </a:spcBef>
              <a:buFontTx/>
              <a:buNone/>
            </a:pPr>
            <a:r>
              <a:rPr lang="en-US" altLang="zh-CN" sz="2400">
                <a:latin typeface="宋体" panose="02010600030101010101" pitchFamily="2" charset="-122"/>
              </a:rPr>
              <a:t>	 </a:t>
            </a:r>
            <a:r>
              <a:rPr lang="zh-CN" altLang="en-US" sz="2400">
                <a:latin typeface="宋体" panose="02010600030101010101" pitchFamily="2" charset="-122"/>
              </a:rPr>
              <a:t>（ｋ，ｋ），（ａ，ｂ），（ａ，ｃ），（ａ，ｄ），（ｂ，ｃ），</a:t>
            </a:r>
            <a:endParaRPr lang="en-US" altLang="zh-CN" sz="2400">
              <a:latin typeface="宋体" panose="02010600030101010101" pitchFamily="2" charset="-122"/>
            </a:endParaRPr>
          </a:p>
          <a:p>
            <a:pPr algn="just" eaLnBrk="1" hangingPunct="1">
              <a:lnSpc>
                <a:spcPct val="150000"/>
              </a:lnSpc>
              <a:spcBef>
                <a:spcPct val="0"/>
              </a:spcBef>
              <a:buFontTx/>
              <a:buNone/>
            </a:pPr>
            <a:r>
              <a:rPr lang="en-US" altLang="zh-CN" sz="2400">
                <a:latin typeface="宋体" panose="02010600030101010101" pitchFamily="2" charset="-122"/>
              </a:rPr>
              <a:t>	 </a:t>
            </a:r>
            <a:r>
              <a:rPr lang="zh-CN" altLang="en-US" sz="2400">
                <a:latin typeface="宋体" panose="02010600030101010101" pitchFamily="2" charset="-122"/>
              </a:rPr>
              <a:t>（ｂ，ｄ），（ｃ，ｄ），（ｂ，ａ），（ｃ，ａ），（ｄ，ａ），</a:t>
            </a:r>
            <a:endParaRPr lang="en-US" altLang="zh-CN" sz="2400">
              <a:latin typeface="宋体" panose="02010600030101010101" pitchFamily="2" charset="-122"/>
            </a:endParaRPr>
          </a:p>
          <a:p>
            <a:pPr algn="just" eaLnBrk="1" hangingPunct="1">
              <a:lnSpc>
                <a:spcPct val="150000"/>
              </a:lnSpc>
              <a:spcBef>
                <a:spcPct val="0"/>
              </a:spcBef>
              <a:buFontTx/>
              <a:buNone/>
            </a:pPr>
            <a:r>
              <a:rPr lang="en-US" altLang="zh-CN" sz="2400">
                <a:latin typeface="宋体" panose="02010600030101010101" pitchFamily="2" charset="-122"/>
              </a:rPr>
              <a:t>	 </a:t>
            </a:r>
            <a:r>
              <a:rPr lang="zh-CN" altLang="en-US" sz="2400">
                <a:latin typeface="宋体" panose="02010600030101010101" pitchFamily="2" charset="-122"/>
              </a:rPr>
              <a:t>（ｃ，ｂ），（ｄ，ｂ），（ｄ，ｃ），（ｅ，ｆ），（ｅ，ｇ），</a:t>
            </a:r>
            <a:endParaRPr lang="en-US" altLang="zh-CN" sz="2400">
              <a:latin typeface="宋体" panose="02010600030101010101" pitchFamily="2" charset="-122"/>
            </a:endParaRPr>
          </a:p>
          <a:p>
            <a:pPr algn="just" eaLnBrk="1" hangingPunct="1">
              <a:lnSpc>
                <a:spcPct val="150000"/>
              </a:lnSpc>
              <a:spcBef>
                <a:spcPct val="0"/>
              </a:spcBef>
              <a:buFontTx/>
              <a:buNone/>
            </a:pPr>
            <a:r>
              <a:rPr lang="en-US" altLang="zh-CN" sz="2400">
                <a:latin typeface="宋体" panose="02010600030101010101" pitchFamily="2" charset="-122"/>
              </a:rPr>
              <a:t>	 </a:t>
            </a:r>
            <a:r>
              <a:rPr lang="zh-CN" altLang="en-US" sz="2400">
                <a:latin typeface="宋体" panose="02010600030101010101" pitchFamily="2" charset="-122"/>
              </a:rPr>
              <a:t>（ｆ，ｇ），（ｆ，ｅ），（ｇ，ｅ），（ｇ，ｆ），（ｈ，ｉ），</a:t>
            </a:r>
            <a:endParaRPr lang="en-US" altLang="zh-CN" sz="2400">
              <a:latin typeface="宋体" panose="02010600030101010101" pitchFamily="2" charset="-122"/>
            </a:endParaRPr>
          </a:p>
          <a:p>
            <a:pPr algn="just" eaLnBrk="1" hangingPunct="1">
              <a:lnSpc>
                <a:spcPct val="150000"/>
              </a:lnSpc>
              <a:spcBef>
                <a:spcPct val="0"/>
              </a:spcBef>
              <a:buFontTx/>
              <a:buNone/>
            </a:pPr>
            <a:r>
              <a:rPr lang="en-US" altLang="zh-CN" sz="2400">
                <a:latin typeface="宋体" panose="02010600030101010101" pitchFamily="2" charset="-122"/>
              </a:rPr>
              <a:t>	 </a:t>
            </a:r>
            <a:r>
              <a:rPr lang="zh-CN" altLang="en-US" sz="2400">
                <a:latin typeface="宋体" panose="02010600030101010101" pitchFamily="2" charset="-122"/>
              </a:rPr>
              <a:t>（ｉ，ｈ），（ｊ，ｋ），（ｋ，ｊ）｝</a:t>
            </a:r>
            <a:endParaRPr lang="zh-CN" altLang="en-US" sz="2000">
              <a:latin typeface="宋体" panose="02010600030101010101" pitchFamily="2" charset="-122"/>
            </a:endParaRPr>
          </a:p>
        </p:txBody>
      </p:sp>
      <p:sp>
        <p:nvSpPr>
          <p:cNvPr id="7" name="文本框 6">
            <a:extLst>
              <a:ext uri="{FF2B5EF4-FFF2-40B4-BE49-F238E27FC236}">
                <a16:creationId xmlns:a16="http://schemas.microsoft.com/office/drawing/2014/main" id="{6DC1B11E-1ED2-4A92-AE19-E5C8F389F2A1}"/>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9.5.5 Operation of Equivalence Relation*</a:t>
            </a:r>
            <a:endParaRPr lang="en-US" altLang="zh-CN" sz="3200" dirty="0"/>
          </a:p>
        </p:txBody>
      </p:sp>
    </p:spTree>
    <p:extLst>
      <p:ext uri="{BB962C8B-B14F-4D97-AF65-F5344CB8AC3E}">
        <p14:creationId xmlns:p14="http://schemas.microsoft.com/office/powerpoint/2010/main" val="719012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5"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Box 2">
            <a:extLst>
              <a:ext uri="{FF2B5EF4-FFF2-40B4-BE49-F238E27FC236}">
                <a16:creationId xmlns:a16="http://schemas.microsoft.com/office/drawing/2014/main" id="{0F788961-0ECB-40D7-8AA6-F14DA4377D13}"/>
              </a:ext>
            </a:extLst>
          </p:cNvPr>
          <p:cNvSpPr txBox="1">
            <a:spLocks noChangeArrowheads="1"/>
          </p:cNvSpPr>
          <p:nvPr/>
        </p:nvSpPr>
        <p:spPr bwMode="auto">
          <a:xfrm>
            <a:off x="1048071" y="953586"/>
            <a:ext cx="9071289" cy="5562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spcBef>
                <a:spcPct val="0"/>
              </a:spcBef>
              <a:buFontTx/>
              <a:buNone/>
            </a:pPr>
            <a:r>
              <a:rPr lang="zh-CN" altLang="en-US" sz="2400" dirty="0">
                <a:latin typeface="宋体" panose="02010600030101010101" pitchFamily="2" charset="-122"/>
              </a:rPr>
              <a:t>Ｒ</a:t>
            </a:r>
            <a:r>
              <a:rPr lang="en-US" altLang="zh-CN" sz="2400" baseline="-25000" dirty="0">
                <a:latin typeface="宋体" panose="02010600030101010101" pitchFamily="2" charset="-122"/>
              </a:rPr>
              <a:t>2</a:t>
            </a:r>
            <a:r>
              <a:rPr lang="zh-CN" altLang="en-US" sz="2400" dirty="0">
                <a:latin typeface="宋体" panose="02010600030101010101" pitchFamily="2" charset="-122"/>
              </a:rPr>
              <a:t>＝｛（ａ，ａ），（ｂ，ｂ），（ｃ，</a:t>
            </a:r>
            <a:r>
              <a:rPr lang="zh-CN" altLang="en-US" sz="2400">
                <a:latin typeface="宋体" panose="02010600030101010101" pitchFamily="2" charset="-122"/>
              </a:rPr>
              <a:t>ｃ），（</a:t>
            </a:r>
            <a:r>
              <a:rPr lang="zh-CN" altLang="en-US" sz="2400" dirty="0">
                <a:latin typeface="宋体" panose="02010600030101010101" pitchFamily="2" charset="-122"/>
              </a:rPr>
              <a:t>ｄ，</a:t>
            </a:r>
            <a:r>
              <a:rPr lang="zh-CN" altLang="en-US" sz="2400">
                <a:latin typeface="宋体" panose="02010600030101010101" pitchFamily="2" charset="-122"/>
              </a:rPr>
              <a:t>ｄ），</a:t>
            </a:r>
            <a:endParaRPr lang="en-US" altLang="zh-CN" sz="2400">
              <a:latin typeface="宋体" panose="02010600030101010101" pitchFamily="2" charset="-122"/>
            </a:endParaRPr>
          </a:p>
          <a:p>
            <a:pPr algn="just" eaLnBrk="1" hangingPunct="1">
              <a:lnSpc>
                <a:spcPct val="150000"/>
              </a:lnSpc>
              <a:spcBef>
                <a:spcPct val="0"/>
              </a:spcBef>
              <a:buFontTx/>
              <a:buNone/>
            </a:pPr>
            <a:r>
              <a:rPr lang="en-US" altLang="zh-CN" sz="2400">
                <a:latin typeface="宋体" panose="02010600030101010101" pitchFamily="2" charset="-122"/>
              </a:rPr>
              <a:t>	</a:t>
            </a:r>
            <a:r>
              <a:rPr lang="zh-CN" altLang="en-US" sz="2400">
                <a:latin typeface="宋体" panose="02010600030101010101" pitchFamily="2" charset="-122"/>
              </a:rPr>
              <a:t>（</a:t>
            </a:r>
            <a:r>
              <a:rPr lang="zh-CN" altLang="en-US" sz="2400" dirty="0">
                <a:latin typeface="宋体" panose="02010600030101010101" pitchFamily="2" charset="-122"/>
              </a:rPr>
              <a:t>ｅ，ｅ），（ｆ，</a:t>
            </a:r>
            <a:r>
              <a:rPr lang="zh-CN" altLang="en-US" sz="2400">
                <a:latin typeface="宋体" panose="02010600030101010101" pitchFamily="2" charset="-122"/>
              </a:rPr>
              <a:t>ｆ），（</a:t>
            </a:r>
            <a:r>
              <a:rPr lang="zh-CN" altLang="en-US" sz="2400" dirty="0">
                <a:latin typeface="宋体" panose="02010600030101010101" pitchFamily="2" charset="-122"/>
              </a:rPr>
              <a:t>ｇ，ｇ），</a:t>
            </a:r>
            <a:r>
              <a:rPr lang="zh-CN" altLang="en-US" sz="2400" dirty="0">
                <a:latin typeface="Times New Roman" panose="02020603050405020304" pitchFamily="18" charset="0"/>
              </a:rPr>
              <a:t>（ｈ，</a:t>
            </a:r>
            <a:r>
              <a:rPr lang="zh-CN" altLang="en-US" sz="2400">
                <a:latin typeface="Times New Roman" panose="02020603050405020304" pitchFamily="18" charset="0"/>
              </a:rPr>
              <a:t>ｈ），</a:t>
            </a:r>
            <a:endParaRPr lang="en-US" altLang="zh-CN" sz="2400">
              <a:latin typeface="Times New Roman" panose="02020603050405020304" pitchFamily="18" charset="0"/>
            </a:endParaRPr>
          </a:p>
          <a:p>
            <a:pPr algn="just" eaLnBrk="1" hangingPunct="1">
              <a:lnSpc>
                <a:spcPct val="150000"/>
              </a:lnSpc>
              <a:spcBef>
                <a:spcPct val="0"/>
              </a:spcBef>
              <a:buFontTx/>
              <a:buNone/>
            </a:pPr>
            <a:r>
              <a:rPr lang="en-US" altLang="zh-CN" sz="2400">
                <a:latin typeface="Times New Roman" panose="02020603050405020304" pitchFamily="18" charset="0"/>
              </a:rPr>
              <a:t>	</a:t>
            </a:r>
            <a:r>
              <a:rPr lang="zh-CN" altLang="en-US" sz="2400">
                <a:latin typeface="Times New Roman" panose="02020603050405020304" pitchFamily="18" charset="0"/>
              </a:rPr>
              <a:t>（</a:t>
            </a:r>
            <a:r>
              <a:rPr lang="zh-CN" altLang="en-US" sz="2400" dirty="0">
                <a:latin typeface="Times New Roman" panose="02020603050405020304" pitchFamily="18" charset="0"/>
              </a:rPr>
              <a:t>ｉ，</a:t>
            </a:r>
            <a:r>
              <a:rPr lang="zh-CN" altLang="en-US" sz="2400">
                <a:latin typeface="Times New Roman" panose="02020603050405020304" pitchFamily="18" charset="0"/>
              </a:rPr>
              <a:t>ｉ），（</a:t>
            </a:r>
            <a:r>
              <a:rPr lang="zh-CN" altLang="en-US" sz="2400" dirty="0">
                <a:latin typeface="Times New Roman" panose="02020603050405020304" pitchFamily="18" charset="0"/>
              </a:rPr>
              <a:t>ｊ，ｊ），（ｋ，ｋ），（ａ，</a:t>
            </a:r>
            <a:r>
              <a:rPr lang="zh-CN" altLang="en-US" sz="2400">
                <a:latin typeface="Times New Roman" panose="02020603050405020304" pitchFamily="18" charset="0"/>
              </a:rPr>
              <a:t>ｂ），</a:t>
            </a:r>
            <a:endParaRPr lang="en-US" altLang="zh-CN" sz="2400">
              <a:latin typeface="Times New Roman" panose="02020603050405020304" pitchFamily="18" charset="0"/>
            </a:endParaRPr>
          </a:p>
          <a:p>
            <a:pPr algn="just" eaLnBrk="1" hangingPunct="1">
              <a:lnSpc>
                <a:spcPct val="150000"/>
              </a:lnSpc>
              <a:spcBef>
                <a:spcPct val="0"/>
              </a:spcBef>
              <a:buFontTx/>
              <a:buNone/>
            </a:pPr>
            <a:r>
              <a:rPr lang="en-US" altLang="zh-CN" sz="2400">
                <a:latin typeface="Times New Roman" panose="02020603050405020304" pitchFamily="18" charset="0"/>
              </a:rPr>
              <a:t>	</a:t>
            </a:r>
            <a:r>
              <a:rPr lang="zh-CN" altLang="en-US" sz="2400">
                <a:latin typeface="Times New Roman" panose="02020603050405020304" pitchFamily="18" charset="0"/>
              </a:rPr>
              <a:t>（</a:t>
            </a:r>
            <a:r>
              <a:rPr lang="zh-CN" altLang="en-US" sz="2400" dirty="0">
                <a:latin typeface="Times New Roman" panose="02020603050405020304" pitchFamily="18" charset="0"/>
              </a:rPr>
              <a:t>ａ，ｃ），（ａ，ｈ），（ｂ，</a:t>
            </a:r>
            <a:r>
              <a:rPr lang="zh-CN" altLang="en-US" sz="2400">
                <a:latin typeface="Times New Roman" panose="02020603050405020304" pitchFamily="18" charset="0"/>
              </a:rPr>
              <a:t>ｃ），（</a:t>
            </a:r>
            <a:r>
              <a:rPr lang="zh-CN" altLang="en-US" sz="2400" dirty="0">
                <a:latin typeface="Times New Roman" panose="02020603050405020304" pitchFamily="18" charset="0"/>
              </a:rPr>
              <a:t>ｂ，</a:t>
            </a:r>
            <a:r>
              <a:rPr lang="zh-CN" altLang="en-US" sz="2400">
                <a:latin typeface="Times New Roman" panose="02020603050405020304" pitchFamily="18" charset="0"/>
              </a:rPr>
              <a:t>ｈ），</a:t>
            </a:r>
            <a:endParaRPr lang="en-US" altLang="zh-CN" sz="2400">
              <a:latin typeface="Times New Roman" panose="02020603050405020304" pitchFamily="18" charset="0"/>
            </a:endParaRPr>
          </a:p>
          <a:p>
            <a:pPr algn="just" eaLnBrk="1" hangingPunct="1">
              <a:lnSpc>
                <a:spcPct val="150000"/>
              </a:lnSpc>
              <a:spcBef>
                <a:spcPct val="0"/>
              </a:spcBef>
              <a:buFontTx/>
              <a:buNone/>
            </a:pPr>
            <a:r>
              <a:rPr lang="en-US" altLang="zh-CN" sz="2400">
                <a:latin typeface="Times New Roman" panose="02020603050405020304" pitchFamily="18" charset="0"/>
              </a:rPr>
              <a:t>	</a:t>
            </a:r>
            <a:r>
              <a:rPr lang="zh-CN" altLang="en-US" sz="2400">
                <a:latin typeface="Times New Roman" panose="02020603050405020304" pitchFamily="18" charset="0"/>
              </a:rPr>
              <a:t>（</a:t>
            </a:r>
            <a:r>
              <a:rPr lang="zh-CN" altLang="en-US" sz="2400" dirty="0">
                <a:latin typeface="Times New Roman" panose="02020603050405020304" pitchFamily="18" charset="0"/>
              </a:rPr>
              <a:t>ｃ，ｈ），（ｂ，</a:t>
            </a:r>
            <a:r>
              <a:rPr lang="zh-CN" altLang="en-US" sz="2400">
                <a:latin typeface="Times New Roman" panose="02020603050405020304" pitchFamily="18" charset="0"/>
              </a:rPr>
              <a:t>ａ），（</a:t>
            </a:r>
            <a:r>
              <a:rPr lang="zh-CN" altLang="en-US" sz="2400" dirty="0">
                <a:latin typeface="Times New Roman" panose="02020603050405020304" pitchFamily="18" charset="0"/>
              </a:rPr>
              <a:t>ｃ，ａ），（ｈ，</a:t>
            </a:r>
            <a:r>
              <a:rPr lang="zh-CN" altLang="en-US" sz="2400">
                <a:latin typeface="Times New Roman" panose="02020603050405020304" pitchFamily="18" charset="0"/>
              </a:rPr>
              <a:t>ａ），</a:t>
            </a:r>
            <a:endParaRPr lang="en-US" altLang="zh-CN" sz="2400">
              <a:latin typeface="Times New Roman" panose="02020603050405020304" pitchFamily="18" charset="0"/>
            </a:endParaRPr>
          </a:p>
          <a:p>
            <a:pPr algn="just" eaLnBrk="1" hangingPunct="1">
              <a:lnSpc>
                <a:spcPct val="150000"/>
              </a:lnSpc>
              <a:spcBef>
                <a:spcPct val="0"/>
              </a:spcBef>
              <a:buFontTx/>
              <a:buNone/>
            </a:pPr>
            <a:r>
              <a:rPr lang="en-US" altLang="zh-CN" sz="2400">
                <a:latin typeface="Times New Roman" panose="02020603050405020304" pitchFamily="18" charset="0"/>
              </a:rPr>
              <a:t> 	</a:t>
            </a:r>
            <a:r>
              <a:rPr lang="zh-CN" altLang="en-US" sz="2400">
                <a:latin typeface="Times New Roman" panose="02020603050405020304" pitchFamily="18" charset="0"/>
              </a:rPr>
              <a:t>（</a:t>
            </a:r>
            <a:r>
              <a:rPr lang="zh-CN" altLang="en-US" sz="2400" dirty="0">
                <a:latin typeface="Times New Roman" panose="02020603050405020304" pitchFamily="18" charset="0"/>
              </a:rPr>
              <a:t>ｃ，</a:t>
            </a:r>
            <a:r>
              <a:rPr lang="zh-CN" altLang="en-US" sz="2400">
                <a:latin typeface="Times New Roman" panose="02020603050405020304" pitchFamily="18" charset="0"/>
              </a:rPr>
              <a:t>ｂ），（</a:t>
            </a:r>
            <a:r>
              <a:rPr lang="zh-CN" altLang="en-US" sz="2400" dirty="0">
                <a:latin typeface="Times New Roman" panose="02020603050405020304" pitchFamily="18" charset="0"/>
              </a:rPr>
              <a:t>ｈ，ｂ），（ｈ，ｃ），（ｄ，</a:t>
            </a:r>
            <a:r>
              <a:rPr lang="zh-CN" altLang="en-US" sz="2400">
                <a:latin typeface="Times New Roman" panose="02020603050405020304" pitchFamily="18" charset="0"/>
              </a:rPr>
              <a:t>ｉ），</a:t>
            </a:r>
            <a:endParaRPr lang="en-US" altLang="zh-CN" sz="2400">
              <a:latin typeface="Times New Roman" panose="02020603050405020304" pitchFamily="18" charset="0"/>
            </a:endParaRPr>
          </a:p>
          <a:p>
            <a:pPr algn="just" eaLnBrk="1" hangingPunct="1">
              <a:lnSpc>
                <a:spcPct val="150000"/>
              </a:lnSpc>
              <a:spcBef>
                <a:spcPct val="0"/>
              </a:spcBef>
              <a:buFontTx/>
              <a:buNone/>
            </a:pPr>
            <a:r>
              <a:rPr lang="en-US" altLang="zh-CN" sz="2400">
                <a:latin typeface="Times New Roman" panose="02020603050405020304" pitchFamily="18" charset="0"/>
              </a:rPr>
              <a:t> 	</a:t>
            </a:r>
            <a:r>
              <a:rPr lang="zh-CN" altLang="en-US" sz="2400">
                <a:latin typeface="Times New Roman" panose="02020603050405020304" pitchFamily="18" charset="0"/>
              </a:rPr>
              <a:t>（</a:t>
            </a:r>
            <a:r>
              <a:rPr lang="zh-CN" altLang="en-US" sz="2400" dirty="0">
                <a:latin typeface="Times New Roman" panose="02020603050405020304" pitchFamily="18" charset="0"/>
              </a:rPr>
              <a:t>ｉ，ｄ），（ｅ，ｆ）， </a:t>
            </a:r>
            <a:r>
              <a:rPr lang="en-US" altLang="zh-CN" sz="2400" dirty="0">
                <a:latin typeface="Times New Roman" panose="02020603050405020304" pitchFamily="18" charset="0"/>
              </a:rPr>
              <a:t>(</a:t>
            </a:r>
            <a:r>
              <a:rPr lang="zh-CN" altLang="en-US" sz="2400" dirty="0">
                <a:latin typeface="Times New Roman" panose="02020603050405020304" pitchFamily="18" charset="0"/>
              </a:rPr>
              <a:t>ｅ，</a:t>
            </a:r>
            <a:r>
              <a:rPr lang="zh-CN" altLang="en-US" sz="2400">
                <a:latin typeface="Times New Roman" panose="02020603050405020304" pitchFamily="18" charset="0"/>
              </a:rPr>
              <a:t>ｊ），（</a:t>
            </a:r>
            <a:r>
              <a:rPr lang="zh-CN" altLang="en-US" sz="2400" dirty="0">
                <a:latin typeface="Times New Roman" panose="02020603050405020304" pitchFamily="18" charset="0"/>
              </a:rPr>
              <a:t>ｅ，ｋ</a:t>
            </a:r>
            <a:r>
              <a:rPr lang="zh-CN" altLang="en-US" sz="2400">
                <a:latin typeface="Times New Roman" panose="02020603050405020304" pitchFamily="18" charset="0"/>
              </a:rPr>
              <a:t>），  </a:t>
            </a:r>
            <a:endParaRPr lang="en-US" altLang="zh-CN" sz="2400">
              <a:latin typeface="Times New Roman" panose="02020603050405020304" pitchFamily="18" charset="0"/>
            </a:endParaRPr>
          </a:p>
          <a:p>
            <a:pPr algn="just" eaLnBrk="1" hangingPunct="1">
              <a:lnSpc>
                <a:spcPct val="150000"/>
              </a:lnSpc>
              <a:spcBef>
                <a:spcPct val="0"/>
              </a:spcBef>
              <a:buFontTx/>
              <a:buNone/>
            </a:pPr>
            <a:r>
              <a:rPr lang="en-US" altLang="zh-CN" sz="2400">
                <a:latin typeface="Times New Roman" panose="02020603050405020304" pitchFamily="18" charset="0"/>
              </a:rPr>
              <a:t>	  (  </a:t>
            </a:r>
            <a:r>
              <a:rPr lang="en-US" altLang="zh-CN" sz="2400" dirty="0">
                <a:latin typeface="Times New Roman" panose="02020603050405020304" pitchFamily="18" charset="0"/>
              </a:rPr>
              <a:t>f  ,    j  )  </a:t>
            </a:r>
            <a:r>
              <a:rPr lang="zh-CN" altLang="en-US" sz="2400" dirty="0">
                <a:latin typeface="Times New Roman" panose="02020603050405020304" pitchFamily="18" charset="0"/>
              </a:rPr>
              <a:t>，（ｆ，</a:t>
            </a:r>
            <a:r>
              <a:rPr lang="zh-CN" altLang="en-US" sz="2400">
                <a:latin typeface="Times New Roman" panose="02020603050405020304" pitchFamily="18" charset="0"/>
              </a:rPr>
              <a:t>ｋ），（</a:t>
            </a:r>
            <a:r>
              <a:rPr lang="zh-CN" altLang="en-US" sz="2400" dirty="0">
                <a:latin typeface="Times New Roman" panose="02020603050405020304" pitchFamily="18" charset="0"/>
              </a:rPr>
              <a:t>ｊ，ｋ），（ｆ，</a:t>
            </a:r>
            <a:r>
              <a:rPr lang="zh-CN" altLang="en-US" sz="2400">
                <a:latin typeface="Times New Roman" panose="02020603050405020304" pitchFamily="18" charset="0"/>
              </a:rPr>
              <a:t>ｅ），</a:t>
            </a:r>
            <a:endParaRPr lang="en-US" altLang="zh-CN" sz="2400">
              <a:latin typeface="Times New Roman" panose="02020603050405020304" pitchFamily="18" charset="0"/>
            </a:endParaRPr>
          </a:p>
          <a:p>
            <a:pPr algn="just" eaLnBrk="1" hangingPunct="1">
              <a:lnSpc>
                <a:spcPct val="150000"/>
              </a:lnSpc>
              <a:spcBef>
                <a:spcPct val="0"/>
              </a:spcBef>
              <a:buFontTx/>
              <a:buNone/>
            </a:pPr>
            <a:r>
              <a:rPr lang="en-US" altLang="zh-CN" sz="2400">
                <a:latin typeface="Times New Roman" panose="02020603050405020304" pitchFamily="18" charset="0"/>
              </a:rPr>
              <a:t>	</a:t>
            </a:r>
            <a:r>
              <a:rPr lang="zh-CN" altLang="en-US" sz="2400">
                <a:latin typeface="Times New Roman" panose="02020603050405020304" pitchFamily="18" charset="0"/>
              </a:rPr>
              <a:t>（</a:t>
            </a:r>
            <a:r>
              <a:rPr lang="zh-CN" altLang="en-US" sz="2400" dirty="0">
                <a:latin typeface="Times New Roman" panose="02020603050405020304" pitchFamily="18" charset="0"/>
              </a:rPr>
              <a:t>ｊ，</a:t>
            </a:r>
            <a:r>
              <a:rPr lang="zh-CN" altLang="en-US" sz="2400">
                <a:latin typeface="Times New Roman" panose="02020603050405020304" pitchFamily="18" charset="0"/>
              </a:rPr>
              <a:t>ｅ），（</a:t>
            </a:r>
            <a:r>
              <a:rPr lang="zh-CN" altLang="en-US" sz="2400" dirty="0">
                <a:latin typeface="Times New Roman" panose="02020603050405020304" pitchFamily="18" charset="0"/>
              </a:rPr>
              <a:t>ｋ，ｅ），（ｊ，ｆ），（ｋ，</a:t>
            </a:r>
            <a:r>
              <a:rPr lang="zh-CN" altLang="en-US" sz="2400">
                <a:latin typeface="Times New Roman" panose="02020603050405020304" pitchFamily="18" charset="0"/>
              </a:rPr>
              <a:t>ｆ），</a:t>
            </a:r>
            <a:endParaRPr lang="en-US" altLang="zh-CN" sz="2400">
              <a:latin typeface="Times New Roman" panose="02020603050405020304" pitchFamily="18" charset="0"/>
            </a:endParaRPr>
          </a:p>
          <a:p>
            <a:pPr algn="just" eaLnBrk="1" hangingPunct="1">
              <a:lnSpc>
                <a:spcPct val="150000"/>
              </a:lnSpc>
              <a:spcBef>
                <a:spcPct val="0"/>
              </a:spcBef>
              <a:buFontTx/>
              <a:buNone/>
            </a:pPr>
            <a:r>
              <a:rPr lang="en-US" altLang="zh-CN" sz="2400">
                <a:latin typeface="Times New Roman" panose="02020603050405020304" pitchFamily="18" charset="0"/>
              </a:rPr>
              <a:t>	</a:t>
            </a:r>
            <a:r>
              <a:rPr lang="zh-CN" altLang="en-US" sz="2400">
                <a:latin typeface="Times New Roman" panose="02020603050405020304" pitchFamily="18" charset="0"/>
              </a:rPr>
              <a:t>（</a:t>
            </a:r>
            <a:r>
              <a:rPr lang="zh-CN" altLang="en-US" sz="2400" dirty="0">
                <a:latin typeface="Times New Roman" panose="02020603050405020304" pitchFamily="18" charset="0"/>
              </a:rPr>
              <a:t>ｋ，ｊ）｝</a:t>
            </a:r>
          </a:p>
        </p:txBody>
      </p:sp>
      <p:sp>
        <p:nvSpPr>
          <p:cNvPr id="4" name="文本框 3">
            <a:extLst>
              <a:ext uri="{FF2B5EF4-FFF2-40B4-BE49-F238E27FC236}">
                <a16:creationId xmlns:a16="http://schemas.microsoft.com/office/drawing/2014/main" id="{4BF20DF5-3D25-4AD5-8059-78C25FDF573D}"/>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9.5.5 Operation of Equivalence Relation*</a:t>
            </a:r>
            <a:endParaRPr lang="en-US" altLang="zh-CN" sz="3200" dirty="0"/>
          </a:p>
        </p:txBody>
      </p:sp>
    </p:spTree>
    <p:extLst>
      <p:ext uri="{BB962C8B-B14F-4D97-AF65-F5344CB8AC3E}">
        <p14:creationId xmlns:p14="http://schemas.microsoft.com/office/powerpoint/2010/main" val="1217928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5"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heckerboard(down)">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6D77F405-1A60-474B-86B1-05DCBB1D782C}"/>
              </a:ext>
            </a:extLst>
          </p:cNvPr>
          <p:cNvSpPr txBox="1">
            <a:spLocks noChangeArrowheads="1"/>
          </p:cNvSpPr>
          <p:nvPr/>
        </p:nvSpPr>
        <p:spPr bwMode="auto">
          <a:xfrm>
            <a:off x="879261" y="1487122"/>
            <a:ext cx="9718040" cy="3883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spcBef>
                <a:spcPct val="0"/>
              </a:spcBef>
              <a:buFontTx/>
              <a:buNone/>
            </a:pPr>
            <a:r>
              <a:rPr lang="zh-CN" altLang="en-US" sz="2400" dirty="0">
                <a:latin typeface="宋体" panose="02010600030101010101" pitchFamily="2" charset="-122"/>
              </a:rPr>
              <a:t>Ｒ</a:t>
            </a:r>
            <a:r>
              <a:rPr lang="en-US" altLang="zh-CN" sz="2400" baseline="-25000" dirty="0">
                <a:latin typeface="宋体" panose="02010600030101010101" pitchFamily="2" charset="-122"/>
              </a:rPr>
              <a:t>1</a:t>
            </a:r>
            <a:r>
              <a:rPr lang="en-US" altLang="zh-CN" sz="2400" dirty="0">
                <a:latin typeface="宋体" panose="02010600030101010101" pitchFamily="2" charset="-122"/>
              </a:rPr>
              <a:t>∩</a:t>
            </a:r>
            <a:r>
              <a:rPr lang="zh-CN" altLang="en-US" sz="2400" dirty="0">
                <a:latin typeface="宋体" panose="02010600030101010101" pitchFamily="2" charset="-122"/>
              </a:rPr>
              <a:t>Ｒ</a:t>
            </a:r>
            <a:r>
              <a:rPr lang="en-US" altLang="zh-CN" sz="2400" baseline="-25000" dirty="0">
                <a:latin typeface="宋体" panose="02010600030101010101" pitchFamily="2" charset="-122"/>
              </a:rPr>
              <a:t>2</a:t>
            </a:r>
            <a:r>
              <a:rPr lang="zh-CN" altLang="en-US" sz="2400" dirty="0">
                <a:latin typeface="宋体" panose="02010600030101010101" pitchFamily="2" charset="-122"/>
              </a:rPr>
              <a:t>＝｛（ａ，ａ），（ｂ，ｂ），（ｃ，</a:t>
            </a:r>
            <a:r>
              <a:rPr lang="zh-CN" altLang="en-US" sz="2400">
                <a:latin typeface="宋体" panose="02010600030101010101" pitchFamily="2" charset="-122"/>
              </a:rPr>
              <a:t>ｃ），</a:t>
            </a:r>
            <a:endParaRPr lang="en-US" altLang="zh-CN" sz="2400">
              <a:latin typeface="宋体" panose="02010600030101010101" pitchFamily="2" charset="-122"/>
            </a:endParaRPr>
          </a:p>
          <a:p>
            <a:pPr algn="just" eaLnBrk="1" hangingPunct="1">
              <a:lnSpc>
                <a:spcPct val="150000"/>
              </a:lnSpc>
              <a:spcBef>
                <a:spcPct val="0"/>
              </a:spcBef>
              <a:buFontTx/>
              <a:buNone/>
            </a:pPr>
            <a:r>
              <a:rPr lang="en-US" altLang="zh-CN" sz="2400">
                <a:latin typeface="宋体" panose="02010600030101010101" pitchFamily="2" charset="-122"/>
              </a:rPr>
              <a:t>		</a:t>
            </a:r>
            <a:r>
              <a:rPr lang="zh-CN" altLang="en-US" sz="2400">
                <a:latin typeface="宋体" panose="02010600030101010101" pitchFamily="2" charset="-122"/>
              </a:rPr>
              <a:t>（</a:t>
            </a:r>
            <a:r>
              <a:rPr lang="zh-CN" altLang="en-US" sz="2400" dirty="0">
                <a:latin typeface="宋体" panose="02010600030101010101" pitchFamily="2" charset="-122"/>
              </a:rPr>
              <a:t>ｄ，ｄ），（ｅ，ｅ），（ｆ，</a:t>
            </a:r>
            <a:r>
              <a:rPr lang="zh-CN" altLang="en-US" sz="2400">
                <a:latin typeface="宋体" panose="02010600030101010101" pitchFamily="2" charset="-122"/>
              </a:rPr>
              <a:t>ｆ），</a:t>
            </a:r>
            <a:endParaRPr lang="en-US" altLang="zh-CN" sz="2400">
              <a:latin typeface="宋体" panose="02010600030101010101" pitchFamily="2" charset="-122"/>
            </a:endParaRPr>
          </a:p>
          <a:p>
            <a:pPr algn="just" eaLnBrk="1" hangingPunct="1">
              <a:lnSpc>
                <a:spcPct val="150000"/>
              </a:lnSpc>
              <a:spcBef>
                <a:spcPct val="0"/>
              </a:spcBef>
              <a:buFontTx/>
              <a:buNone/>
            </a:pPr>
            <a:r>
              <a:rPr lang="en-US" altLang="zh-CN" sz="2400">
                <a:latin typeface="宋体" panose="02010600030101010101" pitchFamily="2" charset="-122"/>
              </a:rPr>
              <a:t>		</a:t>
            </a:r>
            <a:r>
              <a:rPr lang="zh-CN" altLang="en-US" sz="2400">
                <a:latin typeface="宋体" panose="02010600030101010101" pitchFamily="2" charset="-122"/>
              </a:rPr>
              <a:t>（</a:t>
            </a:r>
            <a:r>
              <a:rPr lang="zh-CN" altLang="en-US" sz="2400" dirty="0">
                <a:latin typeface="宋体" panose="02010600030101010101" pitchFamily="2" charset="-122"/>
              </a:rPr>
              <a:t>ｇ，ｇ），（ｈ，ｈ），（ｉ，</a:t>
            </a:r>
            <a:r>
              <a:rPr lang="zh-CN" altLang="en-US" sz="2400">
                <a:latin typeface="宋体" panose="02010600030101010101" pitchFamily="2" charset="-122"/>
              </a:rPr>
              <a:t>ｉ），</a:t>
            </a:r>
            <a:endParaRPr lang="en-US" altLang="zh-CN" sz="2400">
              <a:latin typeface="宋体" panose="02010600030101010101" pitchFamily="2" charset="-122"/>
            </a:endParaRPr>
          </a:p>
          <a:p>
            <a:pPr algn="just" eaLnBrk="1" hangingPunct="1">
              <a:lnSpc>
                <a:spcPct val="150000"/>
              </a:lnSpc>
              <a:spcBef>
                <a:spcPct val="0"/>
              </a:spcBef>
              <a:buFontTx/>
              <a:buNone/>
            </a:pPr>
            <a:r>
              <a:rPr lang="en-US" altLang="zh-CN" sz="2400">
                <a:latin typeface="宋体" panose="02010600030101010101" pitchFamily="2" charset="-122"/>
              </a:rPr>
              <a:t>		</a:t>
            </a:r>
            <a:r>
              <a:rPr lang="zh-CN" altLang="en-US" sz="2400">
                <a:latin typeface="宋体" panose="02010600030101010101" pitchFamily="2" charset="-122"/>
              </a:rPr>
              <a:t>（</a:t>
            </a:r>
            <a:r>
              <a:rPr lang="zh-CN" altLang="en-US" sz="2400" dirty="0">
                <a:latin typeface="宋体" panose="02010600030101010101" pitchFamily="2" charset="-122"/>
              </a:rPr>
              <a:t>ｊ，ｊ），（ｋ，ｋ），（ａ，</a:t>
            </a:r>
            <a:r>
              <a:rPr lang="zh-CN" altLang="en-US" sz="2400">
                <a:latin typeface="宋体" panose="02010600030101010101" pitchFamily="2" charset="-122"/>
              </a:rPr>
              <a:t>ｂ），</a:t>
            </a:r>
            <a:endParaRPr lang="en-US" altLang="zh-CN" sz="2400">
              <a:latin typeface="宋体" panose="02010600030101010101" pitchFamily="2" charset="-122"/>
            </a:endParaRPr>
          </a:p>
          <a:p>
            <a:pPr algn="just" eaLnBrk="1" hangingPunct="1">
              <a:lnSpc>
                <a:spcPct val="150000"/>
              </a:lnSpc>
              <a:spcBef>
                <a:spcPct val="0"/>
              </a:spcBef>
              <a:buFontTx/>
              <a:buNone/>
            </a:pPr>
            <a:r>
              <a:rPr lang="en-US" altLang="zh-CN" sz="2400">
                <a:latin typeface="宋体" panose="02010600030101010101" pitchFamily="2" charset="-122"/>
              </a:rPr>
              <a:t>		</a:t>
            </a:r>
            <a:r>
              <a:rPr lang="zh-CN" altLang="en-US" sz="2400">
                <a:latin typeface="宋体" panose="02010600030101010101" pitchFamily="2" charset="-122"/>
              </a:rPr>
              <a:t>（</a:t>
            </a:r>
            <a:r>
              <a:rPr lang="zh-CN" altLang="en-US" sz="2400" dirty="0">
                <a:latin typeface="宋体" panose="02010600030101010101" pitchFamily="2" charset="-122"/>
              </a:rPr>
              <a:t>ａ，ｃ），（ｂ，ｃ），（ｅ，</a:t>
            </a:r>
            <a:r>
              <a:rPr lang="zh-CN" altLang="en-US" sz="2400">
                <a:latin typeface="宋体" panose="02010600030101010101" pitchFamily="2" charset="-122"/>
              </a:rPr>
              <a:t>ｆ），</a:t>
            </a:r>
            <a:endParaRPr lang="en-US" altLang="zh-CN" sz="2400">
              <a:latin typeface="宋体" panose="02010600030101010101" pitchFamily="2" charset="-122"/>
            </a:endParaRPr>
          </a:p>
          <a:p>
            <a:pPr algn="just" eaLnBrk="1" hangingPunct="1">
              <a:lnSpc>
                <a:spcPct val="150000"/>
              </a:lnSpc>
              <a:spcBef>
                <a:spcPct val="0"/>
              </a:spcBef>
              <a:buFontTx/>
              <a:buNone/>
            </a:pPr>
            <a:r>
              <a:rPr lang="en-US" altLang="zh-CN" sz="2400">
                <a:latin typeface="宋体" panose="02010600030101010101" pitchFamily="2" charset="-122"/>
              </a:rPr>
              <a:t>		</a:t>
            </a:r>
            <a:r>
              <a:rPr lang="zh-CN" altLang="en-US" sz="2400">
                <a:latin typeface="宋体" panose="02010600030101010101" pitchFamily="2" charset="-122"/>
              </a:rPr>
              <a:t>（</a:t>
            </a:r>
            <a:r>
              <a:rPr lang="zh-CN" altLang="en-US" sz="2400" dirty="0">
                <a:latin typeface="宋体" panose="02010600030101010101" pitchFamily="2" charset="-122"/>
              </a:rPr>
              <a:t>ｊ，ｋ），（ｂ，ａ），（ｃ，</a:t>
            </a:r>
            <a:r>
              <a:rPr lang="zh-CN" altLang="en-US" sz="2400">
                <a:latin typeface="宋体" panose="02010600030101010101" pitchFamily="2" charset="-122"/>
              </a:rPr>
              <a:t>ａ），</a:t>
            </a:r>
            <a:endParaRPr lang="en-US" altLang="zh-CN" sz="2400">
              <a:latin typeface="宋体" panose="02010600030101010101" pitchFamily="2" charset="-122"/>
            </a:endParaRPr>
          </a:p>
          <a:p>
            <a:pPr algn="just" eaLnBrk="1" hangingPunct="1">
              <a:lnSpc>
                <a:spcPct val="150000"/>
              </a:lnSpc>
              <a:spcBef>
                <a:spcPct val="0"/>
              </a:spcBef>
              <a:buFontTx/>
              <a:buNone/>
            </a:pPr>
            <a:r>
              <a:rPr lang="en-US" altLang="zh-CN" sz="2400">
                <a:latin typeface="宋体" panose="02010600030101010101" pitchFamily="2" charset="-122"/>
              </a:rPr>
              <a:t>		</a:t>
            </a:r>
            <a:r>
              <a:rPr lang="zh-CN" altLang="en-US" sz="2400">
                <a:latin typeface="宋体" panose="02010600030101010101" pitchFamily="2" charset="-122"/>
              </a:rPr>
              <a:t>（</a:t>
            </a:r>
            <a:r>
              <a:rPr lang="zh-CN" altLang="en-US" sz="2400" dirty="0">
                <a:latin typeface="宋体" panose="02010600030101010101" pitchFamily="2" charset="-122"/>
              </a:rPr>
              <a:t>ｃ，ｂ），（ｆ，ｅ），（ｋ，ｊ）</a:t>
            </a:r>
            <a:endParaRPr lang="zh-CN" altLang="en-US" sz="2000" dirty="0">
              <a:latin typeface="宋体" panose="02010600030101010101" pitchFamily="2" charset="-122"/>
            </a:endParaRPr>
          </a:p>
        </p:txBody>
      </p:sp>
      <p:sp>
        <p:nvSpPr>
          <p:cNvPr id="5" name="文本框 4">
            <a:extLst>
              <a:ext uri="{FF2B5EF4-FFF2-40B4-BE49-F238E27FC236}">
                <a16:creationId xmlns:a16="http://schemas.microsoft.com/office/drawing/2014/main" id="{3A56FEC8-2182-4835-939B-DBA370F5E9B6}"/>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9.5.5 Operation of Equivalence Relation*</a:t>
            </a:r>
            <a:endParaRPr lang="en-US" altLang="zh-CN" sz="3200" dirty="0"/>
          </a:p>
        </p:txBody>
      </p:sp>
    </p:spTree>
    <p:extLst>
      <p:ext uri="{BB962C8B-B14F-4D97-AF65-F5344CB8AC3E}">
        <p14:creationId xmlns:p14="http://schemas.microsoft.com/office/powerpoint/2010/main" val="1653702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E0C9D9AA-DC98-4AD3-8C8F-9609389F5CBF}"/>
              </a:ext>
            </a:extLst>
          </p:cNvPr>
          <p:cNvSpPr txBox="1">
            <a:spLocks noChangeArrowheads="1"/>
          </p:cNvSpPr>
          <p:nvPr/>
        </p:nvSpPr>
        <p:spPr bwMode="auto">
          <a:xfrm>
            <a:off x="685800" y="831850"/>
            <a:ext cx="10937240" cy="55457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zh-CN" altLang="en-US" sz="2400" dirty="0">
                <a:latin typeface="宋体" panose="02010600030101010101" pitchFamily="2" charset="-122"/>
              </a:rPr>
              <a:t>Ｒ</a:t>
            </a:r>
            <a:r>
              <a:rPr lang="en-US" altLang="zh-CN" sz="2400" baseline="-25000" dirty="0">
                <a:latin typeface="宋体" panose="02010600030101010101" pitchFamily="2" charset="-122"/>
              </a:rPr>
              <a:t>1</a:t>
            </a:r>
            <a:r>
              <a:rPr lang="en-US" altLang="zh-CN" sz="2400" dirty="0">
                <a:latin typeface="宋体" panose="02010600030101010101" pitchFamily="2" charset="-122"/>
              </a:rPr>
              <a:t>∪</a:t>
            </a:r>
            <a:r>
              <a:rPr lang="zh-CN" altLang="en-US" sz="2400" dirty="0">
                <a:latin typeface="宋体" panose="02010600030101010101" pitchFamily="2" charset="-122"/>
              </a:rPr>
              <a:t>Ｒ</a:t>
            </a:r>
            <a:r>
              <a:rPr lang="en-US" altLang="zh-CN" sz="2400" baseline="-25000" dirty="0">
                <a:latin typeface="宋体" panose="02010600030101010101" pitchFamily="2" charset="-122"/>
              </a:rPr>
              <a:t>2</a:t>
            </a:r>
            <a:r>
              <a:rPr lang="zh-CN" altLang="en-US" sz="2400" dirty="0">
                <a:latin typeface="宋体" panose="02010600030101010101" pitchFamily="2" charset="-122"/>
              </a:rPr>
              <a:t>＝｛（ａ，ａ），（ｂ，ｂ），（ｃ，ｃ），（ｄ，ｄ），（ｅ，</a:t>
            </a:r>
            <a:r>
              <a:rPr lang="zh-CN" altLang="en-US" sz="2400">
                <a:latin typeface="宋体" panose="02010600030101010101" pitchFamily="2" charset="-122"/>
              </a:rPr>
              <a:t>ｅ），</a:t>
            </a:r>
            <a:endParaRPr lang="en-US" altLang="zh-CN" sz="2400">
              <a:latin typeface="宋体" panose="02010600030101010101" pitchFamily="2" charset="-122"/>
            </a:endParaRPr>
          </a:p>
          <a:p>
            <a:pPr eaLnBrk="1" hangingPunct="1">
              <a:lnSpc>
                <a:spcPct val="150000"/>
              </a:lnSpc>
              <a:spcBef>
                <a:spcPct val="0"/>
              </a:spcBef>
              <a:buFontTx/>
              <a:buNone/>
            </a:pPr>
            <a:r>
              <a:rPr lang="en-US" altLang="zh-CN" sz="2400">
                <a:latin typeface="宋体" panose="02010600030101010101" pitchFamily="2" charset="-122"/>
              </a:rPr>
              <a:t>		</a:t>
            </a:r>
            <a:r>
              <a:rPr lang="zh-CN" altLang="en-US" sz="2400">
                <a:latin typeface="宋体" panose="02010600030101010101" pitchFamily="2" charset="-122"/>
              </a:rPr>
              <a:t>（</a:t>
            </a:r>
            <a:r>
              <a:rPr lang="zh-CN" altLang="en-US" sz="2400" dirty="0">
                <a:latin typeface="宋体" panose="02010600030101010101" pitchFamily="2" charset="-122"/>
              </a:rPr>
              <a:t>ｆ，ｆ），（ｇ，ｇ），（ｈ，ｈ），（ｉ，ｉ），（ｊ，</a:t>
            </a:r>
            <a:r>
              <a:rPr lang="zh-CN" altLang="en-US" sz="2400">
                <a:latin typeface="宋体" panose="02010600030101010101" pitchFamily="2" charset="-122"/>
              </a:rPr>
              <a:t>ｊ），</a:t>
            </a:r>
            <a:r>
              <a:rPr lang="en-US" altLang="zh-CN" sz="2400">
                <a:latin typeface="宋体" panose="02010600030101010101" pitchFamily="2" charset="-122"/>
              </a:rPr>
              <a:t>		</a:t>
            </a:r>
            <a:r>
              <a:rPr lang="zh-CN" altLang="en-US" sz="2400">
                <a:latin typeface="宋体" panose="02010600030101010101" pitchFamily="2" charset="-122"/>
              </a:rPr>
              <a:t>（</a:t>
            </a:r>
            <a:r>
              <a:rPr lang="zh-CN" altLang="en-US" sz="2400" dirty="0">
                <a:latin typeface="宋体" panose="02010600030101010101" pitchFamily="2" charset="-122"/>
              </a:rPr>
              <a:t>ｋ，ｋ），（ａ，ｂ），（ａ，ｃ），（ａ，ｄ），（ｂ，</a:t>
            </a:r>
            <a:r>
              <a:rPr lang="zh-CN" altLang="en-US" sz="2400">
                <a:latin typeface="宋体" panose="02010600030101010101" pitchFamily="2" charset="-122"/>
              </a:rPr>
              <a:t>ｃ），</a:t>
            </a:r>
            <a:r>
              <a:rPr lang="en-US" altLang="zh-CN" sz="2400">
                <a:latin typeface="宋体" panose="02010600030101010101" pitchFamily="2" charset="-122"/>
              </a:rPr>
              <a:t>		</a:t>
            </a:r>
            <a:r>
              <a:rPr lang="zh-CN" altLang="en-US" sz="2400">
                <a:latin typeface="宋体" panose="02010600030101010101" pitchFamily="2" charset="-122"/>
              </a:rPr>
              <a:t>（</a:t>
            </a:r>
            <a:r>
              <a:rPr lang="zh-CN" altLang="en-US" sz="2400" dirty="0">
                <a:latin typeface="宋体" panose="02010600030101010101" pitchFamily="2" charset="-122"/>
              </a:rPr>
              <a:t>ｂ，ｄ），（ｃ，ｄ），（ｂ，ａ），（ｃ，ａ），（ｄ，</a:t>
            </a:r>
            <a:r>
              <a:rPr lang="zh-CN" altLang="en-US" sz="2400">
                <a:latin typeface="宋体" panose="02010600030101010101" pitchFamily="2" charset="-122"/>
              </a:rPr>
              <a:t>ａ），</a:t>
            </a:r>
            <a:r>
              <a:rPr lang="en-US" altLang="zh-CN" sz="2400">
                <a:latin typeface="宋体" panose="02010600030101010101" pitchFamily="2" charset="-122"/>
              </a:rPr>
              <a:t>		</a:t>
            </a:r>
            <a:r>
              <a:rPr lang="zh-CN" altLang="en-US" sz="2400">
                <a:latin typeface="宋体" panose="02010600030101010101" pitchFamily="2" charset="-122"/>
              </a:rPr>
              <a:t>（</a:t>
            </a:r>
            <a:r>
              <a:rPr lang="zh-CN" altLang="en-US" sz="2400" dirty="0">
                <a:latin typeface="宋体" panose="02010600030101010101" pitchFamily="2" charset="-122"/>
              </a:rPr>
              <a:t>ｃ，ｂ），（ｄ，ｂ），（ｄ，ｃ），（ａ，ｈ），（ｂ，</a:t>
            </a:r>
            <a:r>
              <a:rPr lang="zh-CN" altLang="en-US" sz="2400">
                <a:latin typeface="宋体" panose="02010600030101010101" pitchFamily="2" charset="-122"/>
              </a:rPr>
              <a:t>ｈ），</a:t>
            </a:r>
            <a:r>
              <a:rPr lang="en-US" altLang="zh-CN" sz="2400">
                <a:latin typeface="宋体" panose="02010600030101010101" pitchFamily="2" charset="-122"/>
              </a:rPr>
              <a:t>		</a:t>
            </a:r>
            <a:r>
              <a:rPr lang="zh-CN" altLang="en-US" sz="2400">
                <a:latin typeface="宋体" panose="02010600030101010101" pitchFamily="2" charset="-122"/>
              </a:rPr>
              <a:t>（</a:t>
            </a:r>
            <a:r>
              <a:rPr lang="zh-CN" altLang="en-US" sz="2400" dirty="0">
                <a:latin typeface="宋体" panose="02010600030101010101" pitchFamily="2" charset="-122"/>
              </a:rPr>
              <a:t>ｃ，ｈ），（ｈ，ａ），（ｈ，ｂ），（ｈ，ｃ），（ｅ，</a:t>
            </a:r>
            <a:r>
              <a:rPr lang="zh-CN" altLang="en-US" sz="2400">
                <a:latin typeface="宋体" panose="02010600030101010101" pitchFamily="2" charset="-122"/>
              </a:rPr>
              <a:t>ｆ），</a:t>
            </a:r>
            <a:r>
              <a:rPr lang="en-US" altLang="zh-CN" sz="2400">
                <a:latin typeface="宋体" panose="02010600030101010101" pitchFamily="2" charset="-122"/>
              </a:rPr>
              <a:t>		</a:t>
            </a:r>
            <a:r>
              <a:rPr lang="zh-CN" altLang="en-US" sz="2400">
                <a:latin typeface="宋体" panose="02010600030101010101" pitchFamily="2" charset="-122"/>
              </a:rPr>
              <a:t>（</a:t>
            </a:r>
            <a:r>
              <a:rPr lang="zh-CN" altLang="en-US" sz="2400" dirty="0">
                <a:latin typeface="宋体" panose="02010600030101010101" pitchFamily="2" charset="-122"/>
              </a:rPr>
              <a:t>ｅ，ｇ），（ｆ，ｇ），（ｆ，ｅ），（ｇ，ｅ），（ｇ，</a:t>
            </a:r>
            <a:r>
              <a:rPr lang="zh-CN" altLang="en-US" sz="2400">
                <a:latin typeface="宋体" panose="02010600030101010101" pitchFamily="2" charset="-122"/>
              </a:rPr>
              <a:t>ｆ），</a:t>
            </a:r>
            <a:r>
              <a:rPr lang="en-US" altLang="zh-CN" sz="2400">
                <a:latin typeface="宋体" panose="02010600030101010101" pitchFamily="2" charset="-122"/>
              </a:rPr>
              <a:t>		</a:t>
            </a:r>
            <a:r>
              <a:rPr lang="zh-CN" altLang="en-US" sz="2400">
                <a:latin typeface="宋体" panose="02010600030101010101" pitchFamily="2" charset="-122"/>
              </a:rPr>
              <a:t>（</a:t>
            </a:r>
            <a:r>
              <a:rPr lang="zh-CN" altLang="en-US" sz="2400" dirty="0">
                <a:latin typeface="宋体" panose="02010600030101010101" pitchFamily="2" charset="-122"/>
              </a:rPr>
              <a:t>ｈ，ｉ），（ｉ，ｈ），（ｊ，ｋ），（ｋ，ｊ），（ｄ，</a:t>
            </a:r>
            <a:r>
              <a:rPr lang="zh-CN" altLang="en-US" sz="2400">
                <a:latin typeface="宋体" panose="02010600030101010101" pitchFamily="2" charset="-122"/>
              </a:rPr>
              <a:t>ｉ），</a:t>
            </a:r>
            <a:r>
              <a:rPr lang="en-US" altLang="zh-CN" sz="2400">
                <a:latin typeface="宋体" panose="02010600030101010101" pitchFamily="2" charset="-122"/>
              </a:rPr>
              <a:t>		</a:t>
            </a:r>
            <a:r>
              <a:rPr lang="zh-CN" altLang="en-US" sz="2400">
                <a:latin typeface="宋体" panose="02010600030101010101" pitchFamily="2" charset="-122"/>
              </a:rPr>
              <a:t>（</a:t>
            </a:r>
            <a:r>
              <a:rPr lang="zh-CN" altLang="en-US" sz="2400" dirty="0">
                <a:latin typeface="宋体" panose="02010600030101010101" pitchFamily="2" charset="-122"/>
              </a:rPr>
              <a:t>ｉ，ｄ），（ｅ，ｊ），（ｅ，ｋ），（ｆ，ｊ），（ｆ，</a:t>
            </a:r>
            <a:r>
              <a:rPr lang="zh-CN" altLang="en-US" sz="2400">
                <a:latin typeface="宋体" panose="02010600030101010101" pitchFamily="2" charset="-122"/>
              </a:rPr>
              <a:t>ｋ），</a:t>
            </a:r>
            <a:r>
              <a:rPr lang="en-US" altLang="zh-CN" sz="2400">
                <a:latin typeface="宋体" panose="02010600030101010101" pitchFamily="2" charset="-122"/>
              </a:rPr>
              <a:t>		</a:t>
            </a:r>
            <a:r>
              <a:rPr lang="zh-CN" altLang="en-US" sz="2400">
                <a:latin typeface="宋体" panose="02010600030101010101" pitchFamily="2" charset="-122"/>
              </a:rPr>
              <a:t>（</a:t>
            </a:r>
            <a:r>
              <a:rPr lang="zh-CN" altLang="en-US" sz="2400" dirty="0">
                <a:latin typeface="宋体" panose="02010600030101010101" pitchFamily="2" charset="-122"/>
              </a:rPr>
              <a:t>ｊ，ｅ），（ｋ，ｅ），（ｊ，ｆ），（ｋ，ｆ）｝</a:t>
            </a:r>
            <a:endParaRPr lang="zh-CN" altLang="en-US" sz="2000" dirty="0">
              <a:latin typeface="宋体" panose="02010600030101010101" pitchFamily="2" charset="-122"/>
            </a:endParaRPr>
          </a:p>
        </p:txBody>
      </p:sp>
      <p:sp>
        <p:nvSpPr>
          <p:cNvPr id="5" name="文本框 4">
            <a:extLst>
              <a:ext uri="{FF2B5EF4-FFF2-40B4-BE49-F238E27FC236}">
                <a16:creationId xmlns:a16="http://schemas.microsoft.com/office/drawing/2014/main" id="{6431E3DF-D536-470D-B671-9A6DC63D0695}"/>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9.5.5 Operation of Equivalence Relation*</a:t>
            </a:r>
            <a:endParaRPr lang="en-US" altLang="zh-CN" sz="3200" dirty="0"/>
          </a:p>
        </p:txBody>
      </p:sp>
    </p:spTree>
    <p:extLst>
      <p:ext uri="{BB962C8B-B14F-4D97-AF65-F5344CB8AC3E}">
        <p14:creationId xmlns:p14="http://schemas.microsoft.com/office/powerpoint/2010/main" val="2394280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4"/>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FB8B27BB-26FA-4393-8901-411CB38CEC57}"/>
              </a:ext>
            </a:extLst>
          </p:cNvPr>
          <p:cNvSpPr txBox="1">
            <a:spLocks noChangeArrowheads="1"/>
          </p:cNvSpPr>
          <p:nvPr/>
        </p:nvSpPr>
        <p:spPr bwMode="auto">
          <a:xfrm>
            <a:off x="376597" y="946752"/>
            <a:ext cx="11438806" cy="1130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spcBef>
                <a:spcPct val="50000"/>
              </a:spcBef>
              <a:buFontTx/>
              <a:buNone/>
            </a:pPr>
            <a:r>
              <a:rPr lang="en-US" altLang="zh-CN" sz="2400">
                <a:latin typeface="Times New Roman" panose="02020603050405020304" pitchFamily="18" charset="0"/>
              </a:rPr>
              <a:t>         </a:t>
            </a:r>
            <a:r>
              <a:rPr lang="zh-CN" altLang="en-US" sz="2400">
                <a:latin typeface="Times New Roman" panose="02020603050405020304" pitchFamily="18" charset="0"/>
              </a:rPr>
              <a:t>但Ｒ</a:t>
            </a:r>
            <a:r>
              <a:rPr lang="en-US" altLang="zh-CN" sz="2400" baseline="-25000">
                <a:latin typeface="Times New Roman" panose="02020603050405020304" pitchFamily="18" charset="0"/>
              </a:rPr>
              <a:t>1</a:t>
            </a:r>
            <a:r>
              <a:rPr lang="en-US" altLang="zh-CN" sz="2400">
                <a:latin typeface="Times New Roman" panose="02020603050405020304" pitchFamily="18" charset="0"/>
              </a:rPr>
              <a:t>∪</a:t>
            </a:r>
            <a:r>
              <a:rPr lang="zh-CN" altLang="en-US" sz="2400">
                <a:latin typeface="Times New Roman" panose="02020603050405020304" pitchFamily="18" charset="0"/>
              </a:rPr>
              <a:t>Ｒ</a:t>
            </a:r>
            <a:r>
              <a:rPr lang="en-US" altLang="zh-CN" sz="2400" baseline="-25000">
                <a:latin typeface="Times New Roman" panose="02020603050405020304" pitchFamily="18" charset="0"/>
              </a:rPr>
              <a:t>2</a:t>
            </a:r>
            <a:r>
              <a:rPr lang="zh-CN" altLang="en-US" sz="2400">
                <a:latin typeface="Times New Roman" panose="02020603050405020304" pitchFamily="18" charset="0"/>
              </a:rPr>
              <a:t>不是传递的，如：（ｃ，ｈ），（ｈ，ｉ）∈Ｒ</a:t>
            </a:r>
            <a:r>
              <a:rPr lang="en-US" altLang="zh-CN" sz="2400" baseline="-25000">
                <a:latin typeface="Times New Roman" panose="02020603050405020304" pitchFamily="18" charset="0"/>
              </a:rPr>
              <a:t>1</a:t>
            </a:r>
            <a:r>
              <a:rPr lang="en-US" altLang="zh-CN" sz="2400">
                <a:latin typeface="Times New Roman" panose="02020603050405020304" pitchFamily="18" charset="0"/>
              </a:rPr>
              <a:t>∪</a:t>
            </a:r>
            <a:r>
              <a:rPr lang="zh-CN" altLang="en-US" sz="2400">
                <a:latin typeface="Times New Roman" panose="02020603050405020304" pitchFamily="18" charset="0"/>
              </a:rPr>
              <a:t>Ｒ</a:t>
            </a:r>
            <a:r>
              <a:rPr lang="en-US" altLang="zh-CN" sz="2400" baseline="-25000">
                <a:latin typeface="Times New Roman" panose="02020603050405020304" pitchFamily="18" charset="0"/>
              </a:rPr>
              <a:t>2</a:t>
            </a:r>
            <a:r>
              <a:rPr lang="zh-CN" altLang="en-US" sz="2400">
                <a:latin typeface="Times New Roman" panose="02020603050405020304" pitchFamily="18" charset="0"/>
              </a:rPr>
              <a:t>，而（ｃ，ｉ）</a:t>
            </a:r>
            <a:r>
              <a:rPr lang="zh-CN" altLang="en-US" sz="2400">
                <a:latin typeface="Times New Roman" panose="02020603050405020304" pitchFamily="18" charset="0"/>
                <a:sym typeface="Symbol" panose="05050102010706020507" pitchFamily="18" charset="2"/>
              </a:rPr>
              <a:t></a:t>
            </a:r>
            <a:r>
              <a:rPr lang="zh-CN" altLang="en-US" sz="2400">
                <a:latin typeface="Times New Roman" panose="02020603050405020304" pitchFamily="18" charset="0"/>
              </a:rPr>
              <a:t>Ｒ</a:t>
            </a:r>
            <a:r>
              <a:rPr lang="en-US" altLang="zh-CN" sz="2400" baseline="-25000">
                <a:latin typeface="Times New Roman" panose="02020603050405020304" pitchFamily="18" charset="0"/>
              </a:rPr>
              <a:t>1</a:t>
            </a:r>
            <a:r>
              <a:rPr lang="en-US" altLang="zh-CN" sz="2400">
                <a:latin typeface="Times New Roman" panose="02020603050405020304" pitchFamily="18" charset="0"/>
              </a:rPr>
              <a:t>∪</a:t>
            </a:r>
            <a:r>
              <a:rPr lang="zh-CN" altLang="en-US" sz="2400">
                <a:latin typeface="Times New Roman" panose="02020603050405020304" pitchFamily="18" charset="0"/>
              </a:rPr>
              <a:t>Ｒ</a:t>
            </a:r>
            <a:r>
              <a:rPr lang="en-US" altLang="zh-CN" sz="2400" baseline="-25000">
                <a:latin typeface="Times New Roman" panose="02020603050405020304" pitchFamily="18" charset="0"/>
              </a:rPr>
              <a:t>2</a:t>
            </a:r>
            <a:r>
              <a:rPr lang="zh-CN" altLang="en-US" sz="2400">
                <a:latin typeface="Times New Roman" panose="02020603050405020304" pitchFamily="18" charset="0"/>
              </a:rPr>
              <a:t>。 把Ｒ</a:t>
            </a:r>
            <a:r>
              <a:rPr lang="en-US" altLang="zh-CN" sz="2400" baseline="-25000">
                <a:latin typeface="Times New Roman" panose="02020603050405020304" pitchFamily="18" charset="0"/>
              </a:rPr>
              <a:t>1</a:t>
            </a:r>
            <a:r>
              <a:rPr lang="en-US" altLang="zh-CN" sz="2400">
                <a:latin typeface="Times New Roman" panose="02020603050405020304" pitchFamily="18" charset="0"/>
              </a:rPr>
              <a:t>∪</a:t>
            </a:r>
            <a:r>
              <a:rPr lang="zh-CN" altLang="en-US" sz="2400">
                <a:latin typeface="Times New Roman" panose="02020603050405020304" pitchFamily="18" charset="0"/>
              </a:rPr>
              <a:t>Ｒ</a:t>
            </a:r>
            <a:r>
              <a:rPr lang="en-US" altLang="zh-CN" sz="2400" baseline="-25000">
                <a:latin typeface="Times New Roman" panose="02020603050405020304" pitchFamily="18" charset="0"/>
              </a:rPr>
              <a:t>2</a:t>
            </a:r>
            <a:r>
              <a:rPr lang="zh-CN" altLang="en-US" sz="2400">
                <a:latin typeface="Times New Roman" panose="02020603050405020304" pitchFamily="18" charset="0"/>
              </a:rPr>
              <a:t>扩张到传递性满足，就是（Ｒ</a:t>
            </a:r>
            <a:r>
              <a:rPr lang="en-US" altLang="zh-CN" sz="2400" baseline="-25000">
                <a:latin typeface="Times New Roman" panose="02020603050405020304" pitchFamily="18" charset="0"/>
              </a:rPr>
              <a:t>1</a:t>
            </a:r>
            <a:r>
              <a:rPr lang="en-US" altLang="zh-CN" sz="2400">
                <a:latin typeface="Times New Roman" panose="02020603050405020304" pitchFamily="18" charset="0"/>
              </a:rPr>
              <a:t>∪</a:t>
            </a:r>
            <a:r>
              <a:rPr lang="zh-CN" altLang="en-US" sz="2400">
                <a:latin typeface="Times New Roman" panose="02020603050405020304" pitchFamily="18" charset="0"/>
              </a:rPr>
              <a:t>Ｒ</a:t>
            </a:r>
            <a:r>
              <a:rPr lang="en-US" altLang="zh-CN" sz="2400" baseline="-25000">
                <a:latin typeface="Times New Roman" panose="02020603050405020304" pitchFamily="18" charset="0"/>
              </a:rPr>
              <a:t>2</a:t>
            </a:r>
            <a:r>
              <a:rPr lang="zh-CN" altLang="en-US" sz="2400">
                <a:latin typeface="Times New Roman" panose="02020603050405020304" pitchFamily="18" charset="0"/>
              </a:rPr>
              <a:t>）</a:t>
            </a:r>
            <a:r>
              <a:rPr lang="zh-CN" altLang="en-US" sz="2400" baseline="30000">
                <a:latin typeface="Times New Roman" panose="02020603050405020304" pitchFamily="18" charset="0"/>
              </a:rPr>
              <a:t>*</a:t>
            </a:r>
            <a:r>
              <a:rPr lang="zh-CN" altLang="en-US" sz="2400">
                <a:latin typeface="Times New Roman" panose="02020603050405020304" pitchFamily="18" charset="0"/>
              </a:rPr>
              <a:t>。</a:t>
            </a:r>
          </a:p>
        </p:txBody>
      </p:sp>
      <p:graphicFrame>
        <p:nvGraphicFramePr>
          <p:cNvPr id="5" name="Object 3">
            <a:extLst>
              <a:ext uri="{FF2B5EF4-FFF2-40B4-BE49-F238E27FC236}">
                <a16:creationId xmlns:a16="http://schemas.microsoft.com/office/drawing/2014/main" id="{9DA22776-FB6A-44C5-9141-A12BB683EDE6}"/>
              </a:ext>
            </a:extLst>
          </p:cNvPr>
          <p:cNvGraphicFramePr>
            <a:graphicFrameLocks noChangeAspect="1"/>
          </p:cNvGraphicFramePr>
          <p:nvPr>
            <p:extLst>
              <p:ext uri="{D42A27DB-BD31-4B8C-83A1-F6EECF244321}">
                <p14:modId xmlns:p14="http://schemas.microsoft.com/office/powerpoint/2010/main" val="3027251883"/>
              </p:ext>
            </p:extLst>
          </p:nvPr>
        </p:nvGraphicFramePr>
        <p:xfrm>
          <a:off x="376597" y="2791427"/>
          <a:ext cx="6705600" cy="3581400"/>
        </p:xfrm>
        <a:graphic>
          <a:graphicData uri="http://schemas.openxmlformats.org/presentationml/2006/ole">
            <mc:AlternateContent xmlns:mc="http://schemas.openxmlformats.org/markup-compatibility/2006">
              <mc:Choice xmlns:v="urn:schemas-microsoft-com:vml" Requires="v">
                <p:oleObj r:id="rId2" imgW="2743200" imgH="1382268" progId="Word.Picture.8">
                  <p:embed/>
                </p:oleObj>
              </mc:Choice>
              <mc:Fallback>
                <p:oleObj r:id="rId2" imgW="2743200" imgH="1382268" progId="Word.Picture.8">
                  <p:embed/>
                  <p:pic>
                    <p:nvPicPr>
                      <p:cNvPr id="5" name="Object 3">
                        <a:extLst>
                          <a:ext uri="{FF2B5EF4-FFF2-40B4-BE49-F238E27FC236}">
                            <a16:creationId xmlns:a16="http://schemas.microsoft.com/office/drawing/2014/main" id="{9DA22776-FB6A-44C5-9141-A12BB683ED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6597" y="2791427"/>
                        <a:ext cx="6705600" cy="3581400"/>
                      </a:xfrm>
                      <a:prstGeom prst="rect">
                        <a:avLst/>
                      </a:prstGeom>
                      <a:noFill/>
                      <a:ln>
                        <a:noFill/>
                      </a:ln>
                      <a:effectLst/>
                    </p:spPr>
                  </p:pic>
                </p:oleObj>
              </mc:Fallback>
            </mc:AlternateContent>
          </a:graphicData>
        </a:graphic>
      </p:graphicFrame>
      <p:sp>
        <p:nvSpPr>
          <p:cNvPr id="6" name="文本框 5">
            <a:extLst>
              <a:ext uri="{FF2B5EF4-FFF2-40B4-BE49-F238E27FC236}">
                <a16:creationId xmlns:a16="http://schemas.microsoft.com/office/drawing/2014/main" id="{6AB96E47-E1A6-49DB-B919-A7502AF149CE}"/>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9.5.5 Operation of Equivalence Relation*</a:t>
            </a:r>
            <a:endParaRPr lang="en-US" altLang="zh-CN" sz="3200" dirty="0"/>
          </a:p>
        </p:txBody>
      </p:sp>
    </p:spTree>
    <p:extLst>
      <p:ext uri="{BB962C8B-B14F-4D97-AF65-F5344CB8AC3E}">
        <p14:creationId xmlns:p14="http://schemas.microsoft.com/office/powerpoint/2010/main" val="2842219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49F7D20C-68DD-42C2-B9BE-708C330F3DFC}"/>
              </a:ext>
            </a:extLst>
          </p:cNvPr>
          <p:cNvSpPr txBox="1">
            <a:spLocks noChangeArrowheads="1"/>
          </p:cNvSpPr>
          <p:nvPr/>
        </p:nvSpPr>
        <p:spPr bwMode="auto">
          <a:xfrm>
            <a:off x="749127" y="1204224"/>
            <a:ext cx="10693746" cy="444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spcBef>
                <a:spcPct val="0"/>
              </a:spcBef>
              <a:buFontTx/>
              <a:buNone/>
            </a:pPr>
            <a:r>
              <a:rPr lang="zh-CN" altLang="en-US" sz="2400" dirty="0">
                <a:latin typeface="宋体" panose="02010600030101010101" pitchFamily="2" charset="-122"/>
              </a:rPr>
              <a:t>例７</a:t>
            </a:r>
            <a:r>
              <a:rPr lang="en-US" altLang="zh-CN" sz="2400" dirty="0">
                <a:latin typeface="宋体" panose="02010600030101010101" pitchFamily="2" charset="-122"/>
              </a:rPr>
              <a:t>:  </a:t>
            </a:r>
          </a:p>
          <a:p>
            <a:pPr algn="just" eaLnBrk="1" hangingPunct="1">
              <a:lnSpc>
                <a:spcPct val="150000"/>
              </a:lnSpc>
              <a:spcBef>
                <a:spcPct val="0"/>
              </a:spcBef>
              <a:buFontTx/>
              <a:buNone/>
            </a:pPr>
            <a:r>
              <a:rPr lang="en-US" altLang="zh-CN" sz="2400" dirty="0">
                <a:latin typeface="宋体" panose="02010600030101010101" pitchFamily="2" charset="-122"/>
              </a:rPr>
              <a:t>   </a:t>
            </a:r>
            <a:r>
              <a:rPr lang="zh-CN" altLang="en-US" sz="2400" dirty="0">
                <a:latin typeface="宋体" panose="02010600030101010101" pitchFamily="2" charset="-122"/>
              </a:rPr>
              <a:t>Ａ＝｛５２张</a:t>
            </a:r>
            <a:r>
              <a:rPr lang="zh-CN" altLang="en-US" sz="2400">
                <a:latin typeface="宋体" panose="02010600030101010101" pitchFamily="2" charset="-122"/>
              </a:rPr>
              <a:t>扑克牌｝</a:t>
            </a:r>
            <a:endParaRPr lang="zh-CN" altLang="en-US" sz="2400" dirty="0">
              <a:latin typeface="宋体" panose="02010600030101010101" pitchFamily="2" charset="-122"/>
            </a:endParaRPr>
          </a:p>
          <a:p>
            <a:pPr algn="just" eaLnBrk="1" hangingPunct="1">
              <a:lnSpc>
                <a:spcPct val="150000"/>
              </a:lnSpc>
              <a:spcBef>
                <a:spcPct val="0"/>
              </a:spcBef>
              <a:buFontTx/>
              <a:buNone/>
            </a:pPr>
            <a:r>
              <a:rPr lang="zh-CN" altLang="en-US" sz="2400" dirty="0">
                <a:latin typeface="宋体" panose="02010600030101010101" pitchFamily="2" charset="-122"/>
              </a:rPr>
              <a:t>   Ｒ</a:t>
            </a:r>
            <a:r>
              <a:rPr lang="en-US" altLang="zh-CN" sz="2400" baseline="-25000" dirty="0">
                <a:latin typeface="宋体" panose="02010600030101010101" pitchFamily="2" charset="-122"/>
              </a:rPr>
              <a:t>1</a:t>
            </a:r>
            <a:r>
              <a:rPr lang="zh-CN" altLang="en-US" sz="2400" dirty="0">
                <a:latin typeface="宋体" panose="02010600030101010101" pitchFamily="2" charset="-122"/>
              </a:rPr>
              <a:t>＝｛（ａ，ｂ）｜ａ与ｂ同</a:t>
            </a:r>
            <a:r>
              <a:rPr lang="zh-CN" altLang="en-US" sz="2400">
                <a:latin typeface="宋体" panose="02010600030101010101" pitchFamily="2" charset="-122"/>
              </a:rPr>
              <a:t>花，ａ</a:t>
            </a:r>
            <a:r>
              <a:rPr lang="zh-CN" altLang="en-US" sz="2400" dirty="0">
                <a:latin typeface="宋体" panose="02010600030101010101" pitchFamily="2" charset="-122"/>
              </a:rPr>
              <a:t>，ｂ是扑克｝</a:t>
            </a:r>
          </a:p>
          <a:p>
            <a:pPr algn="just" eaLnBrk="1" hangingPunct="1">
              <a:lnSpc>
                <a:spcPct val="150000"/>
              </a:lnSpc>
              <a:spcBef>
                <a:spcPct val="0"/>
              </a:spcBef>
              <a:buFontTx/>
              <a:buNone/>
            </a:pPr>
            <a:r>
              <a:rPr lang="zh-CN" altLang="en-US" sz="2400" dirty="0">
                <a:latin typeface="宋体" panose="02010600030101010101" pitchFamily="2" charset="-122"/>
              </a:rPr>
              <a:t>      </a:t>
            </a:r>
            <a:r>
              <a:rPr lang="zh-CN" altLang="en-US" sz="2400">
                <a:latin typeface="宋体" panose="02010600030101010101" pitchFamily="2" charset="-122"/>
                <a:sym typeface="Symbol" panose="05050102010706020507" pitchFamily="18" charset="2"/>
              </a:rPr>
              <a:t></a:t>
            </a:r>
            <a:r>
              <a:rPr lang="zh-CN" altLang="en-US" sz="2400">
                <a:latin typeface="宋体" panose="02010600030101010101" pitchFamily="2" charset="-122"/>
              </a:rPr>
              <a:t> </a:t>
            </a:r>
            <a:r>
              <a:rPr lang="en-US" altLang="zh-CN" sz="2400">
                <a:latin typeface="宋体" panose="02010600030101010101" pitchFamily="2" charset="-122"/>
              </a:rPr>
              <a:t>π</a:t>
            </a:r>
            <a:r>
              <a:rPr lang="en-US" altLang="zh-CN" sz="2400" baseline="-25000">
                <a:latin typeface="宋体" panose="02010600030101010101" pitchFamily="2" charset="-122"/>
              </a:rPr>
              <a:t>1</a:t>
            </a:r>
            <a:endParaRPr lang="en-US" altLang="zh-CN" sz="2400" dirty="0">
              <a:latin typeface="宋体" panose="02010600030101010101" pitchFamily="2" charset="-122"/>
            </a:endParaRPr>
          </a:p>
          <a:p>
            <a:pPr algn="just" eaLnBrk="1" hangingPunct="1">
              <a:lnSpc>
                <a:spcPct val="150000"/>
              </a:lnSpc>
              <a:spcBef>
                <a:spcPct val="0"/>
              </a:spcBef>
              <a:buFontTx/>
              <a:buNone/>
            </a:pPr>
            <a:r>
              <a:rPr lang="en-US" altLang="zh-CN" sz="2400" dirty="0">
                <a:latin typeface="宋体" panose="02010600030101010101" pitchFamily="2" charset="-122"/>
              </a:rPr>
              <a:t>   </a:t>
            </a:r>
            <a:r>
              <a:rPr lang="zh-CN" altLang="en-US" sz="2400" dirty="0">
                <a:latin typeface="宋体" panose="02010600030101010101" pitchFamily="2" charset="-122"/>
              </a:rPr>
              <a:t>Ｒ</a:t>
            </a:r>
            <a:r>
              <a:rPr lang="en-US" altLang="zh-CN" sz="2400" baseline="-25000" dirty="0">
                <a:latin typeface="宋体" panose="02010600030101010101" pitchFamily="2" charset="-122"/>
              </a:rPr>
              <a:t>2</a:t>
            </a:r>
            <a:r>
              <a:rPr lang="zh-CN" altLang="en-US" sz="2400" dirty="0">
                <a:latin typeface="宋体" panose="02010600030101010101" pitchFamily="2" charset="-122"/>
              </a:rPr>
              <a:t>＝｛（ａ，ｂ）｜ａ与ｂ同</a:t>
            </a:r>
            <a:r>
              <a:rPr lang="zh-CN" altLang="en-US" sz="2400">
                <a:latin typeface="宋体" panose="02010600030101010101" pitchFamily="2" charset="-122"/>
              </a:rPr>
              <a:t>点，ａ</a:t>
            </a:r>
            <a:r>
              <a:rPr lang="zh-CN" altLang="en-US" sz="2400" dirty="0">
                <a:latin typeface="宋体" panose="02010600030101010101" pitchFamily="2" charset="-122"/>
              </a:rPr>
              <a:t>，ｂ是扑克｝</a:t>
            </a:r>
          </a:p>
          <a:p>
            <a:pPr algn="just" eaLnBrk="1" hangingPunct="1">
              <a:lnSpc>
                <a:spcPct val="150000"/>
              </a:lnSpc>
              <a:spcBef>
                <a:spcPct val="0"/>
              </a:spcBef>
              <a:buFontTx/>
              <a:buNone/>
            </a:pPr>
            <a:r>
              <a:rPr lang="zh-CN" altLang="en-US" sz="2400" dirty="0">
                <a:latin typeface="宋体" panose="02010600030101010101" pitchFamily="2" charset="-122"/>
                <a:sym typeface="Symbol" panose="05050102010706020507" pitchFamily="18" charset="2"/>
              </a:rPr>
              <a:t>      </a:t>
            </a:r>
            <a:r>
              <a:rPr lang="zh-CN" altLang="en-US" sz="2400">
                <a:latin typeface="宋体" panose="02010600030101010101" pitchFamily="2" charset="-122"/>
                <a:sym typeface="Symbol" panose="05050102010706020507" pitchFamily="18" charset="2"/>
              </a:rPr>
              <a:t></a:t>
            </a:r>
            <a:r>
              <a:rPr lang="zh-CN" altLang="en-US" sz="2400">
                <a:latin typeface="宋体" panose="02010600030101010101" pitchFamily="2" charset="-122"/>
              </a:rPr>
              <a:t> </a:t>
            </a:r>
            <a:r>
              <a:rPr lang="en-US" altLang="zh-CN" sz="2400">
                <a:latin typeface="宋体" panose="02010600030101010101" pitchFamily="2" charset="-122"/>
              </a:rPr>
              <a:t>π</a:t>
            </a:r>
            <a:r>
              <a:rPr lang="en-US" altLang="zh-CN" sz="2400" baseline="-25000">
                <a:latin typeface="宋体" panose="02010600030101010101" pitchFamily="2" charset="-122"/>
              </a:rPr>
              <a:t>2</a:t>
            </a:r>
            <a:endParaRPr lang="en-US" altLang="zh-CN" sz="2400" dirty="0">
              <a:latin typeface="宋体" panose="02010600030101010101" pitchFamily="2" charset="-122"/>
            </a:endParaRPr>
          </a:p>
          <a:p>
            <a:pPr algn="just" eaLnBrk="1" hangingPunct="1">
              <a:lnSpc>
                <a:spcPct val="150000"/>
              </a:lnSpc>
              <a:spcBef>
                <a:spcPct val="0"/>
              </a:spcBef>
              <a:buFontTx/>
              <a:buNone/>
            </a:pPr>
            <a:r>
              <a:rPr lang="en-US" altLang="zh-CN" sz="2400" dirty="0">
                <a:latin typeface="宋体" panose="02010600030101010101" pitchFamily="2" charset="-122"/>
              </a:rPr>
              <a:t>   </a:t>
            </a:r>
            <a:r>
              <a:rPr lang="zh-CN" altLang="en-US" sz="2400" dirty="0">
                <a:latin typeface="宋体" panose="02010600030101010101" pitchFamily="2" charset="-122"/>
              </a:rPr>
              <a:t>Ｒ</a:t>
            </a:r>
            <a:r>
              <a:rPr lang="en-US" altLang="zh-CN" sz="2400" baseline="-25000" dirty="0">
                <a:latin typeface="宋体" panose="02010600030101010101" pitchFamily="2" charset="-122"/>
              </a:rPr>
              <a:t>1</a:t>
            </a:r>
            <a:r>
              <a:rPr lang="en-US" altLang="zh-CN" sz="2400" dirty="0">
                <a:latin typeface="宋体" panose="02010600030101010101" pitchFamily="2" charset="-122"/>
              </a:rPr>
              <a:t>∩</a:t>
            </a:r>
            <a:r>
              <a:rPr lang="zh-CN" altLang="en-US" sz="2400" dirty="0">
                <a:latin typeface="宋体" panose="02010600030101010101" pitchFamily="2" charset="-122"/>
              </a:rPr>
              <a:t>Ｒ</a:t>
            </a:r>
            <a:r>
              <a:rPr lang="en-US" altLang="zh-CN" sz="2400" baseline="-25000" dirty="0">
                <a:latin typeface="宋体" panose="02010600030101010101" pitchFamily="2" charset="-122"/>
              </a:rPr>
              <a:t>2 </a:t>
            </a:r>
            <a:r>
              <a:rPr lang="en-US" altLang="zh-CN" sz="2400" dirty="0">
                <a:latin typeface="宋体" panose="02010600030101010101" pitchFamily="2" charset="-122"/>
                <a:sym typeface="Symbol" panose="05050102010706020507" pitchFamily="18" charset="2"/>
              </a:rPr>
              <a:t></a:t>
            </a:r>
            <a:r>
              <a:rPr lang="en-US" altLang="zh-CN" sz="2400" baseline="-25000" dirty="0">
                <a:latin typeface="宋体" panose="02010600030101010101" pitchFamily="2" charset="-122"/>
              </a:rPr>
              <a:t> </a:t>
            </a:r>
            <a:r>
              <a:rPr lang="en-US" altLang="zh-CN" sz="2400" dirty="0">
                <a:latin typeface="宋体" panose="02010600030101010101" pitchFamily="2" charset="-122"/>
              </a:rPr>
              <a:t>π</a:t>
            </a:r>
            <a:r>
              <a:rPr lang="en-US" altLang="zh-CN" sz="2400" baseline="-25000" dirty="0">
                <a:latin typeface="宋体" panose="02010600030101010101" pitchFamily="2" charset="-122"/>
              </a:rPr>
              <a:t>1</a:t>
            </a:r>
            <a:r>
              <a:rPr lang="en-US" altLang="zh-CN" sz="2400" dirty="0">
                <a:latin typeface="Courier New" panose="02070309020205020404" pitchFamily="49" charset="0"/>
              </a:rPr>
              <a:t>·</a:t>
            </a:r>
            <a:r>
              <a:rPr lang="en-US" altLang="zh-CN" sz="2400" dirty="0">
                <a:latin typeface="宋体" panose="02010600030101010101" pitchFamily="2" charset="-122"/>
              </a:rPr>
              <a:t>π</a:t>
            </a:r>
            <a:r>
              <a:rPr lang="en-US" altLang="zh-CN" sz="2400" baseline="-25000" dirty="0">
                <a:latin typeface="宋体" panose="02010600030101010101" pitchFamily="2" charset="-122"/>
              </a:rPr>
              <a:t>2</a:t>
            </a:r>
            <a:r>
              <a:rPr lang="zh-CN" altLang="en-US" sz="2400" dirty="0">
                <a:latin typeface="宋体" panose="02010600030101010101" pitchFamily="2" charset="-122"/>
              </a:rPr>
              <a:t>把扑克分成</a:t>
            </a:r>
            <a:r>
              <a:rPr lang="zh-CN" altLang="en-US" sz="2400">
                <a:latin typeface="宋体" panose="02010600030101010101" pitchFamily="2" charset="-122"/>
              </a:rPr>
              <a:t>５２张单</a:t>
            </a:r>
            <a:r>
              <a:rPr lang="zh-CN" altLang="en-US" sz="2400" dirty="0">
                <a:latin typeface="宋体" panose="02010600030101010101" pitchFamily="2" charset="-122"/>
              </a:rPr>
              <a:t>张</a:t>
            </a:r>
          </a:p>
          <a:p>
            <a:pPr algn="just" eaLnBrk="1" hangingPunct="1">
              <a:lnSpc>
                <a:spcPct val="150000"/>
              </a:lnSpc>
              <a:spcBef>
                <a:spcPct val="0"/>
              </a:spcBef>
              <a:buFontTx/>
              <a:buNone/>
            </a:pPr>
            <a:r>
              <a:rPr lang="zh-CN" altLang="en-US" sz="2400" dirty="0">
                <a:latin typeface="宋体" panose="02010600030101010101" pitchFamily="2" charset="-122"/>
              </a:rPr>
              <a:t>   （Ｒ</a:t>
            </a:r>
            <a:r>
              <a:rPr lang="en-US" altLang="zh-CN" sz="2400" baseline="-25000" dirty="0">
                <a:latin typeface="宋体" panose="02010600030101010101" pitchFamily="2" charset="-122"/>
              </a:rPr>
              <a:t>1</a:t>
            </a:r>
            <a:r>
              <a:rPr lang="en-US" altLang="zh-CN" sz="2400" dirty="0">
                <a:latin typeface="宋体" panose="02010600030101010101" pitchFamily="2" charset="-122"/>
              </a:rPr>
              <a:t>∪</a:t>
            </a:r>
            <a:r>
              <a:rPr lang="zh-CN" altLang="en-US" sz="2400" dirty="0">
                <a:latin typeface="宋体" panose="02010600030101010101" pitchFamily="2" charset="-122"/>
              </a:rPr>
              <a:t>Ｒ</a:t>
            </a:r>
            <a:r>
              <a:rPr lang="en-US" altLang="zh-CN" sz="2400" baseline="-25000" dirty="0">
                <a:latin typeface="宋体" panose="02010600030101010101" pitchFamily="2" charset="-122"/>
              </a:rPr>
              <a:t>2</a:t>
            </a:r>
            <a:r>
              <a:rPr lang="zh-CN" altLang="en-US" sz="2400" dirty="0">
                <a:latin typeface="宋体" panose="02010600030101010101" pitchFamily="2" charset="-122"/>
              </a:rPr>
              <a:t>）</a:t>
            </a:r>
            <a:r>
              <a:rPr lang="zh-CN" altLang="en-US" sz="2400" baseline="30000" dirty="0">
                <a:latin typeface="宋体" panose="02010600030101010101" pitchFamily="2" charset="-122"/>
              </a:rPr>
              <a:t>* </a:t>
            </a:r>
            <a:r>
              <a:rPr lang="zh-CN" altLang="en-US" sz="2400" dirty="0">
                <a:latin typeface="宋体" panose="02010600030101010101" pitchFamily="2" charset="-122"/>
                <a:sym typeface="Symbol" panose="05050102010706020507" pitchFamily="18" charset="2"/>
              </a:rPr>
              <a:t></a:t>
            </a:r>
            <a:r>
              <a:rPr lang="zh-CN" altLang="en-US" sz="2400" baseline="30000" dirty="0">
                <a:latin typeface="宋体" panose="02010600030101010101" pitchFamily="2" charset="-122"/>
              </a:rPr>
              <a:t> </a:t>
            </a:r>
            <a:r>
              <a:rPr lang="en-US" altLang="zh-CN" sz="2400" dirty="0">
                <a:latin typeface="宋体" panose="02010600030101010101" pitchFamily="2" charset="-122"/>
              </a:rPr>
              <a:t>π</a:t>
            </a:r>
            <a:r>
              <a:rPr lang="en-US" altLang="zh-CN" sz="2400" baseline="-25000" dirty="0">
                <a:latin typeface="宋体" panose="02010600030101010101" pitchFamily="2" charset="-122"/>
              </a:rPr>
              <a:t>1</a:t>
            </a:r>
            <a:r>
              <a:rPr lang="zh-CN" altLang="en-US" sz="2400" dirty="0">
                <a:latin typeface="宋体" panose="02010600030101010101" pitchFamily="2" charset="-122"/>
              </a:rPr>
              <a:t>＋</a:t>
            </a:r>
            <a:r>
              <a:rPr lang="en-US" altLang="zh-CN" sz="2400" dirty="0">
                <a:latin typeface="宋体" panose="02010600030101010101" pitchFamily="2" charset="-122"/>
              </a:rPr>
              <a:t>π</a:t>
            </a:r>
            <a:r>
              <a:rPr lang="en-US" altLang="zh-CN" sz="2400" baseline="-25000" dirty="0">
                <a:latin typeface="宋体" panose="02010600030101010101" pitchFamily="2" charset="-122"/>
              </a:rPr>
              <a:t>2</a:t>
            </a:r>
            <a:r>
              <a:rPr lang="zh-CN" altLang="en-US" sz="2400" dirty="0">
                <a:latin typeface="宋体" panose="02010600030101010101" pitchFamily="2" charset="-122"/>
              </a:rPr>
              <a:t>把５２</a:t>
            </a:r>
            <a:r>
              <a:rPr lang="zh-CN" altLang="en-US" sz="2400">
                <a:latin typeface="宋体" panose="02010600030101010101" pitchFamily="2" charset="-122"/>
              </a:rPr>
              <a:t>张扑克</a:t>
            </a:r>
            <a:r>
              <a:rPr lang="zh-CN" altLang="en-US" sz="2400" dirty="0">
                <a:latin typeface="宋体" panose="02010600030101010101" pitchFamily="2" charset="-122"/>
              </a:rPr>
              <a:t>归为</a:t>
            </a:r>
            <a:r>
              <a:rPr lang="zh-CN" altLang="en-US" sz="2400">
                <a:latin typeface="宋体" panose="02010600030101010101" pitchFamily="2" charset="-122"/>
              </a:rPr>
              <a:t>同一类   </a:t>
            </a:r>
            <a:endParaRPr lang="zh-CN" altLang="en-US" sz="2400" dirty="0">
              <a:latin typeface="宋体" panose="02010600030101010101" pitchFamily="2" charset="-122"/>
            </a:endParaRPr>
          </a:p>
        </p:txBody>
      </p:sp>
      <p:sp>
        <p:nvSpPr>
          <p:cNvPr id="5" name="文本框 4">
            <a:extLst>
              <a:ext uri="{FF2B5EF4-FFF2-40B4-BE49-F238E27FC236}">
                <a16:creationId xmlns:a16="http://schemas.microsoft.com/office/drawing/2014/main" id="{038CC138-D65B-4343-936B-90EECCD18E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9.5.5 Operation of Equivalence Relation*</a:t>
            </a:r>
            <a:endParaRPr lang="en-US" altLang="zh-CN" sz="3200" dirty="0"/>
          </a:p>
        </p:txBody>
      </p:sp>
    </p:spTree>
    <p:extLst>
      <p:ext uri="{BB962C8B-B14F-4D97-AF65-F5344CB8AC3E}">
        <p14:creationId xmlns:p14="http://schemas.microsoft.com/office/powerpoint/2010/main" val="662497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a:extLst>
              <a:ext uri="{FF2B5EF4-FFF2-40B4-BE49-F238E27FC236}">
                <a16:creationId xmlns:a16="http://schemas.microsoft.com/office/drawing/2014/main" id="{A11DBB0A-4121-4C69-9C17-ABDF2A5D6971}"/>
              </a:ext>
            </a:extLst>
          </p:cNvPr>
          <p:cNvSpPr txBox="1">
            <a:spLocks noChangeArrowheads="1"/>
          </p:cNvSpPr>
          <p:nvPr/>
        </p:nvSpPr>
        <p:spPr bwMode="auto">
          <a:xfrm>
            <a:off x="1758101" y="1080454"/>
            <a:ext cx="7960360" cy="111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spcBef>
                <a:spcPct val="0"/>
              </a:spcBef>
              <a:buFontTx/>
              <a:buNone/>
            </a:pPr>
            <a:r>
              <a:rPr lang="en-US" altLang="zh-CN" sz="2400">
                <a:latin typeface="宋体" panose="02010600030101010101" pitchFamily="2" charset="-122"/>
              </a:rPr>
              <a:t>[</a:t>
            </a:r>
            <a:r>
              <a:rPr lang="zh-CN" altLang="en-US" sz="2400">
                <a:latin typeface="宋体" panose="02010600030101010101" pitchFamily="2" charset="-122"/>
              </a:rPr>
              <a:t>定义</a:t>
            </a:r>
            <a:r>
              <a:rPr lang="en-US" altLang="zh-CN" sz="2400">
                <a:latin typeface="宋体" panose="02010600030101010101" pitchFamily="2" charset="-122"/>
              </a:rPr>
              <a:t>]</a:t>
            </a:r>
            <a:r>
              <a:rPr lang="zh-CN" altLang="en-US" sz="2400" b="1">
                <a:latin typeface="宋体" panose="02010600030101010101" pitchFamily="2" charset="-122"/>
              </a:rPr>
              <a:t>平凡分划</a:t>
            </a:r>
            <a:r>
              <a:rPr lang="zh-CN" altLang="en-US" sz="2400">
                <a:latin typeface="宋体" panose="02010600030101010101" pitchFamily="2" charset="-122"/>
              </a:rPr>
              <a:t>：</a:t>
            </a:r>
          </a:p>
          <a:p>
            <a:pPr algn="just" eaLnBrk="1" hangingPunct="1">
              <a:lnSpc>
                <a:spcPct val="150000"/>
              </a:lnSpc>
              <a:spcBef>
                <a:spcPct val="0"/>
              </a:spcBef>
              <a:buFontTx/>
              <a:buNone/>
            </a:pPr>
            <a:r>
              <a:rPr lang="zh-CN" altLang="en-US" sz="2400">
                <a:latin typeface="宋体" panose="02010600030101010101" pitchFamily="2" charset="-122"/>
              </a:rPr>
              <a:t>    集合</a:t>
            </a:r>
            <a:r>
              <a:rPr lang="en-US" altLang="zh-CN" sz="2400">
                <a:latin typeface="宋体" panose="02010600030101010101" pitchFamily="2" charset="-122"/>
              </a:rPr>
              <a:t>A</a:t>
            </a:r>
            <a:r>
              <a:rPr lang="zh-CN" altLang="en-US" sz="2400">
                <a:latin typeface="宋体" panose="02010600030101010101" pitchFamily="2" charset="-122"/>
              </a:rPr>
              <a:t>的最粗或最细的分划，称为</a:t>
            </a:r>
            <a:r>
              <a:rPr lang="zh-CN" altLang="en-US" sz="2400" b="1">
                <a:latin typeface="宋体" panose="02010600030101010101" pitchFamily="2" charset="-122"/>
              </a:rPr>
              <a:t>平凡分划</a:t>
            </a:r>
            <a:r>
              <a:rPr lang="zh-CN" altLang="en-US" sz="2400">
                <a:latin typeface="宋体" panose="02010600030101010101" pitchFamily="2" charset="-122"/>
              </a:rPr>
              <a:t>。</a:t>
            </a:r>
          </a:p>
        </p:txBody>
      </p:sp>
      <p:sp>
        <p:nvSpPr>
          <p:cNvPr id="6" name="Text Box 3">
            <a:extLst>
              <a:ext uri="{FF2B5EF4-FFF2-40B4-BE49-F238E27FC236}">
                <a16:creationId xmlns:a16="http://schemas.microsoft.com/office/drawing/2014/main" id="{8387FA9A-9E39-4051-A151-26A24D27FE47}"/>
              </a:ext>
            </a:extLst>
          </p:cNvPr>
          <p:cNvSpPr txBox="1">
            <a:spLocks noChangeArrowheads="1"/>
          </p:cNvSpPr>
          <p:nvPr/>
        </p:nvSpPr>
        <p:spPr bwMode="auto">
          <a:xfrm>
            <a:off x="2766481" y="2534920"/>
            <a:ext cx="5943600" cy="2314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spcBef>
                <a:spcPct val="0"/>
              </a:spcBef>
              <a:buFontTx/>
              <a:buNone/>
            </a:pPr>
            <a:r>
              <a:rPr lang="zh-CN" altLang="en-US" sz="2800" dirty="0">
                <a:latin typeface="隶书" pitchFamily="49" charset="-122"/>
                <a:ea typeface="隶书" pitchFamily="49" charset="-122"/>
              </a:rPr>
              <a:t>注</a:t>
            </a:r>
            <a:r>
              <a:rPr lang="en-US" altLang="zh-CN" sz="2800" dirty="0">
                <a:latin typeface="隶书" pitchFamily="49" charset="-122"/>
                <a:ea typeface="隶书" pitchFamily="49" charset="-122"/>
              </a:rPr>
              <a:t>:</a:t>
            </a:r>
          </a:p>
          <a:p>
            <a:pPr algn="just" eaLnBrk="1" hangingPunct="1">
              <a:lnSpc>
                <a:spcPct val="150000"/>
              </a:lnSpc>
              <a:spcBef>
                <a:spcPct val="0"/>
              </a:spcBef>
              <a:buFontTx/>
              <a:buNone/>
            </a:pPr>
            <a:r>
              <a:rPr lang="en-US" altLang="zh-CN" sz="2400" dirty="0">
                <a:latin typeface="宋体" panose="02010600030101010101" pitchFamily="2" charset="-122"/>
              </a:rPr>
              <a:t>  </a:t>
            </a:r>
            <a:r>
              <a:rPr lang="zh-CN" altLang="en-US" sz="2400" dirty="0">
                <a:latin typeface="宋体" panose="02010600030101010101" pitchFamily="2" charset="-122"/>
              </a:rPr>
              <a:t>（</a:t>
            </a:r>
            <a:r>
              <a:rPr lang="en-US" altLang="zh-CN" sz="2400" dirty="0">
                <a:latin typeface="宋体" panose="02010600030101010101" pitchFamily="2" charset="-122"/>
              </a:rPr>
              <a:t>1</a:t>
            </a:r>
            <a:r>
              <a:rPr lang="zh-CN" altLang="en-US" sz="2400" dirty="0">
                <a:latin typeface="宋体" panose="02010600030101010101" pitchFamily="2" charset="-122"/>
              </a:rPr>
              <a:t>）等价关系，用穷举法很难判别</a:t>
            </a:r>
          </a:p>
          <a:p>
            <a:pPr algn="just" eaLnBrk="1" hangingPunct="1">
              <a:lnSpc>
                <a:spcPct val="150000"/>
              </a:lnSpc>
              <a:spcBef>
                <a:spcPct val="0"/>
              </a:spcBef>
              <a:buFontTx/>
              <a:buNone/>
            </a:pPr>
            <a:r>
              <a:rPr lang="zh-CN" altLang="en-US" sz="2400" dirty="0">
                <a:latin typeface="宋体" panose="02010600030101010101" pitchFamily="2" charset="-122"/>
              </a:rPr>
              <a:t>  （</a:t>
            </a:r>
            <a:r>
              <a:rPr lang="en-US" altLang="zh-CN" sz="2400" dirty="0">
                <a:latin typeface="宋体" panose="02010600030101010101" pitchFamily="2" charset="-122"/>
              </a:rPr>
              <a:t>2</a:t>
            </a:r>
            <a:r>
              <a:rPr lang="zh-CN" altLang="en-US" sz="2400" dirty="0">
                <a:latin typeface="宋体" panose="02010600030101010101" pitchFamily="2" charset="-122"/>
              </a:rPr>
              <a:t>）用关系图比较直观，明确</a:t>
            </a:r>
          </a:p>
          <a:p>
            <a:pPr algn="just" eaLnBrk="1" hangingPunct="1">
              <a:lnSpc>
                <a:spcPct val="150000"/>
              </a:lnSpc>
              <a:spcBef>
                <a:spcPct val="0"/>
              </a:spcBef>
              <a:buFontTx/>
              <a:buNone/>
            </a:pPr>
            <a:r>
              <a:rPr lang="zh-CN" altLang="en-US" sz="2400" dirty="0">
                <a:latin typeface="宋体" panose="02010600030101010101" pitchFamily="2" charset="-122"/>
              </a:rPr>
              <a:t>  （</a:t>
            </a:r>
            <a:r>
              <a:rPr lang="en-US" altLang="zh-CN" sz="2400" dirty="0">
                <a:latin typeface="宋体" panose="02010600030101010101" pitchFamily="2" charset="-122"/>
              </a:rPr>
              <a:t>3</a:t>
            </a:r>
            <a:r>
              <a:rPr lang="zh-CN" altLang="en-US" sz="2400" dirty="0">
                <a:latin typeface="宋体" panose="02010600030101010101" pitchFamily="2" charset="-122"/>
              </a:rPr>
              <a:t>）用集合的分划来研究等价关系</a:t>
            </a:r>
          </a:p>
        </p:txBody>
      </p:sp>
      <p:sp>
        <p:nvSpPr>
          <p:cNvPr id="7" name="文本框 6">
            <a:extLst>
              <a:ext uri="{FF2B5EF4-FFF2-40B4-BE49-F238E27FC236}">
                <a16:creationId xmlns:a16="http://schemas.microsoft.com/office/drawing/2014/main" id="{D300E7E3-85D8-4266-878E-C3B54C1EB656}"/>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9.5.5 Operation of Equivalence Relation*</a:t>
            </a:r>
            <a:endParaRPr lang="en-US" altLang="zh-CN" sz="3200" dirty="0"/>
          </a:p>
        </p:txBody>
      </p:sp>
    </p:spTree>
    <p:extLst>
      <p:ext uri="{BB962C8B-B14F-4D97-AF65-F5344CB8AC3E}">
        <p14:creationId xmlns:p14="http://schemas.microsoft.com/office/powerpoint/2010/main" val="4085835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9.5 Equivalence Relations —</a:t>
            </a:r>
            <a:r>
              <a:rPr lang="zh-CN" altLang="en-US" sz="3200" dirty="0"/>
              <a:t>作业 </a:t>
            </a:r>
            <a:endParaRPr lang="en-US" altLang="zh-CN" sz="3200" dirty="0"/>
          </a:p>
        </p:txBody>
      </p:sp>
      <p:sp>
        <p:nvSpPr>
          <p:cNvPr id="4" name="Rectangle 3">
            <a:extLst>
              <a:ext uri="{FF2B5EF4-FFF2-40B4-BE49-F238E27FC236}">
                <a16:creationId xmlns:a16="http://schemas.microsoft.com/office/drawing/2014/main" id="{8B46E076-8636-4CBB-8DD9-FB709008B5F0}"/>
              </a:ext>
            </a:extLst>
          </p:cNvPr>
          <p:cNvSpPr txBox="1">
            <a:spLocks noChangeArrowheads="1"/>
          </p:cNvSpPr>
          <p:nvPr/>
        </p:nvSpPr>
        <p:spPr bwMode="auto">
          <a:xfrm>
            <a:off x="210046" y="1383326"/>
            <a:ext cx="1105553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itchFamily="18" charset="2"/>
              <a:buChar char="ò"/>
              <a:defRPr sz="2000" b="1">
                <a:solidFill>
                  <a:schemeClr val="tx1"/>
                </a:solidFill>
                <a:latin typeface="+mn-lt"/>
                <a:ea typeface="+mn-ea"/>
              </a:defRPr>
            </a:lvl9pPr>
          </a:lstStyle>
          <a:p>
            <a:pPr eaLnBrk="1" hangingPunct="1">
              <a:lnSpc>
                <a:spcPct val="150000"/>
              </a:lnSpc>
            </a:pPr>
            <a:r>
              <a:rPr lang="en-US" altLang="zh-CN" dirty="0"/>
              <a:t>§9.4 – 20, 22, 28</a:t>
            </a:r>
          </a:p>
          <a:p>
            <a:pPr eaLnBrk="1" hangingPunct="1">
              <a:lnSpc>
                <a:spcPct val="150000"/>
              </a:lnSpc>
            </a:pPr>
            <a:r>
              <a:rPr lang="en-US" altLang="zh-CN" dirty="0"/>
              <a:t>§9.5 – 16, 56, 60, 64</a:t>
            </a:r>
          </a:p>
        </p:txBody>
      </p:sp>
    </p:spTree>
    <p:extLst>
      <p:ext uri="{BB962C8B-B14F-4D97-AF65-F5344CB8AC3E}">
        <p14:creationId xmlns:p14="http://schemas.microsoft.com/office/powerpoint/2010/main" val="2108384374"/>
      </p:ext>
    </p:extLst>
  </p:cSld>
  <p:clrMapOvr>
    <a:masterClrMapping/>
  </p:clrMapOvr>
</p:sld>
</file>

<file path=ppt/theme/theme1.xml><?xml version="1.0" encoding="utf-8"?>
<a:theme xmlns:a="http://schemas.openxmlformats.org/drawingml/2006/main" name="嘉迪">
  <a:themeElements>
    <a:clrScheme name="我的培训模板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我的培训模板2">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19050">
          <a:tailEnd type="triangle"/>
        </a:ln>
      </a:spPr>
      <a:bodyPr/>
      <a:lstStyle/>
      <a:style>
        <a:lnRef idx="1">
          <a:schemeClr val="accent5"/>
        </a:lnRef>
        <a:fillRef idx="0">
          <a:schemeClr val="accent5"/>
        </a:fillRef>
        <a:effectRef idx="0">
          <a:schemeClr val="accent5"/>
        </a:effectRef>
        <a:fontRef idx="minor">
          <a:schemeClr val="tx1"/>
        </a:fontRef>
      </a:style>
    </a:lnDef>
  </a:objectDefaults>
  <a:extraClrSchemeLst>
    <a:extraClrScheme>
      <a:clrScheme name="我的培训模板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我的培训模板2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我的培训模板2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我的培训模板2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我的培训模板2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我的培训模板2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我的培训模板2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我的培训模板2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我的培训模板2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我的培训模板2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我的培训模板2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我的培训模板2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嘉迪</Template>
  <TotalTime>19136</TotalTime>
  <Words>7540</Words>
  <Application>Microsoft Office PowerPoint</Application>
  <PresentationFormat>宽屏</PresentationFormat>
  <Paragraphs>573</Paragraphs>
  <Slides>86</Slides>
  <Notes>1</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5</vt:i4>
      </vt:variant>
      <vt:variant>
        <vt:lpstr>幻灯片标题</vt:lpstr>
      </vt:variant>
      <vt:variant>
        <vt:i4>86</vt:i4>
      </vt:variant>
    </vt:vector>
  </HeadingPairs>
  <TitlesOfParts>
    <vt:vector size="107" baseType="lpstr">
      <vt:lpstr>Arial Unicode MS</vt:lpstr>
      <vt:lpstr>Euclid</vt:lpstr>
      <vt:lpstr>Microsoft JhengHei</vt:lpstr>
      <vt:lpstr>黑体</vt:lpstr>
      <vt:lpstr>隶书</vt:lpstr>
      <vt:lpstr>宋体</vt:lpstr>
      <vt:lpstr>Arial</vt:lpstr>
      <vt:lpstr>Calibri</vt:lpstr>
      <vt:lpstr>Courier New</vt:lpstr>
      <vt:lpstr>Georgia</vt:lpstr>
      <vt:lpstr>Symbol</vt:lpstr>
      <vt:lpstr>Tahoma</vt:lpstr>
      <vt:lpstr>Times New Roman</vt:lpstr>
      <vt:lpstr>Wingdings</vt:lpstr>
      <vt:lpstr>Wingdings 2</vt:lpstr>
      <vt:lpstr>嘉迪</vt:lpstr>
      <vt:lpstr>Equation.3</vt:lpstr>
      <vt:lpstr>公式</vt:lpstr>
      <vt:lpstr>Equation.DSMT4</vt:lpstr>
      <vt:lpstr>Microsoft Word Picture</vt:lpstr>
      <vt:lpstr>Picture</vt:lpstr>
      <vt:lpstr>离散数学及其应用 Discrete Mathematics and Its Applications （Eighth  Edition/Kenneth H.Rosen）  郭少勇 (syguo@bupt.edu.cn) 北京邮电大学 2025.09</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metarnet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跨界数据创新</dc:title>
  <dc:creator>张龙</dc:creator>
  <cp:lastModifiedBy>Shaoyong Guo</cp:lastModifiedBy>
  <cp:revision>1659</cp:revision>
  <dcterms:created xsi:type="dcterms:W3CDTF">2014-06-11T06:47:43Z</dcterms:created>
  <dcterms:modified xsi:type="dcterms:W3CDTF">2025-09-16T00:03:00Z</dcterms:modified>
</cp:coreProperties>
</file>